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555" r:id="rId3"/>
    <p:sldId id="597" r:id="rId4"/>
    <p:sldId id="598" r:id="rId5"/>
    <p:sldId id="599" r:id="rId6"/>
    <p:sldId id="600" r:id="rId7"/>
    <p:sldId id="557" r:id="rId8"/>
    <p:sldId id="608" r:id="rId9"/>
    <p:sldId id="609" r:id="rId10"/>
    <p:sldId id="610" r:id="rId11"/>
    <p:sldId id="611" r:id="rId12"/>
    <p:sldId id="612" r:id="rId13"/>
    <p:sldId id="613" r:id="rId14"/>
    <p:sldId id="614" r:id="rId15"/>
    <p:sldId id="615" r:id="rId16"/>
    <p:sldId id="616" r:id="rId17"/>
    <p:sldId id="602" r:id="rId18"/>
    <p:sldId id="617" r:id="rId19"/>
    <p:sldId id="618" r:id="rId20"/>
    <p:sldId id="631" r:id="rId21"/>
    <p:sldId id="632" r:id="rId22"/>
    <p:sldId id="619" r:id="rId23"/>
    <p:sldId id="62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02"/>
    <p:restoredTop sz="83422"/>
  </p:normalViewPr>
  <p:slideViewPr>
    <p:cSldViewPr snapToGrid="0" snapToObjects="1">
      <p:cViewPr varScale="1">
        <p:scale>
          <a:sx n="108" d="100"/>
          <a:sy n="108" d="100"/>
        </p:scale>
        <p:origin x="9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C3FBE-CC6D-C84E-A32C-3E7139D0BEF1}" type="datetimeFigureOut">
              <a:rPr lang="en-US" smtClean="0"/>
              <a:t>2/10/25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C0DA4-3FAE-DF4B-9554-5D7B5414A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6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225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8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450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232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407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2/10/25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3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2/10/25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30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2/10/25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002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11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2/10/25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57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78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54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97D23-1D1C-734C-9188-3D38F4DBA869}" type="datetimeFigureOut">
              <a:rPr lang="en-US" smtClean="0"/>
              <a:t>2/10/25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447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docs.io/c/io/fopen" TargetMode="External"/><Relationship Id="rId2" Type="http://schemas.openxmlformats.org/officeDocument/2006/relationships/hyperlink" Target="https://devdocs.io/c/io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CMSC 304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Pointers, Arrays, and Strings in C</a:t>
            </a:r>
          </a:p>
          <a:p>
            <a:r>
              <a:rPr lang="en-US" dirty="0"/>
              <a:t>Claire Sparks</a:t>
            </a:r>
          </a:p>
        </p:txBody>
      </p:sp>
    </p:spTree>
    <p:extLst>
      <p:ext uri="{BB962C8B-B14F-4D97-AF65-F5344CB8AC3E}">
        <p14:creationId xmlns:p14="http://schemas.microsoft.com/office/powerpoint/2010/main" val="70071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Pointer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When a variable is declared, the environment binds the variable name to a memory address </a:t>
            </a:r>
          </a:p>
          <a:p>
            <a:pPr lvl="1"/>
            <a:r>
              <a:rPr lang="en-US" altLang="en-US" dirty="0"/>
              <a:t>Memory binds that address to a specific value </a:t>
            </a:r>
          </a:p>
          <a:p>
            <a:r>
              <a:rPr lang="en-US" altLang="en-US" dirty="0"/>
              <a:t>A pointer is a variable which stores a memory address as its value</a:t>
            </a:r>
          </a:p>
          <a:p>
            <a:r>
              <a:rPr lang="en-US" altLang="en-US" sz="2800" dirty="0"/>
              <a:t>The pointer holds the memory address of that variable, and that memory address contains a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96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Pointer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Example: </a:t>
            </a:r>
          </a:p>
          <a:p>
            <a:pPr lvl="1"/>
            <a:r>
              <a:rPr lang="en-US" altLang="en-US" dirty="0" err="1"/>
              <a:t>int</a:t>
            </a:r>
            <a:r>
              <a:rPr lang="en-US" altLang="en-US" dirty="0"/>
              <a:t> variable named foo is bound to memory address 0x2000</a:t>
            </a:r>
          </a:p>
          <a:p>
            <a:pPr lvl="1"/>
            <a:r>
              <a:rPr lang="en-US" altLang="en-US" dirty="0"/>
              <a:t>Value stored at memory address 0x2000 is 256</a:t>
            </a:r>
          </a:p>
          <a:p>
            <a:pPr lvl="1"/>
            <a:r>
              <a:rPr lang="en-US" altLang="en-US" dirty="0" err="1"/>
              <a:t>int</a:t>
            </a:r>
            <a:r>
              <a:rPr lang="en-US" altLang="en-US" dirty="0"/>
              <a:t> pointer variable named bar is bound to memory address 0x4000</a:t>
            </a:r>
          </a:p>
          <a:p>
            <a:pPr lvl="1"/>
            <a:r>
              <a:rPr lang="en-US" altLang="en-US" dirty="0"/>
              <a:t>Value stored at memory address 0x4000 is 0x2000</a:t>
            </a:r>
          </a:p>
          <a:p>
            <a:pPr lvl="1"/>
            <a:r>
              <a:rPr lang="en-US" altLang="en-US" dirty="0"/>
              <a:t>We can say that pointer variable bar </a:t>
            </a:r>
            <a:r>
              <a:rPr lang="en-US" altLang="en-US" i="1" dirty="0"/>
              <a:t>points</a:t>
            </a:r>
            <a:r>
              <a:rPr lang="en-US" altLang="en-US" dirty="0"/>
              <a:t> to foo</a:t>
            </a:r>
          </a:p>
          <a:p>
            <a:r>
              <a:rPr lang="en-US" altLang="en-US" dirty="0"/>
              <a:t>Pointers can be typed or untyped</a:t>
            </a:r>
          </a:p>
          <a:p>
            <a:pPr lvl="1"/>
            <a:r>
              <a:rPr lang="en-US" altLang="en-US" sz="2800" dirty="0"/>
              <a:t>Typed pointers points to a particular variable type such as an </a:t>
            </a:r>
            <a:r>
              <a:rPr lang="en-US" altLang="en-US" sz="2800" dirty="0" err="1"/>
              <a:t>int</a:t>
            </a:r>
            <a:endParaRPr lang="en-US" altLang="en-US" sz="2800" dirty="0"/>
          </a:p>
          <a:p>
            <a:pPr lvl="1"/>
            <a:r>
              <a:rPr lang="en-US" altLang="en-US" sz="2800" dirty="0"/>
              <a:t>An </a:t>
            </a:r>
            <a:r>
              <a:rPr lang="en-US" altLang="en-US" sz="2800" dirty="0" err="1"/>
              <a:t>untyped</a:t>
            </a:r>
            <a:r>
              <a:rPr lang="en-US" altLang="en-US" sz="2800" dirty="0"/>
              <a:t> pointer points to any data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616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Pointer Basics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Pointer operators:</a:t>
            </a:r>
          </a:p>
          <a:p>
            <a:pPr lvl="1"/>
            <a:r>
              <a:rPr lang="en-US" dirty="0"/>
              <a:t>Address operator (&amp;)</a:t>
            </a:r>
          </a:p>
          <a:p>
            <a:pPr lvl="1"/>
            <a:r>
              <a:rPr lang="en-US" dirty="0"/>
              <a:t>Dereference (or indirection) operator (*)</a:t>
            </a:r>
          </a:p>
          <a:p>
            <a:r>
              <a:rPr lang="en-US" altLang="en-US" dirty="0"/>
              <a:t>The address operator is used to get the memory address of a variable </a:t>
            </a:r>
          </a:p>
          <a:p>
            <a:r>
              <a:rPr lang="en-US" altLang="en-US" dirty="0"/>
              <a:t>The </a:t>
            </a:r>
            <a:r>
              <a:rPr lang="en-US" dirty="0"/>
              <a:t>dereference</a:t>
            </a:r>
            <a:r>
              <a:rPr lang="en-US" altLang="en-US" dirty="0"/>
              <a:t> operator is used to get the value stored at a memory address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233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Pointer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#include&lt;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main(){</a:t>
            </a:r>
          </a:p>
          <a:p>
            <a:pPr marL="0" indent="0">
              <a:buNone/>
            </a:pP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foo;</a:t>
            </a:r>
          </a:p>
          <a:p>
            <a:pPr marL="0" indent="0">
              <a:buNone/>
            </a:pP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*bar;</a:t>
            </a:r>
          </a:p>
          <a:p>
            <a:pPr marL="0" indent="0">
              <a:buNone/>
            </a:pP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marL="0" indent="0">
              <a:buNone/>
            </a:pP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foo = 5;</a:t>
            </a:r>
          </a:p>
          <a:p>
            <a:pPr marL="0" indent="0">
              <a:buNone/>
            </a:pP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bar = &amp;foo;</a:t>
            </a:r>
          </a:p>
          <a:p>
            <a:pPr marL="0" indent="0">
              <a:buNone/>
            </a:pPr>
            <a:endParaRPr lang="en-US" alt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	return 0;</a:t>
            </a:r>
          </a:p>
          <a:p>
            <a:pPr marL="0" indent="0">
              <a:buNone/>
            </a:pPr>
            <a:r>
              <a:rPr lang="en-US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752407" y="1825625"/>
            <a:ext cx="514625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The variable foo is bound to the value 5</a:t>
            </a:r>
          </a:p>
          <a:p>
            <a:endParaRPr lang="en-US" sz="2800" dirty="0">
              <a:solidFill>
                <a:schemeClr val="accent1"/>
              </a:solidFill>
            </a:endParaRPr>
          </a:p>
          <a:p>
            <a:r>
              <a:rPr lang="en-US" sz="2800" dirty="0">
                <a:solidFill>
                  <a:schemeClr val="accent1"/>
                </a:solidFill>
              </a:rPr>
              <a:t>The address of variable foo is copied into pointer bar  </a:t>
            </a:r>
          </a:p>
          <a:p>
            <a:endParaRPr lang="en-US" sz="2800" dirty="0">
              <a:solidFill>
                <a:schemeClr val="accent1"/>
              </a:solidFill>
            </a:endParaRPr>
          </a:p>
          <a:p>
            <a:r>
              <a:rPr lang="en-US" sz="2800" dirty="0">
                <a:solidFill>
                  <a:schemeClr val="accent1"/>
                </a:solidFill>
              </a:rPr>
              <a:t>Bar points to the address of foo</a:t>
            </a:r>
          </a:p>
          <a:p>
            <a:endParaRPr lang="en-US" sz="2800" dirty="0">
              <a:solidFill>
                <a:schemeClr val="accent1"/>
              </a:solidFill>
            </a:endParaRPr>
          </a:p>
          <a:p>
            <a:r>
              <a:rPr lang="en-US" sz="2800" dirty="0" err="1">
                <a:solidFill>
                  <a:schemeClr val="accent1"/>
                </a:solidFill>
              </a:rPr>
              <a:t>ptr_p</a:t>
            </a:r>
            <a:r>
              <a:rPr lang="en-US" sz="2800" dirty="0">
                <a:solidFill>
                  <a:schemeClr val="accent1"/>
                </a:solidFill>
              </a:rPr>
              <a:t> = &amp;x; means:</a:t>
            </a:r>
          </a:p>
          <a:p>
            <a:r>
              <a:rPr lang="en-US" sz="2800" dirty="0">
                <a:solidFill>
                  <a:schemeClr val="accent1"/>
                </a:solidFill>
              </a:rPr>
              <a:t>“Assign to </a:t>
            </a:r>
            <a:r>
              <a:rPr lang="en-US" sz="2800" dirty="0" err="1">
                <a:solidFill>
                  <a:schemeClr val="accent1"/>
                </a:solidFill>
              </a:rPr>
              <a:t>ptr_p</a:t>
            </a:r>
            <a:r>
              <a:rPr lang="en-US" sz="2800" dirty="0">
                <a:solidFill>
                  <a:schemeClr val="accent1"/>
                </a:solidFill>
              </a:rPr>
              <a:t> the address of x.”</a:t>
            </a:r>
          </a:p>
        </p:txBody>
      </p:sp>
    </p:spTree>
    <p:extLst>
      <p:ext uri="{BB962C8B-B14F-4D97-AF65-F5344CB8AC3E}">
        <p14:creationId xmlns:p14="http://schemas.microsoft.com/office/powerpoint/2010/main" val="1990247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Pointer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4895335" cy="4351338"/>
          </a:xfrm>
        </p:spPr>
        <p:txBody>
          <a:bodyPr>
            <a:noAutofit/>
          </a:bodyPr>
          <a:lstStyle/>
          <a:p>
            <a:r>
              <a:rPr lang="en-US" altLang="en-US" dirty="0"/>
              <a:t>To access the value of the integer that is being pointed to, you have to dereference the pointer</a:t>
            </a:r>
          </a:p>
          <a:p>
            <a:r>
              <a:rPr lang="en-US" dirty="0"/>
              <a:t>The integer x has the value 5.  The foo points to the address of x.</a:t>
            </a:r>
          </a:p>
          <a:p>
            <a:r>
              <a:rPr lang="en-US" dirty="0"/>
              <a:t>The foo is </a:t>
            </a:r>
            <a:r>
              <a:rPr lang="en-US" dirty="0" err="1"/>
              <a:t>defererenced</a:t>
            </a:r>
            <a:r>
              <a:rPr lang="en-US" dirty="0"/>
              <a:t> and the value of 5 is assigned to y.</a:t>
            </a:r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457200" lvl="1" indent="0">
              <a:buNone/>
            </a:pPr>
            <a:endParaRPr lang="en-US" alt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259483" y="1847164"/>
            <a:ext cx="5094317" cy="4239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main(){</a:t>
            </a:r>
          </a:p>
          <a:p>
            <a:pPr marL="457200" lvl="1" indent="0"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x, y;</a:t>
            </a:r>
          </a:p>
          <a:p>
            <a:pPr marL="457200" lvl="1" indent="0"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*foo;</a:t>
            </a:r>
          </a:p>
          <a:p>
            <a:pPr marL="457200" lvl="1" indent="0"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marL="457200" lvl="1" indent="0"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x = 5;</a:t>
            </a:r>
          </a:p>
          <a:p>
            <a:pPr marL="457200" lvl="1" indent="0"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foo = &amp;x;</a:t>
            </a:r>
          </a:p>
          <a:p>
            <a:pPr marL="457200" lvl="1" indent="0"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y = *foo;</a:t>
            </a:r>
          </a:p>
          <a:p>
            <a:pPr marL="457200" lvl="1" indent="0">
              <a:buFont typeface="Arial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("%d\n", y);</a:t>
            </a:r>
          </a:p>
          <a:p>
            <a:pPr marL="457200" lvl="1" indent="0">
              <a:buFont typeface="Arial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	return 0;  </a:t>
            </a:r>
          </a:p>
          <a:p>
            <a:pPr marL="457200" lvl="1" indent="0">
              <a:buFont typeface="Arial"/>
              <a:buNone/>
            </a:pPr>
            <a:r>
              <a:rPr lang="en-US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42439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Utilizing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You must first initialize a pointer before you can use it</a:t>
            </a:r>
          </a:p>
          <a:p>
            <a:r>
              <a:rPr lang="en-US" dirty="0"/>
              <a:t>What is printed?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sz="2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FAE72-BC3F-2741-BA6F-2BD57C51A2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6019800" cy="4351338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main(){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x;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*bar;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("%d\n", bar);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return 0; 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}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087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Utilizing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You must dereference a pointer before you can access the value it points to</a:t>
            </a:r>
          </a:p>
          <a:p>
            <a:r>
              <a:rPr lang="en-US" dirty="0"/>
              <a:t>What is printed?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altLang="en-US" dirty="0"/>
              <a:t>	</a:t>
            </a:r>
            <a:endParaRPr lang="en-US" altLang="en-US" sz="2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13C7FD-8EAB-A24E-8B89-3B8B73B79C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6019800" cy="4351338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main(){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x;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*bar;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x = 5;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bar = &amp;x;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("%d\n", bar);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return 0;  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83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Utilizing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Here is the correct code</a:t>
            </a:r>
          </a:p>
          <a:p>
            <a:r>
              <a:rPr lang="en-US" dirty="0"/>
              <a:t>What is printed?</a:t>
            </a:r>
          </a:p>
          <a:p>
            <a:pPr marL="0" indent="0">
              <a:buNone/>
            </a:pPr>
            <a:endParaRPr lang="en-US" altLang="en-US" sz="2800" dirty="0"/>
          </a:p>
          <a:p>
            <a:pPr marL="457200" lvl="1" indent="0">
              <a:buNone/>
            </a:pPr>
            <a:r>
              <a:rPr lang="en-US" altLang="en-US" dirty="0"/>
              <a:t>	</a:t>
            </a:r>
            <a:endParaRPr lang="en-US" altLang="en-US" sz="2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59071-730A-C042-9E2D-1A002C104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50924" cy="4351338"/>
          </a:xfrm>
        </p:spPr>
        <p:txBody>
          <a:bodyPr/>
          <a:lstStyle/>
          <a:p>
            <a:pPr marL="457200" lvl="1" indent="0">
              <a:buNone/>
            </a:pP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main(){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x;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*bar;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x = 5;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bar = &amp;x;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en-US" sz="28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("%d\n", *bar);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	return 0;  </a:t>
            </a:r>
          </a:p>
          <a:p>
            <a:pPr marL="457200" lvl="1" indent="0">
              <a:buNone/>
            </a:pPr>
            <a:r>
              <a:rPr lang="en-US" alt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685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Arrays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In C an array variable is a type of pointer</a:t>
            </a:r>
          </a:p>
          <a:p>
            <a:r>
              <a:rPr lang="en-US" dirty="0"/>
              <a:t>Because it stores a memory address </a:t>
            </a:r>
          </a:p>
          <a:p>
            <a:r>
              <a:rPr lang="en-US" dirty="0"/>
              <a:t>The memory address an array variable stores is the memory address of the first element in the array</a:t>
            </a:r>
          </a:p>
          <a:p>
            <a:r>
              <a:rPr lang="en-US" dirty="0"/>
              <a:t>To access other elements in an array, we can use pointer arithmetic </a:t>
            </a:r>
          </a:p>
          <a:p>
            <a:endParaRPr lang="en-US" alt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9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Arrays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By multiplying the size of the data type by the index of the array we want to access, we can generate an offset</a:t>
            </a:r>
          </a:p>
          <a:p>
            <a:r>
              <a:rPr lang="en-US" dirty="0"/>
              <a:t>We then add this offset to the memory address where the array starts, leaving us with the memory location for the element at the specified index </a:t>
            </a:r>
          </a:p>
          <a:p>
            <a:endParaRPr lang="en-US" altLang="en-US" sz="2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1F9373-3CD8-F241-A0F0-DAD2A7EDC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60198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main(){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a[5];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void *foo = (void*) a;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//0x4 represents the size of an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foo = foo + (0x4 * 3);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*bar = (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*) foo;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*bar = 256;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("%d\n", a[3]); //prints 256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768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Arrays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Manually calculating index locations is problematic </a:t>
            </a:r>
          </a:p>
          <a:p>
            <a:pPr lvl="1"/>
            <a:r>
              <a:rPr lang="en-US" dirty="0"/>
              <a:t>Doing pointer arithmetic is very insecure, with a high probability for user error </a:t>
            </a:r>
          </a:p>
          <a:p>
            <a:pPr lvl="1"/>
            <a:r>
              <a:rPr lang="en-US" dirty="0"/>
              <a:t>Such a calculation is very common and would be very verbose </a:t>
            </a:r>
          </a:p>
          <a:p>
            <a:r>
              <a:rPr lang="en-US" dirty="0"/>
              <a:t>C abstracts this calculation with the array subscript operator []</a:t>
            </a:r>
          </a:p>
          <a:p>
            <a:r>
              <a:rPr lang="en-US" dirty="0"/>
              <a:t>This calculation is why arrays start at index zero </a:t>
            </a:r>
          </a:p>
          <a:p>
            <a:r>
              <a:rPr lang="en-US" dirty="0"/>
              <a:t>Because an array variable is a type of pointer in C, there is no associated size property </a:t>
            </a:r>
            <a:endParaRPr lang="en-US" alt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837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Strings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870622" cy="4351338"/>
          </a:xfrm>
        </p:spPr>
        <p:txBody>
          <a:bodyPr>
            <a:noAutofit/>
          </a:bodyPr>
          <a:lstStyle/>
          <a:p>
            <a:r>
              <a:rPr lang="en-US" dirty="0"/>
              <a:t>There is no string data type in C </a:t>
            </a:r>
          </a:p>
          <a:p>
            <a:r>
              <a:rPr lang="en-US" dirty="0"/>
              <a:t>We must store string information in an array of characters </a:t>
            </a:r>
          </a:p>
          <a:p>
            <a:r>
              <a:rPr lang="en-US" dirty="0"/>
              <a:t>But arrays do not have an associated size property</a:t>
            </a:r>
          </a:p>
          <a:p>
            <a:r>
              <a:rPr lang="en-US" dirty="0"/>
              <a:t>How do we know when we’ve reached the end of our string?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835C943-E588-FD45-811F-EA2F4F4C7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08822" y="1825625"/>
            <a:ext cx="6483178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main(){</a:t>
            </a:r>
            <a:b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char foo[] = "Hello World";</a:t>
            </a:r>
            <a:b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char bar[] = {'H','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',' ','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W','o','r','l','d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'};</a:t>
            </a:r>
            <a:b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b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char ram[3];</a:t>
            </a:r>
            <a:b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ram[0] = 'd'; </a:t>
            </a:r>
            <a:b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ram[1] = 'e';</a:t>
            </a:r>
            <a:b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ram[2] = 'v';</a:t>
            </a:r>
            <a:b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("%s\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n",foo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); //???</a:t>
            </a:r>
            <a:b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("%s\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n",bar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); //???</a:t>
            </a:r>
            <a:b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("%s\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n",ram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); //???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22906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Strings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771768" cy="4351338"/>
          </a:xfrm>
        </p:spPr>
        <p:txBody>
          <a:bodyPr>
            <a:noAutofit/>
          </a:bodyPr>
          <a:lstStyle/>
          <a:p>
            <a:r>
              <a:rPr lang="en-US" dirty="0"/>
              <a:t>We must use a null terminator </a:t>
            </a:r>
          </a:p>
          <a:p>
            <a:r>
              <a:rPr lang="en-US" dirty="0"/>
              <a:t>The null terminator used is the null character, a character who’s integer value is 0</a:t>
            </a:r>
          </a:p>
          <a:p>
            <a:r>
              <a:rPr lang="en-US" dirty="0"/>
              <a:t>It is commonly written as '\0'</a:t>
            </a:r>
          </a:p>
          <a:p>
            <a:r>
              <a:rPr lang="en-US" dirty="0"/>
              <a:t>The length of a null terminated String can be determined by iterating over the String until the null terminator is reached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3F6B06-1328-D14C-A226-BF1858755F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09968" y="1825625"/>
            <a:ext cx="6582032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main(){</a:t>
            </a:r>
            <a:b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char foo[] = "Hello World";</a:t>
            </a:r>
            <a:b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char bar[] = </a:t>
            </a:r>
            <a:b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{'H','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',' ','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W','o','r','l','d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','\0'};</a:t>
            </a:r>
            <a:b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b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char ram[3];</a:t>
            </a:r>
            <a:b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ram[0] = 'd'; ram[1] = 'e';</a:t>
            </a:r>
            <a:b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ram[2] = 'v'; </a:t>
            </a: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ram[4]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= '\0';</a:t>
            </a:r>
            <a:b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("%s\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n",foo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); //Hello World</a:t>
            </a:r>
            <a:b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("%s\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n",bar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); //Hi World</a:t>
            </a:r>
            <a:b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("%s\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n",ram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); //dev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402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Strings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Make sure you always null terminate your strings, failure to do so can cause unexpected output </a:t>
            </a:r>
          </a:p>
          <a:p>
            <a:r>
              <a:rPr lang="en-US" dirty="0"/>
              <a:t>Although there is no string data type in C, the language does have some string support </a:t>
            </a:r>
          </a:p>
          <a:p>
            <a:r>
              <a:rPr lang="en-US" dirty="0"/>
              <a:t>String literals can be defined using "" </a:t>
            </a:r>
          </a:p>
          <a:p>
            <a:pPr lvl="1"/>
            <a:r>
              <a:rPr lang="en-US" dirty="0"/>
              <a:t>This creates a null terminated character array and returns a pointer</a:t>
            </a:r>
          </a:p>
          <a:p>
            <a:r>
              <a:rPr lang="en-US" dirty="0" err="1"/>
              <a:t>printf</a:t>
            </a:r>
            <a:r>
              <a:rPr lang="en-US" dirty="0"/>
              <a:t> supports printing out strings with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%s</a:t>
            </a:r>
            <a:r>
              <a:rPr lang="en-US" dirty="0"/>
              <a:t> print formatter </a:t>
            </a:r>
          </a:p>
          <a:p>
            <a:pPr lvl="1"/>
            <a:r>
              <a:rPr lang="en-US" dirty="0"/>
              <a:t>As opposed to printing out each character of a character array individually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674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Strings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Other string functionality is provided by the </a:t>
            </a:r>
            <a:r>
              <a:rPr lang="en-US" dirty="0" err="1"/>
              <a:t>string.h</a:t>
            </a:r>
            <a:r>
              <a:rPr lang="en-US" dirty="0"/>
              <a:t> library </a:t>
            </a:r>
          </a:p>
          <a:p>
            <a:r>
              <a:rPr lang="en-US" dirty="0"/>
              <a:t>Functions such as: 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strlen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strcmp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(str1, str2)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strcpy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(str1, str2)</a:t>
            </a:r>
          </a:p>
          <a:p>
            <a:pPr marL="0" indent="0">
              <a:buNone/>
            </a:pPr>
            <a:r>
              <a:rPr lang="en-US" dirty="0"/>
              <a:t>   are incredibly useful when working with strings in C 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632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Pointers as Function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C is a pass by value language, which means the called function is given a copy of its arguments, and does not know their addresses, so it is impossible to change the value of a variable from inside a function</a:t>
            </a:r>
          </a:p>
          <a:p>
            <a:pPr marL="0" indent="0">
              <a:buNone/>
            </a:pPr>
            <a:endParaRPr lang="en-US" alt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492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Pointers as Function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304005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void swapping (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c,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d) {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temp;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temp = c;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c = d;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d = temp;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("In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: %d %d\n", c, d);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545784" y="1822065"/>
            <a:ext cx="5646216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main(void){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a;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b;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a = 5;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b = 10;</a:t>
            </a:r>
          </a:p>
          <a:p>
            <a:pPr marL="0" indent="0">
              <a:buNone/>
            </a:pP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("input: %d %d\n", a, b);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swapping(a, b);</a:t>
            </a:r>
          </a:p>
          <a:p>
            <a:pPr marL="0" indent="0">
              <a:buNone/>
            </a:pP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("input: %d %d\n", a, b);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return 0;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en-US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 typeface="Arial"/>
              <a:buNone/>
            </a:pPr>
            <a:endParaRPr lang="en-US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479822" y="1818505"/>
            <a:ext cx="23869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input: 5 10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In </a:t>
            </a:r>
            <a:r>
              <a:rPr lang="en-US" sz="2400" dirty="0" err="1">
                <a:solidFill>
                  <a:schemeClr val="accent1"/>
                </a:solidFill>
              </a:rPr>
              <a:t>func</a:t>
            </a:r>
            <a:r>
              <a:rPr lang="en-US" sz="2400" dirty="0">
                <a:solidFill>
                  <a:schemeClr val="accent1"/>
                </a:solidFill>
              </a:rPr>
              <a:t>: 10 5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input: 5 10</a:t>
            </a:r>
          </a:p>
        </p:txBody>
      </p:sp>
    </p:spTree>
    <p:extLst>
      <p:ext uri="{BB962C8B-B14F-4D97-AF65-F5344CB8AC3E}">
        <p14:creationId xmlns:p14="http://schemas.microsoft.com/office/powerpoint/2010/main" val="785571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Pointers as Function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C is a pass by value language, which means the called function is given a copy of its arguments, and does not know their addresses, so it is impossible to change the value of a variable from inside a function</a:t>
            </a:r>
          </a:p>
          <a:p>
            <a:r>
              <a:rPr lang="en-US" altLang="en-US" dirty="0"/>
              <a:t>You can get around this by using pointers</a:t>
            </a:r>
          </a:p>
          <a:p>
            <a:r>
              <a:rPr lang="en-US" altLang="en-US" dirty="0"/>
              <a:t>If you pass the reference of the variable to the function, you can alter the variables in the main from the function</a:t>
            </a:r>
          </a:p>
          <a:p>
            <a:pPr marL="0" indent="0">
              <a:buNone/>
            </a:pPr>
            <a:endParaRPr lang="en-US" alt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214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Pointers as Function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6304005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void swapping (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*c,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*d) {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temp;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temp = *c;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*c = *d;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*d = temp;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("In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func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: %d %d\n", *c, *d);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545784" y="1822065"/>
            <a:ext cx="5646216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main(void){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a;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b;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a = 5;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b = 10;</a:t>
            </a:r>
          </a:p>
          <a:p>
            <a:pPr marL="0" indent="0">
              <a:buNone/>
            </a:pP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("input: %d %d\n", a, b);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swapping(&amp;a, &amp;b);</a:t>
            </a:r>
          </a:p>
          <a:p>
            <a:pPr marL="0" indent="0">
              <a:buNone/>
            </a:pP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("input: %d %d\n", a, b);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return 0;</a:t>
            </a:r>
          </a:p>
          <a:p>
            <a:pPr marL="0" indent="0"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altLang="en-US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Font typeface="Arial"/>
              <a:buNone/>
            </a:pPr>
            <a:endParaRPr lang="en-US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479822" y="1818505"/>
            <a:ext cx="23869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input: 5 10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In function: 10 5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input: 10 5</a:t>
            </a:r>
          </a:p>
        </p:txBody>
      </p:sp>
    </p:spTree>
    <p:extLst>
      <p:ext uri="{BB962C8B-B14F-4D97-AF65-F5344CB8AC3E}">
        <p14:creationId xmlns:p14="http://schemas.microsoft.com/office/powerpoint/2010/main" val="4925021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Reading Input From a File Using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08673"/>
          </a:xfrm>
        </p:spPr>
        <p:txBody>
          <a:bodyPr>
            <a:noAutofit/>
          </a:bodyPr>
          <a:lstStyle/>
          <a:p>
            <a:r>
              <a:rPr lang="en-US" dirty="0"/>
              <a:t>C uses the </a:t>
            </a:r>
            <a:r>
              <a:rPr lang="en-US" dirty="0" err="1">
                <a:hlinkClick r:id="rId2"/>
              </a:rPr>
              <a:t>stdio.h</a:t>
            </a:r>
            <a:r>
              <a:rPr lang="en-US" dirty="0"/>
              <a:t> library to provide File IO</a:t>
            </a:r>
          </a:p>
          <a:p>
            <a:r>
              <a:rPr lang="en-US" dirty="0"/>
              <a:t>Before a file can be read or written, it must be opened </a:t>
            </a:r>
          </a:p>
          <a:p>
            <a:r>
              <a:rPr lang="en-US" dirty="0"/>
              <a:t>The function </a:t>
            </a:r>
            <a:r>
              <a:rPr lang="en-US" dirty="0" err="1"/>
              <a:t>fopen</a:t>
            </a:r>
            <a:r>
              <a:rPr lang="en-US" dirty="0"/>
              <a:t> takes a </a:t>
            </a:r>
            <a:r>
              <a:rPr lang="en-US" dirty="0" err="1"/>
              <a:t>filepath</a:t>
            </a:r>
            <a:r>
              <a:rPr lang="en-US" dirty="0"/>
              <a:t> and returns a pointer of type FILE when successful, returns a null pointer if the file could not be opened</a:t>
            </a:r>
          </a:p>
          <a:p>
            <a:r>
              <a:rPr lang="en-US" dirty="0"/>
              <a:t>FILE is a data type defined in </a:t>
            </a:r>
            <a:r>
              <a:rPr lang="en-US" dirty="0" err="1"/>
              <a:t>stdio.h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FILE *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fopen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Foo.txt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 , "r+");</a:t>
            </a:r>
          </a:p>
          <a:p>
            <a:r>
              <a:rPr lang="en-US" altLang="en-US" sz="2800" dirty="0"/>
              <a:t>The second argument is for the mode parameter </a:t>
            </a:r>
          </a:p>
          <a:p>
            <a:r>
              <a:rPr lang="en-US" altLang="en-US" dirty="0"/>
              <a:t>Mode determines what operations can be done on the file</a:t>
            </a:r>
          </a:p>
          <a:p>
            <a:r>
              <a:rPr lang="en-US" altLang="en-US" sz="2800" dirty="0">
                <a:hlinkClick r:id="rId3"/>
              </a:rPr>
              <a:t>Documentation link</a:t>
            </a:r>
            <a:endParaRPr lang="en-US" alt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4806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Reading Input From a File Using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610232" cy="4351338"/>
          </a:xfrm>
        </p:spPr>
        <p:txBody>
          <a:bodyPr>
            <a:noAutofit/>
          </a:bodyPr>
          <a:lstStyle/>
          <a:p>
            <a:r>
              <a:rPr lang="en-US" altLang="en-US" dirty="0"/>
              <a:t>Once the file is open, you can use </a:t>
            </a:r>
            <a:r>
              <a:rPr lang="en-US" altLang="en-US" dirty="0" err="1"/>
              <a:t>fscanf</a:t>
            </a:r>
            <a:r>
              <a:rPr lang="en-US" altLang="en-US" dirty="0"/>
              <a:t> to read from a file and </a:t>
            </a:r>
            <a:r>
              <a:rPr lang="en-US" altLang="en-US" dirty="0" err="1"/>
              <a:t>fprintf</a:t>
            </a:r>
            <a:r>
              <a:rPr lang="en-US" altLang="en-US" dirty="0"/>
              <a:t> to write to a file</a:t>
            </a:r>
          </a:p>
          <a:p>
            <a:r>
              <a:rPr lang="en-US" altLang="en-US" dirty="0"/>
              <a:t>Both of these functions allow you to format your reading from or printing to a file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686DA-25C4-B24C-9259-D8F704944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8432" y="1825625"/>
            <a:ext cx="774356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FILE *</a:t>
            </a:r>
            <a:r>
              <a:rPr lang="en-US" alt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ifp</a:t>
            </a:r>
            <a:r>
              <a:rPr lang="en-US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, *</a:t>
            </a:r>
            <a:r>
              <a:rPr lang="en-US" alt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ofp</a:t>
            </a:r>
            <a:r>
              <a:rPr lang="en-US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char username[9];</a:t>
            </a:r>
          </a:p>
          <a:p>
            <a:pPr marL="0" indent="0">
              <a:buNone/>
            </a:pPr>
            <a:r>
              <a:rPr lang="en-US" alt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score;</a:t>
            </a:r>
          </a:p>
          <a:p>
            <a:pPr marL="0" indent="0">
              <a:buNone/>
            </a:pPr>
            <a:r>
              <a:rPr lang="en-US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while(</a:t>
            </a:r>
            <a:r>
              <a:rPr lang="en-US" alt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fscanf</a:t>
            </a:r>
            <a:r>
              <a:rPr lang="en-US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ifp</a:t>
            </a:r>
            <a:r>
              <a:rPr lang="en-US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, "%s %d", username, &amp;score) != EOF) {</a:t>
            </a:r>
          </a:p>
          <a:p>
            <a:pPr marL="0" indent="0">
              <a:buNone/>
            </a:pPr>
            <a:r>
              <a:rPr lang="en-US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alt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fprintf</a:t>
            </a:r>
            <a:r>
              <a:rPr lang="en-US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ofp</a:t>
            </a:r>
            <a:r>
              <a:rPr lang="en-US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, "%s %d\n", username, score+10);</a:t>
            </a:r>
          </a:p>
          <a:p>
            <a:pPr marL="0" indent="0">
              <a:buNone/>
            </a:pPr>
            <a:r>
              <a:rPr lang="en-US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7064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Reading Input From a File Using Pointers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main()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char username[9];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score;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FILE *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ifp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, *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ofp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ifp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fopen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test.txt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", "r");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ofp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fopen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output.txt","w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");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while (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fscanf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ifp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, "%s %d", username, &amp;score) != EOF)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fprintf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ofp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, "%s %d\n", username, score+10);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return 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919153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74384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80066</TotalTime>
  <Words>1112</Words>
  <Application>Microsoft Macintosh PowerPoint</Application>
  <PresentationFormat>Widescreen</PresentationFormat>
  <Paragraphs>237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Consolas</vt:lpstr>
      <vt:lpstr>Office Theme</vt:lpstr>
      <vt:lpstr>CMSC 304</vt:lpstr>
      <vt:lpstr>Pointer Basics</vt:lpstr>
      <vt:lpstr>Pointer Basics</vt:lpstr>
      <vt:lpstr>Pointer Basics</vt:lpstr>
      <vt:lpstr>Pointer Basics</vt:lpstr>
      <vt:lpstr>Pointer Basics</vt:lpstr>
      <vt:lpstr>Utilizing Pointers</vt:lpstr>
      <vt:lpstr>Utilizing Pointers</vt:lpstr>
      <vt:lpstr>Utilizing Pointers</vt:lpstr>
      <vt:lpstr>Arrays in C</vt:lpstr>
      <vt:lpstr>Arrays in C</vt:lpstr>
      <vt:lpstr>Arrays in C</vt:lpstr>
      <vt:lpstr>Strings in C</vt:lpstr>
      <vt:lpstr>Strings in C</vt:lpstr>
      <vt:lpstr>Strings in C</vt:lpstr>
      <vt:lpstr>Strings in C</vt:lpstr>
      <vt:lpstr>Pointers as Function Arguments</vt:lpstr>
      <vt:lpstr>Pointers as Function Arguments</vt:lpstr>
      <vt:lpstr>Pointers as Function Arguments</vt:lpstr>
      <vt:lpstr>Pointers as Function Arguments</vt:lpstr>
      <vt:lpstr>Reading Input From a File Using Pointers</vt:lpstr>
      <vt:lpstr>Reading Input From a File Using Pointers</vt:lpstr>
      <vt:lpstr>Reading Input From a File Using Pointers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CMSC 403</dc:title>
  <dc:creator>Microsoft Office User</dc:creator>
  <cp:lastModifiedBy>Microsoft Office User</cp:lastModifiedBy>
  <cp:revision>451</cp:revision>
  <cp:lastPrinted>2017-09-07T16:13:53Z</cp:lastPrinted>
  <dcterms:created xsi:type="dcterms:W3CDTF">2017-05-31T17:26:26Z</dcterms:created>
  <dcterms:modified xsi:type="dcterms:W3CDTF">2025-02-10T16:22:42Z</dcterms:modified>
</cp:coreProperties>
</file>