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639" r:id="rId3"/>
    <p:sldId id="642" r:id="rId4"/>
    <p:sldId id="643" r:id="rId5"/>
    <p:sldId id="633" r:id="rId6"/>
    <p:sldId id="645" r:id="rId7"/>
    <p:sldId id="646" r:id="rId8"/>
    <p:sldId id="648" r:id="rId9"/>
    <p:sldId id="649" r:id="rId10"/>
    <p:sldId id="637" r:id="rId11"/>
    <p:sldId id="634" r:id="rId12"/>
    <p:sldId id="650" r:id="rId13"/>
    <p:sldId id="575" r:id="rId14"/>
    <p:sldId id="606" r:id="rId15"/>
    <p:sldId id="601" r:id="rId16"/>
    <p:sldId id="651" r:id="rId17"/>
    <p:sldId id="603" r:id="rId18"/>
    <p:sldId id="604" r:id="rId19"/>
    <p:sldId id="605" r:id="rId20"/>
    <p:sldId id="652" r:id="rId21"/>
    <p:sldId id="607" r:id="rId22"/>
    <p:sldId id="653" r:id="rId23"/>
    <p:sldId id="654" r:id="rId24"/>
    <p:sldId id="655" r:id="rId25"/>
    <p:sldId id="667" r:id="rId26"/>
    <p:sldId id="498" r:id="rId27"/>
    <p:sldId id="666" r:id="rId28"/>
    <p:sldId id="656" r:id="rId29"/>
    <p:sldId id="57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08"/>
    <p:restoredTop sz="83422"/>
  </p:normalViewPr>
  <p:slideViewPr>
    <p:cSldViewPr snapToGrid="0" snapToObjects="1">
      <p:cViewPr varScale="1">
        <p:scale>
          <a:sx n="100" d="100"/>
          <a:sy n="100" d="100"/>
        </p:scale>
        <p:origin x="17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C3FBE-CC6D-C84E-A32C-3E7139D0BEF1}" type="datetimeFigureOut">
              <a:rPr lang="en-US" smtClean="0"/>
              <a:t>8/15/25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AC0DA4-3FAE-DF4B-9554-5D7B5414A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2259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54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Modern versions of C have tweaked how Booleans work but let’s stick with the OG understanding and build up from first principles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A GREAT REASON WHY YOU DON’T TRUST CHAT MINDLESSLY!! </a:t>
            </a:r>
            <a:br>
              <a:rPr lang="en-US" dirty="0"/>
            </a:br>
            <a:r>
              <a:rPr lang="en-US" dirty="0"/>
              <a:t>”Does C support Booleans?” </a:t>
            </a:r>
            <a:r>
              <a:rPr lang="en-US" dirty="0">
                <a:sym typeface="Wingdings" pitchFamily="2" charset="2"/>
              </a:rPr>
              <a:t> ”yes it does, here’s some working code examples” but not telling you it’s all C23 code examples and that’s NOT what we’re talking about!!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ACC1F-EB48-DD42-B1BD-78CF89909D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08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char is an integral number!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Function is a derived type because it takes in types as input and returns types as output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	Ok so you can have a function that doesn’t take in any data or return anything but leave me alone idk classification is hard! 😭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BACC1F-EB48-DD42-B1BD-78CF89909D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021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9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05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function prototype is a forward deceleration</a:t>
            </a:r>
            <a:r>
              <a:rPr lang="en-US"/>
              <a:t>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9595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3450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9968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gcc</a:t>
            </a:r>
            <a:r>
              <a:rPr lang="en-US" dirty="0"/>
              <a:t> -std=c99 -o </a:t>
            </a:r>
            <a:r>
              <a:rPr lang="en-US" dirty="0" err="1"/>
              <a:t>HelloWorld.out</a:t>
            </a:r>
            <a:r>
              <a:rPr lang="en-US" dirty="0"/>
              <a:t> </a:t>
            </a:r>
            <a:r>
              <a:rPr lang="en-US" dirty="0" err="1"/>
              <a:t>HelloWorld.c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745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6962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like, yes, if each piece of memory stores a byte and a word is 4 bytes, then each word requires 4 storage locations to </a:t>
            </a:r>
            <a:r>
              <a:rPr lang="en-US"/>
              <a:t>be stored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073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00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Objects don’t mean OO objects here </a:t>
            </a:r>
          </a:p>
          <a:p>
            <a:r>
              <a:rPr lang="en-US" dirty="0"/>
              <a:t>how do we bind identifiers to memory locations. This is the only thing we are talking about.</a:t>
            </a:r>
          </a:p>
          <a:p>
            <a:r>
              <a:rPr lang="en-US" dirty="0"/>
              <a:t>These are 3 separate techniques for maintaining these bindings. 3 separate ways to implement binding identifier to a memory location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8174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230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945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could use lexical addresses to completely replace variable names</a:t>
            </a:r>
            <a:b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/>
              <a:t>Some scope rules are inherent to the runtime environment, others are contrived and enforced at </a:t>
            </a:r>
            <a:r>
              <a:rPr lang="en-US" altLang="en-US"/>
              <a:t>compile time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143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 could use lexical addresses to completely replace variable names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AC0DA4-3FAE-DF4B-9554-5D7B5414A6C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185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8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450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232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407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3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83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002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1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57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78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97D23-1D1C-734C-9188-3D38F4DBA869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554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97D23-1D1C-734C-9188-3D38F4DBA869}" type="datetimeFigureOut">
              <a:rPr lang="en-US" smtClean="0"/>
              <a:t>8/15/25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726966-79DA-234F-B9D6-D01F1009F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44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CMSC 304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 to C &amp; The Environment</a:t>
            </a:r>
          </a:p>
          <a:p>
            <a:r>
              <a:rPr lang="en-US" dirty="0"/>
              <a:t>Claire Sparks</a:t>
            </a:r>
          </a:p>
        </p:txBody>
      </p:sp>
    </p:spTree>
    <p:extLst>
      <p:ext uri="{BB962C8B-B14F-4D97-AF65-F5344CB8AC3E}">
        <p14:creationId xmlns:p14="http://schemas.microsoft.com/office/powerpoint/2010/main" val="700718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0527"/>
          </a:xfrm>
        </p:spPr>
        <p:txBody>
          <a:bodyPr>
            <a:noAutofit/>
          </a:bodyPr>
          <a:lstStyle/>
          <a:p>
            <a:r>
              <a:rPr lang="en-US" altLang="en-US" dirty="0"/>
              <a:t>C is a high level, compiled, imperative programming language</a:t>
            </a:r>
          </a:p>
          <a:p>
            <a:pPr lvl="1"/>
            <a:r>
              <a:rPr lang="en-US" altLang="en-US" dirty="0"/>
              <a:t>First released in 1972 (!)</a:t>
            </a:r>
          </a:p>
          <a:p>
            <a:r>
              <a:rPr lang="en-US" altLang="en-US" dirty="0"/>
              <a:t>C is an imperative language like Java and it's underlying behaviors are similar </a:t>
            </a:r>
          </a:p>
          <a:p>
            <a:pPr lvl="1"/>
            <a:r>
              <a:rPr lang="en-US" altLang="en-US" dirty="0"/>
              <a:t>C was a major inspiration for Java and other later imperative languages  </a:t>
            </a:r>
          </a:p>
          <a:p>
            <a:r>
              <a:rPr lang="en-US" altLang="en-US" dirty="0"/>
              <a:t>But C was developed in an era where computational power was </a:t>
            </a:r>
            <a:r>
              <a:rPr lang="en-US" altLang="en-US" i="1" dirty="0"/>
              <a:t>much</a:t>
            </a:r>
            <a:r>
              <a:rPr lang="en-US" altLang="en-US" dirty="0"/>
              <a:t> more scarce </a:t>
            </a:r>
          </a:p>
          <a:p>
            <a:pPr lvl="1"/>
            <a:r>
              <a:rPr lang="en-US" altLang="en-US" dirty="0"/>
              <a:t>While still a high level language, there's less abstraction than more modern languages </a:t>
            </a:r>
          </a:p>
          <a:p>
            <a:pPr lvl="1"/>
            <a:r>
              <a:rPr lang="en-US" altLang="en-US" dirty="0"/>
              <a:t>Requiring us as programmers to engage with concepts other languages abstract away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511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 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806"/>
          </a:xfrm>
        </p:spPr>
        <p:txBody>
          <a:bodyPr>
            <a:noAutofit/>
          </a:bodyPr>
          <a:lstStyle/>
          <a:p>
            <a:r>
              <a:rPr lang="en-US" altLang="en-US" dirty="0"/>
              <a:t>C has two categories of data types:</a:t>
            </a:r>
          </a:p>
          <a:p>
            <a:pPr lvl="1"/>
            <a:r>
              <a:rPr lang="en-US" altLang="en-US" dirty="0"/>
              <a:t>Basic types</a:t>
            </a:r>
          </a:p>
          <a:p>
            <a:pPr lvl="2"/>
            <a:r>
              <a:rPr lang="en-US" alt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endParaRPr lang="en-US" altLang="en-US" sz="2400" dirty="0"/>
          </a:p>
          <a:p>
            <a:pPr lvl="2"/>
            <a:r>
              <a:rPr lang="en-US" altLang="en-US" sz="2400" dirty="0"/>
              <a:t>Numeric types:</a:t>
            </a:r>
          </a:p>
          <a:p>
            <a:pPr lvl="3"/>
            <a:r>
              <a:rPr lang="en-US" altLang="en-US" sz="2200" dirty="0"/>
              <a:t>Integers</a:t>
            </a:r>
            <a:r>
              <a:rPr lang="en-US" altLang="en-US" sz="2200" b="1" dirty="0"/>
              <a:t> </a:t>
            </a:r>
            <a:r>
              <a:rPr lang="en-US" altLang="en-US" sz="2200" dirty="0"/>
              <a:t>(12 possible kinds)</a:t>
            </a:r>
          </a:p>
          <a:p>
            <a:pPr lvl="4"/>
            <a:r>
              <a:rPr lang="en-US" altLang="en-US" sz="2000" dirty="0"/>
              <a:t>Integer types can be signed or unsigned</a:t>
            </a:r>
          </a:p>
          <a:p>
            <a:pPr lvl="3"/>
            <a:r>
              <a:rPr lang="en-US" altLang="en-US" sz="2400" dirty="0"/>
              <a:t>Real numbers (3 possible kinds)</a:t>
            </a:r>
          </a:p>
          <a:p>
            <a:pPr lvl="2"/>
            <a:r>
              <a:rPr lang="en-US" altLang="en-US" sz="2400" dirty="0"/>
              <a:t>No Boolean type! </a:t>
            </a:r>
          </a:p>
          <a:p>
            <a:pPr lvl="3"/>
            <a:r>
              <a:rPr lang="en-US" altLang="en-US" sz="2200" dirty="0"/>
              <a:t>In C, 0 represents false and all other numeric values represent true </a:t>
            </a:r>
          </a:p>
          <a:p>
            <a:pPr lvl="1"/>
            <a:r>
              <a:rPr lang="en-US" altLang="en-US" dirty="0"/>
              <a:t>Derived types</a:t>
            </a:r>
          </a:p>
          <a:p>
            <a:pPr lvl="2"/>
            <a:r>
              <a:rPr lang="en-US" altLang="en-US" sz="2200" dirty="0"/>
              <a:t>Combine existing types into a new data type</a:t>
            </a:r>
          </a:p>
          <a:p>
            <a:pPr lvl="3"/>
            <a:r>
              <a:rPr lang="en-US" altLang="en-US" sz="2000" dirty="0"/>
              <a:t>i.e. they are </a:t>
            </a:r>
            <a:r>
              <a:rPr lang="en-US" altLang="en-US" sz="2000" i="1" dirty="0"/>
              <a:t>derived</a:t>
            </a:r>
            <a:r>
              <a:rPr lang="en-US" altLang="en-US" sz="2000" dirty="0"/>
              <a:t> from other data types </a:t>
            </a:r>
          </a:p>
          <a:p>
            <a:pPr lvl="3"/>
            <a:r>
              <a:rPr lang="en-US" altLang="en-US" sz="2000" dirty="0"/>
              <a:t>Also referred to as compound data types</a:t>
            </a:r>
          </a:p>
          <a:p>
            <a:pPr lvl="2"/>
            <a:endParaRPr lang="en-US" altLang="en-US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094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255" y="365125"/>
            <a:ext cx="7448390" cy="6332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 Data 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95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Basic Program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0527"/>
          </a:xfrm>
        </p:spPr>
        <p:txBody>
          <a:bodyPr>
            <a:noAutofit/>
          </a:bodyPr>
          <a:lstStyle/>
          <a:p>
            <a:r>
              <a:rPr lang="en-US" altLang="en-US" dirty="0"/>
              <a:t>Must have a defined entry point</a:t>
            </a:r>
          </a:p>
          <a:p>
            <a:pPr lvl="1"/>
            <a:r>
              <a:rPr lang="en-US" alt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main(void)</a:t>
            </a:r>
          </a:p>
          <a:p>
            <a:pPr lvl="2"/>
            <a:r>
              <a:rPr lang="en-US" altLang="en-US" dirty="0"/>
              <a:t>The return value is a signal to the OS, not something we're worried about</a:t>
            </a:r>
          </a:p>
          <a:p>
            <a:r>
              <a:rPr lang="en-US" altLang="en-US" dirty="0"/>
              <a:t>C is a statically typed language </a:t>
            </a:r>
          </a:p>
          <a:p>
            <a:pPr lvl="1"/>
            <a:r>
              <a:rPr lang="en-US" altLang="en-US" dirty="0"/>
              <a:t>All variable declarations must specify the type of data they store</a:t>
            </a:r>
          </a:p>
          <a:p>
            <a:pPr lvl="1"/>
            <a:r>
              <a:rPr lang="en-US" altLang="en-US" dirty="0"/>
              <a:t>Typing system is not very robust and can be subverted with little effort </a:t>
            </a:r>
          </a:p>
          <a:p>
            <a:pPr lvl="2"/>
            <a:r>
              <a:rPr lang="en-US" altLang="en-US" dirty="0"/>
              <a:t>In C, the type rules are more like guidelines </a:t>
            </a:r>
          </a:p>
          <a:p>
            <a:pPr lvl="2"/>
            <a:r>
              <a:rPr lang="en-US" altLang="en-US" dirty="0"/>
              <a:t>Very, very unsafe!</a:t>
            </a:r>
          </a:p>
          <a:p>
            <a:r>
              <a:rPr lang="en-US" altLang="en-US" dirty="0"/>
              <a:t>C programs are made up of header (.h) and source (.c) files</a:t>
            </a:r>
          </a:p>
          <a:p>
            <a:pPr lvl="1"/>
            <a:r>
              <a:rPr lang="en-US" altLang="en-US" dirty="0"/>
              <a:t>Each source file has an associated header file </a:t>
            </a:r>
          </a:p>
          <a:p>
            <a:r>
              <a:rPr lang="en-US" altLang="en-US" dirty="0"/>
              <a:t>Why have two files when other languages we've seen have one?</a:t>
            </a:r>
          </a:p>
          <a:p>
            <a:pPr lvl="1"/>
            <a:r>
              <a:rPr lang="en-US" altLang="en-US" i="1" dirty="0"/>
              <a:t>lot's</a:t>
            </a:r>
            <a:r>
              <a:rPr lang="en-US" altLang="en-US" dirty="0"/>
              <a:t> of reasons, we’ll cover ones relevant to us </a:t>
            </a:r>
          </a:p>
          <a:p>
            <a:pPr marL="457200" lvl="1" indent="0">
              <a:buNone/>
            </a:pP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038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 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0527"/>
          </a:xfrm>
        </p:spPr>
        <p:txBody>
          <a:bodyPr>
            <a:noAutofit/>
          </a:bodyPr>
          <a:lstStyle/>
          <a:p>
            <a:r>
              <a:rPr lang="en-US" dirty="0"/>
              <a:t>Constants</a:t>
            </a:r>
          </a:p>
          <a:p>
            <a:pPr lvl="1"/>
            <a:r>
              <a:rPr lang="en-US" dirty="0"/>
              <a:t>Defined in the header file using the #define keyword  </a:t>
            </a:r>
          </a:p>
          <a:p>
            <a:r>
              <a:rPr lang="en-US" dirty="0" err="1"/>
              <a:t>Enums</a:t>
            </a:r>
            <a:endParaRPr lang="en-US" dirty="0"/>
          </a:p>
          <a:p>
            <a:r>
              <a:rPr lang="en-US" dirty="0"/>
              <a:t>Structs  </a:t>
            </a:r>
          </a:p>
          <a:p>
            <a:pPr lvl="1"/>
            <a:r>
              <a:rPr lang="en-US" dirty="0"/>
              <a:t>Like an object with all public variables, no methods, no static variables</a:t>
            </a:r>
          </a:p>
          <a:p>
            <a:pPr lvl="1"/>
            <a:r>
              <a:rPr lang="en-US" dirty="0"/>
              <a:t>Structs have state but no behavior </a:t>
            </a:r>
          </a:p>
          <a:p>
            <a:r>
              <a:rPr lang="en-US" dirty="0"/>
              <a:t>Include statements</a:t>
            </a:r>
          </a:p>
          <a:p>
            <a:pPr lvl="1"/>
            <a:r>
              <a:rPr lang="en-US" dirty="0"/>
              <a:t>Similar to import statements in Java / Python </a:t>
            </a:r>
          </a:p>
          <a:p>
            <a:pPr lvl="1"/>
            <a:r>
              <a:rPr lang="en-US" dirty="0"/>
              <a:t>Can specify other header files to be included in compilation </a:t>
            </a:r>
          </a:p>
          <a:p>
            <a:pPr lvl="1"/>
            <a:r>
              <a:rPr lang="en-US" dirty="0"/>
              <a:t>Allows us access to any information (constants, </a:t>
            </a:r>
            <a:r>
              <a:rPr lang="en-US" dirty="0" err="1"/>
              <a:t>enums</a:t>
            </a:r>
            <a:r>
              <a:rPr lang="en-US" dirty="0"/>
              <a:t>, structs, functions) defined in those headers </a:t>
            </a: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1280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 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0527"/>
          </a:xfrm>
        </p:spPr>
        <p:txBody>
          <a:bodyPr>
            <a:noAutofit/>
          </a:bodyPr>
          <a:lstStyle/>
          <a:p>
            <a:r>
              <a:rPr lang="en-US" dirty="0"/>
              <a:t>Declaring function prototypes </a:t>
            </a:r>
          </a:p>
          <a:p>
            <a:pPr lvl="1"/>
            <a:r>
              <a:rPr lang="en-US" b="1" dirty="0"/>
              <a:t>Function prototype</a:t>
            </a:r>
            <a:r>
              <a:rPr lang="en-US" dirty="0"/>
              <a:t>: A function declaration which doesn't have a function body </a:t>
            </a:r>
          </a:p>
          <a:p>
            <a:pPr lvl="2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foo(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x);</a:t>
            </a:r>
          </a:p>
          <a:p>
            <a:pPr lvl="1"/>
            <a:r>
              <a:rPr lang="en-US" dirty="0"/>
              <a:t>Similar to an anonymous function in Java</a:t>
            </a:r>
          </a:p>
          <a:p>
            <a:r>
              <a:rPr lang="en-US" dirty="0"/>
              <a:t>Python and Java don't do this, why does C?</a:t>
            </a:r>
          </a:p>
          <a:p>
            <a:r>
              <a:rPr lang="en-US" altLang="en-US" dirty="0"/>
              <a:t>When compiling a file, the C compiler reads the file from top to bottom a </a:t>
            </a:r>
            <a:r>
              <a:rPr lang="en-US" altLang="en-US" i="1" dirty="0"/>
              <a:t>single time</a:t>
            </a:r>
          </a:p>
          <a:p>
            <a:r>
              <a:rPr lang="en-US" altLang="en-US" dirty="0"/>
              <a:t>If the C compiler sees a function call before it sees the function definition, the compilation fails!</a:t>
            </a:r>
          </a:p>
          <a:p>
            <a:pPr lvl="1"/>
            <a:r>
              <a:rPr lang="en-US" altLang="en-US" dirty="0"/>
              <a:t>The compiler doesn't know what the function call means and throws a function undefined error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360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 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0527"/>
          </a:xfrm>
        </p:spPr>
        <p:txBody>
          <a:bodyPr>
            <a:noAutofit/>
          </a:bodyPr>
          <a:lstStyle/>
          <a:p>
            <a:r>
              <a:rPr lang="en-US" dirty="0"/>
              <a:t>Modern languages solve this issue by having the compiler read a file multiple times</a:t>
            </a:r>
          </a:p>
          <a:p>
            <a:r>
              <a:rPr lang="en-US" dirty="0"/>
              <a:t>But the compiler reading a file multiple times dramatically increases the amount of computation required</a:t>
            </a:r>
          </a:p>
          <a:p>
            <a:r>
              <a:rPr lang="en-US" dirty="0"/>
              <a:t>And C is from an era of scarce computational resources! </a:t>
            </a:r>
          </a:p>
          <a:p>
            <a:r>
              <a:rPr lang="en-US" dirty="0"/>
              <a:t>So the C compiler does a single pass to improve computational efficiency </a:t>
            </a:r>
          </a:p>
          <a:p>
            <a:r>
              <a:rPr lang="en-US" dirty="0"/>
              <a:t>Left up to the programmer to deal with any annoyances the single pass paradigm causes </a:t>
            </a: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352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 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0527"/>
          </a:xfrm>
        </p:spPr>
        <p:txBody>
          <a:bodyPr>
            <a:noAutofit/>
          </a:bodyPr>
          <a:lstStyle/>
          <a:p>
            <a:r>
              <a:rPr lang="en-US" dirty="0"/>
              <a:t>To get the C Compiler to always recognize your function calls: </a:t>
            </a:r>
          </a:p>
          <a:p>
            <a:pPr lvl="1"/>
            <a:r>
              <a:rPr lang="en-US" dirty="0"/>
              <a:t>A) Arrange your program so functions are always defined before they're used </a:t>
            </a:r>
          </a:p>
          <a:p>
            <a:pPr lvl="2"/>
            <a:r>
              <a:rPr lang="en-US" dirty="0"/>
              <a:t>B A D </a:t>
            </a:r>
          </a:p>
          <a:p>
            <a:pPr lvl="1"/>
            <a:r>
              <a:rPr lang="en-US" dirty="0"/>
              <a:t>B) Place function prototypes in the header </a:t>
            </a:r>
          </a:p>
          <a:p>
            <a:pPr lvl="2"/>
            <a:r>
              <a:rPr lang="en-US" dirty="0"/>
              <a:t>Y E S </a:t>
            </a:r>
          </a:p>
          <a:p>
            <a:r>
              <a:rPr lang="en-US" dirty="0"/>
              <a:t>The C compiler </a:t>
            </a:r>
          </a:p>
          <a:p>
            <a:pPr lvl="1"/>
            <a:r>
              <a:rPr lang="en-US" dirty="0"/>
              <a:t>reads the header first</a:t>
            </a:r>
          </a:p>
          <a:p>
            <a:pPr lvl="1"/>
            <a:r>
              <a:rPr lang="en-US" dirty="0"/>
              <a:t>translates the function prototypes</a:t>
            </a:r>
          </a:p>
          <a:p>
            <a:pPr lvl="1"/>
            <a:r>
              <a:rPr lang="en-US" dirty="0"/>
              <a:t>then the compiler can recognize function calls in the source file</a:t>
            </a:r>
          </a:p>
          <a:p>
            <a:pPr lvl="2"/>
            <a:r>
              <a:rPr lang="en-US" dirty="0"/>
              <a:t>even if the call happens </a:t>
            </a:r>
            <a:r>
              <a:rPr lang="en-US" i="1" dirty="0"/>
              <a:t>before</a:t>
            </a:r>
            <a:r>
              <a:rPr lang="en-US" dirty="0"/>
              <a:t> the function declaration! </a:t>
            </a:r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206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7EBBD-F117-435C-8681-71CB93796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C Header Guards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CB626-E670-4831-B119-4E0D6BDF2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Lastly, all header files need header guards </a:t>
            </a:r>
          </a:p>
          <a:p>
            <a:r>
              <a:rPr lang="en-US" dirty="0"/>
              <a:t>Prevents re-declaration for multiple dependencies</a:t>
            </a:r>
          </a:p>
          <a:p>
            <a:endParaRPr lang="en-US" dirty="0"/>
          </a:p>
          <a:p>
            <a:pPr marL="2743200" lvl="6" indent="0" algn="just">
              <a:buNone/>
            </a:pPr>
            <a:r>
              <a:rPr lang="en-US" sz="2800" dirty="0">
                <a:latin typeface="Consolas" panose="020B0609020204030204" pitchFamily="49" charset="0"/>
              </a:rPr>
              <a:t>#</a:t>
            </a:r>
            <a:r>
              <a:rPr lang="en-US" sz="2800" dirty="0" err="1">
                <a:latin typeface="Consolas" panose="020B0609020204030204" pitchFamily="49" charset="0"/>
              </a:rPr>
              <a:t>ifndef</a:t>
            </a:r>
            <a:r>
              <a:rPr lang="en-US" sz="2800" dirty="0">
                <a:latin typeface="Consolas" panose="020B0609020204030204" pitchFamily="49" charset="0"/>
              </a:rPr>
              <a:t> HEADER_NAME_H</a:t>
            </a:r>
          </a:p>
          <a:p>
            <a:pPr marL="2743200" lvl="6" indent="0" algn="just">
              <a:buNone/>
            </a:pPr>
            <a:r>
              <a:rPr lang="en-US" sz="2800" dirty="0">
                <a:latin typeface="Consolas" panose="020B0609020204030204" pitchFamily="49" charset="0"/>
              </a:rPr>
              <a:t>#define HEADER_NAME_H</a:t>
            </a:r>
          </a:p>
          <a:p>
            <a:pPr marL="2743200" lvl="6" indent="0" algn="just">
              <a:buNone/>
            </a:pPr>
            <a:r>
              <a:rPr lang="en-US" sz="2800" dirty="0">
                <a:latin typeface="Consolas" panose="020B0609020204030204" pitchFamily="49" charset="0"/>
              </a:rPr>
              <a:t> //header code here…</a:t>
            </a:r>
          </a:p>
          <a:p>
            <a:pPr marL="2743200" lvl="6" indent="0" algn="just">
              <a:buNone/>
            </a:pPr>
            <a:r>
              <a:rPr lang="en-US" sz="2800" dirty="0">
                <a:latin typeface="Consolas" panose="020B0609020204030204" pitchFamily="49" charset="0"/>
              </a:rPr>
              <a:t>#endif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697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Compiling a C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60527"/>
          </a:xfrm>
        </p:spPr>
        <p:txBody>
          <a:bodyPr>
            <a:noAutofit/>
          </a:bodyPr>
          <a:lstStyle/>
          <a:p>
            <a:endParaRPr lang="en-US" dirty="0"/>
          </a:p>
          <a:p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ED55CB-3E82-426E-99C8-4C83D4796F8D}"/>
              </a:ext>
            </a:extLst>
          </p:cNvPr>
          <p:cNvSpPr txBox="1"/>
          <p:nvPr/>
        </p:nvSpPr>
        <p:spPr>
          <a:xfrm>
            <a:off x="716691" y="1690688"/>
            <a:ext cx="103302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/>
              <a:t>gcc</a:t>
            </a:r>
            <a:r>
              <a:rPr lang="en-US" sz="3600" dirty="0"/>
              <a:t> -std=c99 -o </a:t>
            </a:r>
            <a:r>
              <a:rPr lang="en-US" sz="3600" dirty="0" err="1"/>
              <a:t>HelloWorld.out</a:t>
            </a:r>
            <a:r>
              <a:rPr lang="en-US" sz="3600" dirty="0"/>
              <a:t> </a:t>
            </a:r>
            <a:r>
              <a:rPr lang="en-US" sz="3600" dirty="0" err="1"/>
              <a:t>HelloWorld.c</a:t>
            </a:r>
            <a:endParaRPr lang="en-US" sz="3600" dirty="0"/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84D82A30-8725-4D30-9FFE-084508FF954B}"/>
              </a:ext>
            </a:extLst>
          </p:cNvPr>
          <p:cNvSpPr/>
          <p:nvPr/>
        </p:nvSpPr>
        <p:spPr>
          <a:xfrm rot="5400000">
            <a:off x="1976627" y="1114409"/>
            <a:ext cx="359250" cy="2879126"/>
          </a:xfrm>
          <a:prstGeom prst="rightBrace">
            <a:avLst>
              <a:gd name="adj1" fmla="val 28970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C52BED-5EF9-48BD-B3A5-C24DCED50C5E}"/>
              </a:ext>
            </a:extLst>
          </p:cNvPr>
          <p:cNvSpPr txBox="1"/>
          <p:nvPr/>
        </p:nvSpPr>
        <p:spPr>
          <a:xfrm>
            <a:off x="462888" y="2868534"/>
            <a:ext cx="3386727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dirty="0" err="1"/>
              <a:t>gcc</a:t>
            </a:r>
            <a:r>
              <a:rPr lang="en-US" sz="2600" dirty="0"/>
              <a:t> compiler</a:t>
            </a:r>
            <a:br>
              <a:rPr lang="en-US" sz="2600" dirty="0"/>
            </a:br>
            <a:r>
              <a:rPr lang="en-US" sz="2600" dirty="0"/>
              <a:t>-</a:t>
            </a:r>
            <a:r>
              <a:rPr lang="en-US" sz="2600" dirty="0" err="1"/>
              <a:t>std</a:t>
            </a:r>
            <a:r>
              <a:rPr lang="en-US" sz="2600" dirty="0"/>
              <a:t> </a:t>
            </a:r>
            <a:r>
              <a:rPr lang="en-US" sz="2600" dirty="0">
                <a:sym typeface="Wingdings" pitchFamily="2" charset="2"/>
              </a:rPr>
              <a:t> </a:t>
            </a:r>
            <a:r>
              <a:rPr lang="en-US" sz="2600" dirty="0"/>
              <a:t>using c99</a:t>
            </a:r>
          </a:p>
          <a:p>
            <a:pPr algn="ctr"/>
            <a:r>
              <a:rPr lang="en-US" sz="2600" dirty="0"/>
              <a:t>-o </a:t>
            </a:r>
            <a:r>
              <a:rPr lang="en-US" sz="2600" dirty="0">
                <a:sym typeface="Wingdings" pitchFamily="2" charset="2"/>
              </a:rPr>
              <a:t> </a:t>
            </a:r>
            <a:r>
              <a:rPr lang="en-US" sz="2600" dirty="0"/>
              <a:t>compiling to a file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CBD65D52-5B1C-4AB9-BCAE-A7DCB422F6CB}"/>
              </a:ext>
            </a:extLst>
          </p:cNvPr>
          <p:cNvSpPr/>
          <p:nvPr/>
        </p:nvSpPr>
        <p:spPr>
          <a:xfrm rot="5400000">
            <a:off x="4977262" y="1092193"/>
            <a:ext cx="359250" cy="2879126"/>
          </a:xfrm>
          <a:prstGeom prst="rightBrace">
            <a:avLst>
              <a:gd name="adj1" fmla="val 28970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6E77FD-946C-48CB-9C2C-429847181379}"/>
              </a:ext>
            </a:extLst>
          </p:cNvPr>
          <p:cNvSpPr txBox="1"/>
          <p:nvPr/>
        </p:nvSpPr>
        <p:spPr>
          <a:xfrm>
            <a:off x="3717324" y="2857943"/>
            <a:ext cx="27642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Name of your output file / executable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302874FB-9A4E-4720-8421-1741E59F3776}"/>
              </a:ext>
            </a:extLst>
          </p:cNvPr>
          <p:cNvSpPr/>
          <p:nvPr/>
        </p:nvSpPr>
        <p:spPr>
          <a:xfrm rot="5400000">
            <a:off x="7856388" y="1107305"/>
            <a:ext cx="359250" cy="2879126"/>
          </a:xfrm>
          <a:prstGeom prst="rightBrace">
            <a:avLst>
              <a:gd name="adj1" fmla="val 28970"/>
              <a:gd name="adj2" fmla="val 50000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9A6FE2-7130-4194-A384-20370808EF8C}"/>
              </a:ext>
            </a:extLst>
          </p:cNvPr>
          <p:cNvSpPr txBox="1"/>
          <p:nvPr/>
        </p:nvSpPr>
        <p:spPr>
          <a:xfrm>
            <a:off x="6653876" y="2869737"/>
            <a:ext cx="276427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List of c files to compile, no header files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7FCC95-B396-4797-86D5-56CCAF8F89D3}"/>
              </a:ext>
            </a:extLst>
          </p:cNvPr>
          <p:cNvSpPr txBox="1"/>
          <p:nvPr/>
        </p:nvSpPr>
        <p:spPr>
          <a:xfrm>
            <a:off x="157412" y="5108885"/>
            <a:ext cx="111963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All c files must include a correspondingly named h file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c99 is the version of C we will use for this class 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language features introduced in later versions of C can’t be used</a:t>
            </a:r>
          </a:p>
        </p:txBody>
      </p:sp>
    </p:spTree>
    <p:extLst>
      <p:ext uri="{BB962C8B-B14F-4D97-AF65-F5344CB8AC3E}">
        <p14:creationId xmlns:p14="http://schemas.microsoft.com/office/powerpoint/2010/main" val="2506462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>
                <a:solidFill>
                  <a:srgbClr val="0070C0"/>
                </a:solidFill>
              </a:rPr>
              <a:t>OpenWorld C </a:t>
            </a:r>
            <a:r>
              <a:rPr lang="en-US" b="1" dirty="0">
                <a:solidFill>
                  <a:srgbClr val="0070C0"/>
                </a:solidFill>
              </a:rPr>
              <a:t>Code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56C249-94A3-0D4B-A3BE-FE51CE03B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820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Computer memory consists of a linear array of addressable storage</a:t>
            </a:r>
          </a:p>
          <a:p>
            <a:pPr lvl="1"/>
            <a:r>
              <a:rPr lang="en-US" dirty="0"/>
              <a:t>Typically, each addressable piece of memory can store up to a single byte of data </a:t>
            </a:r>
            <a:endParaRPr lang="en-US" strike="sngStrike" dirty="0"/>
          </a:p>
          <a:p>
            <a:r>
              <a:rPr lang="en-US" dirty="0"/>
              <a:t>Computer memory is made addressable by associating a unique value (known as a memory address) to each storage location</a:t>
            </a:r>
          </a:p>
          <a:p>
            <a:r>
              <a:rPr lang="en-US" dirty="0"/>
              <a:t>A memory address is word sized</a:t>
            </a:r>
          </a:p>
          <a:p>
            <a:pPr lvl="1"/>
            <a:r>
              <a:rPr lang="en-US" dirty="0"/>
              <a:t>A word is a fixed-sized piece of data handled as a unit by the processor</a:t>
            </a:r>
          </a:p>
          <a:p>
            <a:r>
              <a:rPr lang="en-US" dirty="0"/>
              <a:t>Word size determines how much overall data a computer can address </a:t>
            </a:r>
          </a:p>
          <a:p>
            <a:pPr lvl="1"/>
            <a:r>
              <a:rPr lang="en-US" dirty="0"/>
              <a:t>A computer with a 32 bit word can only store 2</a:t>
            </a:r>
            <a:r>
              <a:rPr lang="en-US" baseline="30000" dirty="0"/>
              <a:t>32</a:t>
            </a:r>
            <a:r>
              <a:rPr lang="en-US" dirty="0"/>
              <a:t> bytes in memory, any more and we won’t be able to give each value a unique memory address! </a:t>
            </a:r>
            <a:br>
              <a:rPr lang="en-US" dirty="0"/>
            </a:br>
            <a:endParaRPr lang="en-US" dirty="0"/>
          </a:p>
          <a:p>
            <a:endParaRPr lang="en-US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8903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B4ED676-DD52-CD45-9BDE-7DB01CCDA2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09568" y="1451034"/>
            <a:ext cx="7366772" cy="5406966"/>
          </a:xfrm>
        </p:spPr>
      </p:pic>
    </p:spTree>
    <p:extLst>
      <p:ext uri="{BB962C8B-B14F-4D97-AF65-F5344CB8AC3E}">
        <p14:creationId xmlns:p14="http://schemas.microsoft.com/office/powerpoint/2010/main" val="1356573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Lifetimes and the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Binding</a:t>
            </a:r>
            <a:r>
              <a:rPr lang="en-US" dirty="0"/>
              <a:t>: process of associating an attribute with a name</a:t>
            </a:r>
          </a:p>
          <a:p>
            <a:r>
              <a:rPr lang="en-US" b="1" dirty="0"/>
              <a:t>Environment</a:t>
            </a:r>
            <a:r>
              <a:rPr lang="en-US" dirty="0"/>
              <a:t>: maintains the bindings of names to storage locations</a:t>
            </a:r>
          </a:p>
          <a:p>
            <a:r>
              <a:rPr lang="en-US" altLang="en-US" b="1" dirty="0"/>
              <a:t>Memory</a:t>
            </a:r>
            <a:r>
              <a:rPr lang="en-US" altLang="en-US" dirty="0"/>
              <a:t>: bindings of storage location to values</a:t>
            </a:r>
          </a:p>
          <a:p>
            <a:r>
              <a:rPr lang="en-US" altLang="en-US" dirty="0"/>
              <a:t>Both the environment and memory maintain dynamic bindings </a:t>
            </a:r>
          </a:p>
          <a:p>
            <a:pPr lvl="1"/>
            <a:r>
              <a:rPr lang="en-US" altLang="en-US" dirty="0"/>
              <a:t>Thus both are created and maintained at runtime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EB8B530D-F654-A34D-96D2-50273F512F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438" y="5264795"/>
            <a:ext cx="5280562" cy="1047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9AE3DA82-2118-2748-AD8A-113CC814F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6887" y="5300421"/>
            <a:ext cx="5280562" cy="10539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46882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Lifetimes and the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The period of time between the creation and the destruction of a name-to-location binding is called the binding’s </a:t>
            </a:r>
            <a:r>
              <a:rPr lang="en-US" b="1" i="1" dirty="0"/>
              <a:t>lifetime</a:t>
            </a:r>
            <a:r>
              <a:rPr lang="en-US" dirty="0"/>
              <a:t> </a:t>
            </a:r>
          </a:p>
          <a:p>
            <a:r>
              <a:rPr lang="en-US" dirty="0"/>
              <a:t>Similarly, the time between the creation and destruction of an object is the object’s lifetime</a:t>
            </a:r>
          </a:p>
          <a:p>
            <a:r>
              <a:rPr lang="en-US" dirty="0"/>
              <a:t>Object lifetimes generally correspond to one of three principal </a:t>
            </a:r>
            <a:r>
              <a:rPr lang="en-US" i="1" dirty="0"/>
              <a:t>storage allocation </a:t>
            </a:r>
            <a:r>
              <a:rPr lang="en-US" dirty="0"/>
              <a:t>mechanisms, used to manage the object’s space: </a:t>
            </a:r>
          </a:p>
          <a:p>
            <a:pPr lvl="1"/>
            <a:r>
              <a:rPr lang="en-US" sz="2600" dirty="0"/>
              <a:t>Static objects are given an absolute address that is retained throughout the </a:t>
            </a:r>
            <a:r>
              <a:rPr lang="en-US" sz="2600"/>
              <a:t>program’s execution</a:t>
            </a:r>
            <a:endParaRPr lang="en-US" sz="2600" dirty="0"/>
          </a:p>
          <a:p>
            <a:pPr lvl="1"/>
            <a:r>
              <a:rPr lang="en-US" sz="2600" i="1" dirty="0"/>
              <a:t>Stack </a:t>
            </a:r>
            <a:r>
              <a:rPr lang="en-US" sz="2600" dirty="0"/>
              <a:t>objects are allocated and deallocated in last-in, first-out order in conjunction with function calls and returns</a:t>
            </a:r>
          </a:p>
          <a:p>
            <a:pPr lvl="1"/>
            <a:r>
              <a:rPr lang="en-US" sz="2600" i="1" dirty="0"/>
              <a:t>Heap </a:t>
            </a:r>
            <a:r>
              <a:rPr lang="en-US" sz="2600" dirty="0"/>
              <a:t>objects may be allocated and deallocated at arbitrary times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3365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Static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Static objects include </a:t>
            </a:r>
          </a:p>
          <a:p>
            <a:pPr lvl="1"/>
            <a:r>
              <a:rPr lang="en-US" dirty="0"/>
              <a:t>Global variables</a:t>
            </a:r>
          </a:p>
          <a:p>
            <a:pPr lvl="1"/>
            <a:r>
              <a:rPr lang="en-US" dirty="0"/>
              <a:t>Numeric and string-valued constant literals are also statically allocated </a:t>
            </a:r>
          </a:p>
          <a:p>
            <a:pPr lvl="1"/>
            <a:r>
              <a:rPr lang="en-US" dirty="0"/>
              <a:t>Most compilers produce a variety of tables that are used by run-time support routines for debugging, dynamic-type checking, garbage collection, exception handling, and other purposes</a:t>
            </a:r>
          </a:p>
          <a:p>
            <a:r>
              <a:rPr lang="en-US" dirty="0"/>
              <a:t>Statically allocated objects whose value should not change during program execution are often allocated in protected, read-only memory</a:t>
            </a:r>
          </a:p>
          <a:p>
            <a:pPr lvl="1"/>
            <a:r>
              <a:rPr lang="en-US" dirty="0"/>
              <a:t>Any inadvertent attempt to write to them will cause the operating system to announce a run-time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6712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Static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If there can never be more than one invocation of a subroutine active at any given time, and a compiler may choose to use static allocation for local variables, effectively arranging for the variables of different invocations to share the same locations, and thereby avoiding any run-time overhead for creation and destruction</a:t>
            </a:r>
          </a:p>
          <a:p>
            <a:r>
              <a:rPr lang="en-US" dirty="0"/>
              <a:t>If there can never be more than one invocation of a subroutine, then the language can not support recursion </a:t>
            </a:r>
          </a:p>
          <a:p>
            <a:r>
              <a:rPr lang="en-US" dirty="0"/>
              <a:t>Pre 1990 Fortran is an example of a language which does this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792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Static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Not all names are bound to locations </a:t>
            </a:r>
          </a:p>
          <a:p>
            <a:r>
              <a:rPr lang="en-US" dirty="0"/>
              <a:t>In many languages a named constant is required to have a value that can be determined at compile time</a:t>
            </a:r>
          </a:p>
          <a:p>
            <a:pPr lvl="1"/>
            <a:r>
              <a:rPr lang="en-US" dirty="0"/>
              <a:t>C is one of those languages</a:t>
            </a:r>
          </a:p>
          <a:p>
            <a:r>
              <a:rPr lang="en-US" dirty="0"/>
              <a:t>Named constants of this sort, together with constant literals, are called </a:t>
            </a:r>
            <a:r>
              <a:rPr lang="en-US" b="1" i="1" dirty="0"/>
              <a:t>compile-time constants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678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Compile Time Constants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Compile time constants can always be allocated statically</a:t>
            </a:r>
          </a:p>
          <a:p>
            <a:pPr lvl="1"/>
            <a:r>
              <a:rPr lang="en-US" dirty="0"/>
              <a:t>Multiple instances can share the same location</a:t>
            </a:r>
          </a:p>
          <a:p>
            <a:pPr lvl="1"/>
            <a:r>
              <a:rPr lang="en-US" dirty="0"/>
              <a:t>Because a constant’s value can’t change, you only ever need one</a:t>
            </a:r>
          </a:p>
          <a:p>
            <a:r>
              <a:rPr lang="en-US" dirty="0"/>
              <a:t>Names of constants and data types could be just compile-time quantities that do not exist at execution time </a:t>
            </a:r>
          </a:p>
          <a:p>
            <a:pPr lvl="1"/>
            <a:r>
              <a:rPr lang="en-US" dirty="0"/>
              <a:t>Ex: </a:t>
            </a:r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/>
              <a:t>int</a:t>
            </a:r>
            <a:r>
              <a:rPr lang="en-US" dirty="0"/>
              <a:t> MAX = 10; // MAX is replaced by 10 and the name MAX is never allocated a location 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8991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Stack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If a language permits recursion, static allocation of local variables is no longer an option, since the number of instances of a variable that may need to exist at the same time is conceptually unbounded</a:t>
            </a:r>
          </a:p>
          <a:p>
            <a:r>
              <a:rPr lang="en-US" dirty="0"/>
              <a:t>Fortunately, the natural nesting of function calls makes it easy to allocate space for local variables on a stack. </a:t>
            </a:r>
          </a:p>
          <a:p>
            <a:r>
              <a:rPr lang="en-US" dirty="0"/>
              <a:t>Each instance of a function at run time has its own </a:t>
            </a:r>
            <a:r>
              <a:rPr lang="en-US" b="1" i="1" dirty="0"/>
              <a:t>stack</a:t>
            </a:r>
            <a:r>
              <a:rPr lang="en-US" dirty="0"/>
              <a:t> </a:t>
            </a:r>
            <a:r>
              <a:rPr lang="en-US" b="1" i="1" dirty="0"/>
              <a:t>frame</a:t>
            </a:r>
            <a:r>
              <a:rPr lang="en-US" i="1" dirty="0"/>
              <a:t> </a:t>
            </a:r>
            <a:r>
              <a:rPr lang="en-US" dirty="0"/>
              <a:t>(also called an </a:t>
            </a:r>
            <a:r>
              <a:rPr lang="en-US" b="1" i="1" dirty="0"/>
              <a:t>activation record</a:t>
            </a:r>
            <a:r>
              <a:rPr lang="en-US" dirty="0"/>
              <a:t>), containing arguments and return values, local variables, temporaries, and bookkeeping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9626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Stack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Arguments to be passed to subsequent functions lie at the top of the frame, where the </a:t>
            </a:r>
            <a:r>
              <a:rPr lang="en-US" dirty="0" err="1"/>
              <a:t>callee</a:t>
            </a:r>
            <a:r>
              <a:rPr lang="en-US" dirty="0"/>
              <a:t> can easily find them</a:t>
            </a:r>
          </a:p>
          <a:p>
            <a:r>
              <a:rPr lang="en-US" dirty="0"/>
              <a:t>The organization of the remaining information is implementation-dependent: it varies from one language, machine, and compiler to another</a:t>
            </a:r>
          </a:p>
          <a:p>
            <a:r>
              <a:rPr lang="en-US" dirty="0"/>
              <a:t>Moreover, the compiler can arrange for a particular register, known as the </a:t>
            </a:r>
            <a:r>
              <a:rPr lang="en-US" b="1" i="1" dirty="0"/>
              <a:t>frame pointer</a:t>
            </a:r>
            <a:r>
              <a:rPr lang="en-US" i="1" dirty="0"/>
              <a:t> </a:t>
            </a:r>
            <a:r>
              <a:rPr lang="en-US" dirty="0"/>
              <a:t>to always point to a known location within the frame of the current function.</a:t>
            </a:r>
          </a:p>
          <a:p>
            <a:r>
              <a:rPr lang="en-US" dirty="0"/>
              <a:t>Code that needs to access a local variable within the current frame, or an argument near the top of the calling frame, can do so by adding a predetermined offset to the value in the frame pointer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388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E3643B1-3C9E-4B4F-9D09-B28CC52934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233" y="0"/>
            <a:ext cx="93880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455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Stack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The stack grows “downward” toward lower addresses in most language implementations </a:t>
            </a:r>
          </a:p>
          <a:p>
            <a:r>
              <a:rPr lang="en-US" dirty="0"/>
              <a:t>Even in a language without recursion, it can be advantageous to use a stack for local variables, rather than allocating them statically</a:t>
            </a:r>
          </a:p>
          <a:p>
            <a:r>
              <a:rPr lang="en-US" dirty="0"/>
              <a:t>In most programs the pattern of potential calls among subroutines does not permit all of those subroutines to be active at the same time</a:t>
            </a:r>
          </a:p>
          <a:p>
            <a:r>
              <a:rPr lang="en-US" dirty="0"/>
              <a:t>As a result, the total space needed for local variables of currently active subroutines is seldom as large as the total space across </a:t>
            </a:r>
            <a:r>
              <a:rPr lang="en-US" i="1" dirty="0"/>
              <a:t>all </a:t>
            </a:r>
            <a:r>
              <a:rPr lang="en-US" dirty="0"/>
              <a:t>subroutines, active or not </a:t>
            </a:r>
          </a:p>
          <a:p>
            <a:r>
              <a:rPr lang="en-US" dirty="0"/>
              <a:t>A stack may therefore require substantially less memory at run time than would be required for static allocation. </a:t>
            </a:r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8746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Stack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5479473" cy="4351338"/>
          </a:xfrm>
        </p:spPr>
        <p:txBody>
          <a:bodyPr>
            <a:noAutofit/>
          </a:bodyPr>
          <a:lstStyle/>
          <a:p>
            <a:r>
              <a:rPr lang="en-US" dirty="0"/>
              <a:t>But if a stack frame contains all the local variables of a function, how do we account for local scopes </a:t>
            </a:r>
            <a:r>
              <a:rPr lang="en-US" i="1" dirty="0"/>
              <a:t>within</a:t>
            </a:r>
            <a:r>
              <a:rPr lang="en-US" dirty="0"/>
              <a:t> a function?</a:t>
            </a:r>
          </a:p>
          <a:p>
            <a:pPr lvl="1"/>
            <a:r>
              <a:rPr lang="en-US" altLang="en-US" dirty="0" err="1">
                <a:cs typeface="Courier New" panose="02070309020205020404" pitchFamily="49" charset="0"/>
              </a:rPr>
              <a:t>i.e</a:t>
            </a:r>
            <a:r>
              <a:rPr lang="en-US" altLang="en-US" dirty="0">
                <a:cs typeface="Courier New" panose="02070309020205020404" pitchFamily="49" charset="0"/>
              </a:rPr>
              <a:t> . how do we, at runtime, differentiate between both x variables?</a:t>
            </a:r>
          </a:p>
          <a:p>
            <a:pPr lvl="1"/>
            <a:r>
              <a:rPr lang="en-US" altLang="en-US" dirty="0">
                <a:cs typeface="Courier New" panose="02070309020205020404" pitchFamily="49" charset="0"/>
              </a:rPr>
              <a:t>By giving each identifier a lexical address!</a:t>
            </a:r>
          </a:p>
          <a:p>
            <a:pPr marL="457200" lvl="1" indent="0">
              <a:buNone/>
            </a:pPr>
            <a:endParaRPr lang="en-US" altLang="en-US" dirty="0">
              <a:cs typeface="Courier New" panose="02070309020205020404" pitchFamily="49" charset="0"/>
            </a:endParaRPr>
          </a:p>
          <a:p>
            <a:endParaRPr lang="en-US" sz="2000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EA4971-3AC7-6D4C-8C95-CD5A199BCCD9}"/>
              </a:ext>
            </a:extLst>
          </p:cNvPr>
          <p:cNvSpPr/>
          <p:nvPr/>
        </p:nvSpPr>
        <p:spPr>
          <a:xfrm>
            <a:off x="6994566" y="1690688"/>
            <a:ext cx="4359234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main(){                </a:t>
            </a:r>
          </a:p>
          <a:p>
            <a:r>
              <a:rPr lang="en-US" alt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x = 10;            </a:t>
            </a:r>
            <a:endParaRPr lang="en-US" altLang="en-US" sz="2600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if(x){</a:t>
            </a:r>
          </a:p>
          <a:p>
            <a:r>
              <a:rPr lang="en-US" alt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x = 5;         </a:t>
            </a:r>
            <a:endParaRPr lang="en-US" altLang="en-US" sz="2600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en-US" sz="2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835853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34688" cy="1325563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Lexical Addresses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84458"/>
          </a:xfrm>
        </p:spPr>
        <p:txBody>
          <a:bodyPr>
            <a:noAutofit/>
          </a:bodyPr>
          <a:lstStyle/>
          <a:p>
            <a:r>
              <a:rPr lang="en-US" altLang="en-US" dirty="0"/>
              <a:t>Each declared name has a </a:t>
            </a:r>
            <a:r>
              <a:rPr lang="en-US" altLang="en-US" b="1" dirty="0"/>
              <a:t>lexical address </a:t>
            </a:r>
            <a:r>
              <a:rPr lang="en-US" altLang="en-US" dirty="0"/>
              <a:t>which is composed of a </a:t>
            </a:r>
            <a:r>
              <a:rPr lang="en-US" altLang="en-US" b="1" dirty="0"/>
              <a:t>level number </a:t>
            </a:r>
            <a:r>
              <a:rPr lang="en-US" altLang="en-US" dirty="0"/>
              <a:t>and an </a:t>
            </a:r>
            <a:r>
              <a:rPr lang="en-US" altLang="en-US" b="1" dirty="0"/>
              <a:t>offset</a:t>
            </a:r>
            <a:r>
              <a:rPr lang="en-US" altLang="en-US" dirty="0"/>
              <a:t>	</a:t>
            </a:r>
          </a:p>
          <a:p>
            <a:pPr lvl="1"/>
            <a:r>
              <a:rPr lang="en-US" altLang="en-US" sz="2800" dirty="0"/>
              <a:t>Level number starts at 0 and increments into each nested block</a:t>
            </a:r>
          </a:p>
          <a:p>
            <a:pPr lvl="1"/>
            <a:r>
              <a:rPr lang="en-US" sz="2800" dirty="0"/>
              <a:t>Offset starts at 0 and increments whenever another name is declared in the specific block </a:t>
            </a:r>
            <a:endParaRPr lang="en-US" altLang="en-US" sz="2800" dirty="0"/>
          </a:p>
          <a:p>
            <a:pPr lvl="1"/>
            <a:r>
              <a:rPr lang="en-US" altLang="en-US" sz="2800" dirty="0"/>
              <a:t>Allows compiler to differentiate between same names in different scopes</a:t>
            </a:r>
          </a:p>
          <a:p>
            <a:r>
              <a:rPr lang="en-US" dirty="0"/>
              <a:t>No run-time work is needed to allocate or deallocate space for variables declared in nested blocks</a:t>
            </a:r>
          </a:p>
          <a:p>
            <a:pPr lvl="1"/>
            <a:r>
              <a:rPr lang="en-US" dirty="0"/>
              <a:t>Their space can be included in the total space for local variables allocated in the stack frame</a:t>
            </a:r>
          </a:p>
          <a:p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516861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solidFill>
                  <a:srgbClr val="0070C0"/>
                </a:solidFill>
              </a:rPr>
              <a:t>Lexical Addresses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31241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//Where the first subscript is the level number and the second //subscript is the offset	</a:t>
            </a:r>
          </a:p>
          <a:p>
            <a:pPr marL="0" indent="0">
              <a:buNone/>
            </a:pP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main(){                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 = 10;            //x</a:t>
            </a:r>
            <a:r>
              <a:rPr lang="en-US" altLang="en-US" sz="2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00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y = 20;            //y</a:t>
            </a:r>
            <a:r>
              <a:rPr lang="en-US" altLang="en-US" sz="2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01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if(x){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y = 10;        //y</a:t>
            </a:r>
            <a:r>
              <a:rPr lang="en-US" altLang="en-US" sz="2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x = 5;         //x</a:t>
            </a:r>
            <a:r>
              <a:rPr lang="en-US" altLang="en-US" sz="2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y = 100;   //y</a:t>
            </a:r>
            <a:r>
              <a:rPr lang="en-US" altLang="en-US" sz="2000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 marL="0" indent="0">
              <a:buNone/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3188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Allocation, Lifetimes, and the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To allow for arbitrary allocation and deallocation the environment must have an area in memory from which locations can be allocated </a:t>
            </a:r>
          </a:p>
          <a:p>
            <a:r>
              <a:rPr lang="en-US" dirty="0"/>
              <a:t>A </a:t>
            </a:r>
            <a:r>
              <a:rPr lang="en-US" b="1" i="1" dirty="0"/>
              <a:t>heap</a:t>
            </a:r>
            <a:r>
              <a:rPr lang="en-US" i="1" dirty="0"/>
              <a:t> </a:t>
            </a:r>
            <a:r>
              <a:rPr lang="en-US" dirty="0"/>
              <a:t>is a region of storage in which </a:t>
            </a:r>
            <a:r>
              <a:rPr lang="en-US" dirty="0" err="1"/>
              <a:t>subblocks</a:t>
            </a:r>
            <a:r>
              <a:rPr lang="en-US" dirty="0"/>
              <a:t> can be allocated and deallocated at arbitrary times</a:t>
            </a:r>
          </a:p>
          <a:p>
            <a:r>
              <a:rPr lang="en-US" dirty="0"/>
              <a:t>Heaps are required for the dynamically allocated pieces of linked data structures, and for objects like fully general character strings, lists, and sets, whose size may change as a result of an assignment statement or other update operation</a:t>
            </a:r>
          </a:p>
          <a:p>
            <a:r>
              <a:rPr lang="en-US" dirty="0"/>
              <a:t>Some languages also have size restrictions on static and stack objects, which also necessitates the need for a heap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8784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Allocation, Lifetimes, and the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80914" y="110440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7117" b="7117"/>
          <a:stretch>
            <a:fillRect/>
          </a:stretch>
        </p:blipFill>
        <p:spPr bwMode="auto">
          <a:xfrm>
            <a:off x="2819400" y="863599"/>
            <a:ext cx="3733800" cy="5994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2930" y="6354763"/>
            <a:ext cx="3633788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9779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80434</TotalTime>
  <Words>1501</Words>
  <Application>Microsoft Macintosh PowerPoint</Application>
  <PresentationFormat>Widescreen</PresentationFormat>
  <Paragraphs>222</Paragraphs>
  <Slides>29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Calibri</vt:lpstr>
      <vt:lpstr>Calibri Light</vt:lpstr>
      <vt:lpstr>Consolas</vt:lpstr>
      <vt:lpstr>Courier New</vt:lpstr>
      <vt:lpstr>Wingdings</vt:lpstr>
      <vt:lpstr>Office Theme</vt:lpstr>
      <vt:lpstr>CMSC 304</vt:lpstr>
      <vt:lpstr>C</vt:lpstr>
      <vt:lpstr>C Data Types</vt:lpstr>
      <vt:lpstr>C Data Types</vt:lpstr>
      <vt:lpstr>Basic Program in C</vt:lpstr>
      <vt:lpstr>C Header Files</vt:lpstr>
      <vt:lpstr>C Header Files</vt:lpstr>
      <vt:lpstr>C Header Files</vt:lpstr>
      <vt:lpstr>C Header Files</vt:lpstr>
      <vt:lpstr>C Header Guards</vt:lpstr>
      <vt:lpstr>Compiling a C Program</vt:lpstr>
      <vt:lpstr>OpenWorld C Code Demo</vt:lpstr>
      <vt:lpstr>Memory</vt:lpstr>
      <vt:lpstr>Memory</vt:lpstr>
      <vt:lpstr>Lifetimes and the Environment</vt:lpstr>
      <vt:lpstr>Lifetimes and the Environment</vt:lpstr>
      <vt:lpstr>Static Objects</vt:lpstr>
      <vt:lpstr>Static Objects</vt:lpstr>
      <vt:lpstr>Static Objects</vt:lpstr>
      <vt:lpstr>Compile Time Constants</vt:lpstr>
      <vt:lpstr>Stack Objects</vt:lpstr>
      <vt:lpstr>Stack Objects</vt:lpstr>
      <vt:lpstr>PowerPoint Presentation</vt:lpstr>
      <vt:lpstr>Stack Objects</vt:lpstr>
      <vt:lpstr>Stack Objects</vt:lpstr>
      <vt:lpstr>Lexical Addresses</vt:lpstr>
      <vt:lpstr>Lexical Addresses</vt:lpstr>
      <vt:lpstr>Allocation, Lifetimes, and the Environment</vt:lpstr>
      <vt:lpstr>Allocation, Lifetimes, and the Environment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CMSC 403</dc:title>
  <dc:creator>Microsoft Office User</dc:creator>
  <cp:lastModifiedBy>Microsoft Office User</cp:lastModifiedBy>
  <cp:revision>469</cp:revision>
  <cp:lastPrinted>2017-09-07T16:13:53Z</cp:lastPrinted>
  <dcterms:created xsi:type="dcterms:W3CDTF">2017-05-31T17:26:26Z</dcterms:created>
  <dcterms:modified xsi:type="dcterms:W3CDTF">2025-08-15T18:26:51Z</dcterms:modified>
</cp:coreProperties>
</file>