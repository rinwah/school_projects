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47"/>
  </p:notesMasterIdLst>
  <p:sldIdLst>
    <p:sldId id="256" r:id="rId2"/>
    <p:sldId id="471" r:id="rId3"/>
    <p:sldId id="577" r:id="rId4"/>
    <p:sldId id="473" r:id="rId5"/>
    <p:sldId id="474" r:id="rId6"/>
    <p:sldId id="563" r:id="rId7"/>
    <p:sldId id="552" r:id="rId8"/>
    <p:sldId id="564" r:id="rId9"/>
    <p:sldId id="580" r:id="rId10"/>
    <p:sldId id="540" r:id="rId11"/>
    <p:sldId id="578" r:id="rId12"/>
    <p:sldId id="579" r:id="rId13"/>
    <p:sldId id="545" r:id="rId14"/>
    <p:sldId id="542" r:id="rId15"/>
    <p:sldId id="543" r:id="rId16"/>
    <p:sldId id="544" r:id="rId17"/>
    <p:sldId id="546" r:id="rId18"/>
    <p:sldId id="511" r:id="rId19"/>
    <p:sldId id="596" r:id="rId20"/>
    <p:sldId id="599" r:id="rId21"/>
    <p:sldId id="549" r:id="rId22"/>
    <p:sldId id="550" r:id="rId23"/>
    <p:sldId id="565" r:id="rId24"/>
    <p:sldId id="559" r:id="rId25"/>
    <p:sldId id="576" r:id="rId26"/>
    <p:sldId id="314" r:id="rId27"/>
    <p:sldId id="572" r:id="rId28"/>
    <p:sldId id="583" r:id="rId29"/>
    <p:sldId id="585" r:id="rId30"/>
    <p:sldId id="587" r:id="rId31"/>
    <p:sldId id="584" r:id="rId32"/>
    <p:sldId id="588" r:id="rId33"/>
    <p:sldId id="589" r:id="rId34"/>
    <p:sldId id="590" r:id="rId35"/>
    <p:sldId id="591" r:id="rId36"/>
    <p:sldId id="592" r:id="rId37"/>
    <p:sldId id="567" r:id="rId38"/>
    <p:sldId id="593" r:id="rId39"/>
    <p:sldId id="568" r:id="rId40"/>
    <p:sldId id="316" r:id="rId41"/>
    <p:sldId id="287" r:id="rId42"/>
    <p:sldId id="288" r:id="rId43"/>
    <p:sldId id="569" r:id="rId44"/>
    <p:sldId id="595" r:id="rId45"/>
    <p:sldId id="59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7"/>
    <p:restoredTop sz="66921"/>
  </p:normalViewPr>
  <p:slideViewPr>
    <p:cSldViewPr snapToGrid="0" snapToObjects="1">
      <p:cViewPr varScale="1">
        <p:scale>
          <a:sx n="106" d="100"/>
          <a:sy n="106" d="100"/>
        </p:scale>
        <p:origin x="1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4/7/25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2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Lexical: What input Strings are valid </a:t>
            </a:r>
          </a:p>
          <a:p>
            <a:r>
              <a:rPr lang="en-US" dirty="0"/>
              <a:t>Syntactic: What ordering of tokens is valid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84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Lexical: What tokens are valid </a:t>
            </a:r>
          </a:p>
          <a:p>
            <a:r>
              <a:rPr lang="en-US" dirty="0"/>
              <a:t>Syntactic: What ordering of tokens is valid </a:t>
            </a:r>
          </a:p>
          <a:p>
            <a:endParaRPr lang="en-US" dirty="0"/>
          </a:p>
          <a:p>
            <a:r>
              <a:rPr lang="en-US" dirty="0"/>
              <a:t>We have been treating lexemes and tokens as interchangeable so far</a:t>
            </a:r>
          </a:p>
          <a:p>
            <a:r>
              <a:rPr lang="en-US" dirty="0"/>
              <a:t>Left is the token, right is the lexeme, input, or the grouping of characters that make up the token</a:t>
            </a:r>
          </a:p>
          <a:p>
            <a:r>
              <a:rPr lang="en-US" dirty="0"/>
              <a:t>Token is the set of all possible lexemes of a particular category</a:t>
            </a:r>
          </a:p>
          <a:p>
            <a:r>
              <a:rPr lang="en-US" dirty="0"/>
              <a:t>In EBNF, we can now denote NUMBER to be a terminal</a:t>
            </a:r>
          </a:p>
          <a:p>
            <a:endParaRPr lang="en-US" dirty="0"/>
          </a:p>
          <a:p>
            <a:r>
              <a:rPr lang="en-US" dirty="0"/>
              <a:t>Basic Process -&gt; group as lexemes -&gt; categorize lexemes as tokens/classes -&gt; These tokens are now terminals for our parse tree</a:t>
            </a:r>
          </a:p>
          <a:p>
            <a:endParaRPr lang="en-US" dirty="0"/>
          </a:p>
          <a:p>
            <a:r>
              <a:rPr lang="en-US" dirty="0"/>
              <a:t>Automation, we disambiguate steps.</a:t>
            </a:r>
          </a:p>
          <a:p>
            <a:endParaRPr lang="en-US" dirty="0"/>
          </a:p>
          <a:p>
            <a:r>
              <a:rPr lang="en-US" dirty="0"/>
              <a:t>So how do we identify lexemes?</a:t>
            </a:r>
          </a:p>
          <a:p>
            <a:r>
              <a:rPr lang="en-US" dirty="0"/>
              <a:t>Lexis:</a:t>
            </a:r>
            <a:br>
              <a:rPr lang="en-US" dirty="0"/>
            </a:br>
            <a:r>
              <a:rPr lang="en-US" dirty="0"/>
              <a:t>Set of rules defining what lexemes are associated with what tokens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45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modern</a:t>
            </a:r>
            <a:r>
              <a:rPr lang="en-US" baseline="0" dirty="0"/>
              <a:t> languages are Free-format languages. (Java C++)</a:t>
            </a:r>
            <a:br>
              <a:rPr lang="en-US" baseline="0" dirty="0"/>
            </a:br>
            <a:r>
              <a:rPr lang="en-US" baseline="0" dirty="0"/>
              <a:t>Some have more significant restrictions (python uses indentation to determine structure)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Rarely is a language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 format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which all tokens must occur in prespecified locations on the page.”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For example, FORTRAN circa 1966:</a:t>
            </a:r>
          </a:p>
          <a:p>
            <a:r>
              <a:rPr lang="en-US" dirty="0"/>
              <a:t>Column 1 - 'C' for comment</a:t>
            </a:r>
            <a:br>
              <a:rPr lang="en-US" dirty="0"/>
            </a:br>
            <a:r>
              <a:rPr lang="en-US" dirty="0"/>
              <a:t>Columns 2 to 5 (maybe 1 to 5, I forget) - numeric statement label</a:t>
            </a:r>
            <a:br>
              <a:rPr lang="en-US" dirty="0"/>
            </a:br>
            <a:r>
              <a:rPr lang="en-US" dirty="0"/>
              <a:t>Column 6 - if non-blank, denotes continuation of previous statement</a:t>
            </a:r>
            <a:br>
              <a:rPr lang="en-US" dirty="0"/>
            </a:br>
            <a:r>
              <a:rPr lang="en-US" dirty="0"/>
              <a:t>Columns 7 to 71 - the statement</a:t>
            </a:r>
            <a:br>
              <a:rPr lang="en-US" dirty="0"/>
            </a:br>
            <a:r>
              <a:rPr lang="en-US" dirty="0"/>
              <a:t>Column 72 to 80 - optional sequence number (not interpreted by FORTRAN)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people define python as fixed format due to it not being 100% free format. Others reserve the fixed format definition for languages with very strict location rules, such as languages designed for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punchards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https://</a:t>
            </a:r>
            <a:r>
              <a:rPr lang="en-US" dirty="0" err="1">
                <a:effectLst/>
              </a:rPr>
              <a:t>en.wikipedia.org</a:t>
            </a:r>
            <a:r>
              <a:rPr lang="en-US" dirty="0">
                <a:effectLst/>
              </a:rPr>
              <a:t>/wiki/</a:t>
            </a:r>
            <a:r>
              <a:rPr lang="en-US" dirty="0" err="1">
                <a:effectLst/>
              </a:rPr>
              <a:t>COBOL#Code_format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80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65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no point does the bottom-up parser predict what it will see next. Rather, it shifts tokens into its forest until it recognizes a right-hand side, which it then reduces to a left-hand side. Because of this behavior, bottom-up parsers are some- times called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shift-reduce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parsers 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are pretty much doing LL in our assignments, as it is easier to do by hand and makes more intuitive sense</a:t>
            </a:r>
          </a:p>
          <a:p>
            <a:endParaRPr lang="en-US" dirty="0"/>
          </a:p>
          <a:p>
            <a:r>
              <a:rPr lang="en-US" dirty="0"/>
              <a:t>LR is clustering, and using those to make a common parent until you get to the root. This is hard… Don't worry too much about this.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8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bit is if there's ambiguity, it has to be identifiable by looking at only one token ahead.</a:t>
            </a:r>
          </a:p>
          <a:p>
            <a:r>
              <a:rPr lang="en-US" dirty="0"/>
              <a:t>The rules of EBNF generally satisfies this.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10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68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grammar can not work </a:t>
            </a:r>
            <a:br>
              <a:rPr lang="en-US" dirty="0"/>
            </a:br>
            <a:r>
              <a:rPr lang="en-US" dirty="0"/>
              <a:t>The second grammar</a:t>
            </a:r>
            <a:r>
              <a:rPr lang="en-US" baseline="0" dirty="0"/>
              <a:t> can work </a:t>
            </a:r>
            <a:br>
              <a:rPr lang="en-US" baseline="0" dirty="0"/>
            </a:br>
            <a:br>
              <a:rPr lang="en-US" baseline="0" dirty="0"/>
            </a:br>
            <a:r>
              <a:rPr lang="en-US" baseline="0" dirty="0"/>
              <a:t>Because the first one is left recursive and will loop infinitely with single token </a:t>
            </a:r>
            <a:r>
              <a:rPr lang="en-US" baseline="0" dirty="0" err="1"/>
              <a:t>lookahead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17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Lexis is our "terminals" what lexemes are the token classes.</a:t>
            </a:r>
          </a:p>
          <a:p>
            <a:r>
              <a:rPr lang="en-US" dirty="0"/>
              <a:t>The grammar tells us which one are terminals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32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36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Note, each token should have a reference to it’s associated lexeme!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13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91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759CD2A6-9149-D74F-B2A3-8AB9A21192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8CF31314-630F-AC4A-AD96-1C776A029E4B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1F4B10D0-03D2-5047-865B-848E25719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B2CEEAB-C537-EA45-89BB-9C44028BA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MX" altLang="en-US" dirty="0">
                <a:latin typeface="Times" pitchFamily="2" charset="0"/>
              </a:rPr>
              <a:t>Syntax for compile time</a:t>
            </a:r>
          </a:p>
          <a:p>
            <a:pPr eaLnBrk="1" hangingPunct="1"/>
            <a:r>
              <a:rPr lang="es-MX" altLang="en-US" dirty="0">
                <a:latin typeface="Times" pitchFamily="2" charset="0"/>
              </a:rPr>
              <a:t>Semantics for runtime</a:t>
            </a:r>
          </a:p>
        </p:txBody>
      </p:sp>
    </p:spTree>
    <p:extLst>
      <p:ext uri="{BB962C8B-B14F-4D97-AF65-F5344CB8AC3E}">
        <p14:creationId xmlns:p14="http://schemas.microsoft.com/office/powerpoint/2010/main" val="3322560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D31F556D-B087-7C49-AFF1-29413F8EAE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7C941D45-B106-B64F-906F-C625F0822509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9576D44-BB52-7A4B-8822-A62032886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84468C8-62E7-1F49-A73D-E2B47B7DA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29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D31F556D-B087-7C49-AFF1-29413F8EAE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7C941D45-B106-B64F-906F-C625F0822509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9576D44-BB52-7A4B-8822-A62032886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84468C8-62E7-1F49-A73D-E2B47B7DA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620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BAC55C41-A1AE-244A-A667-B166CA7A3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B61B9EAC-FB4F-6548-BBD5-D671935817E7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48A0B84D-CE23-9445-B055-BFC2640ABA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87217353-FD48-E541-B541-CC5EF6E19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altLang="en-US" dirty="0">
                <a:latin typeface="Times" pitchFamily="2" charset="0"/>
              </a:rPr>
              <a:t>context-free gramar with additions</a:t>
            </a:r>
          </a:p>
          <a:p>
            <a:pPr eaLnBrk="1" hangingPunct="1"/>
            <a:r>
              <a:rPr lang="es-MX" altLang="en-US" dirty="0">
                <a:latin typeface="Times" pitchFamily="2" charset="0"/>
              </a:rPr>
              <a:t>In this example, there is one attribute </a:t>
            </a:r>
            <a:r>
              <a:rPr lang="es-MX" altLang="en-US" dirty="0">
                <a:latin typeface="Times" pitchFamily="2" charset="0"/>
                <a:sym typeface="Wingdings" pitchFamily="2" charset="2"/>
              </a:rPr>
              <a:t> val</a:t>
            </a:r>
          </a:p>
          <a:p>
            <a:pPr eaLnBrk="1" hangingPunct="1"/>
            <a:r>
              <a:rPr lang="es-MX" altLang="en-US" dirty="0">
                <a:latin typeface="Times" pitchFamily="2" charset="0"/>
                <a:sym typeface="Wingdings" pitchFamily="2" charset="2"/>
              </a:rPr>
              <a:t>Each rule specifies how the value attribute is defined for a specific nonterminal </a:t>
            </a:r>
            <a:endParaRPr lang="es-MX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641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rules and semantic functions basically cover everything and can apply semantic meaning to a parse tree</a:t>
            </a:r>
          </a:p>
          <a:p>
            <a:r>
              <a:rPr lang="en-US" dirty="0"/>
              <a:t>there is fancier stuff, but we don't need to cover that</a:t>
            </a:r>
          </a:p>
          <a:p>
            <a:endParaRPr lang="en-US" dirty="0"/>
          </a:p>
          <a:p>
            <a:r>
              <a:rPr lang="en-US" dirty="0"/>
              <a:t>Last bullet: EBNF is formalized, Attribute grammars are much less so. This is a concept applied in different ways and places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34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using a parse tree here but can be easily adapted to an AST</a:t>
            </a:r>
          </a:p>
          <a:p>
            <a:r>
              <a:rPr lang="en-US" dirty="0"/>
              <a:t>Left is EBNF, right is our attribute grammar rules</a:t>
            </a:r>
          </a:p>
          <a:p>
            <a:endParaRPr lang="en-US" dirty="0"/>
          </a:p>
          <a:p>
            <a:r>
              <a:rPr lang="en-US" dirty="0"/>
              <a:t>These are dynamic semantics because the values won’t be calculated until runtime </a:t>
            </a:r>
          </a:p>
          <a:p>
            <a:r>
              <a:rPr lang="en-US" dirty="0"/>
              <a:t>Static dynamics would include things like data types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627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grammar rule, apply attribute rule</a:t>
            </a:r>
          </a:p>
          <a:p>
            <a:r>
              <a:rPr lang="en-US" dirty="0"/>
              <a:t>…get to sum…sum is arbitrary, and would actually have to be defined somewhere (e.g. machine language, c, whatever we want)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57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were only using synthesized attributes earlier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11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Left associative, remember that 9-4 has to happen BEFORE we do the subtraction of 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0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 we go and when is complicated!</a:t>
            </a:r>
          </a:p>
          <a:p>
            <a:r>
              <a:rPr lang="en-US" dirty="0"/>
              <a:t>This is complicated</a:t>
            </a:r>
          </a:p>
          <a:p>
            <a:r>
              <a:rPr lang="en-US" dirty="0"/>
              <a:t>Remember, that was only 3 grammar rules back there.</a:t>
            </a:r>
          </a:p>
          <a:p>
            <a:r>
              <a:rPr lang="en-US" dirty="0"/>
              <a:t>Make sure these are non-circular (make sure there's no infinite loop)</a:t>
            </a:r>
          </a:p>
          <a:p>
            <a:r>
              <a:rPr lang="en-US" dirty="0"/>
              <a:t>We are not </a:t>
            </a:r>
            <a:r>
              <a:rPr lang="en-US" dirty="0" err="1"/>
              <a:t>mathmeticians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51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slide is basically saying is do it as it comes. In reality, it's complicated. but this is terribly inefficient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444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this to apply static semantics.</a:t>
            </a:r>
          </a:p>
          <a:p>
            <a:r>
              <a:rPr lang="en-US" dirty="0"/>
              <a:t>We generally don’t want to deal with this.</a:t>
            </a:r>
          </a:p>
          <a:p>
            <a:r>
              <a:rPr lang="en-US" dirty="0"/>
              <a:t>We usually have tools to do this for us (apply semantics). This is here is for context, you will not be assessed on this attribute flow stuff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915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about to explain these three options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079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docs.oracle.com</a:t>
            </a:r>
            <a:r>
              <a:rPr lang="en-US" dirty="0"/>
              <a:t>/</a:t>
            </a:r>
            <a:r>
              <a:rPr lang="en-US" dirty="0" err="1"/>
              <a:t>javase</a:t>
            </a:r>
            <a:r>
              <a:rPr lang="en-US" dirty="0"/>
              <a:t>/specs/</a:t>
            </a:r>
            <a:r>
              <a:rPr lang="en-US" dirty="0" err="1"/>
              <a:t>jls</a:t>
            </a:r>
            <a:r>
              <a:rPr lang="en-US" dirty="0"/>
              <a:t>/se13/html/</a:t>
            </a:r>
            <a:r>
              <a:rPr lang="en-US" dirty="0" err="1"/>
              <a:t>index.html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166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pseudo formal. Meaning is what computer does lol. It's how we learn programming, but not great for formal definition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5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4D98175-74E3-234B-8E7C-90DE7C8C88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3C207D37-7CE3-4F42-A62C-C8B78D202E78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3313A55-AB03-7A43-A476-05DAB59CF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DA0790C-CE24-C741-A63A-5E70068E6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MX" altLang="en-US" dirty="0">
                <a:latin typeface="Times" pitchFamily="2" charset="0"/>
              </a:rPr>
              <a:t>Basically, you créate a computer program that "defines" your language.</a:t>
            </a:r>
          </a:p>
          <a:p>
            <a:pPr eaLnBrk="1" hangingPunct="1"/>
            <a:endParaRPr lang="es-MX" altLang="en-US" dirty="0">
              <a:latin typeface="Times" pitchFamily="2" charset="0"/>
            </a:endParaRPr>
          </a:p>
          <a:p>
            <a:pPr eaLnBrk="1" hangingPunct="1"/>
            <a:r>
              <a:rPr lang="es-MX" altLang="en-US" dirty="0">
                <a:latin typeface="Times" pitchFamily="2" charset="0"/>
              </a:rPr>
              <a:t>If this has a bug…it's not a bug, it's a feature…If the machine defines the language, mistakes</a:t>
            </a:r>
          </a:p>
          <a:p>
            <a:pPr eaLnBrk="1" hangingPunct="1"/>
            <a:endParaRPr lang="es-MX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5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13A598A0-DC18-9346-8215-A49C7BF0C1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4F589CD8-315E-9047-901F-02DCAD3FB6FF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22ED0C7-F2C5-1F43-A5BA-C295B18B6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EFBF7375-CF99-F140-8CF4-9178768C3D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altLang="en-US" dirty="0">
                <a:latin typeface="Times" pitchFamily="2" charset="0"/>
              </a:rPr>
              <a:t>often used as a supplemental tool</a:t>
            </a:r>
          </a:p>
          <a:p>
            <a:pPr eaLnBrk="1" hangingPunct="1"/>
            <a:endParaRPr lang="es-MX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0246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a proof…this is an entire field of mathematics…not usable by most programmers…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439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also a lot of work…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5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9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Lexical Structure &amp; Parsing Techniques</a:t>
            </a:r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Syntax Analysis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Two phases:</a:t>
            </a:r>
          </a:p>
          <a:p>
            <a:pPr lvl="1"/>
            <a:r>
              <a:rPr lang="en-US" altLang="en-US" sz="2800" dirty="0"/>
              <a:t>Lexical structure</a:t>
            </a:r>
          </a:p>
          <a:p>
            <a:pPr lvl="1"/>
            <a:r>
              <a:rPr lang="en-US" altLang="en-US" sz="2800" dirty="0"/>
              <a:t>Syntactic structure</a:t>
            </a:r>
            <a:endParaRPr lang="en-US" altLang="en-US" b="1" dirty="0">
              <a:ea typeface="MS PGothic" charset="-128"/>
            </a:endParaRPr>
          </a:p>
          <a:p>
            <a:r>
              <a:rPr lang="en-US" altLang="en-US" b="1" dirty="0">
                <a:ea typeface="MS PGothic" charset="-128"/>
              </a:rPr>
              <a:t>Lexical structure</a:t>
            </a:r>
            <a:r>
              <a:rPr lang="en-US" altLang="en-US" dirty="0">
                <a:ea typeface="MS PGothic" charset="-128"/>
              </a:rPr>
              <a:t>: the structure of the </a:t>
            </a:r>
            <a:r>
              <a:rPr lang="en-US" altLang="en-US" b="1" dirty="0">
                <a:ea typeface="MS PGothic" charset="-128"/>
              </a:rPr>
              <a:t>terminals </a:t>
            </a:r>
            <a:r>
              <a:rPr lang="en-US" altLang="en-US" dirty="0">
                <a:ea typeface="MS PGothic" charset="-128"/>
              </a:rPr>
              <a:t>in a language </a:t>
            </a:r>
          </a:p>
          <a:p>
            <a:r>
              <a:rPr lang="en-US" altLang="en-US" b="1" dirty="0">
                <a:ea typeface="MS PGothic" charset="-128"/>
              </a:rPr>
              <a:t>Syntactic structure</a:t>
            </a:r>
            <a:r>
              <a:rPr lang="en-US" altLang="en-US" dirty="0">
                <a:ea typeface="MS PGothic" charset="-128"/>
              </a:rPr>
              <a:t>: the structure of a </a:t>
            </a:r>
            <a:r>
              <a:rPr lang="en-US" altLang="en-US" b="1" dirty="0">
                <a:ea typeface="MS PGothic" charset="-128"/>
              </a:rPr>
              <a:t>derivation</a:t>
            </a:r>
            <a:r>
              <a:rPr lang="en-US" altLang="en-US" dirty="0">
                <a:ea typeface="MS PGothic" charset="-128"/>
              </a:rPr>
              <a:t> from a language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b="1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16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8EA8EF-2989-6140-A5AB-1D64B479FDDE}"/>
              </a:ext>
            </a:extLst>
          </p:cNvPr>
          <p:cNvSpPr/>
          <p:nvPr/>
        </p:nvSpPr>
        <p:spPr>
          <a:xfrm>
            <a:off x="6400800" y="5020201"/>
            <a:ext cx="4953000" cy="36933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40DF0-362D-F944-BD15-597B6DDA5203}"/>
              </a:ext>
            </a:extLst>
          </p:cNvPr>
          <p:cNvSpPr txBox="1"/>
          <p:nvPr/>
        </p:nvSpPr>
        <p:spPr>
          <a:xfrm>
            <a:off x="6400800" y="5020201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NUMBER </a:t>
            </a:r>
            <a:r>
              <a:rPr lang="en-US" dirty="0">
                <a:sym typeface="Wingdings" pitchFamily="2" charset="2"/>
              </a:rPr>
              <a:t> [0-9]+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Lexical Structure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040086" cy="4884458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Lexical structure</a:t>
            </a:r>
            <a:r>
              <a:rPr lang="en-US" altLang="en-US" dirty="0">
                <a:ea typeface="MS PGothic" charset="-128"/>
              </a:rPr>
              <a:t>: the structure of the </a:t>
            </a:r>
            <a:r>
              <a:rPr lang="en-US" altLang="en-US" b="1" dirty="0">
                <a:ea typeface="MS PGothic" charset="-128"/>
              </a:rPr>
              <a:t>terminals </a:t>
            </a:r>
            <a:r>
              <a:rPr lang="en-US" altLang="en-US" dirty="0">
                <a:ea typeface="MS PGothic" charset="-128"/>
              </a:rPr>
              <a:t>in a language 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Lexis</a:t>
            </a:r>
            <a:r>
              <a:rPr lang="en-US" altLang="en-US" sz="2800" dirty="0">
                <a:ea typeface="MS PGothic" charset="-128"/>
              </a:rPr>
              <a:t>: short for lexical structure </a:t>
            </a:r>
          </a:p>
          <a:p>
            <a:r>
              <a:rPr lang="en-US" altLang="en-US" dirty="0">
                <a:ea typeface="MS PGothic" charset="-128"/>
              </a:rPr>
              <a:t>The lexis of a language is composed of two parts 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Lexemes</a:t>
            </a:r>
            <a:r>
              <a:rPr lang="en-US" altLang="en-US" sz="2800" dirty="0">
                <a:ea typeface="MS PGothic" charset="-128"/>
              </a:rPr>
              <a:t>: logical groupings of characters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Tokens</a:t>
            </a:r>
            <a:r>
              <a:rPr lang="en-US" altLang="en-US" sz="2800" dirty="0">
                <a:ea typeface="MS PGothic" charset="-128"/>
              </a:rPr>
              <a:t>: categories of lexemes </a:t>
            </a:r>
          </a:p>
          <a:p>
            <a:pPr lvl="2"/>
            <a:r>
              <a:rPr lang="en-US" altLang="en-US" dirty="0">
                <a:ea typeface="MS PGothic" charset="-128"/>
              </a:rPr>
              <a:t>Tokens can be formally defined via </a:t>
            </a:r>
            <a:r>
              <a:rPr lang="en-US" altLang="en-US" b="1" dirty="0">
                <a:ea typeface="MS PGothic" charset="-128"/>
              </a:rPr>
              <a:t>regular expressions</a:t>
            </a:r>
          </a:p>
          <a:p>
            <a:pPr lvl="1"/>
            <a:endParaRPr lang="en-US" altLang="en-US" b="1" dirty="0">
              <a:ea typeface="MS PGothic" charset="-128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8D23C38-7927-A740-9F9E-D3A9BB5D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89"/>
          <a:stretch/>
        </p:blipFill>
        <p:spPr bwMode="auto">
          <a:xfrm>
            <a:off x="6387525" y="3047692"/>
            <a:ext cx="4966275" cy="122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567ECCF6-FD64-3B44-BF0F-ECB501F45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24"/>
          <a:stretch/>
        </p:blipFill>
        <p:spPr bwMode="auto">
          <a:xfrm>
            <a:off x="6400800" y="365125"/>
            <a:ext cx="4953000" cy="1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9A127D-001E-C743-AB5B-57DB3C60832B}"/>
              </a:ext>
            </a:extLst>
          </p:cNvPr>
          <p:cNvSpPr txBox="1"/>
          <p:nvPr/>
        </p:nvSpPr>
        <p:spPr>
          <a:xfrm>
            <a:off x="6400800" y="2627702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Syntactic Structure (EBNF Grammar)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F90FD-F377-C541-A08B-9CD3C1C44E58}"/>
              </a:ext>
            </a:extLst>
          </p:cNvPr>
          <p:cNvSpPr txBox="1"/>
          <p:nvPr/>
        </p:nvSpPr>
        <p:spPr>
          <a:xfrm>
            <a:off x="6387525" y="4459361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Lexical Structure (Lexis)</a:t>
            </a:r>
          </a:p>
        </p:txBody>
      </p:sp>
    </p:spTree>
    <p:extLst>
      <p:ext uri="{BB962C8B-B14F-4D97-AF65-F5344CB8AC3E}">
        <p14:creationId xmlns:p14="http://schemas.microsoft.com/office/powerpoint/2010/main" val="198140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Lexical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There can be ambiguity in determining the end of a variable-length lexeme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Ex: </a:t>
            </a:r>
            <a:r>
              <a:rPr lang="en-US" altLang="en-US" sz="2800" dirty="0" err="1">
                <a:ea typeface="MS PGothic" charset="-128"/>
              </a:rPr>
              <a:t>doif</a:t>
            </a:r>
            <a:r>
              <a:rPr lang="en-US" altLang="en-US" sz="2800" dirty="0">
                <a:ea typeface="MS PGothic" charset="-128"/>
              </a:rPr>
              <a:t> – is this two reserved words, do and if or the identifier </a:t>
            </a:r>
            <a:r>
              <a:rPr lang="en-US" altLang="en-US" sz="2800" dirty="0" err="1">
                <a:ea typeface="MS PGothic" charset="-128"/>
              </a:rPr>
              <a:t>doif</a:t>
            </a:r>
            <a:endParaRPr lang="en-US" altLang="en-US" sz="2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Ex: String x12 could be a string identifier or the identifier x and the numeric constant 12</a:t>
            </a:r>
          </a:p>
          <a:p>
            <a:r>
              <a:rPr lang="en-US" altLang="en-US" dirty="0">
                <a:ea typeface="MS PGothic" charset="-128"/>
              </a:rPr>
              <a:t>Use</a:t>
            </a:r>
            <a:r>
              <a:rPr lang="en-US" altLang="en-US" b="1" dirty="0">
                <a:ea typeface="MS PGothic" charset="-128"/>
              </a:rPr>
              <a:t> principle of longest substring </a:t>
            </a:r>
            <a:r>
              <a:rPr lang="en-US" altLang="en-US" dirty="0">
                <a:ea typeface="MS PGothic" charset="-128"/>
              </a:rPr>
              <a:t>to eliminate confusion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This is the process of collecting the longest possible string of nonblank characters to determine lexemes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Ex: The longest possible string of nonblank characters is collected into a lexeme, so </a:t>
            </a:r>
            <a:r>
              <a:rPr lang="en-US" altLang="en-US" sz="2800" dirty="0" err="1">
                <a:ea typeface="MS PGothic" charset="-128"/>
              </a:rPr>
              <a:t>doif</a:t>
            </a:r>
            <a:r>
              <a:rPr lang="en-US" altLang="en-US" sz="2800" dirty="0">
                <a:ea typeface="MS PGothic" charset="-128"/>
              </a:rPr>
              <a:t> and x12 are identifiers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Means that intervening characters, even blanks, make a difference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04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Lexical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Format of a program can affect the way the lexemes are recognized: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Lexeme delimiters </a:t>
            </a:r>
            <a:r>
              <a:rPr lang="en-US" altLang="en-US" sz="2800" dirty="0">
                <a:ea typeface="MS PGothic" charset="-128"/>
              </a:rPr>
              <a:t>(or </a:t>
            </a:r>
            <a:r>
              <a:rPr lang="en-US" altLang="en-US" sz="2800" b="1" dirty="0">
                <a:ea typeface="MS PGothic" charset="-128"/>
              </a:rPr>
              <a:t>white space</a:t>
            </a:r>
            <a:r>
              <a:rPr lang="en-US" altLang="en-US" sz="2800" dirty="0">
                <a:ea typeface="MS PGothic" charset="-128"/>
              </a:rPr>
              <a:t>) where the end of the line can have special meaning since it can also mean end of a structural entity as well as white space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Free-format</a:t>
            </a:r>
            <a:r>
              <a:rPr lang="en-US" altLang="en-US" sz="2800" dirty="0">
                <a:ea typeface="MS PGothic" charset="-128"/>
              </a:rPr>
              <a:t> language: one in which format has no effect on program structure other than satisfying the principle of longest substring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Lexemes can be used to determine structure (ex. { })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Fixed format </a:t>
            </a:r>
            <a:r>
              <a:rPr lang="en-US" altLang="en-US" sz="2800" dirty="0">
                <a:ea typeface="MS PGothic" charset="-128"/>
              </a:rPr>
              <a:t>language: one in which specific tokens must occur in pre-specified locations on the page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101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Syntax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The syntax analysis portion of a language processor consists of two parts:</a:t>
            </a:r>
          </a:p>
          <a:p>
            <a:pPr lvl="1"/>
            <a:r>
              <a:rPr lang="en-US" altLang="en-US" sz="2800" dirty="0"/>
              <a:t>Lexical structure </a:t>
            </a:r>
            <a:r>
              <a:rPr lang="en-US" altLang="en-US" sz="2800" dirty="0">
                <a:sym typeface="Wingdings" pitchFamily="2" charset="2"/>
              </a:rPr>
              <a:t> </a:t>
            </a:r>
            <a:r>
              <a:rPr lang="en-US" altLang="en-US" sz="2800" dirty="0"/>
              <a:t>Scanning &amp; Tokenizing</a:t>
            </a:r>
          </a:p>
          <a:p>
            <a:pPr lvl="1"/>
            <a:r>
              <a:rPr lang="en-US" altLang="en-US" sz="2800" dirty="0"/>
              <a:t>Syntactic structure </a:t>
            </a:r>
            <a:r>
              <a:rPr lang="en-US" altLang="en-US" sz="2800" dirty="0">
                <a:sym typeface="Wingdings" pitchFamily="2" charset="2"/>
              </a:rPr>
              <a:t> </a:t>
            </a:r>
            <a:r>
              <a:rPr lang="en-US" altLang="en-US" sz="2800" dirty="0"/>
              <a:t>Parsing</a:t>
            </a:r>
          </a:p>
          <a:p>
            <a:r>
              <a:rPr lang="en-US" altLang="en-US" b="1" dirty="0">
                <a:ea typeface="MS PGothic" charset="-128"/>
              </a:rPr>
              <a:t>Scanning</a:t>
            </a:r>
            <a:r>
              <a:rPr lang="en-US" altLang="en-US" dirty="0">
                <a:ea typeface="MS PGothic" charset="-128"/>
              </a:rPr>
              <a:t> Phase: the phase in which a translator collects lexemes from the input program and associates them into tokens</a:t>
            </a:r>
          </a:p>
          <a:p>
            <a:r>
              <a:rPr lang="en-US" altLang="en-US" b="1" dirty="0">
                <a:ea typeface="MS PGothic" charset="-128"/>
              </a:rPr>
              <a:t>Parsing</a:t>
            </a:r>
            <a:r>
              <a:rPr lang="en-US" altLang="en-US" dirty="0">
                <a:ea typeface="MS PGothic" charset="-128"/>
              </a:rPr>
              <a:t> Phase: the phase in which the translator processes the tokens, determining the program’s syntactic structure</a:t>
            </a:r>
          </a:p>
          <a:p>
            <a:r>
              <a:rPr lang="en-US" altLang="en-US" dirty="0"/>
              <a:t>The scanning phase is done by a </a:t>
            </a:r>
            <a:r>
              <a:rPr lang="en-US" altLang="en-US" i="1" dirty="0"/>
              <a:t>lexical </a:t>
            </a:r>
            <a:r>
              <a:rPr lang="en-US" altLang="en-US" dirty="0"/>
              <a:t>analyzer and the parsing phase by a </a:t>
            </a:r>
            <a:r>
              <a:rPr lang="en-US" altLang="en-US" i="1" dirty="0"/>
              <a:t>syntax analyzer </a:t>
            </a:r>
            <a:r>
              <a:rPr lang="en-US" altLang="en-US" dirty="0"/>
              <a:t>(or parser) </a:t>
            </a:r>
          </a:p>
        </p:txBody>
      </p:sp>
    </p:spTree>
    <p:extLst>
      <p:ext uri="{BB962C8B-B14F-4D97-AF65-F5344CB8AC3E}">
        <p14:creationId xmlns:p14="http://schemas.microsoft.com/office/powerpoint/2010/main" val="340082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Lexical </a:t>
            </a:r>
            <a:r>
              <a:rPr lang="en-US" b="1" dirty="0">
                <a:solidFill>
                  <a:srgbClr val="0070C0"/>
                </a:solidFill>
              </a:rP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Reasons to Separate Lexical and Syntax Analysis:</a:t>
            </a:r>
            <a:endParaRPr lang="en-US" altLang="en-US" i="1" dirty="0"/>
          </a:p>
          <a:p>
            <a:pPr lvl="1"/>
            <a:r>
              <a:rPr lang="en-US" altLang="en-US" sz="2800" i="1" dirty="0"/>
              <a:t>Simplicity</a:t>
            </a:r>
            <a:r>
              <a:rPr lang="en-US" altLang="en-US" sz="2800" dirty="0"/>
              <a:t> - less complex approaches can be used for lexical analysis; separating them simplifies the parser</a:t>
            </a:r>
          </a:p>
          <a:p>
            <a:pPr lvl="1"/>
            <a:r>
              <a:rPr lang="en-US" altLang="en-US" sz="2800" i="1" dirty="0"/>
              <a:t>Efficiency</a:t>
            </a:r>
            <a:r>
              <a:rPr lang="en-US" altLang="en-US" sz="2800" dirty="0"/>
              <a:t> - separation allows optimization of the lexical analyzer</a:t>
            </a:r>
          </a:p>
          <a:p>
            <a:pPr lvl="1"/>
            <a:r>
              <a:rPr lang="en-US" altLang="en-US" sz="2800" i="1" dirty="0"/>
              <a:t>Portability</a:t>
            </a:r>
            <a:r>
              <a:rPr lang="en-US" altLang="en-US" sz="2800" dirty="0"/>
              <a:t> - parts of the lexical analyzer may not be portable, but the parser always is portable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95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Lexical </a:t>
            </a:r>
            <a:r>
              <a:rPr lang="en-US" b="1" dirty="0">
                <a:solidFill>
                  <a:srgbClr val="0070C0"/>
                </a:solidFill>
              </a:rP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A lexical analyzer is a pattern matcher for character strings</a:t>
            </a:r>
          </a:p>
          <a:p>
            <a:r>
              <a:rPr lang="en-US" altLang="en-US" dirty="0"/>
              <a:t>A lexical analyzer is a “front-end” for the parser</a:t>
            </a:r>
          </a:p>
          <a:p>
            <a:r>
              <a:rPr lang="en-US" altLang="en-US" dirty="0"/>
              <a:t>Identifies substrings of the source program that belong together – </a:t>
            </a:r>
            <a:r>
              <a:rPr lang="en-US" altLang="en-US" i="1" dirty="0"/>
              <a:t>lexemes</a:t>
            </a:r>
          </a:p>
          <a:p>
            <a:r>
              <a:rPr lang="en-US" altLang="en-US" dirty="0">
                <a:ea typeface="MS PGothic" charset="-128"/>
              </a:rPr>
              <a:t>Associates each lexeme with a token </a:t>
            </a:r>
          </a:p>
          <a:p>
            <a:r>
              <a:rPr lang="en-US" altLang="en-US" dirty="0">
                <a:ea typeface="MS PGothic" charset="-128"/>
              </a:rPr>
              <a:t>Transforms an input into an ordered set of tokens </a:t>
            </a:r>
          </a:p>
        </p:txBody>
      </p:sp>
    </p:spTree>
    <p:extLst>
      <p:ext uri="{BB962C8B-B14F-4D97-AF65-F5344CB8AC3E}">
        <p14:creationId xmlns:p14="http://schemas.microsoft.com/office/powerpoint/2010/main" val="1313386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Lexical </a:t>
            </a:r>
            <a:r>
              <a:rPr lang="en-US" b="1" dirty="0">
                <a:solidFill>
                  <a:srgbClr val="0070C0"/>
                </a:solidFill>
              </a:rP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dirty="0"/>
              <a:t>Three approaches to building a lexical analyzer: </a:t>
            </a:r>
          </a:p>
          <a:p>
            <a:pPr lvl="1"/>
            <a:r>
              <a:rPr lang="en-US" dirty="0"/>
              <a:t>Write a formal description of the tokens and use a software tool that constructs table-driven lexical analyzers given such a description </a:t>
            </a:r>
            <a:endParaRPr lang="en-US" sz="2800" dirty="0"/>
          </a:p>
          <a:p>
            <a:pPr lvl="1"/>
            <a:r>
              <a:rPr lang="en-US" dirty="0"/>
              <a:t>Design a state diagram that describes the tokens and write a program that implements the state diagram </a:t>
            </a:r>
            <a:endParaRPr lang="en-US" sz="2800" dirty="0"/>
          </a:p>
          <a:p>
            <a:pPr lvl="1"/>
            <a:r>
              <a:rPr lang="en-US" dirty="0"/>
              <a:t>Design a state diagram that describes the tokens and hand-construct a table-driven implementation of the state diagram </a:t>
            </a:r>
          </a:p>
          <a:p>
            <a:pPr lvl="2"/>
            <a:r>
              <a:rPr lang="en-US" sz="2400" dirty="0"/>
              <a:t>Finite Automata</a:t>
            </a:r>
          </a:p>
        </p:txBody>
      </p:sp>
    </p:spTree>
    <p:extLst>
      <p:ext uri="{BB962C8B-B14F-4D97-AF65-F5344CB8AC3E}">
        <p14:creationId xmlns:p14="http://schemas.microsoft.com/office/powerpoint/2010/main" val="10151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A context free grammar describes the strings of tokens that are syntactically legal</a:t>
            </a:r>
          </a:p>
          <a:p>
            <a:pPr lvl="1"/>
            <a:r>
              <a:rPr lang="en-US" altLang="en-US" sz="2800" dirty="0"/>
              <a:t>It also describes how a parser must act to parse correctly</a:t>
            </a:r>
          </a:p>
          <a:p>
            <a:r>
              <a:rPr lang="en-US" altLang="en-US" b="1" dirty="0"/>
              <a:t>Recognizer</a:t>
            </a:r>
            <a:r>
              <a:rPr lang="en-US" altLang="en-US" dirty="0"/>
              <a:t>: accepts or rejects strings of tokens based on whether they are legal strings in the language</a:t>
            </a:r>
          </a:p>
          <a:p>
            <a:r>
              <a:rPr lang="en-US" altLang="en-US" b="1" dirty="0"/>
              <a:t>Parser</a:t>
            </a:r>
            <a:r>
              <a:rPr lang="en-US" altLang="en-US" dirty="0"/>
              <a:t>: </a:t>
            </a:r>
            <a:r>
              <a:rPr lang="en-US" altLang="en-US" dirty="0">
                <a:ea typeface="MS PGothic" charset="-128"/>
              </a:rPr>
              <a:t>assembles valid strings of tokens together into a syntax tree</a:t>
            </a:r>
          </a:p>
          <a:p>
            <a:r>
              <a:rPr lang="en-US" altLang="en-US" dirty="0">
                <a:ea typeface="MS PGothic" charset="-128"/>
              </a:rPr>
              <a:t>Parsers invokes the lexical analyzer to obtain the tokens of the input program, assembles the tokens together into a syntax tree, and passes the tree to the later phases of the compiler</a:t>
            </a:r>
          </a:p>
        </p:txBody>
      </p:sp>
    </p:spTree>
    <p:extLst>
      <p:ext uri="{BB962C8B-B14F-4D97-AF65-F5344CB8AC3E}">
        <p14:creationId xmlns:p14="http://schemas.microsoft.com/office/powerpoint/2010/main" val="389200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Parsing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The parser is the heart of a typical compiler</a:t>
            </a:r>
          </a:p>
          <a:p>
            <a:r>
              <a:rPr lang="en-US" altLang="en-US" dirty="0">
                <a:ea typeface="MS PGothic" charset="-128"/>
              </a:rPr>
              <a:t>It can be shown that for any context free grammar we can create a parser that runs in O(n</a:t>
            </a:r>
            <a:r>
              <a:rPr lang="en-US" altLang="en-US" baseline="30000" dirty="0">
                <a:ea typeface="MS PGothic" charset="-128"/>
              </a:rPr>
              <a:t>3</a:t>
            </a:r>
            <a:r>
              <a:rPr lang="en-US" altLang="en-US" dirty="0">
                <a:ea typeface="MS PGothic" charset="-128"/>
              </a:rPr>
              <a:t>) time, where n is the length of the input program</a:t>
            </a:r>
          </a:p>
          <a:p>
            <a:r>
              <a:rPr lang="en-US" altLang="en-US" dirty="0">
                <a:ea typeface="MS PGothic" charset="-128"/>
              </a:rPr>
              <a:t>There are large classes of grammars for which we can build parsers that run in O(n) time. The two most important of these classes are called:</a:t>
            </a:r>
          </a:p>
          <a:p>
            <a:pPr lvl="1"/>
            <a:r>
              <a:rPr lang="en-US" altLang="en-US" b="1" dirty="0">
                <a:ea typeface="MS PGothic" charset="-128"/>
              </a:rPr>
              <a:t>Left-to-right, Left-most derivation</a:t>
            </a:r>
            <a:r>
              <a:rPr lang="en-US" altLang="en-US" dirty="0">
                <a:ea typeface="MS PGothic" charset="-128"/>
              </a:rPr>
              <a:t> or LL </a:t>
            </a:r>
          </a:p>
          <a:p>
            <a:pPr lvl="1"/>
            <a:r>
              <a:rPr lang="en-US" altLang="en-US" b="1" dirty="0">
                <a:ea typeface="MS PGothic" charset="-128"/>
              </a:rPr>
              <a:t>Left-to-right, Right-most derivation </a:t>
            </a:r>
            <a:r>
              <a:rPr lang="en-US" altLang="en-US" dirty="0">
                <a:ea typeface="MS PGothic" charset="-128"/>
              </a:rPr>
              <a:t>or LR</a:t>
            </a:r>
          </a:p>
        </p:txBody>
      </p:sp>
    </p:spTree>
    <p:extLst>
      <p:ext uri="{BB962C8B-B14F-4D97-AF65-F5344CB8AC3E}">
        <p14:creationId xmlns:p14="http://schemas.microsoft.com/office/powerpoint/2010/main" val="3554827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Parsing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LL parsers are also called “top-down,” or “predictive” parsers</a:t>
            </a:r>
          </a:p>
          <a:p>
            <a:pPr lvl="1"/>
            <a:r>
              <a:rPr lang="en-US" altLang="en-US" dirty="0">
                <a:ea typeface="MS PGothic" charset="-128"/>
              </a:rPr>
              <a:t>They construct a parse tree from the root down, predicting at each step which production will be used to expand the current node, based on the next available token of input</a:t>
            </a:r>
          </a:p>
          <a:p>
            <a:pPr lvl="1"/>
            <a:r>
              <a:rPr lang="en-US" dirty="0"/>
              <a:t>Generally considered to be simpler and easier to understand than LR parsers</a:t>
            </a:r>
          </a:p>
          <a:p>
            <a:pPr lvl="1"/>
            <a:r>
              <a:rPr lang="en-US" dirty="0"/>
              <a:t>LL parsers can be written by hand or generated automatically 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LR parsers are also called “bottom-up” or “</a:t>
            </a:r>
            <a:r>
              <a:rPr lang="en-US" altLang="en-US" dirty="0"/>
              <a:t>shift-reduce” </a:t>
            </a:r>
            <a:r>
              <a:rPr lang="en-US" altLang="en-US" dirty="0">
                <a:ea typeface="MS PGothic" charset="-128"/>
              </a:rPr>
              <a:t>parsers</a:t>
            </a:r>
          </a:p>
          <a:p>
            <a:pPr lvl="1"/>
            <a:r>
              <a:rPr lang="en-US" altLang="en-US" dirty="0">
                <a:ea typeface="MS PGothic" charset="-128"/>
              </a:rPr>
              <a:t>They construct a parse tree from the leaves up, recognizing when a collection of leaves or other nodes can be joined together as the children of a single parent</a:t>
            </a:r>
          </a:p>
          <a:p>
            <a:pPr lvl="1"/>
            <a:r>
              <a:rPr lang="en-US" dirty="0"/>
              <a:t>LR parsers are almost always constructed by a parser-generating tool</a:t>
            </a:r>
          </a:p>
        </p:txBody>
      </p:sp>
    </p:spTree>
    <p:extLst>
      <p:ext uri="{BB962C8B-B14F-4D97-AF65-F5344CB8AC3E}">
        <p14:creationId xmlns:p14="http://schemas.microsoft.com/office/powerpoint/2010/main" val="1245820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b="1" dirty="0"/>
              <a:t>Single-symbol lookahead</a:t>
            </a:r>
            <a:r>
              <a:rPr lang="en-US" altLang="en-US" dirty="0"/>
              <a:t>: using a single token to direct an LL parse</a:t>
            </a:r>
            <a:endParaRPr lang="en-US" altLang="en-US" b="1" dirty="0"/>
          </a:p>
          <a:p>
            <a:r>
              <a:rPr lang="en-US" altLang="en-US" dirty="0"/>
              <a:t>Grammar must satisfy certain conditions to make this decision-making process work</a:t>
            </a:r>
          </a:p>
          <a:p>
            <a:pPr lvl="1"/>
            <a:r>
              <a:rPr lang="en-US" altLang="en-US" sz="2800" dirty="0"/>
              <a:t>Parser must be able to distinguish between choices in a rule</a:t>
            </a:r>
          </a:p>
          <a:p>
            <a:pPr lvl="1"/>
            <a:r>
              <a:rPr lang="en-US" altLang="en-US" sz="2800" dirty="0"/>
              <a:t>For an optional part, no token beginning the optional part can also come after the optional part</a:t>
            </a:r>
          </a:p>
        </p:txBody>
      </p:sp>
    </p:spTree>
    <p:extLst>
      <p:ext uri="{BB962C8B-B14F-4D97-AF65-F5344CB8AC3E}">
        <p14:creationId xmlns:p14="http://schemas.microsoft.com/office/powerpoint/2010/main" val="1233365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b="1" dirty="0"/>
              <a:t>Recursive descent parser: </a:t>
            </a:r>
            <a:r>
              <a:rPr lang="en-US" altLang="en-US" dirty="0"/>
              <a:t>A LL parser whose functions correspond, one-to-one, to the </a:t>
            </a:r>
            <a:r>
              <a:rPr lang="en-US" altLang="en-US" dirty="0" err="1"/>
              <a:t>nonterminals</a:t>
            </a:r>
            <a:r>
              <a:rPr lang="en-US" altLang="en-US" dirty="0"/>
              <a:t> (i.e. the right-hand sides of productions) of the grammar</a:t>
            </a:r>
          </a:p>
          <a:p>
            <a:pPr lvl="1"/>
            <a:r>
              <a:rPr lang="en-US" altLang="en-US" sz="2800" dirty="0"/>
              <a:t>Terminals are matched directly with input tokens as constructed by a scanner</a:t>
            </a:r>
          </a:p>
          <a:p>
            <a:pPr lvl="1"/>
            <a:r>
              <a:rPr lang="en-US" altLang="en-US" sz="2800" dirty="0" err="1"/>
              <a:t>Nonterminals</a:t>
            </a:r>
            <a:r>
              <a:rPr lang="en-US" altLang="en-US" sz="2800" dirty="0"/>
              <a:t> are interpreted as calls to the procedures corresponding to the </a:t>
            </a:r>
            <a:r>
              <a:rPr lang="en-US" altLang="en-US" sz="2800" dirty="0" err="1"/>
              <a:t>nonterminals</a:t>
            </a:r>
            <a:endParaRPr lang="en-US" altLang="en-US" sz="2800" dirty="0"/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7426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Recursive Decent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Example:</a:t>
            </a:r>
            <a:endParaRPr lang="en-US" altLang="en-US" dirty="0">
              <a:ea typeface="MS PGothic" charset="-128"/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14" y="1825623"/>
            <a:ext cx="8674365" cy="4656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953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Left-recursive rules may present problems</a:t>
            </a:r>
          </a:p>
          <a:p>
            <a:pPr lvl="1"/>
            <a:r>
              <a:rPr lang="en-US" altLang="en-US" sz="2800" dirty="0"/>
              <a:t>Example: </a:t>
            </a:r>
          </a:p>
          <a:p>
            <a:pPr lvl="1"/>
            <a:r>
              <a:rPr lang="en-US" altLang="en-US" sz="2800" dirty="0"/>
              <a:t>May cause an infinite recursive loop</a:t>
            </a:r>
          </a:p>
          <a:p>
            <a:pPr lvl="1"/>
            <a:r>
              <a:rPr lang="en-US" altLang="en-US" sz="2800" dirty="0"/>
              <a:t>No way to decide which of the two choices to take until a + is seen</a:t>
            </a:r>
          </a:p>
          <a:p>
            <a:r>
              <a:rPr lang="en-US" altLang="en-US" dirty="0"/>
              <a:t>The EBNF description expresses the recursion as a loop:</a:t>
            </a:r>
          </a:p>
          <a:p>
            <a:endParaRPr lang="en-US" altLang="en-US" dirty="0"/>
          </a:p>
          <a:p>
            <a:r>
              <a:rPr lang="en-US" altLang="en-US" dirty="0"/>
              <a:t>Thus, curly brackets in EBNF represent </a:t>
            </a:r>
            <a:r>
              <a:rPr lang="en-US" altLang="en-US" b="1" dirty="0"/>
              <a:t>left recursion removal</a:t>
            </a:r>
            <a:r>
              <a:rPr lang="en-US" altLang="en-US" dirty="0"/>
              <a:t> by the use of a loop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657" y="2275115"/>
            <a:ext cx="5239003" cy="500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299" y="4180113"/>
            <a:ext cx="4487413" cy="511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079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Example:</a:t>
            </a:r>
          </a:p>
          <a:p>
            <a:pPr lvl="1"/>
            <a:r>
              <a:rPr lang="en-US" altLang="en-US" sz="2800" dirty="0"/>
              <a:t>Parser must be able to distinguish between choices in a rule</a:t>
            </a:r>
          </a:p>
          <a:p>
            <a:pPr lvl="1"/>
            <a:r>
              <a:rPr lang="en-US" altLang="en-US" sz="2800" dirty="0"/>
              <a:t>Can this grammar work?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  <a:p>
            <a:pPr lvl="1"/>
            <a:r>
              <a:rPr lang="en-US" altLang="en-US" sz="2800" dirty="0"/>
              <a:t>How about this one?</a:t>
            </a:r>
          </a:p>
          <a:p>
            <a:pPr marL="457200" lvl="1" indent="0">
              <a:buNone/>
            </a:pPr>
            <a:r>
              <a:rPr lang="en-US" altLang="en-US" sz="2800" dirty="0"/>
              <a:t>	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899" y="3369781"/>
            <a:ext cx="54752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CCDEA27-A323-6748-8C96-6A6529564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" t="5364" b="19348"/>
          <a:stretch/>
        </p:blipFill>
        <p:spPr bwMode="auto">
          <a:xfrm>
            <a:off x="4920915" y="4837101"/>
            <a:ext cx="6935305" cy="200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524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rgbClr val="0070C0"/>
                </a:solidFill>
              </a:rPr>
              <a:t>Parsing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Partial Grammar:</a:t>
            </a:r>
          </a:p>
          <a:p>
            <a:pPr marL="457200" lvl="1" indent="0">
              <a:buNone/>
            </a:pPr>
            <a:r>
              <a:rPr lang="en-US" altLang="en-US" sz="2200" dirty="0"/>
              <a:t>function 	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header body</a:t>
            </a:r>
          </a:p>
          <a:p>
            <a:pPr marL="457200" lvl="1" indent="0">
              <a:buNone/>
            </a:pPr>
            <a:r>
              <a:rPr lang="en-US" altLang="en-US" sz="2200" dirty="0"/>
              <a:t>header 	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VARTYPE IDENTIFIER </a:t>
            </a:r>
            <a:r>
              <a:rPr lang="en-US" altLang="en-US" sz="2200" kern="0" dirty="0"/>
              <a:t>LPAREN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arg-decl</a:t>
            </a:r>
            <a:r>
              <a:rPr lang="en-US" altLang="en-US" sz="2200" dirty="0"/>
              <a:t> </a:t>
            </a:r>
            <a:r>
              <a:rPr lang="en-US" altLang="en-US" sz="2200" kern="0" dirty="0"/>
              <a:t>RPAREN</a:t>
            </a:r>
            <a:endParaRPr lang="en-US" altLang="en-US" sz="2200" dirty="0"/>
          </a:p>
          <a:p>
            <a:pPr marL="457200" lvl="1" indent="0">
              <a:buNone/>
            </a:pPr>
            <a:r>
              <a:rPr lang="en-US" altLang="en-US" sz="2200" dirty="0" err="1"/>
              <a:t>arg-decl</a:t>
            </a:r>
            <a:r>
              <a:rPr lang="en-US" altLang="en-US" sz="2200" dirty="0"/>
              <a:t> 	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VARTYPE IDENTIFIER | VARTYPE IDENTIFIER </a:t>
            </a:r>
            <a:r>
              <a:rPr lang="en-US" altLang="en-US" sz="2200" kern="0" dirty="0"/>
              <a:t>COMMA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arg-decl</a:t>
            </a:r>
            <a:r>
              <a:rPr lang="en-US" altLang="en-US" sz="2200" dirty="0"/>
              <a:t> </a:t>
            </a:r>
            <a:br>
              <a:rPr lang="en-US" altLang="en-US" sz="2200" dirty="0"/>
            </a:br>
            <a:r>
              <a:rPr lang="en-US" altLang="en-US" sz="2200" dirty="0"/>
              <a:t>body 	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</a:t>
            </a:r>
            <a:r>
              <a:rPr lang="en-US" altLang="en-US" sz="2200" kern="0" dirty="0"/>
              <a:t>LBRACKET</a:t>
            </a:r>
            <a:r>
              <a:rPr lang="en-US" altLang="en-US" sz="2200" dirty="0"/>
              <a:t> statement-list </a:t>
            </a:r>
            <a:r>
              <a:rPr lang="en-US" altLang="en-US" sz="2200" kern="0" dirty="0"/>
              <a:t>RBRACKET</a:t>
            </a:r>
            <a:endParaRPr lang="en-US" altLang="en-US" sz="2200" dirty="0"/>
          </a:p>
          <a:p>
            <a:pPr marL="457200" lvl="1" indent="0">
              <a:buNone/>
            </a:pPr>
            <a:r>
              <a:rPr lang="en-US" altLang="en-US" sz="2200" dirty="0"/>
              <a:t>statement-list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statement | statement statement-list</a:t>
            </a:r>
          </a:p>
          <a:p>
            <a:pPr marL="457200" lvl="1" indent="0">
              <a:buNone/>
            </a:pPr>
            <a:r>
              <a:rPr lang="en-US" altLang="en-US" sz="2200" dirty="0"/>
              <a:t>statement   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while-loop | return | assignment | body</a:t>
            </a:r>
          </a:p>
          <a:p>
            <a:pPr marL="457200" lvl="1" indent="0">
              <a:buNone/>
            </a:pPr>
            <a:r>
              <a:rPr lang="en-US" altLang="en-US" sz="2200" dirty="0"/>
              <a:t>while-loop  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</a:t>
            </a:r>
            <a:r>
              <a:rPr lang="en-US" altLang="en-US" sz="2000" kern="0" dirty="0"/>
              <a:t>WHILEKEY LPAREN</a:t>
            </a:r>
            <a:r>
              <a:rPr lang="en-US" altLang="en-US" sz="2200" dirty="0"/>
              <a:t> expression </a:t>
            </a:r>
            <a:r>
              <a:rPr lang="en-US" altLang="en-US" sz="2000" kern="0" dirty="0"/>
              <a:t>RPAREN</a:t>
            </a:r>
            <a:r>
              <a:rPr lang="en-US" altLang="en-US" sz="2200" dirty="0"/>
              <a:t> statement</a:t>
            </a:r>
          </a:p>
          <a:p>
            <a:pPr marL="457200" lvl="1" indent="0">
              <a:buNone/>
            </a:pPr>
            <a:r>
              <a:rPr lang="en-US" altLang="en-US" sz="2200" dirty="0"/>
              <a:t>return 	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</a:t>
            </a:r>
            <a:r>
              <a:rPr lang="en-US" altLang="en-US" sz="2000" kern="0" dirty="0"/>
              <a:t>RETURNKEY </a:t>
            </a:r>
            <a:r>
              <a:rPr lang="en-US" altLang="en-US" sz="2200" dirty="0"/>
              <a:t>expression</a:t>
            </a:r>
          </a:p>
          <a:p>
            <a:pPr marL="457200" lvl="1" indent="0">
              <a:buNone/>
            </a:pPr>
            <a:r>
              <a:rPr lang="en-US" altLang="en-US" sz="2200" dirty="0"/>
              <a:t>assignment 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IDENTIFIER </a:t>
            </a:r>
            <a:r>
              <a:rPr lang="en-US" altLang="en-US" sz="2000" kern="0" dirty="0"/>
              <a:t>ASSIGN</a:t>
            </a:r>
            <a:r>
              <a:rPr lang="en-US" altLang="en-US" sz="2200" dirty="0"/>
              <a:t> expression </a:t>
            </a:r>
            <a:r>
              <a:rPr lang="en-US" altLang="en-US" sz="2000" kern="0" dirty="0"/>
              <a:t>EOL</a:t>
            </a:r>
            <a:br>
              <a:rPr lang="en-US" altLang="en-US" sz="2200" dirty="0"/>
            </a:br>
            <a:r>
              <a:rPr lang="en-US" altLang="en-US" sz="2200" dirty="0"/>
              <a:t>expression   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term | term BINOP term | </a:t>
            </a:r>
            <a:r>
              <a:rPr lang="en-US" altLang="en-US" sz="2000" kern="0" dirty="0"/>
              <a:t>LPAREN</a:t>
            </a:r>
            <a:r>
              <a:rPr lang="en-US" altLang="en-US" sz="2200" dirty="0"/>
              <a:t> term </a:t>
            </a:r>
            <a:r>
              <a:rPr lang="en-US" altLang="en-US" sz="2000" kern="0" dirty="0"/>
              <a:t>RPAREN</a:t>
            </a:r>
            <a:endParaRPr lang="en-US" altLang="en-US" sz="2200" dirty="0"/>
          </a:p>
          <a:p>
            <a:pPr marL="457200" lvl="1" indent="0">
              <a:buNone/>
            </a:pPr>
            <a:r>
              <a:rPr lang="en-US" altLang="en-US" sz="2200" dirty="0"/>
              <a:t>term 	    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IDENTIFIER | NUMBER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99A03-BCD7-CE4A-A9A4-A9CF30FDACD1}"/>
              </a:ext>
            </a:extLst>
          </p:cNvPr>
          <p:cNvSpPr/>
          <p:nvPr/>
        </p:nvSpPr>
        <p:spPr>
          <a:xfrm>
            <a:off x="8180614" y="0"/>
            <a:ext cx="401138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r">
              <a:defRPr/>
            </a:pPr>
            <a:r>
              <a:rPr lang="en-US" altLang="en-US" sz="2400" b="1" kern="0" dirty="0">
                <a:solidFill>
                  <a:schemeClr val="accent1"/>
                </a:solidFill>
              </a:rPr>
              <a:t>Lexical Structure (Lexis):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VARTYPE -&gt; int | void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IDENTIFIER -&gt; [a-z][a-zA-Z0-9]*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BINOP -&gt; + | * | (!=) | %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NUMBER -&gt; [1-9][0-9]*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LBRACKET -&gt; {</a:t>
            </a:r>
            <a:br>
              <a:rPr lang="en-US" altLang="en-US" sz="2400" kern="0" dirty="0">
                <a:solidFill>
                  <a:schemeClr val="accent1"/>
                </a:solidFill>
              </a:rPr>
            </a:br>
            <a:r>
              <a:rPr lang="en-US" altLang="en-US" sz="2400" kern="0" dirty="0">
                <a:solidFill>
                  <a:schemeClr val="accent1"/>
                </a:solidFill>
              </a:rPr>
              <a:t>RBRACKET -&gt; }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LPAREN -&gt; (</a:t>
            </a:r>
            <a:br>
              <a:rPr lang="en-US" altLang="en-US" sz="2400" kern="0" dirty="0">
                <a:solidFill>
                  <a:schemeClr val="accent1"/>
                </a:solidFill>
              </a:rPr>
            </a:br>
            <a:r>
              <a:rPr lang="en-US" altLang="en-US" sz="2400" kern="0" dirty="0">
                <a:solidFill>
                  <a:schemeClr val="accent1"/>
                </a:solidFill>
              </a:rPr>
              <a:t>RPAREN -&gt; )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ASSIGN -&gt; =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EOL -&gt; ;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COMMA -&gt; ,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WHILEKEY -&gt; while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RETURNKEY -&gt; return</a:t>
            </a:r>
          </a:p>
        </p:txBody>
      </p:sp>
    </p:spTree>
    <p:extLst>
      <p:ext uri="{BB962C8B-B14F-4D97-AF65-F5344CB8AC3E}">
        <p14:creationId xmlns:p14="http://schemas.microsoft.com/office/powerpoint/2010/main" val="2524677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Parsing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1B4BC-13E7-764E-A523-8680CC284A40}"/>
              </a:ext>
            </a:extLst>
          </p:cNvPr>
          <p:cNvSpPr/>
          <p:nvPr/>
        </p:nvSpPr>
        <p:spPr>
          <a:xfrm>
            <a:off x="8180614" y="0"/>
            <a:ext cx="401138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r">
              <a:defRPr/>
            </a:pPr>
            <a:r>
              <a:rPr lang="en-US" altLang="en-US" sz="2400" b="1" kern="0" dirty="0">
                <a:solidFill>
                  <a:schemeClr val="accent1"/>
                </a:solidFill>
              </a:rPr>
              <a:t>Lexical Structure (Lexis):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VARTYPE -&gt; int | void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IDENTIFIER -&gt; [a-z][a-zA-Z0-9]*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BINOP -&gt; + | * | (!=) | %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NUMBER -&gt; [1-9][0-9]*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LBRACKET -&gt; {</a:t>
            </a:r>
            <a:br>
              <a:rPr lang="en-US" altLang="en-US" sz="2400" kern="0" dirty="0">
                <a:solidFill>
                  <a:schemeClr val="accent1"/>
                </a:solidFill>
              </a:rPr>
            </a:br>
            <a:r>
              <a:rPr lang="en-US" altLang="en-US" sz="2400" kern="0" dirty="0">
                <a:solidFill>
                  <a:schemeClr val="accent1"/>
                </a:solidFill>
              </a:rPr>
              <a:t>RBRACKET -&gt; }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LPAREN -&gt; (</a:t>
            </a:r>
            <a:br>
              <a:rPr lang="en-US" altLang="en-US" sz="2400" kern="0" dirty="0">
                <a:solidFill>
                  <a:schemeClr val="accent1"/>
                </a:solidFill>
              </a:rPr>
            </a:br>
            <a:r>
              <a:rPr lang="en-US" altLang="en-US" sz="2400" kern="0" dirty="0">
                <a:solidFill>
                  <a:schemeClr val="accent1"/>
                </a:solidFill>
              </a:rPr>
              <a:t>RPAREN -&gt; )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ASSIGN -&gt; =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EOL -&gt; ;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COMMA -&gt; ,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WHILEKEY -&gt; while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RETURNKEY -&gt; return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C5314F-D6E3-5748-930B-5B9CE0773045}"/>
              </a:ext>
            </a:extLst>
          </p:cNvPr>
          <p:cNvSpPr txBox="1">
            <a:spLocks/>
          </p:cNvSpPr>
          <p:nvPr/>
        </p:nvSpPr>
        <p:spPr>
          <a:xfrm>
            <a:off x="59069" y="2129758"/>
            <a:ext cx="10515600" cy="4884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for derivation:</a:t>
            </a:r>
          </a:p>
          <a:p>
            <a:pPr marL="857250" lvl="2" indent="0">
              <a:buFontTx/>
              <a:buNone/>
            </a:pPr>
            <a:r>
              <a:rPr lang="en-US" altLang="en-US" sz="2800" dirty="0" err="1"/>
              <a:t>int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gcd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 a1, 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 a2){</a:t>
            </a:r>
          </a:p>
          <a:p>
            <a:pPr marL="857250" lvl="2" indent="0">
              <a:buFontTx/>
              <a:buNone/>
            </a:pPr>
            <a:r>
              <a:rPr lang="en-US" altLang="en-US" sz="2800" dirty="0"/>
              <a:t>		while (a2 != 0) {</a:t>
            </a:r>
          </a:p>
          <a:p>
            <a:pPr marL="857250" lvl="2" indent="0">
              <a:buFontTx/>
              <a:buNone/>
            </a:pPr>
            <a:r>
              <a:rPr lang="en-US" altLang="en-US" sz="2800" dirty="0"/>
              <a:t>			reminder = a1 % a2;</a:t>
            </a:r>
          </a:p>
          <a:p>
            <a:pPr marL="857250" lvl="2" indent="0">
              <a:buFontTx/>
              <a:buNone/>
            </a:pPr>
            <a:r>
              <a:rPr lang="en-US" altLang="en-US" sz="2800" dirty="0"/>
              <a:t>			a1 = a2;</a:t>
            </a:r>
          </a:p>
          <a:p>
            <a:pPr marL="857250" lvl="2" indent="0">
              <a:buFontTx/>
              <a:buNone/>
            </a:pPr>
            <a:r>
              <a:rPr lang="en-US" altLang="en-US" sz="2800" dirty="0"/>
              <a:t>			a2 = reminder;</a:t>
            </a:r>
          </a:p>
          <a:p>
            <a:pPr marL="857250" lvl="2" indent="0">
              <a:buFontTx/>
              <a:buNone/>
            </a:pPr>
            <a:r>
              <a:rPr lang="en-US" altLang="en-US" sz="2800" dirty="0"/>
              <a:t>		}</a:t>
            </a:r>
          </a:p>
          <a:p>
            <a:pPr marL="857250" lvl="2" indent="0">
              <a:buFontTx/>
              <a:buNone/>
            </a:pPr>
            <a:r>
              <a:rPr lang="en-US" altLang="en-US" sz="2800" dirty="0"/>
              <a:t>		return a1;</a:t>
            </a:r>
          </a:p>
          <a:p>
            <a:pPr marL="857250" lvl="2" indent="0">
              <a:buFontTx/>
              <a:buNone/>
            </a:pPr>
            <a:r>
              <a:rPr lang="en-US" altLang="en-US" sz="2800" dirty="0"/>
              <a:t>}</a:t>
            </a:r>
          </a:p>
          <a:p>
            <a:endParaRPr lang="en-US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1EC515-71DA-C14B-865E-4B043E1816D9}"/>
              </a:ext>
            </a:extLst>
          </p:cNvPr>
          <p:cNvSpPr txBox="1"/>
          <p:nvPr/>
        </p:nvSpPr>
        <p:spPr>
          <a:xfrm>
            <a:off x="2269958" y="0"/>
            <a:ext cx="60938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sz="1200" dirty="0"/>
              <a:t>function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header body</a:t>
            </a:r>
          </a:p>
          <a:p>
            <a:pPr lvl="1"/>
            <a:r>
              <a:rPr lang="en-US" altLang="en-US" sz="1200" dirty="0"/>
              <a:t>header 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VARTYPE IDENTIFIER </a:t>
            </a:r>
            <a:r>
              <a:rPr lang="en-US" altLang="en-US" sz="1200" kern="0" dirty="0"/>
              <a:t>LPAREN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arg-decl</a:t>
            </a:r>
            <a:r>
              <a:rPr lang="en-US" altLang="en-US" sz="1200" dirty="0"/>
              <a:t> </a:t>
            </a:r>
            <a:r>
              <a:rPr lang="en-US" altLang="en-US" sz="1200" kern="0" dirty="0"/>
              <a:t>RPAREN</a:t>
            </a:r>
            <a:endParaRPr lang="en-US" altLang="en-US" sz="1200" dirty="0"/>
          </a:p>
          <a:p>
            <a:pPr lvl="1"/>
            <a:r>
              <a:rPr lang="en-US" altLang="en-US" sz="1200" dirty="0" err="1"/>
              <a:t>arg-decl</a:t>
            </a:r>
            <a:r>
              <a:rPr lang="en-US" altLang="en-US" sz="1200" dirty="0"/>
              <a:t>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VARTYPE IDENTIFIER | VARTYPE IDENTIFIER </a:t>
            </a:r>
            <a:r>
              <a:rPr lang="en-US" altLang="en-US" sz="1200" kern="0" dirty="0"/>
              <a:t>COMMA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arg-decl</a:t>
            </a:r>
            <a:r>
              <a:rPr lang="en-US" altLang="en-US" sz="1200" dirty="0"/>
              <a:t> </a:t>
            </a:r>
            <a:br>
              <a:rPr lang="en-US" altLang="en-US" sz="1200" dirty="0"/>
            </a:br>
            <a:r>
              <a:rPr lang="en-US" altLang="en-US" sz="1200" dirty="0"/>
              <a:t>body 	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</a:t>
            </a:r>
            <a:r>
              <a:rPr lang="en-US" altLang="en-US" sz="1200" kern="0" dirty="0"/>
              <a:t>LBRACKET</a:t>
            </a:r>
            <a:r>
              <a:rPr lang="en-US" altLang="en-US" sz="1200" dirty="0"/>
              <a:t> statement-list </a:t>
            </a:r>
            <a:r>
              <a:rPr lang="en-US" altLang="en-US" sz="1200" kern="0" dirty="0"/>
              <a:t>RBRACKET</a:t>
            </a:r>
            <a:endParaRPr lang="en-US" altLang="en-US" sz="1200" dirty="0"/>
          </a:p>
          <a:p>
            <a:pPr lvl="1"/>
            <a:r>
              <a:rPr lang="en-US" altLang="en-US" sz="1200" dirty="0"/>
              <a:t>statement-list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statement | statement statement-list</a:t>
            </a:r>
          </a:p>
          <a:p>
            <a:pPr lvl="1"/>
            <a:r>
              <a:rPr lang="en-US" altLang="en-US" sz="1200" dirty="0"/>
              <a:t>statement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while-loop | return | assignment | body</a:t>
            </a:r>
          </a:p>
          <a:p>
            <a:pPr lvl="1"/>
            <a:r>
              <a:rPr lang="en-US" altLang="en-US" sz="1200" dirty="0"/>
              <a:t>while-loop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</a:t>
            </a:r>
            <a:r>
              <a:rPr lang="en-US" altLang="en-US" sz="1100" kern="0" dirty="0"/>
              <a:t>WHILEKEY LPAREN</a:t>
            </a:r>
            <a:r>
              <a:rPr lang="en-US" altLang="en-US" sz="1200" dirty="0"/>
              <a:t> expression </a:t>
            </a:r>
            <a:r>
              <a:rPr lang="en-US" altLang="en-US" sz="1100" kern="0" dirty="0"/>
              <a:t>RPAREN</a:t>
            </a:r>
            <a:r>
              <a:rPr lang="en-US" altLang="en-US" sz="1200" dirty="0"/>
              <a:t> statement</a:t>
            </a:r>
          </a:p>
          <a:p>
            <a:pPr lvl="1"/>
            <a:r>
              <a:rPr lang="en-US" altLang="en-US" sz="1200" dirty="0"/>
              <a:t>return 	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</a:t>
            </a:r>
            <a:r>
              <a:rPr lang="en-US" altLang="en-US" sz="1100" kern="0" dirty="0"/>
              <a:t>RETURNKEY </a:t>
            </a:r>
            <a:r>
              <a:rPr lang="en-US" altLang="en-US" sz="1200" dirty="0"/>
              <a:t>expression</a:t>
            </a:r>
          </a:p>
          <a:p>
            <a:pPr lvl="1"/>
            <a:r>
              <a:rPr lang="en-US" altLang="en-US" sz="1200" dirty="0"/>
              <a:t>assignment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IDENTIFIER </a:t>
            </a:r>
            <a:r>
              <a:rPr lang="en-US" altLang="en-US" sz="1100" kern="0" dirty="0"/>
              <a:t>ASSIGN</a:t>
            </a:r>
            <a:r>
              <a:rPr lang="en-US" altLang="en-US" sz="1200" dirty="0"/>
              <a:t> expression </a:t>
            </a:r>
            <a:r>
              <a:rPr lang="en-US" altLang="en-US" sz="1100" kern="0" dirty="0"/>
              <a:t>EOL</a:t>
            </a:r>
            <a:br>
              <a:rPr lang="en-US" altLang="en-US" sz="1200" dirty="0"/>
            </a:br>
            <a:r>
              <a:rPr lang="en-US" altLang="en-US" sz="1200" dirty="0"/>
              <a:t>expression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term | term BINOP term | </a:t>
            </a:r>
            <a:r>
              <a:rPr lang="en-US" altLang="en-US" sz="1100" kern="0" dirty="0"/>
              <a:t>LPAREN</a:t>
            </a:r>
            <a:r>
              <a:rPr lang="en-US" altLang="en-US" sz="1200" dirty="0"/>
              <a:t> term </a:t>
            </a:r>
            <a:r>
              <a:rPr lang="en-US" altLang="en-US" sz="1100" kern="0" dirty="0"/>
              <a:t>RPAREN</a:t>
            </a:r>
            <a:endParaRPr lang="en-US" altLang="en-US" sz="1200" dirty="0"/>
          </a:p>
          <a:p>
            <a:pPr lvl="1"/>
            <a:r>
              <a:rPr lang="en-US" altLang="en-US" sz="1200" dirty="0"/>
              <a:t>term 	 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IDENTIFIER | NUMBER</a:t>
            </a:r>
          </a:p>
        </p:txBody>
      </p:sp>
    </p:spTree>
    <p:extLst>
      <p:ext uri="{BB962C8B-B14F-4D97-AF65-F5344CB8AC3E}">
        <p14:creationId xmlns:p14="http://schemas.microsoft.com/office/powerpoint/2010/main" val="3967736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Parsing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69" y="2129758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Example for derivation: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-57150">
              <a:buNone/>
            </a:pPr>
            <a:r>
              <a:rPr lang="en-US" altLang="en-US" sz="2000" dirty="0"/>
              <a:t>VARTYPE IDENTIFIER LPAREN VARTYPE IDENTIFIER COMMA VARTYPE IDENTIFIER RPAREN LBRACKET</a:t>
            </a:r>
          </a:p>
          <a:p>
            <a:pPr marL="0" indent="-57150">
              <a:buNone/>
            </a:pPr>
            <a:r>
              <a:rPr lang="en-US" altLang="en-US" sz="2000" dirty="0"/>
              <a:t>		WHILEKEY LPAREN IDENTIFIER BINOP NUMBER RPAREN LBRACKET</a:t>
            </a:r>
          </a:p>
          <a:p>
            <a:pPr marL="0" indent="-57150">
              <a:buNone/>
            </a:pPr>
            <a:r>
              <a:rPr lang="en-US" altLang="en-US" sz="2000" dirty="0"/>
              <a:t>			IDENTIFIER ASSIGN IDENTIFIER BINOP IDENTIFIER EOL</a:t>
            </a:r>
          </a:p>
          <a:p>
            <a:pPr marL="0" indent="-57150">
              <a:buNone/>
            </a:pPr>
            <a:r>
              <a:rPr lang="en-US" altLang="en-US" sz="2000" dirty="0"/>
              <a:t>			IDENTIFIER ASSIGN IDENTIFIER EOL</a:t>
            </a:r>
          </a:p>
          <a:p>
            <a:pPr marL="0" indent="-57150">
              <a:buNone/>
            </a:pPr>
            <a:r>
              <a:rPr lang="en-US" altLang="en-US" sz="2000" dirty="0"/>
              <a:t>			IDENTIFIER ASSIGN IDENTIFIER EOL</a:t>
            </a:r>
          </a:p>
          <a:p>
            <a:pPr marL="0" indent="-57150">
              <a:buNone/>
            </a:pPr>
            <a:r>
              <a:rPr lang="en-US" altLang="en-US" sz="2000" dirty="0"/>
              <a:t>		RBRACKET</a:t>
            </a:r>
          </a:p>
          <a:p>
            <a:pPr marL="0" indent="-57150">
              <a:buNone/>
            </a:pPr>
            <a:r>
              <a:rPr lang="en-US" altLang="en-US" sz="2000" dirty="0"/>
              <a:t>		RETURNKEY IDENTIFIER EOL</a:t>
            </a:r>
          </a:p>
          <a:p>
            <a:pPr marL="0" indent="-57150">
              <a:buNone/>
            </a:pPr>
            <a:r>
              <a:rPr lang="en-US" altLang="en-US" sz="2000" dirty="0"/>
              <a:t>RBRACKET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D804A-137E-416A-8CBB-B1E0D60858B3}"/>
              </a:ext>
            </a:extLst>
          </p:cNvPr>
          <p:cNvSpPr/>
          <p:nvPr/>
        </p:nvSpPr>
        <p:spPr>
          <a:xfrm>
            <a:off x="8180614" y="0"/>
            <a:ext cx="401138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r">
              <a:defRPr/>
            </a:pPr>
            <a:r>
              <a:rPr lang="en-US" altLang="en-US" sz="2400" b="1" kern="0" dirty="0">
                <a:solidFill>
                  <a:schemeClr val="accent1"/>
                </a:solidFill>
              </a:rPr>
              <a:t>Lexical Structure (Lexis):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VARTYPE -&gt; int | void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IDENTIFIER -&gt; [a-z][a-zA-Z0-9]*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BINOP -&gt; + | * | (!=) | %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NUMBER -&gt; [1-9][0-9]*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LBRACKET -&gt; {</a:t>
            </a:r>
            <a:br>
              <a:rPr lang="en-US" altLang="en-US" sz="2400" kern="0" dirty="0">
                <a:solidFill>
                  <a:schemeClr val="accent1"/>
                </a:solidFill>
              </a:rPr>
            </a:br>
            <a:r>
              <a:rPr lang="en-US" altLang="en-US" sz="2400" kern="0" dirty="0">
                <a:solidFill>
                  <a:schemeClr val="accent1"/>
                </a:solidFill>
              </a:rPr>
              <a:t>RBRACKET -&gt; }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LPAREN -&gt; (</a:t>
            </a:r>
            <a:br>
              <a:rPr lang="en-US" altLang="en-US" sz="2400" kern="0" dirty="0">
                <a:solidFill>
                  <a:schemeClr val="accent1"/>
                </a:solidFill>
              </a:rPr>
            </a:br>
            <a:r>
              <a:rPr lang="en-US" altLang="en-US" sz="2400" kern="0" dirty="0">
                <a:solidFill>
                  <a:schemeClr val="accent1"/>
                </a:solidFill>
              </a:rPr>
              <a:t>RPAREN -&gt; )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ASSIGN -&gt; =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EOL -&gt; ;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COMMA -&gt; ,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WHILEKEY -&gt; while</a:t>
            </a:r>
          </a:p>
          <a:p>
            <a:pPr marL="0" lvl="2" algn="r">
              <a:defRPr/>
            </a:pPr>
            <a:r>
              <a:rPr lang="en-US" altLang="en-US" sz="2400" kern="0" dirty="0">
                <a:solidFill>
                  <a:schemeClr val="accent1"/>
                </a:solidFill>
              </a:rPr>
              <a:t>RETURNKEY -&gt; return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CBE50-0CAC-C045-B04D-1000DA659CE8}"/>
              </a:ext>
            </a:extLst>
          </p:cNvPr>
          <p:cNvSpPr txBox="1"/>
          <p:nvPr/>
        </p:nvSpPr>
        <p:spPr>
          <a:xfrm>
            <a:off x="2269958" y="0"/>
            <a:ext cx="60938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sz="1200" dirty="0"/>
              <a:t>function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header body</a:t>
            </a:r>
          </a:p>
          <a:p>
            <a:pPr lvl="1"/>
            <a:r>
              <a:rPr lang="en-US" altLang="en-US" sz="1200" dirty="0"/>
              <a:t>header 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VARTYPE IDENTIFIER </a:t>
            </a:r>
            <a:r>
              <a:rPr lang="en-US" altLang="en-US" sz="1200" kern="0" dirty="0"/>
              <a:t>LPAREN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arg-decl</a:t>
            </a:r>
            <a:r>
              <a:rPr lang="en-US" altLang="en-US" sz="1200" dirty="0"/>
              <a:t> </a:t>
            </a:r>
            <a:r>
              <a:rPr lang="en-US" altLang="en-US" sz="1200" kern="0" dirty="0"/>
              <a:t>RPAREN</a:t>
            </a:r>
            <a:endParaRPr lang="en-US" altLang="en-US" sz="1200" dirty="0"/>
          </a:p>
          <a:p>
            <a:pPr lvl="1"/>
            <a:r>
              <a:rPr lang="en-US" altLang="en-US" sz="1200" dirty="0" err="1"/>
              <a:t>arg-decl</a:t>
            </a:r>
            <a:r>
              <a:rPr lang="en-US" altLang="en-US" sz="1200" dirty="0"/>
              <a:t>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VARTYPE IDENTIFIER | VARTYPE IDENTIFIER </a:t>
            </a:r>
            <a:r>
              <a:rPr lang="en-US" altLang="en-US" sz="1200" kern="0" dirty="0"/>
              <a:t>COMMA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arg-decl</a:t>
            </a:r>
            <a:r>
              <a:rPr lang="en-US" altLang="en-US" sz="1200" dirty="0"/>
              <a:t> </a:t>
            </a:r>
            <a:br>
              <a:rPr lang="en-US" altLang="en-US" sz="1200" dirty="0"/>
            </a:br>
            <a:r>
              <a:rPr lang="en-US" altLang="en-US" sz="1200" dirty="0"/>
              <a:t>body 	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</a:t>
            </a:r>
            <a:r>
              <a:rPr lang="en-US" altLang="en-US" sz="1200" kern="0" dirty="0"/>
              <a:t>LBRACKET</a:t>
            </a:r>
            <a:r>
              <a:rPr lang="en-US" altLang="en-US" sz="1200" dirty="0"/>
              <a:t> statement-list </a:t>
            </a:r>
            <a:r>
              <a:rPr lang="en-US" altLang="en-US" sz="1200" kern="0" dirty="0"/>
              <a:t>RBRACKET</a:t>
            </a:r>
            <a:endParaRPr lang="en-US" altLang="en-US" sz="1200" dirty="0"/>
          </a:p>
          <a:p>
            <a:pPr lvl="1"/>
            <a:r>
              <a:rPr lang="en-US" altLang="en-US" sz="1200" dirty="0"/>
              <a:t>statement-list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statement | statement statement-list</a:t>
            </a:r>
          </a:p>
          <a:p>
            <a:pPr lvl="1"/>
            <a:r>
              <a:rPr lang="en-US" altLang="en-US" sz="1200" dirty="0"/>
              <a:t>statement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while-loop | return | assignment | body</a:t>
            </a:r>
          </a:p>
          <a:p>
            <a:pPr lvl="1"/>
            <a:r>
              <a:rPr lang="en-US" altLang="en-US" sz="1200" dirty="0"/>
              <a:t>while-loop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</a:t>
            </a:r>
            <a:r>
              <a:rPr lang="en-US" altLang="en-US" sz="1100" kern="0" dirty="0"/>
              <a:t>WHILEKEY LPAREN</a:t>
            </a:r>
            <a:r>
              <a:rPr lang="en-US" altLang="en-US" sz="1200" dirty="0"/>
              <a:t> expression </a:t>
            </a:r>
            <a:r>
              <a:rPr lang="en-US" altLang="en-US" sz="1100" kern="0" dirty="0"/>
              <a:t>RPAREN</a:t>
            </a:r>
            <a:r>
              <a:rPr lang="en-US" altLang="en-US" sz="1200" dirty="0"/>
              <a:t> statement</a:t>
            </a:r>
          </a:p>
          <a:p>
            <a:pPr lvl="1"/>
            <a:r>
              <a:rPr lang="en-US" altLang="en-US" sz="1200" dirty="0"/>
              <a:t>return 	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</a:t>
            </a:r>
            <a:r>
              <a:rPr lang="en-US" altLang="en-US" sz="1100" kern="0" dirty="0"/>
              <a:t>RETURNKEY </a:t>
            </a:r>
            <a:r>
              <a:rPr lang="en-US" altLang="en-US" sz="1200" dirty="0"/>
              <a:t>expression</a:t>
            </a:r>
          </a:p>
          <a:p>
            <a:pPr lvl="1"/>
            <a:r>
              <a:rPr lang="en-US" altLang="en-US" sz="1200" dirty="0"/>
              <a:t>assignment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IDENTIFIER </a:t>
            </a:r>
            <a:r>
              <a:rPr lang="en-US" altLang="en-US" sz="1100" kern="0" dirty="0"/>
              <a:t>ASSIGN</a:t>
            </a:r>
            <a:r>
              <a:rPr lang="en-US" altLang="en-US" sz="1200" dirty="0"/>
              <a:t> expression </a:t>
            </a:r>
            <a:r>
              <a:rPr lang="en-US" altLang="en-US" sz="1100" kern="0" dirty="0"/>
              <a:t>EOL</a:t>
            </a:r>
            <a:br>
              <a:rPr lang="en-US" altLang="en-US" sz="1200" dirty="0"/>
            </a:br>
            <a:r>
              <a:rPr lang="en-US" altLang="en-US" sz="1200" dirty="0"/>
              <a:t>expression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term | term BINOP term | </a:t>
            </a:r>
            <a:r>
              <a:rPr lang="en-US" altLang="en-US" sz="1100" kern="0" dirty="0"/>
              <a:t>LPAREN</a:t>
            </a:r>
            <a:r>
              <a:rPr lang="en-US" altLang="en-US" sz="1200" dirty="0"/>
              <a:t> term </a:t>
            </a:r>
            <a:r>
              <a:rPr lang="en-US" altLang="en-US" sz="1100" kern="0" dirty="0"/>
              <a:t>RPAREN</a:t>
            </a:r>
            <a:endParaRPr lang="en-US" altLang="en-US" sz="1200" dirty="0"/>
          </a:p>
          <a:p>
            <a:pPr lvl="1"/>
            <a:r>
              <a:rPr lang="en-US" altLang="en-US" sz="1200" dirty="0"/>
              <a:t>term 	             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IDENTIFIER | NUMBER</a:t>
            </a:r>
          </a:p>
        </p:txBody>
      </p:sp>
    </p:spTree>
    <p:extLst>
      <p:ext uri="{BB962C8B-B14F-4D97-AF65-F5344CB8AC3E}">
        <p14:creationId xmlns:p14="http://schemas.microsoft.com/office/powerpoint/2010/main" val="244361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rgbClr val="0070C0"/>
                </a:solidFill>
              </a:rPr>
              <a:t>Syntax</a:t>
            </a:r>
            <a:r>
              <a:rPr lang="fr-FR" b="1" dirty="0">
                <a:solidFill>
                  <a:srgbClr val="0070C0"/>
                </a:solidFill>
              </a:rPr>
              <a:t> vs. </a:t>
            </a:r>
            <a:r>
              <a:rPr lang="fr-FR" b="1" dirty="0" err="1">
                <a:solidFill>
                  <a:srgbClr val="0070C0"/>
                </a:solidFill>
              </a:rPr>
              <a:t>Semantics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Some rules are context-sensitive and cannot be written as context-free rules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sz="2800" dirty="0"/>
              <a:t>Declaration before use for variables</a:t>
            </a:r>
          </a:p>
          <a:p>
            <a:pPr lvl="1"/>
            <a:r>
              <a:rPr lang="en-US" altLang="en-US" sz="2800" dirty="0"/>
              <a:t>No </a:t>
            </a:r>
            <a:r>
              <a:rPr lang="en-US" altLang="en-US" sz="2800" dirty="0" err="1"/>
              <a:t>redeclaration</a:t>
            </a:r>
            <a:r>
              <a:rPr lang="en-US" altLang="en-US" sz="2800" dirty="0"/>
              <a:t> of identifiers within a procedure</a:t>
            </a:r>
          </a:p>
          <a:p>
            <a:r>
              <a:rPr lang="en-US" altLang="en-US" dirty="0"/>
              <a:t>These are semantic properties of a language</a:t>
            </a:r>
          </a:p>
          <a:p>
            <a:r>
              <a:rPr lang="en-US" altLang="en-US" dirty="0"/>
              <a:t>Another conflict occurs between </a:t>
            </a:r>
            <a:r>
              <a:rPr lang="en-US" altLang="en-US" b="1" dirty="0"/>
              <a:t>predefined identifiers</a:t>
            </a:r>
            <a:r>
              <a:rPr lang="en-US" altLang="en-US" dirty="0"/>
              <a:t> and </a:t>
            </a:r>
            <a:r>
              <a:rPr lang="en-US" altLang="en-US" b="1" dirty="0"/>
              <a:t>reserved words</a:t>
            </a:r>
          </a:p>
          <a:p>
            <a:pPr lvl="1"/>
            <a:r>
              <a:rPr lang="en-US" altLang="en-US" sz="2800" dirty="0"/>
              <a:t>Reserved words cannot be used as identifiers</a:t>
            </a:r>
          </a:p>
          <a:p>
            <a:pPr lvl="1"/>
            <a:r>
              <a:rPr lang="en-US" altLang="en-US" sz="2800" dirty="0"/>
              <a:t>Predefined identifiers can be redefined in a program</a:t>
            </a:r>
          </a:p>
        </p:txBody>
      </p:sp>
    </p:spTree>
    <p:extLst>
      <p:ext uri="{BB962C8B-B14F-4D97-AF65-F5344CB8AC3E}">
        <p14:creationId xmlns:p14="http://schemas.microsoft.com/office/powerpoint/2010/main" val="3082391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rgbClr val="0070C0"/>
                </a:solidFill>
              </a:rPr>
              <a:t>Syntax</a:t>
            </a:r>
            <a:r>
              <a:rPr lang="fr-FR" b="1" dirty="0">
                <a:solidFill>
                  <a:srgbClr val="0070C0"/>
                </a:solidFill>
              </a:rPr>
              <a:t> vs. </a:t>
            </a:r>
            <a:r>
              <a:rPr lang="fr-FR" b="1" dirty="0" err="1">
                <a:solidFill>
                  <a:srgbClr val="0070C0"/>
                </a:solidFill>
              </a:rPr>
              <a:t>Semantics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Syntax and semantics can become interdependent when semantic information is required to distinguish ambiguous parsing situations</a:t>
            </a:r>
          </a:p>
          <a:p>
            <a:r>
              <a:rPr lang="en-US" altLang="en-US" dirty="0"/>
              <a:t>Example: C where type names and variable names must be distinguishable during parsing</a:t>
            </a:r>
          </a:p>
          <a:p>
            <a:pPr marL="457200" lvl="1" indent="0">
              <a:buNone/>
            </a:pPr>
            <a:r>
              <a:rPr lang="en-US" altLang="en-US" sz="2800" dirty="0"/>
              <a:t>(x) -y  must have context information on identifiers available to disambiguate such situations</a:t>
            </a:r>
          </a:p>
          <a:p>
            <a:pPr lvl="1"/>
            <a:r>
              <a:rPr lang="en-US" altLang="en-US" sz="2800" dirty="0"/>
              <a:t>If x is a type name and this cast of the value –y to type x</a:t>
            </a:r>
          </a:p>
          <a:p>
            <a:pPr lvl="1"/>
            <a:r>
              <a:rPr lang="en-US" altLang="en-US" sz="2800" dirty="0"/>
              <a:t>If x is a variable name then this is subtraction of </a:t>
            </a:r>
            <a:r>
              <a:rPr lang="en-US" altLang="en-US" sz="2800"/>
              <a:t>y from x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3784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Semantics</a:t>
            </a:r>
          </a:p>
          <a:p>
            <a:r>
              <a:rPr lang="en-US" dirty="0"/>
              <a:t>Claire Sparks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16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082CCDF6-7E5E-FF42-9359-1557D30F2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5B156095-E31D-2A4E-84CA-2A842E99B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Syntax:</a:t>
            </a:r>
            <a:r>
              <a:rPr lang="en-US" altLang="en-US" dirty="0"/>
              <a:t> the form or structure of the expressions, statements, and program units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Semantics:</a:t>
            </a:r>
            <a:r>
              <a:rPr lang="en-US" altLang="en-US" dirty="0"/>
              <a:t> the meaning of the expressions, statements, and program units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Syntax and semantics provide a language’s definition</a:t>
            </a:r>
          </a:p>
          <a:p>
            <a:r>
              <a:rPr lang="en-US" dirty="0"/>
              <a:t>It is conventional to say that the syntax of a language is precisely what can be described conveniently by a context-free grammar, while the semantics is that portion of the definition that cannot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5880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>
            <a:extLst>
              <a:ext uri="{FF2B5EF4-FFF2-40B4-BE49-F238E27FC236}">
                <a16:creationId xmlns:a16="http://schemas.microsoft.com/office/drawing/2014/main" id="{C0B473E0-4B04-2746-8D0F-4ECE2426D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Semantics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00255E0F-65EF-6F41-AB0E-CAA2C3713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Semantic rules are further divided into static and dynamic semantics</a:t>
            </a:r>
          </a:p>
          <a:p>
            <a:r>
              <a:rPr lang="en-US" dirty="0"/>
              <a:t>The </a:t>
            </a:r>
            <a:r>
              <a:rPr lang="en-US" b="1" dirty="0"/>
              <a:t>static semantics </a:t>
            </a:r>
            <a:r>
              <a:rPr lang="en-US" dirty="0"/>
              <a:t>of a language is only indirectly related to the meaning of programs during execution</a:t>
            </a:r>
          </a:p>
          <a:p>
            <a:pPr lvl="1"/>
            <a:r>
              <a:rPr lang="en-US" dirty="0"/>
              <a:t>Rather, it has to do with the legal forms of programs (syntax rather than semantics)</a:t>
            </a:r>
          </a:p>
          <a:p>
            <a:pPr lvl="1"/>
            <a:r>
              <a:rPr lang="en-US" dirty="0"/>
              <a:t>Static semantics are enforced at compile time</a:t>
            </a:r>
          </a:p>
          <a:p>
            <a:r>
              <a:rPr lang="en-US" b="1" dirty="0"/>
              <a:t>Dynamic semantics</a:t>
            </a:r>
            <a:r>
              <a:rPr lang="en-US" dirty="0"/>
              <a:t>, or meaning, of the expressions, statements, and program units of a programming language</a:t>
            </a:r>
          </a:p>
          <a:p>
            <a:pPr lvl="1"/>
            <a:r>
              <a:rPr lang="en-US" dirty="0"/>
              <a:t>Dynamic semantics are enforced at run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46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>
            <a:extLst>
              <a:ext uri="{FF2B5EF4-FFF2-40B4-BE49-F238E27FC236}">
                <a16:creationId xmlns:a16="http://schemas.microsoft.com/office/drawing/2014/main" id="{C0B473E0-4B04-2746-8D0F-4ECE2426D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Static Semantics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00255E0F-65EF-6F41-AB0E-CAA2C3713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Context-free grammars (CFGs) cannot describe all of the syntax of programming languages </a:t>
            </a:r>
          </a:p>
          <a:p>
            <a:pPr eaLnBrk="1" hangingPunct="1"/>
            <a:r>
              <a:rPr lang="en-US" altLang="en-US" dirty="0"/>
              <a:t>Categories of constructs that are trouble:</a:t>
            </a:r>
          </a:p>
          <a:p>
            <a:pPr lvl="1">
              <a:buFontTx/>
              <a:buChar char="-"/>
            </a:pPr>
            <a:r>
              <a:rPr lang="en-US" altLang="en-US" dirty="0"/>
              <a:t>Context-free, but cumbersome (e.g., types of operands in expressions)</a:t>
            </a:r>
          </a:p>
          <a:p>
            <a:pPr lvl="1">
              <a:buFontTx/>
              <a:buChar char="-"/>
            </a:pPr>
            <a:r>
              <a:rPr lang="en-US" altLang="en-US" dirty="0"/>
              <a:t>Non-context-free (e.g., variables must be declared before they are used)</a:t>
            </a:r>
          </a:p>
          <a:p>
            <a:pPr eaLnBrk="1" hangingPunct="1"/>
            <a:r>
              <a:rPr lang="en-US" altLang="en-US" dirty="0"/>
              <a:t>Static semantics are used to enforce these constructs </a:t>
            </a:r>
          </a:p>
          <a:p>
            <a:pPr eaLnBrk="1" hangingPunct="1"/>
            <a:r>
              <a:rPr lang="en-US" altLang="en-US" dirty="0"/>
              <a:t>Static semantics are more about structure than meaning</a:t>
            </a:r>
          </a:p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220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A73AD2E7-B4F3-AE45-BE5B-5F7A8DDB0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Attribute Grammars</a:t>
            </a:r>
            <a:endParaRPr lang="en-US" altLang="en-US" sz="3200" b="1" dirty="0">
              <a:solidFill>
                <a:srgbClr val="0070C0"/>
              </a:solidFill>
            </a:endParaRP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C6B99941-3A25-9043-9CCE-8A004AB76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4930833" cy="4351338"/>
          </a:xfrm>
        </p:spPr>
        <p:txBody>
          <a:bodyPr>
            <a:noAutofit/>
          </a:bodyPr>
          <a:lstStyle/>
          <a:p>
            <a:r>
              <a:rPr lang="en-US" dirty="0"/>
              <a:t>The most common way of applying semantics are attribute grammars</a:t>
            </a:r>
            <a:endParaRPr lang="en-US" altLang="en-US" dirty="0"/>
          </a:p>
          <a:p>
            <a:pPr eaLnBrk="1" hangingPunct="1"/>
            <a:r>
              <a:rPr lang="en-US" altLang="en-US" dirty="0"/>
              <a:t>An attribute grammar is a context-free grammar with the following additions:</a:t>
            </a:r>
          </a:p>
          <a:p>
            <a:pPr lvl="1" eaLnBrk="1" hangingPunct="1"/>
            <a:r>
              <a:rPr lang="en-US" altLang="en-US" dirty="0"/>
              <a:t>Each nonterminal is associated with a set of attributes</a:t>
            </a:r>
          </a:p>
          <a:p>
            <a:pPr lvl="1" eaLnBrk="1" hangingPunct="1"/>
            <a:r>
              <a:rPr lang="en-US" altLang="en-US" dirty="0"/>
              <a:t>Each production has a set of rules that define attributes of the </a:t>
            </a:r>
            <a:r>
              <a:rPr lang="en-US" altLang="en-US" dirty="0" err="1"/>
              <a:t>nonterminals</a:t>
            </a: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724FA5-D7CF-5843-8400-31A00862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616" y="2355085"/>
            <a:ext cx="5993384" cy="329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77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C911-66F8-BB41-85F0-758B63472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Attribute Grammars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1EAD5-7E7A-0E4E-B783-2A4F5C856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Attribute grammar rules come in two forms:</a:t>
            </a:r>
          </a:p>
          <a:p>
            <a:r>
              <a:rPr lang="en-US" b="1" dirty="0"/>
              <a:t>Copy rules:</a:t>
            </a:r>
            <a:r>
              <a:rPr lang="en-US" dirty="0"/>
              <a:t> specify that one attribute should be a copy of another</a:t>
            </a:r>
          </a:p>
          <a:p>
            <a:r>
              <a:rPr lang="en-US" b="1" dirty="0"/>
              <a:t>Semantic functions</a:t>
            </a:r>
            <a:r>
              <a:rPr lang="en-US" dirty="0"/>
              <a:t>: Arbitrarily complex functions specified by the language designer </a:t>
            </a:r>
          </a:p>
          <a:p>
            <a:pPr lvl="1"/>
            <a:r>
              <a:rPr lang="en-US" dirty="0"/>
              <a:t>Each semantic function takes an arbitrary number of arguments, and each computes a single result, which must likewise be assigned into an attribute of a symbol in the current production</a:t>
            </a:r>
          </a:p>
          <a:p>
            <a:r>
              <a:rPr lang="en-US" dirty="0"/>
              <a:t>In a strict definition of attribute grammars, copy rules and semantic function calls are the only two kinds of permissible rules</a:t>
            </a:r>
          </a:p>
          <a:p>
            <a:r>
              <a:rPr lang="en-US" dirty="0"/>
              <a:t>Neither the notation for semantic functions nor the types of the attributes is intrinsic to attribute grammars</a:t>
            </a:r>
          </a:p>
        </p:txBody>
      </p:sp>
    </p:spTree>
    <p:extLst>
      <p:ext uri="{BB962C8B-B14F-4D97-AF65-F5344CB8AC3E}">
        <p14:creationId xmlns:p14="http://schemas.microsoft.com/office/powerpoint/2010/main" val="217002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97F836-A0D1-8C47-85C7-80E3162375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1013" b="21055"/>
          <a:stretch/>
        </p:blipFill>
        <p:spPr>
          <a:xfrm>
            <a:off x="7609841" y="362443"/>
            <a:ext cx="3096952" cy="6271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3F556-1D00-7C4C-B093-30E68216A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97" y="3341138"/>
            <a:ext cx="5993384" cy="3292418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18E2B207-09FC-E048-AB90-15E94E97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Attribute Grammars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D7E90D0-B238-5845-81BD-C38E9D7E4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1641" cy="1515513"/>
          </a:xfrm>
        </p:spPr>
        <p:txBody>
          <a:bodyPr/>
          <a:lstStyle/>
          <a:p>
            <a:r>
              <a:rPr lang="en-US" dirty="0"/>
              <a:t>Parse tree for: (1 + 3) * 2</a:t>
            </a:r>
          </a:p>
          <a:p>
            <a:r>
              <a:rPr lang="en-US" dirty="0"/>
              <a:t>Can we use the attribute grammar to calculate an answer?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97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8E2B207-09FC-E048-AB90-15E94E97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Attribute Grammars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08CBDFB-5E87-474C-982B-6353D672D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341" b="22035"/>
          <a:stretch/>
        </p:blipFill>
        <p:spPr>
          <a:xfrm>
            <a:off x="7609840" y="362443"/>
            <a:ext cx="3431235" cy="6271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3F556-1D00-7C4C-B093-30E68216A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97" y="3341138"/>
            <a:ext cx="5993384" cy="3292418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D7E90D0-B238-5845-81BD-C38E9D7E4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1641" cy="1515513"/>
          </a:xfrm>
        </p:spPr>
        <p:txBody>
          <a:bodyPr/>
          <a:lstStyle/>
          <a:p>
            <a:r>
              <a:rPr lang="en-US" dirty="0"/>
              <a:t>Parse tree for: (1 + 3) * 2</a:t>
            </a:r>
          </a:p>
          <a:p>
            <a:r>
              <a:rPr lang="en-US" dirty="0"/>
              <a:t>Can we use the attribute grammar to calculate an answer?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DDDC7-7039-EF4E-957C-75969436DFE0}"/>
              </a:ext>
            </a:extLst>
          </p:cNvPr>
          <p:cNvSpPr/>
          <p:nvPr/>
        </p:nvSpPr>
        <p:spPr>
          <a:xfrm>
            <a:off x="8266176" y="6266688"/>
            <a:ext cx="341376" cy="366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8CB587-48AA-DF44-8E1D-85E3D237ED2B}"/>
              </a:ext>
            </a:extLst>
          </p:cNvPr>
          <p:cNvSpPr/>
          <p:nvPr/>
        </p:nvSpPr>
        <p:spPr>
          <a:xfrm>
            <a:off x="10174224" y="5565648"/>
            <a:ext cx="341376" cy="366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106119-BD56-9C45-9BDD-13F071F5FF35}"/>
              </a:ext>
            </a:extLst>
          </p:cNvPr>
          <p:cNvSpPr/>
          <p:nvPr/>
        </p:nvSpPr>
        <p:spPr>
          <a:xfrm>
            <a:off x="8089392" y="5565648"/>
            <a:ext cx="749808" cy="737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24956E-6BA5-954A-BB8D-A27ECD2EE4A2}"/>
              </a:ext>
            </a:extLst>
          </p:cNvPr>
          <p:cNvSpPr/>
          <p:nvPr/>
        </p:nvSpPr>
        <p:spPr>
          <a:xfrm>
            <a:off x="8095488" y="4876800"/>
            <a:ext cx="749808" cy="69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999660-D613-804F-BBDE-A37FA1B37840}"/>
              </a:ext>
            </a:extLst>
          </p:cNvPr>
          <p:cNvSpPr/>
          <p:nvPr/>
        </p:nvSpPr>
        <p:spPr>
          <a:xfrm>
            <a:off x="8089392" y="4187952"/>
            <a:ext cx="749808" cy="69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5C6959-B268-AA40-8FE6-B151B4F7AE22}"/>
              </a:ext>
            </a:extLst>
          </p:cNvPr>
          <p:cNvSpPr/>
          <p:nvPr/>
        </p:nvSpPr>
        <p:spPr>
          <a:xfrm>
            <a:off x="9997440" y="4864608"/>
            <a:ext cx="749808" cy="804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7E57CA-4138-484D-A88B-954C5D282991}"/>
              </a:ext>
            </a:extLst>
          </p:cNvPr>
          <p:cNvSpPr/>
          <p:nvPr/>
        </p:nvSpPr>
        <p:spPr>
          <a:xfrm>
            <a:off x="10009632" y="4194048"/>
            <a:ext cx="749808" cy="69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4D5204-E9E8-8344-951E-6A8656354DCD}"/>
              </a:ext>
            </a:extLst>
          </p:cNvPr>
          <p:cNvSpPr/>
          <p:nvPr/>
        </p:nvSpPr>
        <p:spPr>
          <a:xfrm>
            <a:off x="10603992" y="2658386"/>
            <a:ext cx="749808" cy="69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FAFDFC-B887-E540-9F36-3F1809AEEC93}"/>
              </a:ext>
            </a:extLst>
          </p:cNvPr>
          <p:cNvSpPr/>
          <p:nvPr/>
        </p:nvSpPr>
        <p:spPr>
          <a:xfrm>
            <a:off x="10418064" y="1944624"/>
            <a:ext cx="749808" cy="69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714270-E648-E145-A7D4-630CD374046E}"/>
              </a:ext>
            </a:extLst>
          </p:cNvPr>
          <p:cNvSpPr/>
          <p:nvPr/>
        </p:nvSpPr>
        <p:spPr>
          <a:xfrm>
            <a:off x="9058656" y="3291840"/>
            <a:ext cx="329184" cy="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294432-A139-2F42-A5EB-775C634AFB45}"/>
              </a:ext>
            </a:extLst>
          </p:cNvPr>
          <p:cNvSpPr/>
          <p:nvPr/>
        </p:nvSpPr>
        <p:spPr>
          <a:xfrm>
            <a:off x="9052560" y="2578608"/>
            <a:ext cx="329184" cy="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CEB84-66B4-0043-874C-3D5F20C0045D}"/>
              </a:ext>
            </a:extLst>
          </p:cNvPr>
          <p:cNvSpPr/>
          <p:nvPr/>
        </p:nvSpPr>
        <p:spPr>
          <a:xfrm>
            <a:off x="9052560" y="1956816"/>
            <a:ext cx="329184" cy="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3E315D-22DE-2D43-94FA-8EB4D2B9C2C6}"/>
              </a:ext>
            </a:extLst>
          </p:cNvPr>
          <p:cNvSpPr/>
          <p:nvPr/>
        </p:nvSpPr>
        <p:spPr>
          <a:xfrm>
            <a:off x="9753600" y="1036320"/>
            <a:ext cx="329184" cy="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AE674-CFD5-BE4E-B28F-61FAB3AD3BD6}"/>
              </a:ext>
            </a:extLst>
          </p:cNvPr>
          <p:cNvSpPr/>
          <p:nvPr/>
        </p:nvSpPr>
        <p:spPr>
          <a:xfrm>
            <a:off x="9753600" y="414528"/>
            <a:ext cx="329184" cy="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E101D6E-C1F5-1349-AFE7-FFAA77094B33}"/>
              </a:ext>
            </a:extLst>
          </p:cNvPr>
          <p:cNvSpPr/>
          <p:nvPr/>
        </p:nvSpPr>
        <p:spPr>
          <a:xfrm>
            <a:off x="10042392" y="645671"/>
            <a:ext cx="273567" cy="567682"/>
          </a:xfrm>
          <a:custGeom>
            <a:avLst/>
            <a:gdLst>
              <a:gd name="connsiteX0" fmla="*/ 16008 w 273567"/>
              <a:gd name="connsiteY0" fmla="*/ 49273 h 567682"/>
              <a:gd name="connsiteX1" fmla="*/ 28200 w 273567"/>
              <a:gd name="connsiteY1" fmla="*/ 561337 h 567682"/>
              <a:gd name="connsiteX2" fmla="*/ 272040 w 273567"/>
              <a:gd name="connsiteY2" fmla="*/ 317497 h 567682"/>
              <a:gd name="connsiteX3" fmla="*/ 125736 w 273567"/>
              <a:gd name="connsiteY3" fmla="*/ 49273 h 567682"/>
              <a:gd name="connsiteX4" fmla="*/ 16008 w 273567"/>
              <a:gd name="connsiteY4" fmla="*/ 49273 h 5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567" h="567682">
                <a:moveTo>
                  <a:pt x="16008" y="49273"/>
                </a:moveTo>
                <a:cubicBezTo>
                  <a:pt x="-248" y="134617"/>
                  <a:pt x="-14472" y="516633"/>
                  <a:pt x="28200" y="561337"/>
                </a:cubicBezTo>
                <a:cubicBezTo>
                  <a:pt x="70872" y="606041"/>
                  <a:pt x="255784" y="402841"/>
                  <a:pt x="272040" y="317497"/>
                </a:cubicBezTo>
                <a:cubicBezTo>
                  <a:pt x="288296" y="232153"/>
                  <a:pt x="170440" y="91945"/>
                  <a:pt x="125736" y="49273"/>
                </a:cubicBezTo>
                <a:cubicBezTo>
                  <a:pt x="81032" y="6601"/>
                  <a:pt x="32264" y="-36071"/>
                  <a:pt x="16008" y="4927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3E023D86-496F-A143-A5BB-CB5A9C774576}"/>
              </a:ext>
            </a:extLst>
          </p:cNvPr>
          <p:cNvSpPr/>
          <p:nvPr/>
        </p:nvSpPr>
        <p:spPr>
          <a:xfrm>
            <a:off x="10034016" y="1194816"/>
            <a:ext cx="1024128" cy="841248"/>
          </a:xfrm>
          <a:custGeom>
            <a:avLst/>
            <a:gdLst>
              <a:gd name="connsiteX0" fmla="*/ 36576 w 1024128"/>
              <a:gd name="connsiteY0" fmla="*/ 170688 h 841248"/>
              <a:gd name="connsiteX1" fmla="*/ 292608 w 1024128"/>
              <a:gd name="connsiteY1" fmla="*/ 231648 h 841248"/>
              <a:gd name="connsiteX2" fmla="*/ 682752 w 1024128"/>
              <a:gd name="connsiteY2" fmla="*/ 524256 h 841248"/>
              <a:gd name="connsiteX3" fmla="*/ 755904 w 1024128"/>
              <a:gd name="connsiteY3" fmla="*/ 841248 h 841248"/>
              <a:gd name="connsiteX4" fmla="*/ 1024128 w 1024128"/>
              <a:gd name="connsiteY4" fmla="*/ 792480 h 841248"/>
              <a:gd name="connsiteX5" fmla="*/ 597408 w 1024128"/>
              <a:gd name="connsiteY5" fmla="*/ 97536 h 841248"/>
              <a:gd name="connsiteX6" fmla="*/ 0 w 1024128"/>
              <a:gd name="connsiteY6" fmla="*/ 0 h 841248"/>
              <a:gd name="connsiteX7" fmla="*/ 36576 w 1024128"/>
              <a:gd name="connsiteY7" fmla="*/ 170688 h 84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4128" h="841248">
                <a:moveTo>
                  <a:pt x="36576" y="170688"/>
                </a:moveTo>
                <a:lnTo>
                  <a:pt x="292608" y="231648"/>
                </a:lnTo>
                <a:lnTo>
                  <a:pt x="682752" y="524256"/>
                </a:lnTo>
                <a:lnTo>
                  <a:pt x="755904" y="841248"/>
                </a:lnTo>
                <a:lnTo>
                  <a:pt x="1024128" y="792480"/>
                </a:lnTo>
                <a:lnTo>
                  <a:pt x="597408" y="97536"/>
                </a:lnTo>
                <a:lnTo>
                  <a:pt x="0" y="0"/>
                </a:lnTo>
                <a:lnTo>
                  <a:pt x="36576" y="1706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C038FC-9CFC-A243-ABDD-3DF58BC37487}"/>
              </a:ext>
            </a:extLst>
          </p:cNvPr>
          <p:cNvSpPr/>
          <p:nvPr/>
        </p:nvSpPr>
        <p:spPr>
          <a:xfrm>
            <a:off x="9339072" y="3486912"/>
            <a:ext cx="1280160" cy="816864"/>
          </a:xfrm>
          <a:custGeom>
            <a:avLst/>
            <a:gdLst>
              <a:gd name="connsiteX0" fmla="*/ 73152 w 1280160"/>
              <a:gd name="connsiteY0" fmla="*/ 146304 h 816864"/>
              <a:gd name="connsiteX1" fmla="*/ 658368 w 1280160"/>
              <a:gd name="connsiteY1" fmla="*/ 304800 h 816864"/>
              <a:gd name="connsiteX2" fmla="*/ 1024128 w 1280160"/>
              <a:gd name="connsiteY2" fmla="*/ 536448 h 816864"/>
              <a:gd name="connsiteX3" fmla="*/ 975360 w 1280160"/>
              <a:gd name="connsiteY3" fmla="*/ 743712 h 816864"/>
              <a:gd name="connsiteX4" fmla="*/ 1121664 w 1280160"/>
              <a:gd name="connsiteY4" fmla="*/ 816864 h 816864"/>
              <a:gd name="connsiteX5" fmla="*/ 1280160 w 1280160"/>
              <a:gd name="connsiteY5" fmla="*/ 536448 h 816864"/>
              <a:gd name="connsiteX6" fmla="*/ 1036320 w 1280160"/>
              <a:gd name="connsiteY6" fmla="*/ 268224 h 816864"/>
              <a:gd name="connsiteX7" fmla="*/ 231648 w 1280160"/>
              <a:gd name="connsiteY7" fmla="*/ 109728 h 816864"/>
              <a:gd name="connsiteX8" fmla="*/ 121920 w 1280160"/>
              <a:gd name="connsiteY8" fmla="*/ 0 h 816864"/>
              <a:gd name="connsiteX9" fmla="*/ 0 w 1280160"/>
              <a:gd name="connsiteY9" fmla="*/ 85344 h 816864"/>
              <a:gd name="connsiteX10" fmla="*/ 73152 w 1280160"/>
              <a:gd name="connsiteY10" fmla="*/ 146304 h 81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0160" h="816864">
                <a:moveTo>
                  <a:pt x="73152" y="146304"/>
                </a:moveTo>
                <a:lnTo>
                  <a:pt x="658368" y="304800"/>
                </a:lnTo>
                <a:lnTo>
                  <a:pt x="1024128" y="536448"/>
                </a:lnTo>
                <a:lnTo>
                  <a:pt x="975360" y="743712"/>
                </a:lnTo>
                <a:lnTo>
                  <a:pt x="1121664" y="816864"/>
                </a:lnTo>
                <a:lnTo>
                  <a:pt x="1280160" y="536448"/>
                </a:lnTo>
                <a:lnTo>
                  <a:pt x="1036320" y="268224"/>
                </a:lnTo>
                <a:lnTo>
                  <a:pt x="231648" y="109728"/>
                </a:lnTo>
                <a:lnTo>
                  <a:pt x="121920" y="0"/>
                </a:lnTo>
                <a:lnTo>
                  <a:pt x="0" y="85344"/>
                </a:lnTo>
                <a:lnTo>
                  <a:pt x="73152" y="1463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6713BCD1-8A5D-7742-AE53-F8879A39EE74}"/>
              </a:ext>
            </a:extLst>
          </p:cNvPr>
          <p:cNvSpPr/>
          <p:nvPr/>
        </p:nvSpPr>
        <p:spPr>
          <a:xfrm>
            <a:off x="9339072" y="2206752"/>
            <a:ext cx="231648" cy="512064"/>
          </a:xfrm>
          <a:custGeom>
            <a:avLst/>
            <a:gdLst>
              <a:gd name="connsiteX0" fmla="*/ 12192 w 231648"/>
              <a:gd name="connsiteY0" fmla="*/ 60960 h 512064"/>
              <a:gd name="connsiteX1" fmla="*/ 121920 w 231648"/>
              <a:gd name="connsiteY1" fmla="*/ 268224 h 512064"/>
              <a:gd name="connsiteX2" fmla="*/ 0 w 231648"/>
              <a:gd name="connsiteY2" fmla="*/ 512064 h 512064"/>
              <a:gd name="connsiteX3" fmla="*/ 195072 w 231648"/>
              <a:gd name="connsiteY3" fmla="*/ 512064 h 512064"/>
              <a:gd name="connsiteX4" fmla="*/ 231648 w 231648"/>
              <a:gd name="connsiteY4" fmla="*/ 85344 h 512064"/>
              <a:gd name="connsiteX5" fmla="*/ 0 w 231648"/>
              <a:gd name="connsiteY5" fmla="*/ 0 h 512064"/>
              <a:gd name="connsiteX6" fmla="*/ 12192 w 231648"/>
              <a:gd name="connsiteY6" fmla="*/ 60960 h 51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1648" h="512064">
                <a:moveTo>
                  <a:pt x="12192" y="60960"/>
                </a:moveTo>
                <a:lnTo>
                  <a:pt x="121920" y="268224"/>
                </a:lnTo>
                <a:lnTo>
                  <a:pt x="0" y="512064"/>
                </a:lnTo>
                <a:lnTo>
                  <a:pt x="195072" y="512064"/>
                </a:lnTo>
                <a:lnTo>
                  <a:pt x="231648" y="85344"/>
                </a:lnTo>
                <a:lnTo>
                  <a:pt x="0" y="0"/>
                </a:lnTo>
                <a:lnTo>
                  <a:pt x="12192" y="609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6E1A363B-F65F-C940-890A-A7B8EEFD0F79}"/>
              </a:ext>
            </a:extLst>
          </p:cNvPr>
          <p:cNvSpPr/>
          <p:nvPr/>
        </p:nvSpPr>
        <p:spPr>
          <a:xfrm>
            <a:off x="9351264" y="2901696"/>
            <a:ext cx="231648" cy="524256"/>
          </a:xfrm>
          <a:custGeom>
            <a:avLst/>
            <a:gdLst>
              <a:gd name="connsiteX0" fmla="*/ 12192 w 231648"/>
              <a:gd name="connsiteY0" fmla="*/ 97536 h 524256"/>
              <a:gd name="connsiteX1" fmla="*/ 134112 w 231648"/>
              <a:gd name="connsiteY1" fmla="*/ 280416 h 524256"/>
              <a:gd name="connsiteX2" fmla="*/ 97536 w 231648"/>
              <a:gd name="connsiteY2" fmla="*/ 438912 h 524256"/>
              <a:gd name="connsiteX3" fmla="*/ 0 w 231648"/>
              <a:gd name="connsiteY3" fmla="*/ 524256 h 524256"/>
              <a:gd name="connsiteX4" fmla="*/ 158496 w 231648"/>
              <a:gd name="connsiteY4" fmla="*/ 499872 h 524256"/>
              <a:gd name="connsiteX5" fmla="*/ 231648 w 231648"/>
              <a:gd name="connsiteY5" fmla="*/ 109728 h 524256"/>
              <a:gd name="connsiteX6" fmla="*/ 24384 w 231648"/>
              <a:gd name="connsiteY6" fmla="*/ 0 h 524256"/>
              <a:gd name="connsiteX7" fmla="*/ 12192 w 231648"/>
              <a:gd name="connsiteY7" fmla="*/ 97536 h 52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1648" h="524256">
                <a:moveTo>
                  <a:pt x="12192" y="97536"/>
                </a:moveTo>
                <a:lnTo>
                  <a:pt x="134112" y="280416"/>
                </a:lnTo>
                <a:lnTo>
                  <a:pt x="97536" y="438912"/>
                </a:lnTo>
                <a:lnTo>
                  <a:pt x="0" y="524256"/>
                </a:lnTo>
                <a:lnTo>
                  <a:pt x="158496" y="499872"/>
                </a:lnTo>
                <a:lnTo>
                  <a:pt x="231648" y="109728"/>
                </a:lnTo>
                <a:lnTo>
                  <a:pt x="24384" y="0"/>
                </a:lnTo>
                <a:lnTo>
                  <a:pt x="12192" y="975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B73B004D-03E1-C04C-B73E-6909CE95E279}"/>
              </a:ext>
            </a:extLst>
          </p:cNvPr>
          <p:cNvSpPr/>
          <p:nvPr/>
        </p:nvSpPr>
        <p:spPr>
          <a:xfrm>
            <a:off x="8302752" y="3645408"/>
            <a:ext cx="1353312" cy="609600"/>
          </a:xfrm>
          <a:custGeom>
            <a:avLst/>
            <a:gdLst>
              <a:gd name="connsiteX0" fmla="*/ 73152 w 1353312"/>
              <a:gd name="connsiteY0" fmla="*/ 499872 h 609600"/>
              <a:gd name="connsiteX1" fmla="*/ 487680 w 1353312"/>
              <a:gd name="connsiteY1" fmla="*/ 402336 h 609600"/>
              <a:gd name="connsiteX2" fmla="*/ 780288 w 1353312"/>
              <a:gd name="connsiteY2" fmla="*/ 402336 h 609600"/>
              <a:gd name="connsiteX3" fmla="*/ 1097280 w 1353312"/>
              <a:gd name="connsiteY3" fmla="*/ 329184 h 609600"/>
              <a:gd name="connsiteX4" fmla="*/ 1182624 w 1353312"/>
              <a:gd name="connsiteY4" fmla="*/ 268224 h 609600"/>
              <a:gd name="connsiteX5" fmla="*/ 1024128 w 1353312"/>
              <a:gd name="connsiteY5" fmla="*/ 24384 h 609600"/>
              <a:gd name="connsiteX6" fmla="*/ 1158240 w 1353312"/>
              <a:gd name="connsiteY6" fmla="*/ 0 h 609600"/>
              <a:gd name="connsiteX7" fmla="*/ 1353312 w 1353312"/>
              <a:gd name="connsiteY7" fmla="*/ 268224 h 609600"/>
              <a:gd name="connsiteX8" fmla="*/ 1219200 w 1353312"/>
              <a:gd name="connsiteY8" fmla="*/ 304800 h 609600"/>
              <a:gd name="connsiteX9" fmla="*/ 1109472 w 1353312"/>
              <a:gd name="connsiteY9" fmla="*/ 402336 h 609600"/>
              <a:gd name="connsiteX10" fmla="*/ 646176 w 1353312"/>
              <a:gd name="connsiteY10" fmla="*/ 438912 h 609600"/>
              <a:gd name="connsiteX11" fmla="*/ 426720 w 1353312"/>
              <a:gd name="connsiteY11" fmla="*/ 475488 h 609600"/>
              <a:gd name="connsiteX12" fmla="*/ 121920 w 1353312"/>
              <a:gd name="connsiteY12" fmla="*/ 609600 h 609600"/>
              <a:gd name="connsiteX13" fmla="*/ 0 w 1353312"/>
              <a:gd name="connsiteY13" fmla="*/ 609600 h 609600"/>
              <a:gd name="connsiteX14" fmla="*/ 73152 w 1353312"/>
              <a:gd name="connsiteY14" fmla="*/ 499872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53312" h="609600">
                <a:moveTo>
                  <a:pt x="73152" y="499872"/>
                </a:moveTo>
                <a:lnTo>
                  <a:pt x="487680" y="402336"/>
                </a:lnTo>
                <a:lnTo>
                  <a:pt x="780288" y="402336"/>
                </a:lnTo>
                <a:lnTo>
                  <a:pt x="1097280" y="329184"/>
                </a:lnTo>
                <a:lnTo>
                  <a:pt x="1182624" y="268224"/>
                </a:lnTo>
                <a:lnTo>
                  <a:pt x="1024128" y="24384"/>
                </a:lnTo>
                <a:lnTo>
                  <a:pt x="1158240" y="0"/>
                </a:lnTo>
                <a:lnTo>
                  <a:pt x="1353312" y="268224"/>
                </a:lnTo>
                <a:lnTo>
                  <a:pt x="1219200" y="304800"/>
                </a:lnTo>
                <a:lnTo>
                  <a:pt x="1109472" y="402336"/>
                </a:lnTo>
                <a:lnTo>
                  <a:pt x="646176" y="438912"/>
                </a:lnTo>
                <a:lnTo>
                  <a:pt x="426720" y="475488"/>
                </a:lnTo>
                <a:lnTo>
                  <a:pt x="121920" y="609600"/>
                </a:lnTo>
                <a:lnTo>
                  <a:pt x="0" y="609600"/>
                </a:lnTo>
                <a:lnTo>
                  <a:pt x="73152" y="4998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95C3983B-0D53-C944-B139-5555880676C1}"/>
              </a:ext>
            </a:extLst>
          </p:cNvPr>
          <p:cNvSpPr/>
          <p:nvPr/>
        </p:nvSpPr>
        <p:spPr>
          <a:xfrm>
            <a:off x="9375648" y="1353312"/>
            <a:ext cx="1133856" cy="682752"/>
          </a:xfrm>
          <a:custGeom>
            <a:avLst/>
            <a:gdLst>
              <a:gd name="connsiteX0" fmla="*/ 0 w 1133856"/>
              <a:gd name="connsiteY0" fmla="*/ 573024 h 682752"/>
              <a:gd name="connsiteX1" fmla="*/ 426720 w 1133856"/>
              <a:gd name="connsiteY1" fmla="*/ 475488 h 682752"/>
              <a:gd name="connsiteX2" fmla="*/ 682752 w 1133856"/>
              <a:gd name="connsiteY2" fmla="*/ 463296 h 682752"/>
              <a:gd name="connsiteX3" fmla="*/ 890016 w 1133856"/>
              <a:gd name="connsiteY3" fmla="*/ 390144 h 682752"/>
              <a:gd name="connsiteX4" fmla="*/ 658368 w 1133856"/>
              <a:gd name="connsiteY4" fmla="*/ 60960 h 682752"/>
              <a:gd name="connsiteX5" fmla="*/ 743712 w 1133856"/>
              <a:gd name="connsiteY5" fmla="*/ 0 h 682752"/>
              <a:gd name="connsiteX6" fmla="*/ 1133856 w 1133856"/>
              <a:gd name="connsiteY6" fmla="*/ 207264 h 682752"/>
              <a:gd name="connsiteX7" fmla="*/ 890016 w 1133856"/>
              <a:gd name="connsiteY7" fmla="*/ 512064 h 682752"/>
              <a:gd name="connsiteX8" fmla="*/ 890016 w 1133856"/>
              <a:gd name="connsiteY8" fmla="*/ 512064 h 682752"/>
              <a:gd name="connsiteX9" fmla="*/ 707136 w 1133856"/>
              <a:gd name="connsiteY9" fmla="*/ 512064 h 682752"/>
              <a:gd name="connsiteX10" fmla="*/ 134112 w 1133856"/>
              <a:gd name="connsiteY10" fmla="*/ 573024 h 682752"/>
              <a:gd name="connsiteX11" fmla="*/ 12192 w 1133856"/>
              <a:gd name="connsiteY11" fmla="*/ 682752 h 682752"/>
              <a:gd name="connsiteX12" fmla="*/ 0 w 1133856"/>
              <a:gd name="connsiteY12" fmla="*/ 573024 h 682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33856" h="682752">
                <a:moveTo>
                  <a:pt x="0" y="573024"/>
                </a:moveTo>
                <a:lnTo>
                  <a:pt x="426720" y="475488"/>
                </a:lnTo>
                <a:lnTo>
                  <a:pt x="682752" y="463296"/>
                </a:lnTo>
                <a:lnTo>
                  <a:pt x="890016" y="390144"/>
                </a:lnTo>
                <a:lnTo>
                  <a:pt x="658368" y="60960"/>
                </a:lnTo>
                <a:lnTo>
                  <a:pt x="743712" y="0"/>
                </a:lnTo>
                <a:lnTo>
                  <a:pt x="1133856" y="207264"/>
                </a:lnTo>
                <a:lnTo>
                  <a:pt x="890016" y="512064"/>
                </a:lnTo>
                <a:lnTo>
                  <a:pt x="890016" y="512064"/>
                </a:lnTo>
                <a:lnTo>
                  <a:pt x="707136" y="512064"/>
                </a:lnTo>
                <a:lnTo>
                  <a:pt x="134112" y="573024"/>
                </a:lnTo>
                <a:lnTo>
                  <a:pt x="12192" y="682752"/>
                </a:lnTo>
                <a:lnTo>
                  <a:pt x="0" y="5730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1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334C-5D3C-714B-BDF4-35E6D1D2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Attribute Grammars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B65F8-8CBC-8C46-972E-8615B9D1D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Attributes come in two forms as well</a:t>
            </a:r>
          </a:p>
          <a:p>
            <a:r>
              <a:rPr lang="en-US" b="1" dirty="0"/>
              <a:t>Synthesized attributes</a:t>
            </a:r>
            <a:r>
              <a:rPr lang="en-US" dirty="0"/>
              <a:t>: values are calculated (synthesized) only in productions in which their symbol appears on the left-hand side</a:t>
            </a:r>
          </a:p>
          <a:p>
            <a:pPr lvl="1"/>
            <a:r>
              <a:rPr lang="en-US" dirty="0"/>
              <a:t>The previous example was exclusively synthesized attributes </a:t>
            </a:r>
          </a:p>
          <a:p>
            <a:r>
              <a:rPr lang="en-US" b="1" dirty="0"/>
              <a:t>Inherited attributes</a:t>
            </a:r>
            <a:r>
              <a:rPr lang="en-US" dirty="0"/>
              <a:t>: Attributes whose values are calculated when their symbol is on the right-hand side of the current production</a:t>
            </a:r>
          </a:p>
        </p:txBody>
      </p:sp>
    </p:spTree>
    <p:extLst>
      <p:ext uri="{BB962C8B-B14F-4D97-AF65-F5344CB8AC3E}">
        <p14:creationId xmlns:p14="http://schemas.microsoft.com/office/powerpoint/2010/main" val="3208650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FCC3-850A-B643-B8AE-0402D587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Inherited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73836-2AD0-FD4B-AA97-7CB17B544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6614" cy="4351338"/>
          </a:xfrm>
        </p:spPr>
        <p:txBody>
          <a:bodyPr/>
          <a:lstStyle/>
          <a:p>
            <a:r>
              <a:rPr lang="en-US" dirty="0"/>
              <a:t>Parse tree for: 9 – 4 – 3</a:t>
            </a:r>
          </a:p>
          <a:p>
            <a:r>
              <a:rPr lang="en-US" dirty="0"/>
              <a:t>Defining an attribute grammar presents a problem</a:t>
            </a:r>
          </a:p>
          <a:p>
            <a:r>
              <a:rPr lang="en-US" dirty="0"/>
              <a:t>Because subtraction is left associative, we cannot summarize the right subtree of the root with a single numeric value</a:t>
            </a:r>
          </a:p>
          <a:p>
            <a:r>
              <a:rPr lang="en-US" dirty="0"/>
              <a:t>Solution is to to pass attribute values not only bottom-up but also left-to-right in the tree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C020B-9E53-C545-A3C2-798A35F6A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14" y="5646975"/>
            <a:ext cx="4011386" cy="737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C6BDD8-2101-CB42-947D-2E05D6470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822" y="1825625"/>
            <a:ext cx="4119378" cy="336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78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DF4E-23CB-004A-A426-F5C605F7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Inherited Attributes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344C6-7DF0-2C48-8B93-31DA07918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329" y="536462"/>
            <a:ext cx="6480172" cy="3464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A4180D-A8D4-A947-A9FA-639DF04CD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850" y="4001294"/>
            <a:ext cx="4893129" cy="27401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4273-AC69-874B-8ECC-A6F1D71F9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7529" cy="4351338"/>
          </a:xfrm>
        </p:spPr>
        <p:txBody>
          <a:bodyPr/>
          <a:lstStyle/>
          <a:p>
            <a:r>
              <a:rPr lang="en-US" dirty="0"/>
              <a:t>In each of the first two productions, the first rule serves to copy the left context into a “subtotal” (</a:t>
            </a:r>
            <a:r>
              <a:rPr lang="en-US" dirty="0" err="1"/>
              <a:t>st</a:t>
            </a:r>
            <a:r>
              <a:rPr lang="en-US" dirty="0"/>
              <a:t>) attribute</a:t>
            </a:r>
          </a:p>
          <a:p>
            <a:r>
              <a:rPr lang="en-US" dirty="0"/>
              <a:t>The second rule copies the final value from the right-most leaf back up to the root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632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F57A-A14E-6F4D-A5EB-055E29E7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9D42-2000-D949-AA1B-99A6052CB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attribute grammar does not specify the order in which attribute rules should be invoked</a:t>
            </a:r>
          </a:p>
          <a:p>
            <a:r>
              <a:rPr lang="en-US" dirty="0"/>
              <a:t>This means that the order in which attribute rules are listed for a given production is immaterial; attribute flow may require them to execute in any order</a:t>
            </a:r>
          </a:p>
          <a:p>
            <a:r>
              <a:rPr lang="en-US" b="1" dirty="0"/>
              <a:t>Noncircular attribute grammar</a:t>
            </a:r>
            <a:r>
              <a:rPr lang="en-US" dirty="0"/>
              <a:t>: An attribute grammar where no attribute, in any parse tree, ever depends (transitively) on itself.</a:t>
            </a:r>
          </a:p>
          <a:p>
            <a:pPr lvl="1"/>
            <a:r>
              <a:rPr lang="en-US" dirty="0"/>
              <a:t>Attribute grammars tend to be noncircular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23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02EE-D823-5B4F-9297-9C3C61F7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CDAE-608B-FB4A-BC14-84FB7F990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Translation scheme</a:t>
            </a:r>
            <a:r>
              <a:rPr lang="en-US" dirty="0"/>
              <a:t>: An algorithm that decorates parse trees by invoking the rules of an attribute grammar </a:t>
            </a:r>
          </a:p>
          <a:p>
            <a:r>
              <a:rPr lang="en-US" dirty="0"/>
              <a:t>Simplest scheme is one that makes repeated passes over a tree, invoking any semantic function whose arguments have all been defined, and stopping when it completes a pass in which no values change</a:t>
            </a:r>
          </a:p>
          <a:p>
            <a:pPr lvl="1"/>
            <a:r>
              <a:rPr lang="en-US" dirty="0"/>
              <a:t>Such a scheme is said to be oblivious</a:t>
            </a:r>
          </a:p>
        </p:txBody>
      </p:sp>
    </p:spTree>
    <p:extLst>
      <p:ext uri="{BB962C8B-B14F-4D97-AF65-F5344CB8AC3E}">
        <p14:creationId xmlns:p14="http://schemas.microsoft.com/office/powerpoint/2010/main" val="454876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C2EF-790C-3B48-B208-71D98802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2410-8217-8948-AA90-B1F37322B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performance may be achieved by a dynamic scheme that tailors the evaluation order to the structure of a given parse tree</a:t>
            </a:r>
          </a:p>
          <a:p>
            <a:pPr lvl="1"/>
            <a:r>
              <a:rPr lang="en-US" dirty="0"/>
              <a:t>The fastest translation schemes tend to be static: based on an analysis of the attribute grammar itself</a:t>
            </a:r>
          </a:p>
          <a:p>
            <a:r>
              <a:rPr lang="en-US" dirty="0"/>
              <a:t>Once decorated, the program node at the root of the syntax tree will contain a list, in a synthesized attribute, of all static semantic errors in the program</a:t>
            </a:r>
          </a:p>
          <a:p>
            <a:pPr lvl="1"/>
            <a:r>
              <a:rPr lang="en-US" dirty="0"/>
              <a:t>The list will be empty if the program is free of such errors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440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Syntax: what the language constructs look like</a:t>
            </a:r>
          </a:p>
          <a:p>
            <a:r>
              <a:rPr lang="en-US" altLang="en-US" dirty="0">
                <a:ea typeface="MS PGothic" charset="-128"/>
              </a:rPr>
              <a:t>Semantics: what the language constructs actually do</a:t>
            </a:r>
          </a:p>
          <a:p>
            <a:r>
              <a:rPr lang="en-US" altLang="en-US" dirty="0">
                <a:ea typeface="MS PGothic" charset="-128"/>
              </a:rPr>
              <a:t>Specifying semantics is more difficult than specifying syntax</a:t>
            </a:r>
          </a:p>
          <a:p>
            <a:r>
              <a:rPr lang="en-US" altLang="en-US" dirty="0">
                <a:ea typeface="MS PGothic" charset="-128"/>
              </a:rPr>
              <a:t>Several ways to specify semantics: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Language reference manual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Defining a translator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Formal definition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5675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50E9-CB24-8940-BFC9-FA326E08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Semantics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D930-9B85-8744-9A28-DAD6CDCC9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Specifying semantics is more difficult than specifying syntax</a:t>
            </a:r>
            <a:endParaRPr lang="en-US" dirty="0"/>
          </a:p>
          <a:p>
            <a:r>
              <a:rPr lang="en-US" dirty="0"/>
              <a:t>There is no single widely accepted way of formally describing semantics</a:t>
            </a:r>
          </a:p>
          <a:p>
            <a:r>
              <a:rPr lang="en-US" dirty="0"/>
              <a:t>As a result, semantics are defined either formally or informally </a:t>
            </a:r>
          </a:p>
          <a:p>
            <a:r>
              <a:rPr lang="en-US" dirty="0"/>
              <a:t>The three major classes of formal notation are:</a:t>
            </a:r>
          </a:p>
          <a:p>
            <a:pPr lvl="1"/>
            <a:r>
              <a:rPr lang="en-US" dirty="0"/>
              <a:t>Operational Semantics </a:t>
            </a:r>
          </a:p>
          <a:p>
            <a:pPr lvl="1"/>
            <a:r>
              <a:rPr lang="en-US" dirty="0"/>
              <a:t>Axiomatic Semantics </a:t>
            </a:r>
          </a:p>
          <a:p>
            <a:pPr lvl="1"/>
            <a:r>
              <a:rPr lang="en-US" dirty="0"/>
              <a:t>Denotational Semantics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24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Informal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Language reference manual: 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Most common way to specify semantics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Provides clearer and more precise references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Suffers from a lack of precision inherent in natural language descriptions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May have omissions and ambiguities</a:t>
            </a:r>
          </a:p>
        </p:txBody>
      </p:sp>
    </p:spTree>
    <p:extLst>
      <p:ext uri="{BB962C8B-B14F-4D97-AF65-F5344CB8AC3E}">
        <p14:creationId xmlns:p14="http://schemas.microsoft.com/office/powerpoint/2010/main" val="1506102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36182F9A-8DCB-D446-89C6-020CE3AE1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Operational Semantics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7BA91DB1-1DB3-2A41-8460-7D8B0C253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definition of a translator is also known as operational semantics</a:t>
            </a:r>
          </a:p>
          <a:p>
            <a:r>
              <a:rPr lang="en-US" altLang="en-US" dirty="0"/>
              <a:t>Operational Semantics</a:t>
            </a:r>
          </a:p>
          <a:p>
            <a:pPr lvl="1" eaLnBrk="1" hangingPunct="1"/>
            <a:r>
              <a:rPr lang="en-US" altLang="en-US" dirty="0"/>
              <a:t>Describe the meaning of a program by executing its statements on a machine, either simulated or actual.  The change in the state of the machine (memory, registers, etc.) defines the meaning of the statement</a:t>
            </a:r>
          </a:p>
          <a:p>
            <a:pPr eaLnBrk="1" hangingPunct="1"/>
            <a:r>
              <a:rPr lang="en-US" altLang="en-US" dirty="0"/>
              <a:t>To use operational semantics for a high-level language, a virtual machine is needed</a:t>
            </a:r>
          </a:p>
        </p:txBody>
      </p:sp>
    </p:spTree>
    <p:extLst>
      <p:ext uri="{BB962C8B-B14F-4D97-AF65-F5344CB8AC3E}">
        <p14:creationId xmlns:p14="http://schemas.microsoft.com/office/powerpoint/2010/main" val="3358519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>
            <a:extLst>
              <a:ext uri="{FF2B5EF4-FFF2-40B4-BE49-F238E27FC236}">
                <a16:creationId xmlns:a16="http://schemas.microsoft.com/office/drawing/2014/main" id="{102E27FF-FF84-8D4B-B02E-EB4AC6B13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Operational Semantics</a:t>
            </a:r>
            <a:endParaRPr lang="en-US" altLang="en-US" sz="3200" b="1" dirty="0">
              <a:solidFill>
                <a:srgbClr val="0070C0"/>
              </a:solidFill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D5224CF2-8337-3240-B8EE-DDF73C842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i="1" dirty="0"/>
              <a:t>hardware</a:t>
            </a:r>
            <a:r>
              <a:rPr lang="en-US" altLang="en-US" dirty="0"/>
              <a:t> pure interpreter would be too expensive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i="1" dirty="0"/>
              <a:t>software</a:t>
            </a:r>
            <a:r>
              <a:rPr lang="en-US" altLang="en-US" dirty="0"/>
              <a:t> pure interpreter also has problems</a:t>
            </a:r>
          </a:p>
          <a:p>
            <a:pPr lvl="1" eaLnBrk="1" hangingPunct="1"/>
            <a:r>
              <a:rPr lang="en-US" altLang="en-US" dirty="0"/>
              <a:t>The detailed characteristics of the particular computer would make actions difficult to understand</a:t>
            </a:r>
          </a:p>
          <a:p>
            <a:pPr lvl="1" eaLnBrk="1" hangingPunct="1"/>
            <a:r>
              <a:rPr lang="en-US" altLang="en-US" dirty="0"/>
              <a:t>Such a semantic definition would be machine dependent</a:t>
            </a:r>
          </a:p>
        </p:txBody>
      </p:sp>
    </p:spTree>
    <p:extLst>
      <p:ext uri="{BB962C8B-B14F-4D97-AF65-F5344CB8AC3E}">
        <p14:creationId xmlns:p14="http://schemas.microsoft.com/office/powerpoint/2010/main" val="2358762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>
            <a:extLst>
              <a:ext uri="{FF2B5EF4-FFF2-40B4-BE49-F238E27FC236}">
                <a16:creationId xmlns:a16="http://schemas.microsoft.com/office/drawing/2014/main" id="{A9189426-D205-6C4D-92F3-106A90827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Operational Semantics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8CE992E2-55C4-1948-AE66-47A144D9D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better alternative: a complete computer simulation</a:t>
            </a:r>
          </a:p>
          <a:p>
            <a:pPr eaLnBrk="1" hangingPunct="1"/>
            <a:r>
              <a:rPr lang="en-US" altLang="en-US" dirty="0"/>
              <a:t>The process:</a:t>
            </a:r>
          </a:p>
          <a:p>
            <a:pPr lvl="1" eaLnBrk="1" hangingPunct="1"/>
            <a:r>
              <a:rPr lang="en-US" altLang="en-US" dirty="0"/>
              <a:t>Build a translator (translates source code to the machine code of an idealized computer)</a:t>
            </a:r>
          </a:p>
          <a:p>
            <a:pPr lvl="1" eaLnBrk="1" hangingPunct="1"/>
            <a:r>
              <a:rPr lang="en-US" altLang="en-US" dirty="0"/>
              <a:t>Build a simulator for the idealized computer</a:t>
            </a:r>
          </a:p>
          <a:p>
            <a:pPr eaLnBrk="1" hangingPunct="1"/>
            <a:r>
              <a:rPr lang="en-US" altLang="en-US" dirty="0"/>
              <a:t>Evaluation of operational semantics:</a:t>
            </a:r>
          </a:p>
          <a:p>
            <a:pPr lvl="1" eaLnBrk="1" hangingPunct="1"/>
            <a:r>
              <a:rPr lang="en-US" altLang="en-US" dirty="0"/>
              <a:t>Good if used informally (language manuals, etc.)</a:t>
            </a:r>
          </a:p>
          <a:p>
            <a:pPr lvl="1" eaLnBrk="1" hangingPunct="1"/>
            <a:r>
              <a:rPr lang="en-US" altLang="en-US" dirty="0"/>
              <a:t>Extremely complex if used formally (e.g., VDL), it was used for describing semantics of PL/I.</a:t>
            </a:r>
          </a:p>
        </p:txBody>
      </p:sp>
    </p:spTree>
    <p:extLst>
      <p:ext uri="{BB962C8B-B14F-4D97-AF65-F5344CB8AC3E}">
        <p14:creationId xmlns:p14="http://schemas.microsoft.com/office/powerpoint/2010/main" val="3538899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Operational Semantics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Pros:</a:t>
            </a:r>
          </a:p>
          <a:p>
            <a:pPr lvl="1"/>
            <a:r>
              <a:rPr lang="en-US" altLang="en-US" dirty="0">
                <a:ea typeface="MS PGothic" charset="-128"/>
              </a:rPr>
              <a:t>Questions about a language can be answered by experimentation</a:t>
            </a:r>
          </a:p>
          <a:p>
            <a:r>
              <a:rPr lang="en-US" altLang="en-US" dirty="0">
                <a:ea typeface="MS PGothic" charset="-128"/>
              </a:rPr>
              <a:t>Cons:</a:t>
            </a:r>
          </a:p>
          <a:p>
            <a:pPr lvl="1"/>
            <a:r>
              <a:rPr lang="en-US" altLang="en-US" dirty="0">
                <a:ea typeface="MS PGothic" charset="-128"/>
              </a:rPr>
              <a:t>Questions about program behavior cannot be answered in advance</a:t>
            </a:r>
          </a:p>
          <a:p>
            <a:pPr lvl="1"/>
            <a:r>
              <a:rPr lang="en-US" altLang="en-US" dirty="0">
                <a:ea typeface="MS PGothic" charset="-128"/>
              </a:rPr>
              <a:t>Bugs and machine dependencies in the translator may become part of the language semantics, possibly unintentionally</a:t>
            </a:r>
          </a:p>
          <a:p>
            <a:pPr lvl="1"/>
            <a:r>
              <a:rPr lang="en-US" altLang="en-US" dirty="0">
                <a:ea typeface="MS PGothic" charset="-128"/>
              </a:rPr>
              <a:t>May not be portable to all machines</a:t>
            </a:r>
          </a:p>
          <a:p>
            <a:pPr lvl="1"/>
            <a:r>
              <a:rPr lang="en-US" altLang="en-US" dirty="0">
                <a:ea typeface="MS PGothic" charset="-128"/>
              </a:rPr>
              <a:t>May not be generally available</a:t>
            </a:r>
          </a:p>
        </p:txBody>
      </p:sp>
    </p:spTree>
    <p:extLst>
      <p:ext uri="{BB962C8B-B14F-4D97-AF65-F5344CB8AC3E}">
        <p14:creationId xmlns:p14="http://schemas.microsoft.com/office/powerpoint/2010/main" val="1424178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0915-78E0-4445-8095-74EDC4B7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Axiomatic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15CB-6016-E646-9EE7-346397468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Axiomatic Semantics:</a:t>
            </a:r>
          </a:p>
          <a:p>
            <a:pPr lvl="1"/>
            <a:r>
              <a:rPr lang="en-US" dirty="0"/>
              <a:t>Based on formal logic</a:t>
            </a:r>
          </a:p>
          <a:p>
            <a:pPr lvl="1"/>
            <a:r>
              <a:rPr lang="en-US" dirty="0"/>
              <a:t>Original purpose: formal program verification </a:t>
            </a:r>
          </a:p>
          <a:p>
            <a:r>
              <a:rPr lang="en-US" dirty="0"/>
              <a:t>Axioms (inference rules) are defined for all statements in the language (to allow transformations of expressions to other expressions) </a:t>
            </a:r>
          </a:p>
          <a:p>
            <a:r>
              <a:rPr lang="en-US" dirty="0"/>
              <a:t>Expressions are called assertions</a:t>
            </a:r>
          </a:p>
          <a:p>
            <a:pPr lvl="1"/>
            <a:r>
              <a:rPr lang="en-US" dirty="0"/>
              <a:t>pre-conditions: assertions before a statement</a:t>
            </a:r>
          </a:p>
          <a:p>
            <a:pPr lvl="1"/>
            <a:r>
              <a:rPr lang="en-US" dirty="0"/>
              <a:t>post-conditions: assertions after a statement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573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9D0-B1EE-1348-B0BD-3C795B45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a typeface="MS PGothic" charset="-128"/>
              </a:rPr>
              <a:t>Denotational Semantics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6E80F-7A5F-AB47-8068-83B36F443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Based on recursive function theory</a:t>
            </a:r>
          </a:p>
          <a:p>
            <a:r>
              <a:rPr lang="en-US" altLang="en-US" dirty="0">
                <a:ea typeface="MS PGothic" charset="-128"/>
              </a:rPr>
              <a:t>Formal mathematical methods: precise, but are also complex and abstract</a:t>
            </a:r>
            <a:endParaRPr lang="en-US" altLang="en-US" dirty="0"/>
          </a:p>
          <a:p>
            <a:r>
              <a:rPr lang="en-US" altLang="en-US" dirty="0">
                <a:ea typeface="MS PGothic" charset="-128"/>
              </a:rPr>
              <a:t>Requires study to understand</a:t>
            </a:r>
          </a:p>
          <a:p>
            <a:r>
              <a:rPr lang="en-US" dirty="0"/>
              <a:t>Defining a Denotational specification:</a:t>
            </a:r>
            <a:endParaRPr lang="en-US" altLang="en-US" dirty="0">
              <a:ea typeface="MS PGothic" charset="-128"/>
            </a:endParaRPr>
          </a:p>
          <a:p>
            <a:pPr lvl="1"/>
            <a:r>
              <a:rPr lang="en-US" dirty="0"/>
              <a:t>Define a function mapping language entities onto math objects </a:t>
            </a:r>
          </a:p>
          <a:p>
            <a:pPr lvl="1"/>
            <a:r>
              <a:rPr lang="en-US" dirty="0"/>
              <a:t>Transformation of entities must be explained through math manipulations</a:t>
            </a:r>
          </a:p>
          <a:p>
            <a:r>
              <a:rPr lang="en-US" dirty="0"/>
              <a:t>Due to its complexity, it isn’t commonly used outside of academia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261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65316EAB-7D9D-F44C-9359-5EAF5ACFF67A}" vid="{A314C093-9F88-C04E-9797-11A80E266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3832</TotalTime>
  <Words>3401</Words>
  <Application>Microsoft Macintosh PowerPoint</Application>
  <PresentationFormat>Widescreen</PresentationFormat>
  <Paragraphs>443</Paragraphs>
  <Slides>45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MS PGothic</vt:lpstr>
      <vt:lpstr>Arial</vt:lpstr>
      <vt:lpstr>Calibri</vt:lpstr>
      <vt:lpstr>Calibri Light</vt:lpstr>
      <vt:lpstr>Helvetica Light</vt:lpstr>
      <vt:lpstr>Lucida Sans Unicode</vt:lpstr>
      <vt:lpstr>Times</vt:lpstr>
      <vt:lpstr>Wingdings</vt:lpstr>
      <vt:lpstr>Office Theme</vt:lpstr>
      <vt:lpstr>CMSC 304</vt:lpstr>
      <vt:lpstr>Syntax Analysis</vt:lpstr>
      <vt:lpstr>Lexical Structure</vt:lpstr>
      <vt:lpstr>Lexical Structure</vt:lpstr>
      <vt:lpstr>Lexical Structure</vt:lpstr>
      <vt:lpstr>Syntax Analysis</vt:lpstr>
      <vt:lpstr>Lexical Analysis</vt:lpstr>
      <vt:lpstr>Lexical Analysis</vt:lpstr>
      <vt:lpstr>Lexical Analysis</vt:lpstr>
      <vt:lpstr>Parsing</vt:lpstr>
      <vt:lpstr>Parsing</vt:lpstr>
      <vt:lpstr>Parsing</vt:lpstr>
      <vt:lpstr>Parsing</vt:lpstr>
      <vt:lpstr>Parsing</vt:lpstr>
      <vt:lpstr>Recursive Decent Parser</vt:lpstr>
      <vt:lpstr>Parsing </vt:lpstr>
      <vt:lpstr>Parsing</vt:lpstr>
      <vt:lpstr>Parsing</vt:lpstr>
      <vt:lpstr>Parsing</vt:lpstr>
      <vt:lpstr>Parsing</vt:lpstr>
      <vt:lpstr>Syntax vs. Semantics</vt:lpstr>
      <vt:lpstr>Syntax vs. Semantics</vt:lpstr>
      <vt:lpstr>CMSC 403</vt:lpstr>
      <vt:lpstr>Introduction</vt:lpstr>
      <vt:lpstr>Semantics</vt:lpstr>
      <vt:lpstr>Static Semantics</vt:lpstr>
      <vt:lpstr>Attribute Grammars</vt:lpstr>
      <vt:lpstr>Attribute Grammars</vt:lpstr>
      <vt:lpstr>Attribute Grammars</vt:lpstr>
      <vt:lpstr>Attribute Grammars</vt:lpstr>
      <vt:lpstr>Attribute Grammars</vt:lpstr>
      <vt:lpstr>Inherited Attributes </vt:lpstr>
      <vt:lpstr>Inherited Attributes </vt:lpstr>
      <vt:lpstr>Attribute Flow</vt:lpstr>
      <vt:lpstr>Attribute Flow</vt:lpstr>
      <vt:lpstr>Attribute Flow</vt:lpstr>
      <vt:lpstr>Semantics</vt:lpstr>
      <vt:lpstr>Semantics</vt:lpstr>
      <vt:lpstr>Informal Semantics</vt:lpstr>
      <vt:lpstr>Operational Semantics</vt:lpstr>
      <vt:lpstr>Operational Semantics</vt:lpstr>
      <vt:lpstr>Operational Semantics</vt:lpstr>
      <vt:lpstr>Operational Semantics</vt:lpstr>
      <vt:lpstr>Axiomatic Semantics</vt:lpstr>
      <vt:lpstr>Denotational Semantics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105</cp:revision>
  <dcterms:created xsi:type="dcterms:W3CDTF">2019-07-09T19:27:01Z</dcterms:created>
  <dcterms:modified xsi:type="dcterms:W3CDTF">2025-04-07T16:45:00Z</dcterms:modified>
</cp:coreProperties>
</file>