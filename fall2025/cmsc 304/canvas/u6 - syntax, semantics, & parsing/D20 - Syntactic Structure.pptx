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1.xml" ContentType="application/inkml+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3" r:id="rId1"/>
  </p:sldMasterIdLst>
  <p:notesMasterIdLst>
    <p:notesMasterId r:id="rId34"/>
  </p:notesMasterIdLst>
  <p:sldIdLst>
    <p:sldId id="256" r:id="rId2"/>
    <p:sldId id="559" r:id="rId3"/>
    <p:sldId id="563" r:id="rId4"/>
    <p:sldId id="276" r:id="rId5"/>
    <p:sldId id="279" r:id="rId6"/>
    <p:sldId id="277" r:id="rId7"/>
    <p:sldId id="570" r:id="rId8"/>
    <p:sldId id="278" r:id="rId9"/>
    <p:sldId id="569" r:id="rId10"/>
    <p:sldId id="572" r:id="rId11"/>
    <p:sldId id="565" r:id="rId12"/>
    <p:sldId id="281" r:id="rId13"/>
    <p:sldId id="571" r:id="rId14"/>
    <p:sldId id="282" r:id="rId15"/>
    <p:sldId id="566" r:id="rId16"/>
    <p:sldId id="505" r:id="rId17"/>
    <p:sldId id="524" r:id="rId18"/>
    <p:sldId id="525" r:id="rId19"/>
    <p:sldId id="526" r:id="rId20"/>
    <p:sldId id="527" r:id="rId21"/>
    <p:sldId id="528" r:id="rId22"/>
    <p:sldId id="529" r:id="rId23"/>
    <p:sldId id="533" r:id="rId24"/>
    <p:sldId id="567" r:id="rId25"/>
    <p:sldId id="530" r:id="rId26"/>
    <p:sldId id="531" r:id="rId27"/>
    <p:sldId id="532" r:id="rId28"/>
    <p:sldId id="555" r:id="rId29"/>
    <p:sldId id="573" r:id="rId30"/>
    <p:sldId id="556" r:id="rId31"/>
    <p:sldId id="534" r:id="rId32"/>
    <p:sldId id="535"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33"/>
    <p:restoredTop sz="96405"/>
  </p:normalViewPr>
  <p:slideViewPr>
    <p:cSldViewPr snapToGrid="0" snapToObjects="1">
      <p:cViewPr>
        <p:scale>
          <a:sx n="202" d="100"/>
          <a:sy n="202" d="100"/>
        </p:scale>
        <p:origin x="-216" y="-1600"/>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8-19T19:25:34.406"/>
    </inkml:context>
    <inkml:brush xml:id="br0">
      <inkml:brushProperty name="width" value="0.05" units="cm"/>
      <inkml:brushProperty name="height" value="0.05" units="cm"/>
    </inkml:brush>
  </inkml:definitions>
  <inkml:trace contextRef="#ctx0" brushRef="#br0">16 1 24575,'0'15'0,"0"1"0,0-1 0,0 1 0,0-1 0,0 1 0,0 8 0,0-6 0,0 7 0,0 0 0,0-7 0,0 16 0,0-16 0,0 7 0,0 0 0,0-7 0,0 7 0,0-10 0,0 1 0,0-1 0,0 1 0,0 9 0,0-7 0,0 7 0,0-10 0,0 1 0,0-1 0,0 1 0,0-1 0,0 0 0,0 1 0,0-1 0,0 1 0,0-1 0,0 1 0,0-1 0,0 1 0,0-1 0,0 1 0,0-1 0,0 1 0,0-1 0,0 1 0,0-1 0,0 1 0,0-1 0,0 1 0,0-1 0,0 1 0,0-1 0,0 1 0,0-1 0,0 0 0,0 1 0,0-1 0,0 1 0,0-1 0,0 1 0,0-1 0,0 10 0,0 3 0,0 8 0,0 13 0,0-9 0,0 9 0,0-13 0,0 1 0,0 0 0,0-10 0,0-2 0,0 0 0,0-7 0,0 7 0,0 0 0,0-7 0,0 7 0,0-10 0,0 1 0,0-1 0,0 1 0,0-1 0,0 10 0,0-7 0,0 7 0,0 0 0,0-7 0,0 7 0,0-10 0,0 10 0,0-7 0,0 16 0,0-16 0,0 17 0,0-18 0,0 8 0,0-9 0,0 9 0,0 2 0,0 0 0,0 8 0,0-17 0,0 16 0,0-7 0,0 1 0,0 6 0,0-7 0,0 1 0,0 6 0,0-7 0,0 10 0,0 7 0,0-6 0,0 6 0,0-17 0,0 8 0,0-8 0,0 10 0,0-10 0,0 8 0,0-8 0,0 10 0,0-1 0,0 1 0,0 0 0,0-10 0,0 8 0,0-17 0,0 6 0,0 1 0,0-7 0,0 7 0,0-9 0,0-1 0,0 10 0,0-7 0,0 7 0,0-10 0,0 1 0,0-1 0,0 1 0,0 16 0,0-13 0,0 13 0,0-16 0,0-1 0,0 10 0,0-7 0,0 7 0,0 0 0,0-7 0,0 16 0,0-16 0,0 7 0,0-10 0,0 1 0,0-1 0,0 1 0,0-1 0,0 10 0,0 2 0,0 10 0,0 0 0,0 0 0,0-10 0,0 7 0,0-16 0,0 17 0,0-17 0,0 6 0,0-8 0,0-1 0,0 1 0,0-1 0,0 1 0,0-1 0,0 1 0,0-1 0,0 1 0,0-1 0,0 1 0,0-1 0,0 1 0,0-1 0,0 1 0,0-1 0,0 1 0,0-1 0,0 1 0,0-1 0,0 0 0,0 1 0,0-1 0,0 1 0,0-1 0,0 1 0,0-1 0,0 1 0,0-1 0,0 10 0,0-7 0,0 7 0,0-9 0,0-1 0,0 0 0,0 1 0,0-1 0,0 1 0,0-1 0,0 1 0,0-1 0,0 1 0,0-1 0,0 1 0,0-1 0,0 1 0,0-1 0,0 1 0,0-1 0,0 1 0,0-1 0,0 1 0,0-1 0,0 1 0,0-1 0,0 1 0,0-1 0,0 0 0,0 1 0,0-1 0,0 1 0,0 9 0,0 2 0,0 0 0,0 8 0,0-8 0,0 10 0,0 0 0,0 0 0,0-1 0,0-8 0,0 6 0,0-16 0,0 7 0,0 0 0,0-7 0,0 7 0,0-10 0,0 1 0,0-1 0,0 0 0,0 1 0,0-1 0,0 1 0,0 9 0,0 2 0,0 10 0,0 0 0,0-1 0,0 1 0,0 0 0,0 0 0,0-10 0,0 8 0,0-18 0,0 8 0,0-9 0,0-1 0,0 1 0,0-1 0,0 1 0,0 9 0,0-7 0,0 6 0,0 1 0,0-7 0,0 7 0,0-9 0,0-1 0,0 1 0,0-1 0,0 1 0,0-1 0,0 1 0,0-1 0,0 10 0,0-7 0,0 7 0,0-10 0,0 1 0,0-1 0,0 1 0,0 9 0,0-8 0,0 8 0,0 0 0,0-7 0,0 7 0,0-9 0,0-1 0,0 1 0,0-1 0,0 1 0,0-1 0,0 0 0,0 1 0,0-1 0,0 1 0,0-1 0,0 1 0,0-1 0,0 1 0,0-1 0,0 1 0,0-1 0,0 1 0,0-1 0,0 1 0,0-1 0,0 1 0,0-1 0,0 1 0,0-1 0,0 1 0,0-1 0,0 1 0,0-1 0,0 0 0,0 1 0,0-1 0,0 1 0,0-1 0,0 1 0,0-1 0,0 10 0,0-7 0,0 14 0,0-15 0,0 6 0,0-8 0,0 0 0,0 1 0,0-1 0,0 1 0,0-1 0,0 1 0,0-1 0,0 1 0,0-1 0,0 1 0,0-1 0,0 1 0,0-1 0,0 1 0,0-1 0,0 1 0,0-1 0,0 1 0,0-1 0,0 1 0,0-1 0,0 0 0,0 1 0,0-14 0,0 19 0,0-7 0,0 34 0,0-8 0,0 9 0,0-12 0,0-1 0,0-8 0,0-3 0,0 0 0,0-7 0,0 6 0,0-8 0,0-1 0,0 1 0,0-1 0,0 1 0,0-1 0,0 1 0,0-1 0,0 1 0,0-1 0,0 1 0,0-1 0,0 1 0,0-1 0,0 10 0,0-7 0,0 16 0,0-16 0,0 17 0,0-18 0,0 8 0,0 0 0,0-7 0,0 7 0,0-9 0,0-1 0,0 1 0,0 6 0,0 5 0,0-3 0,0 11 0,0-17 0,0 16 0,0-16 0,0 7 0,0 0 0,0-7 0,0 7 0,0-1 0,0 4 0,0-1 0,0 7 0,0-6 0,0-1 0,0 8 0,0-11 0,0 3 0,0-5 0,0-6 0,0-1 0,0 10 0,0-7 0,0 16 0,0-16 0,0 17 0,0-17 0,0 6 0,0-8 0,0-1 0,0 1 0,0-1 0,0 1 0,0-1 0,0 1 0,0-1 0,0 1 0,0-1 0,0 1 0,0-1 0,0 8 0,0-6 0,0 5 0,0-6 0,0-1 0,0 1 0,0-1 0,0 1 0,0-1 0,-7 0 0,6 1 0,-6-1 0,7 1 0,0-1 0,0 1 0,0-1 0,0 1 0,0-1 0,0 1 0,0-1 0,0 1 0,0-1 0,0 1 0,0-1 0,0 1 0,0-1 0,0 1 0,0-1 0,0 1 0,0-1 0,0 1 0,0-1 0,0 0 0,0 1 0,0-1 0,0 1 0,0-1 0,0 1 0,0-1 0,0 1 0,0-1 0,0 1 0,0-1 0,0 1 0,0-8 0,0-1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9C3FBE-CC6D-C84E-A32C-3E7139D0BEF1}" type="datetimeFigureOut">
              <a:rPr lang="en-US" smtClean="0"/>
              <a:t>4/2/25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AC0DA4-3FAE-DF4B-9554-5D7B5414A6C1}" type="slidenum">
              <a:rPr lang="en-US" smtClean="0"/>
              <a:t>‹#›</a:t>
            </a:fld>
            <a:endParaRPr lang="en-US"/>
          </a:p>
        </p:txBody>
      </p:sp>
    </p:spTree>
    <p:extLst>
      <p:ext uri="{BB962C8B-B14F-4D97-AF65-F5344CB8AC3E}">
        <p14:creationId xmlns:p14="http://schemas.microsoft.com/office/powerpoint/2010/main" val="338566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AC0DA4-3FAE-DF4B-9554-5D7B5414A6C1}" type="slidenum">
              <a:rPr lang="en-US" smtClean="0"/>
              <a:t>1</a:t>
            </a:fld>
            <a:endParaRPr lang="en-US"/>
          </a:p>
        </p:txBody>
      </p:sp>
    </p:spTree>
    <p:extLst>
      <p:ext uri="{BB962C8B-B14F-4D97-AF65-F5344CB8AC3E}">
        <p14:creationId xmlns:p14="http://schemas.microsoft.com/office/powerpoint/2010/main" val="12047243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7">
            <a:extLst>
              <a:ext uri="{FF2B5EF4-FFF2-40B4-BE49-F238E27FC236}">
                <a16:creationId xmlns:a16="http://schemas.microsoft.com/office/drawing/2014/main" id="{759CD2A6-9149-D74F-B2A3-8AB9A21192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pitchFamily="2" charset="0"/>
                <a:cs typeface="Lucida Sans Unicode" panose="020B0602030504020204" pitchFamily="34" charset="0"/>
              </a:defRPr>
            </a:lvl1pPr>
            <a:lvl2pPr marL="742950" indent="-285750">
              <a:defRPr sz="2400">
                <a:solidFill>
                  <a:schemeClr val="tx1"/>
                </a:solidFill>
                <a:latin typeface="Times" pitchFamily="2" charset="0"/>
                <a:cs typeface="Lucida Sans Unicode" panose="020B0602030504020204" pitchFamily="34" charset="0"/>
              </a:defRPr>
            </a:lvl2pPr>
            <a:lvl3pPr marL="1143000" indent="-228600">
              <a:defRPr sz="2400">
                <a:solidFill>
                  <a:schemeClr val="tx1"/>
                </a:solidFill>
                <a:latin typeface="Times" pitchFamily="2" charset="0"/>
                <a:cs typeface="Lucida Sans Unicode" panose="020B0602030504020204" pitchFamily="34" charset="0"/>
              </a:defRPr>
            </a:lvl3pPr>
            <a:lvl4pPr marL="1600200" indent="-228600">
              <a:defRPr sz="2400">
                <a:solidFill>
                  <a:schemeClr val="tx1"/>
                </a:solidFill>
                <a:latin typeface="Times" pitchFamily="2" charset="0"/>
                <a:cs typeface="Lucida Sans Unicode" panose="020B0602030504020204" pitchFamily="34" charset="0"/>
              </a:defRPr>
            </a:lvl4pPr>
            <a:lvl5pPr marL="2057400" indent="-228600">
              <a:defRPr sz="2400">
                <a:solidFill>
                  <a:schemeClr val="tx1"/>
                </a:solidFill>
                <a:latin typeface="Times" pitchFamily="2" charset="0"/>
                <a:cs typeface="Lucida Sans Unicode" panose="020B0602030504020204" pitchFamily="34" charset="0"/>
              </a:defRPr>
            </a:lvl5pPr>
            <a:lvl6pPr marL="25146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6pPr>
            <a:lvl7pPr marL="29718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7pPr>
            <a:lvl8pPr marL="34290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8pPr>
            <a:lvl9pPr marL="3886200" indent="-228600" eaLnBrk="0" fontAlgn="base" hangingPunct="0">
              <a:spcBef>
                <a:spcPct val="0"/>
              </a:spcBef>
              <a:spcAft>
                <a:spcPct val="0"/>
              </a:spcAft>
              <a:defRPr sz="2400">
                <a:solidFill>
                  <a:schemeClr val="tx1"/>
                </a:solidFill>
                <a:latin typeface="Times" pitchFamily="2" charset="0"/>
                <a:cs typeface="Lucida Sans Unicode" panose="020B0602030504020204" pitchFamily="34" charset="0"/>
              </a:defRPr>
            </a:lvl9pPr>
          </a:lstStyle>
          <a:p>
            <a:fld id="{8CF31314-630F-AC4A-AD96-1C776A029E4B}" type="slidenum">
              <a:rPr lang="en-US" altLang="en-US" sz="1200"/>
              <a:pPr/>
              <a:t>2</a:t>
            </a:fld>
            <a:endParaRPr lang="en-US" altLang="en-US" sz="1200"/>
          </a:p>
        </p:txBody>
      </p:sp>
      <p:sp>
        <p:nvSpPr>
          <p:cNvPr id="65539" name="Rectangle 2">
            <a:extLst>
              <a:ext uri="{FF2B5EF4-FFF2-40B4-BE49-F238E27FC236}">
                <a16:creationId xmlns:a16="http://schemas.microsoft.com/office/drawing/2014/main" id="{1F4B10D0-03D2-5047-865B-848E25719977}"/>
              </a:ext>
            </a:extLst>
          </p:cNvPr>
          <p:cNvSpPr>
            <a:spLocks noGrp="1" noRot="1" noChangeAspect="1" noChangeArrowheads="1" noTextEdit="1"/>
          </p:cNvSpPr>
          <p:nvPr>
            <p:ph type="sldImg"/>
          </p:nvPr>
        </p:nvSpPr>
        <p:spPr>
          <a:ln/>
        </p:spPr>
      </p:sp>
      <p:sp>
        <p:nvSpPr>
          <p:cNvPr id="65540" name="Rectangle 3">
            <a:extLst>
              <a:ext uri="{FF2B5EF4-FFF2-40B4-BE49-F238E27FC236}">
                <a16:creationId xmlns:a16="http://schemas.microsoft.com/office/drawing/2014/main" id="{CB2CEEAB-C537-EA45-89BB-9C44028BA9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s-MX" altLang="en-US" dirty="0">
                <a:latin typeface="Times" pitchFamily="2" charset="0"/>
              </a:rPr>
              <a:t>Syntax for compile time</a:t>
            </a:r>
          </a:p>
          <a:p>
            <a:pPr eaLnBrk="1" hangingPunct="1"/>
            <a:r>
              <a:rPr lang="es-MX" altLang="en-US" dirty="0">
                <a:latin typeface="Times" pitchFamily="2" charset="0"/>
              </a:rPr>
              <a:t>Semantics for runtime</a:t>
            </a:r>
          </a:p>
        </p:txBody>
      </p:sp>
    </p:spTree>
    <p:extLst>
      <p:ext uri="{BB962C8B-B14F-4D97-AF65-F5344CB8AC3E}">
        <p14:creationId xmlns:p14="http://schemas.microsoft.com/office/powerpoint/2010/main" val="18848331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AC0DA4-3FAE-DF4B-9554-5D7B5414A6C1}" type="slidenum">
              <a:rPr lang="en-US" smtClean="0"/>
              <a:t>3</a:t>
            </a:fld>
            <a:endParaRPr lang="en-US"/>
          </a:p>
        </p:txBody>
      </p:sp>
    </p:spTree>
    <p:extLst>
      <p:ext uri="{BB962C8B-B14F-4D97-AF65-F5344CB8AC3E}">
        <p14:creationId xmlns:p14="http://schemas.microsoft.com/office/powerpoint/2010/main" val="26769578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derivation demo</a:t>
            </a:r>
          </a:p>
        </p:txBody>
      </p:sp>
      <p:sp>
        <p:nvSpPr>
          <p:cNvPr id="4" name="Slide Number Placeholder 3"/>
          <p:cNvSpPr>
            <a:spLocks noGrp="1"/>
          </p:cNvSpPr>
          <p:nvPr>
            <p:ph type="sldNum" sz="quarter" idx="5"/>
          </p:nvPr>
        </p:nvSpPr>
        <p:spPr/>
        <p:txBody>
          <a:bodyPr/>
          <a:lstStyle/>
          <a:p>
            <a:fld id="{BCAC0DA4-3FAE-DF4B-9554-5D7B5414A6C1}" type="slidenum">
              <a:rPr lang="en-US" smtClean="0"/>
              <a:t>6</a:t>
            </a:fld>
            <a:endParaRPr lang="en-US"/>
          </a:p>
        </p:txBody>
      </p:sp>
    </p:spTree>
    <p:extLst>
      <p:ext uri="{BB962C8B-B14F-4D97-AF65-F5344CB8AC3E}">
        <p14:creationId xmlns:p14="http://schemas.microsoft.com/office/powerpoint/2010/main" val="2237910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derivation demo</a:t>
            </a:r>
          </a:p>
        </p:txBody>
      </p:sp>
      <p:sp>
        <p:nvSpPr>
          <p:cNvPr id="4" name="Slide Number Placeholder 3"/>
          <p:cNvSpPr>
            <a:spLocks noGrp="1"/>
          </p:cNvSpPr>
          <p:nvPr>
            <p:ph type="sldNum" sz="quarter" idx="5"/>
          </p:nvPr>
        </p:nvSpPr>
        <p:spPr/>
        <p:txBody>
          <a:bodyPr/>
          <a:lstStyle/>
          <a:p>
            <a:fld id="{BCAC0DA4-3FAE-DF4B-9554-5D7B5414A6C1}" type="slidenum">
              <a:rPr lang="en-US" smtClean="0"/>
              <a:t>7</a:t>
            </a:fld>
            <a:endParaRPr lang="en-US"/>
          </a:p>
        </p:txBody>
      </p:sp>
    </p:spTree>
    <p:extLst>
      <p:ext uri="{BB962C8B-B14F-4D97-AF65-F5344CB8AC3E}">
        <p14:creationId xmlns:p14="http://schemas.microsoft.com/office/powerpoint/2010/main" val="9704374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Do derivation demo</a:t>
            </a:r>
          </a:p>
          <a:p>
            <a:endParaRPr lang="en-US" dirty="0"/>
          </a:p>
        </p:txBody>
      </p:sp>
      <p:sp>
        <p:nvSpPr>
          <p:cNvPr id="4" name="Slide Number Placeholder 3"/>
          <p:cNvSpPr>
            <a:spLocks noGrp="1"/>
          </p:cNvSpPr>
          <p:nvPr>
            <p:ph type="sldNum" sz="quarter" idx="5"/>
          </p:nvPr>
        </p:nvSpPr>
        <p:spPr/>
        <p:txBody>
          <a:bodyPr/>
          <a:lstStyle/>
          <a:p>
            <a:fld id="{BCAC0DA4-3FAE-DF4B-9554-5D7B5414A6C1}" type="slidenum">
              <a:rPr lang="en-US" smtClean="0"/>
              <a:t>8</a:t>
            </a:fld>
            <a:endParaRPr lang="en-US"/>
          </a:p>
        </p:txBody>
      </p:sp>
    </p:spTree>
    <p:extLst>
      <p:ext uri="{BB962C8B-B14F-4D97-AF65-F5344CB8AC3E}">
        <p14:creationId xmlns:p14="http://schemas.microsoft.com/office/powerpoint/2010/main" val="3076704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9</a:t>
            </a:fld>
            <a:endParaRPr lang="en-US"/>
          </a:p>
        </p:txBody>
      </p:sp>
    </p:spTree>
    <p:extLst>
      <p:ext uri="{BB962C8B-B14F-4D97-AF65-F5344CB8AC3E}">
        <p14:creationId xmlns:p14="http://schemas.microsoft.com/office/powerpoint/2010/main" val="39859823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10</a:t>
            </a:fld>
            <a:endParaRPr lang="en-US"/>
          </a:p>
        </p:txBody>
      </p:sp>
    </p:spTree>
    <p:extLst>
      <p:ext uri="{BB962C8B-B14F-4D97-AF65-F5344CB8AC3E}">
        <p14:creationId xmlns:p14="http://schemas.microsoft.com/office/powerpoint/2010/main" val="16975301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Stronger</a:t>
            </a:r>
            <a:r>
              <a:rPr lang="en-US" baseline="0" dirty="0"/>
              <a:t> explanation coming up in two slides</a:t>
            </a:r>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11</a:t>
            </a:fld>
            <a:endParaRPr lang="en-US"/>
          </a:p>
        </p:txBody>
      </p:sp>
    </p:spTree>
    <p:extLst>
      <p:ext uri="{BB962C8B-B14F-4D97-AF65-F5344CB8AC3E}">
        <p14:creationId xmlns:p14="http://schemas.microsoft.com/office/powerpoint/2010/main" val="82343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Remove all single-successor nodes</a:t>
            </a:r>
          </a:p>
          <a:p>
            <a:pPr lvl="1"/>
            <a:r>
              <a:rPr lang="en-US" altLang="en-US" b="1" dirty="0"/>
              <a:t>Single-Successor Node</a:t>
            </a:r>
            <a:r>
              <a:rPr lang="en-US" altLang="en-US" dirty="0"/>
              <a:t>: A node with a single child </a:t>
            </a:r>
          </a:p>
          <a:p>
            <a:r>
              <a:rPr lang="en-US" altLang="en-US" dirty="0"/>
              <a:t>Remove all structure defining symbols </a:t>
            </a:r>
          </a:p>
          <a:p>
            <a:r>
              <a:rPr lang="en-US" altLang="en-US" dirty="0"/>
              <a:t>Make operator tokens nonterminal nodes </a:t>
            </a:r>
          </a:p>
          <a:p>
            <a:endParaRPr lang="en-US" dirty="0"/>
          </a:p>
        </p:txBody>
      </p:sp>
      <p:sp>
        <p:nvSpPr>
          <p:cNvPr id="4" name="Slide Number Placeholder 3"/>
          <p:cNvSpPr>
            <a:spLocks noGrp="1"/>
          </p:cNvSpPr>
          <p:nvPr>
            <p:ph type="sldNum" sz="quarter" idx="5"/>
          </p:nvPr>
        </p:nvSpPr>
        <p:spPr/>
        <p:txBody>
          <a:bodyPr/>
          <a:lstStyle/>
          <a:p>
            <a:fld id="{BCAC0DA4-3FAE-DF4B-9554-5D7B5414A6C1}" type="slidenum">
              <a:rPr lang="en-US" smtClean="0"/>
              <a:t>12</a:t>
            </a:fld>
            <a:endParaRPr lang="en-US"/>
          </a:p>
        </p:txBody>
      </p:sp>
    </p:spTree>
    <p:extLst>
      <p:ext uri="{BB962C8B-B14F-4D97-AF65-F5344CB8AC3E}">
        <p14:creationId xmlns:p14="http://schemas.microsoft.com/office/powerpoint/2010/main" val="21929283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t>Remove all single-successor nodes</a:t>
            </a:r>
          </a:p>
          <a:p>
            <a:pPr lvl="1"/>
            <a:r>
              <a:rPr lang="en-US" altLang="en-US" b="1" dirty="0"/>
              <a:t>Single-Successor Node</a:t>
            </a:r>
            <a:r>
              <a:rPr lang="en-US" altLang="en-US" dirty="0"/>
              <a:t>: A node with a single child </a:t>
            </a:r>
          </a:p>
          <a:p>
            <a:r>
              <a:rPr lang="en-US" altLang="en-US" dirty="0"/>
              <a:t>Remove all structure defining symbols </a:t>
            </a:r>
          </a:p>
          <a:p>
            <a:r>
              <a:rPr lang="en-US" altLang="en-US" dirty="0"/>
              <a:t>Make operator tokens nonterminal nodes </a:t>
            </a:r>
          </a:p>
          <a:p>
            <a:endParaRPr lang="en-US" dirty="0"/>
          </a:p>
        </p:txBody>
      </p:sp>
      <p:sp>
        <p:nvSpPr>
          <p:cNvPr id="4" name="Slide Number Placeholder 3"/>
          <p:cNvSpPr>
            <a:spLocks noGrp="1"/>
          </p:cNvSpPr>
          <p:nvPr>
            <p:ph type="sldNum" sz="quarter" idx="5"/>
          </p:nvPr>
        </p:nvSpPr>
        <p:spPr/>
        <p:txBody>
          <a:bodyPr/>
          <a:lstStyle/>
          <a:p>
            <a:fld id="{BCAC0DA4-3FAE-DF4B-9554-5D7B5414A6C1}" type="slidenum">
              <a:rPr lang="en-US" smtClean="0"/>
              <a:t>13</a:t>
            </a:fld>
            <a:endParaRPr lang="en-US"/>
          </a:p>
        </p:txBody>
      </p:sp>
    </p:spTree>
    <p:extLst>
      <p:ext uri="{BB962C8B-B14F-4D97-AF65-F5344CB8AC3E}">
        <p14:creationId xmlns:p14="http://schemas.microsoft.com/office/powerpoint/2010/main" val="24983458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228600" rtl="0" eaLnBrk="1" fontAlgn="auto" latinLnBrk="0" hangingPunct="1">
              <a:lnSpc>
                <a:spcPct val="100000"/>
              </a:lnSpc>
              <a:spcBef>
                <a:spcPts val="0"/>
              </a:spcBef>
              <a:spcAft>
                <a:spcPts val="0"/>
              </a:spcAft>
              <a:buClrTx/>
              <a:buSzTx/>
              <a:buFontTx/>
              <a:buNone/>
              <a:tabLst/>
              <a:defRPr/>
            </a:pPr>
            <a:r>
              <a:rPr lang="en-US" dirty="0"/>
              <a:t>Here's examples of structure defining symbols. Here's a rule</a:t>
            </a:r>
          </a:p>
          <a:p>
            <a:pPr marL="0" marR="0" lvl="0" indent="0" algn="l" defTabSz="228600" rtl="0" eaLnBrk="1" fontAlgn="auto" latinLnBrk="0" hangingPunct="1">
              <a:lnSpc>
                <a:spcPct val="100000"/>
              </a:lnSpc>
              <a:spcBef>
                <a:spcPts val="0"/>
              </a:spcBef>
              <a:spcAft>
                <a:spcPts val="0"/>
              </a:spcAft>
              <a:buClrTx/>
              <a:buSzTx/>
              <a:buFontTx/>
              <a:buNone/>
              <a:tabLst/>
              <a:defRPr/>
            </a:pPr>
            <a:r>
              <a:rPr lang="en-US" altLang="en-US" dirty="0"/>
              <a:t>What on the parse tree is structure defining and can be removed</a:t>
            </a:r>
          </a:p>
          <a:p>
            <a:pPr marL="0" marR="0" lvl="0" indent="0" algn="l" defTabSz="228600" rtl="0" eaLnBrk="1" fontAlgn="auto" latinLnBrk="0" hangingPunct="1">
              <a:lnSpc>
                <a:spcPct val="100000"/>
              </a:lnSpc>
              <a:spcBef>
                <a:spcPts val="0"/>
              </a:spcBef>
              <a:spcAft>
                <a:spcPts val="0"/>
              </a:spcAft>
              <a:buClrTx/>
              <a:buSzTx/>
              <a:buFontTx/>
              <a:buNone/>
              <a:tabLst/>
              <a:defRPr/>
            </a:pPr>
            <a:r>
              <a:rPr lang="en-US" altLang="en-US" dirty="0"/>
              <a:t>	the parenthesis, the if, and the else, because they are key words, they don't DO anything</a:t>
            </a:r>
          </a:p>
          <a:p>
            <a:pPr marL="0" marR="0" lvl="0" indent="0" algn="l" defTabSz="228600" rtl="0" eaLnBrk="1" fontAlgn="auto" latinLnBrk="0" hangingPunct="1">
              <a:lnSpc>
                <a:spcPct val="100000"/>
              </a:lnSpc>
              <a:spcBef>
                <a:spcPts val="0"/>
              </a:spcBef>
              <a:spcAft>
                <a:spcPts val="0"/>
              </a:spcAft>
              <a:buClrTx/>
              <a:buSzTx/>
              <a:buFontTx/>
              <a:buNone/>
              <a:tabLst/>
              <a:defRPr/>
            </a:pPr>
            <a:r>
              <a:rPr lang="en-US" altLang="en-US" dirty="0"/>
              <a:t>	note that many times in computer generated ASTs, these pieces are encoded in the names of instance variables</a:t>
            </a:r>
          </a:p>
          <a:p>
            <a:pPr defTabSz="228600"/>
            <a:endParaRPr lang="en-US" altLang="en-US" dirty="0"/>
          </a:p>
          <a:p>
            <a:pPr defTabSz="228600"/>
            <a:r>
              <a:rPr lang="en-US" altLang="en-US" dirty="0"/>
              <a:t>If the if statement is the parent, the first part HAS to be the expression, the second child HAS to be a statement, and the third statement HAS to be a statement</a:t>
            </a:r>
          </a:p>
        </p:txBody>
      </p:sp>
      <p:sp>
        <p:nvSpPr>
          <p:cNvPr id="4" name="Slide Number Placeholder 3"/>
          <p:cNvSpPr>
            <a:spLocks noGrp="1"/>
          </p:cNvSpPr>
          <p:nvPr>
            <p:ph type="sldNum" sz="quarter" idx="10"/>
          </p:nvPr>
        </p:nvSpPr>
        <p:spPr/>
        <p:txBody>
          <a:bodyPr/>
          <a:lstStyle/>
          <a:p>
            <a:fld id="{BCAC0DA4-3FAE-DF4B-9554-5D7B5414A6C1}" type="slidenum">
              <a:rPr lang="en-US" smtClean="0"/>
              <a:t>14</a:t>
            </a:fld>
            <a:endParaRPr lang="en-US"/>
          </a:p>
        </p:txBody>
      </p:sp>
    </p:spTree>
    <p:extLst>
      <p:ext uri="{BB962C8B-B14F-4D97-AF65-F5344CB8AC3E}">
        <p14:creationId xmlns:p14="http://schemas.microsoft.com/office/powerpoint/2010/main" val="17702234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Ambiguity happens in natural language, but is catastrophic in programming (because computers a dumb hunks of silicon that can’t guess!)</a:t>
            </a:r>
          </a:p>
          <a:p>
            <a:endParaRPr lang="en-US" dirty="0"/>
          </a:p>
        </p:txBody>
      </p:sp>
      <p:sp>
        <p:nvSpPr>
          <p:cNvPr id="4" name="Slide Number Placeholder 3"/>
          <p:cNvSpPr>
            <a:spLocks noGrp="1"/>
          </p:cNvSpPr>
          <p:nvPr>
            <p:ph type="sldNum" sz="quarter" idx="5"/>
          </p:nvPr>
        </p:nvSpPr>
        <p:spPr/>
        <p:txBody>
          <a:bodyPr/>
          <a:lstStyle/>
          <a:p>
            <a:fld id="{BCAC0DA4-3FAE-DF4B-9554-5D7B5414A6C1}" type="slidenum">
              <a:rPr lang="en-US" smtClean="0"/>
              <a:t>16</a:t>
            </a:fld>
            <a:endParaRPr lang="en-US"/>
          </a:p>
        </p:txBody>
      </p:sp>
    </p:spTree>
    <p:extLst>
      <p:ext uri="{BB962C8B-B14F-4D97-AF65-F5344CB8AC3E}">
        <p14:creationId xmlns:p14="http://schemas.microsoft.com/office/powerpoint/2010/main" val="5701283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two syntax trees have totally different meanings. </a:t>
            </a:r>
            <a:br>
              <a:rPr lang="en-US" dirty="0"/>
            </a:br>
            <a:r>
              <a:rPr lang="en-US" dirty="0"/>
              <a:t>Tree 1: 23</a:t>
            </a:r>
          </a:p>
          <a:p>
            <a:r>
              <a:rPr lang="en-US" dirty="0"/>
              <a:t>Tree 2: 35</a:t>
            </a:r>
          </a:p>
          <a:p>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19</a:t>
            </a:fld>
            <a:endParaRPr lang="en-US"/>
          </a:p>
        </p:txBody>
      </p:sp>
    </p:spTree>
    <p:extLst>
      <p:ext uri="{BB962C8B-B14F-4D97-AF65-F5344CB8AC3E}">
        <p14:creationId xmlns:p14="http://schemas.microsoft.com/office/powerpoint/2010/main" val="32745028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CAC0DA4-3FAE-DF4B-9554-5D7B5414A6C1}" type="slidenum">
              <a:rPr lang="en-US" smtClean="0"/>
              <a:t>20</a:t>
            </a:fld>
            <a:endParaRPr lang="en-US"/>
          </a:p>
        </p:txBody>
      </p:sp>
    </p:spTree>
    <p:extLst>
      <p:ext uri="{BB962C8B-B14F-4D97-AF65-F5344CB8AC3E}">
        <p14:creationId xmlns:p14="http://schemas.microsoft.com/office/powerpoint/2010/main" val="576506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separate</a:t>
            </a:r>
            <a:r>
              <a:rPr lang="en-US" baseline="0" dirty="0"/>
              <a:t> </a:t>
            </a:r>
            <a:r>
              <a:rPr lang="en-US" dirty="0"/>
              <a:t>derivations </a:t>
            </a:r>
          </a:p>
          <a:p>
            <a:r>
              <a:rPr lang="en-US" dirty="0"/>
              <a:t>Ambiguous cause of the first rule </a:t>
            </a:r>
            <a:r>
              <a:rPr lang="en-US" dirty="0">
                <a:sym typeface="Wingdings" pitchFamily="2" charset="2"/>
              </a:rPr>
              <a:t> we can break an expr nonterminal into either an expr + expr or expr *expr </a:t>
            </a:r>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21</a:t>
            </a:fld>
            <a:endParaRPr lang="en-US"/>
          </a:p>
        </p:txBody>
      </p:sp>
    </p:spTree>
    <p:extLst>
      <p:ext uri="{BB962C8B-B14F-4D97-AF65-F5344CB8AC3E}">
        <p14:creationId xmlns:p14="http://schemas.microsoft.com/office/powerpoint/2010/main" val="31284800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Show revised grammar</a:t>
            </a:r>
            <a:r>
              <a:rPr lang="en-US" sz="1200" kern="1200" baseline="0" dirty="0">
                <a:solidFill>
                  <a:schemeClr val="tx1"/>
                </a:solidFill>
                <a:effectLst/>
                <a:latin typeface="+mn-lt"/>
                <a:ea typeface="+mn-ea"/>
                <a:cs typeface="+mn-cs"/>
              </a:rPr>
              <a:t> on next slide </a:t>
            </a:r>
            <a:endParaRPr lang="en-US" sz="12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BCAC0DA4-3FAE-DF4B-9554-5D7B5414A6C1}" type="slidenum">
              <a:rPr lang="en-US" smtClean="0"/>
              <a:t>22</a:t>
            </a:fld>
            <a:endParaRPr lang="en-US"/>
          </a:p>
        </p:txBody>
      </p:sp>
    </p:spTree>
    <p:extLst>
      <p:ext uri="{BB962C8B-B14F-4D97-AF65-F5344CB8AC3E}">
        <p14:creationId xmlns:p14="http://schemas.microsoft.com/office/powerpoint/2010/main" val="288015037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Resolves the multiplication ambiguity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We have not completely solved the ambiguity problem, however, because the rule for an </a:t>
            </a:r>
            <a:r>
              <a:rPr lang="en-US" sz="1200" i="1" kern="1200" dirty="0">
                <a:solidFill>
                  <a:schemeClr val="tx1"/>
                </a:solidFill>
                <a:effectLst/>
                <a:latin typeface="+mn-lt"/>
                <a:ea typeface="+mn-ea"/>
                <a:cs typeface="+mn-cs"/>
              </a:rPr>
              <a:t>expr </a:t>
            </a:r>
            <a:r>
              <a:rPr lang="en-US" sz="1200" kern="1200" dirty="0">
                <a:solidFill>
                  <a:schemeClr val="tx1"/>
                </a:solidFill>
                <a:effectLst/>
                <a:latin typeface="+mn-lt"/>
                <a:ea typeface="+mn-ea"/>
                <a:cs typeface="+mn-cs"/>
              </a:rPr>
              <a:t>still allows us to parse 3 + 4 + 5 </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as either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 (3 + 4) + 5 </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      3 + (4 + 5)</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**Next Slide**</a:t>
            </a:r>
          </a:p>
        </p:txBody>
      </p:sp>
      <p:sp>
        <p:nvSpPr>
          <p:cNvPr id="4" name="Slide Number Placeholder 3"/>
          <p:cNvSpPr>
            <a:spLocks noGrp="1"/>
          </p:cNvSpPr>
          <p:nvPr>
            <p:ph type="sldNum" sz="quarter" idx="10"/>
          </p:nvPr>
        </p:nvSpPr>
        <p:spPr/>
        <p:txBody>
          <a:bodyPr/>
          <a:lstStyle/>
          <a:p>
            <a:fld id="{BCAC0DA4-3FAE-DF4B-9554-5D7B5414A6C1}" type="slidenum">
              <a:rPr lang="en-US" smtClean="0"/>
              <a:t>23</a:t>
            </a:fld>
            <a:endParaRPr lang="en-US"/>
          </a:p>
        </p:txBody>
      </p:sp>
    </p:spTree>
    <p:extLst>
      <p:ext uri="{BB962C8B-B14F-4D97-AF65-F5344CB8AC3E}">
        <p14:creationId xmlns:p14="http://schemas.microsoft.com/office/powerpoint/2010/main" val="24792673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3 + 4 + 5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In other words, we can make addition either </a:t>
            </a:r>
            <a:r>
              <a:rPr lang="en-US" sz="1200" b="1" kern="1200" dirty="0">
                <a:solidFill>
                  <a:schemeClr val="tx1"/>
                </a:solidFill>
                <a:effectLst/>
                <a:latin typeface="+mn-lt"/>
                <a:ea typeface="+mn-ea"/>
                <a:cs typeface="+mn-cs"/>
              </a:rPr>
              <a:t>right- </a:t>
            </a:r>
            <a:r>
              <a:rPr lang="en-US" sz="1200" kern="1200" dirty="0">
                <a:solidFill>
                  <a:schemeClr val="tx1"/>
                </a:solidFill>
                <a:effectLst/>
                <a:latin typeface="+mn-lt"/>
                <a:ea typeface="+mn-ea"/>
                <a:cs typeface="+mn-cs"/>
              </a:rPr>
              <a:t>or </a:t>
            </a:r>
            <a:r>
              <a:rPr lang="en-US" sz="1200" b="1" kern="1200" dirty="0">
                <a:solidFill>
                  <a:schemeClr val="tx1"/>
                </a:solidFill>
                <a:effectLst/>
                <a:latin typeface="+mn-lt"/>
                <a:ea typeface="+mn-ea"/>
                <a:cs typeface="+mn-cs"/>
              </a:rPr>
              <a:t>left-associative</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Which doesn’t change the outcome of the addition,</a:t>
            </a:r>
            <a:r>
              <a:rPr lang="en-US" baseline="0" dirty="0"/>
              <a:t> but it shows our grammar is still ambiguous </a:t>
            </a:r>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25</a:t>
            </a:fld>
            <a:endParaRPr lang="en-US"/>
          </a:p>
        </p:txBody>
      </p:sp>
    </p:spTree>
    <p:extLst>
      <p:ext uri="{BB962C8B-B14F-4D97-AF65-F5344CB8AC3E}">
        <p14:creationId xmlns:p14="http://schemas.microsoft.com/office/powerpoint/2010/main" val="21075490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if we</a:t>
            </a:r>
            <a:r>
              <a:rPr lang="en-US" baseline="0" dirty="0"/>
              <a:t> were to add subtraction to our grammar, we would have serious issues due to the ambiguous nature of our grammar. </a:t>
            </a:r>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26</a:t>
            </a:fld>
            <a:endParaRPr lang="en-US"/>
          </a:p>
        </p:txBody>
      </p:sp>
    </p:spTree>
    <p:extLst>
      <p:ext uri="{BB962C8B-B14F-4D97-AF65-F5344CB8AC3E}">
        <p14:creationId xmlns:p14="http://schemas.microsoft.com/office/powerpoint/2010/main" val="38821778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subtraction as explicitly left associative in </a:t>
            </a:r>
            <a:r>
              <a:rPr lang="en-US"/>
              <a:t>the grammar </a:t>
            </a:r>
            <a:endParaRPr lang="en-US" dirty="0"/>
          </a:p>
        </p:txBody>
      </p:sp>
      <p:sp>
        <p:nvSpPr>
          <p:cNvPr id="4" name="Slide Number Placeholder 3"/>
          <p:cNvSpPr>
            <a:spLocks noGrp="1"/>
          </p:cNvSpPr>
          <p:nvPr>
            <p:ph type="sldNum" sz="quarter" idx="5"/>
          </p:nvPr>
        </p:nvSpPr>
        <p:spPr/>
        <p:txBody>
          <a:bodyPr/>
          <a:lstStyle/>
          <a:p>
            <a:fld id="{BCAC0DA4-3FAE-DF4B-9554-5D7B5414A6C1}" type="slidenum">
              <a:rPr lang="en-US" smtClean="0"/>
              <a:t>27</a:t>
            </a:fld>
            <a:endParaRPr lang="en-US"/>
          </a:p>
        </p:txBody>
      </p:sp>
    </p:spTree>
    <p:extLst>
      <p:ext uri="{BB962C8B-B14F-4D97-AF65-F5344CB8AC3E}">
        <p14:creationId xmlns:p14="http://schemas.microsoft.com/office/powerpoint/2010/main" val="160283656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if we make</a:t>
            </a:r>
            <a:r>
              <a:rPr lang="en-US" baseline="0" dirty="0"/>
              <a:t> those changes using addition rather than subtraction</a:t>
            </a:r>
            <a:r>
              <a:rPr lang="mr-IN" baseline="0" dirty="0"/>
              <a:t>…</a:t>
            </a:r>
            <a:r>
              <a:rPr lang="en-US" baseline="0" dirty="0"/>
              <a:t> </a:t>
            </a:r>
            <a:endParaRPr lang="en-US" dirty="0"/>
          </a:p>
          <a:p>
            <a:r>
              <a:rPr lang="en-US" dirty="0"/>
              <a:t>This makes the grammar unambiguous</a:t>
            </a:r>
            <a:r>
              <a:rPr lang="en-US" baseline="0" dirty="0"/>
              <a:t> </a:t>
            </a:r>
          </a:p>
          <a:p>
            <a:r>
              <a:rPr lang="en-US" baseline="0" dirty="0"/>
              <a:t>Remember, we only have rules to deal with addition and multiplication. This Grammar doesn’t support division or subtraction (or anything else for that matter)</a:t>
            </a:r>
          </a:p>
          <a:p>
            <a:endParaRPr lang="en-US" baseline="0" dirty="0"/>
          </a:p>
          <a:p>
            <a:r>
              <a:rPr lang="en-US" baseline="0" dirty="0"/>
              <a:t>This </a:t>
            </a:r>
            <a:r>
              <a:rPr lang="en-US" baseline="0" dirty="0" err="1"/>
              <a:t>recursiveness</a:t>
            </a:r>
            <a:r>
              <a:rPr lang="en-US" baseline="0" dirty="0"/>
              <a:t> is kind of obnoxious, and has issues in automated parsing, because you could potentially have an infinite recursive loop. We humans can look ahead and look ahead. But if only look at one terminal at a time, that's an issue. A computer can't look an infinite number of terms ahead.</a:t>
            </a:r>
          </a:p>
          <a:p>
            <a:endParaRPr lang="en-US" baseline="0" dirty="0"/>
          </a:p>
          <a:p>
            <a:r>
              <a:rPr lang="en-US" baseline="0" dirty="0"/>
              <a:t>And recursion makes parse trees look ugly</a:t>
            </a:r>
            <a:endParaRPr lang="en-US" dirty="0"/>
          </a:p>
          <a:p>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28</a:t>
            </a:fld>
            <a:endParaRPr lang="en-US"/>
          </a:p>
        </p:txBody>
      </p:sp>
    </p:spTree>
    <p:extLst>
      <p:ext uri="{BB962C8B-B14F-4D97-AF65-F5344CB8AC3E}">
        <p14:creationId xmlns:p14="http://schemas.microsoft.com/office/powerpoint/2010/main" val="338519685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Actually do the parse tree here if you have time to show it? Or just make a new slide?</a:t>
            </a:r>
          </a:p>
        </p:txBody>
      </p:sp>
      <p:sp>
        <p:nvSpPr>
          <p:cNvPr id="4" name="Slide Number Placeholder 3"/>
          <p:cNvSpPr>
            <a:spLocks noGrp="1"/>
          </p:cNvSpPr>
          <p:nvPr>
            <p:ph type="sldNum" sz="quarter" idx="5"/>
          </p:nvPr>
        </p:nvSpPr>
        <p:spPr/>
        <p:txBody>
          <a:bodyPr/>
          <a:lstStyle/>
          <a:p>
            <a:fld id="{BCAC0DA4-3FAE-DF4B-9554-5D7B5414A6C1}" type="slidenum">
              <a:rPr lang="en-US" smtClean="0"/>
              <a:t>29</a:t>
            </a:fld>
            <a:endParaRPr lang="en-US"/>
          </a:p>
        </p:txBody>
      </p:sp>
    </p:spTree>
    <p:extLst>
      <p:ext uri="{BB962C8B-B14F-4D97-AF65-F5344CB8AC3E}">
        <p14:creationId xmlns:p14="http://schemas.microsoft.com/office/powerpoint/2010/main" val="4257530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Standard BNF given</a:t>
            </a:r>
            <a:r>
              <a:rPr lang="en-US" baseline="0" dirty="0"/>
              <a:t> on this slide </a:t>
            </a:r>
            <a:endParaRPr lang="en-US" dirty="0"/>
          </a:p>
        </p:txBody>
      </p:sp>
      <p:sp>
        <p:nvSpPr>
          <p:cNvPr id="4" name="Slide Number Placeholder 3"/>
          <p:cNvSpPr>
            <a:spLocks noGrp="1"/>
          </p:cNvSpPr>
          <p:nvPr>
            <p:ph type="sldNum" sz="quarter" idx="10"/>
          </p:nvPr>
        </p:nvSpPr>
        <p:spPr/>
        <p:txBody>
          <a:bodyPr/>
          <a:lstStyle/>
          <a:p>
            <a:fld id="{BCAC0DA4-3FAE-DF4B-9554-5D7B5414A6C1}" type="slidenum">
              <a:rPr lang="en-US" smtClean="0"/>
              <a:t>30</a:t>
            </a:fld>
            <a:endParaRPr lang="en-US"/>
          </a:p>
        </p:txBody>
      </p:sp>
    </p:spTree>
    <p:extLst>
      <p:ext uri="{BB962C8B-B14F-4D97-AF65-F5344CB8AC3E}">
        <p14:creationId xmlns:p14="http://schemas.microsoft.com/office/powerpoint/2010/main" val="155803571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Similar to regular expressions, curly braces represent repetitions, square brackets to indicate optional parts</a:t>
            </a:r>
          </a:p>
          <a:p>
            <a:endParaRPr lang="en-US" dirty="0"/>
          </a:p>
        </p:txBody>
      </p:sp>
      <p:sp>
        <p:nvSpPr>
          <p:cNvPr id="4" name="Slide Number Placeholder 3"/>
          <p:cNvSpPr>
            <a:spLocks noGrp="1"/>
          </p:cNvSpPr>
          <p:nvPr>
            <p:ph type="sldNum" sz="quarter" idx="5"/>
          </p:nvPr>
        </p:nvSpPr>
        <p:spPr/>
        <p:txBody>
          <a:bodyPr/>
          <a:lstStyle/>
          <a:p>
            <a:fld id="{BCAC0DA4-3FAE-DF4B-9554-5D7B5414A6C1}" type="slidenum">
              <a:rPr lang="en-US" smtClean="0"/>
              <a:t>31</a:t>
            </a:fld>
            <a:endParaRPr lang="en-US"/>
          </a:p>
        </p:txBody>
      </p:sp>
    </p:spTree>
    <p:extLst>
      <p:ext uri="{BB962C8B-B14F-4D97-AF65-F5344CB8AC3E}">
        <p14:creationId xmlns:p14="http://schemas.microsoft.com/office/powerpoint/2010/main" val="331246399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Converting our grammar to extended </a:t>
            </a:r>
            <a:r>
              <a:rPr lang="en-US" altLang="en-US" b="1"/>
              <a:t>Backus-Naur form</a:t>
            </a:r>
            <a:endParaRPr lang="en-US" altLang="en-US" b="1" dirty="0"/>
          </a:p>
        </p:txBody>
      </p:sp>
      <p:sp>
        <p:nvSpPr>
          <p:cNvPr id="4" name="Slide Number Placeholder 3"/>
          <p:cNvSpPr>
            <a:spLocks noGrp="1"/>
          </p:cNvSpPr>
          <p:nvPr>
            <p:ph type="sldNum" sz="quarter" idx="10"/>
          </p:nvPr>
        </p:nvSpPr>
        <p:spPr/>
        <p:txBody>
          <a:bodyPr/>
          <a:lstStyle/>
          <a:p>
            <a:fld id="{BCAC0DA4-3FAE-DF4B-9554-5D7B5414A6C1}" type="slidenum">
              <a:rPr lang="en-US" smtClean="0"/>
              <a:t>32</a:t>
            </a:fld>
            <a:endParaRPr lang="en-US"/>
          </a:p>
        </p:txBody>
      </p:sp>
    </p:spTree>
    <p:extLst>
      <p:ext uri="{BB962C8B-B14F-4D97-AF65-F5344CB8AC3E}">
        <p14:creationId xmlns:p14="http://schemas.microsoft.com/office/powerpoint/2010/main" val="3527192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solidFill>
                  <a:srgbClr val="0070C0"/>
                </a:solidFill>
              </a:defRPr>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C197D23-1D1C-734C-9188-3D38F4DBA869}" type="datetimeFigureOut">
              <a:rPr lang="en-US" smtClean="0"/>
              <a:t>4/2/25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2531932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70C0"/>
                </a:solidFill>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197D23-1D1C-734C-9188-3D38F4DBA869}" type="datetimeFigureOut">
              <a:rPr lang="en-US" smtClean="0"/>
              <a:t>4/2/25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2495431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C197D23-1D1C-734C-9188-3D38F4DBA869}" type="datetimeFigureOut">
              <a:rPr lang="en-US" smtClean="0"/>
              <a:t>4/2/25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2258487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C197D23-1D1C-734C-9188-3D38F4DBA869}" type="datetimeFigureOut">
              <a:rPr lang="en-US" smtClean="0"/>
              <a:t>4/2/25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34450225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C197D23-1D1C-734C-9188-3D38F4DBA869}" type="datetimeFigureOut">
              <a:rPr lang="en-US" smtClean="0"/>
              <a:t>4/2/25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41204969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C197D23-1D1C-734C-9188-3D38F4DBA869}" type="datetimeFigureOut">
              <a:rPr lang="en-US" smtClean="0"/>
              <a:t>4/2/25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6797568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197D23-1D1C-734C-9188-3D38F4DBA869}" type="datetimeFigureOut">
              <a:rPr lang="en-US" smtClean="0"/>
              <a:t>4/2/25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7614902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C197D23-1D1C-734C-9188-3D38F4DBA869}" type="datetimeFigureOut">
              <a:rPr lang="en-US" smtClean="0"/>
              <a:t>4/2/25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04797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C197D23-1D1C-734C-9188-3D38F4DBA869}" type="datetimeFigureOut">
              <a:rPr lang="en-US" smtClean="0"/>
              <a:t>4/2/25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42297271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197D23-1D1C-734C-9188-3D38F4DBA869}" type="datetimeFigureOut">
              <a:rPr lang="en-US" smtClean="0"/>
              <a:t>4/2/25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3703888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C197D23-1D1C-734C-9188-3D38F4DBA869}" type="datetimeFigureOut">
              <a:rPr lang="en-US" smtClean="0"/>
              <a:t>4/2/25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5726966-79DA-234F-B9D6-D01F1009FBDE}" type="slidenum">
              <a:rPr lang="en-US" smtClean="0"/>
              <a:t>‹#›</a:t>
            </a:fld>
            <a:endParaRPr lang="en-US"/>
          </a:p>
        </p:txBody>
      </p:sp>
    </p:spTree>
    <p:extLst>
      <p:ext uri="{BB962C8B-B14F-4D97-AF65-F5344CB8AC3E}">
        <p14:creationId xmlns:p14="http://schemas.microsoft.com/office/powerpoint/2010/main" val="16361067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197D23-1D1C-734C-9188-3D38F4DBA869}" type="datetimeFigureOut">
              <a:rPr lang="en-US" smtClean="0"/>
              <a:t>4/2/25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726966-79DA-234F-B9D6-D01F1009FBDE}" type="slidenum">
              <a:rPr lang="en-US" smtClean="0"/>
              <a:t>‹#›</a:t>
            </a:fld>
            <a:endParaRPr lang="en-US"/>
          </a:p>
        </p:txBody>
      </p:sp>
    </p:spTree>
    <p:extLst>
      <p:ext uri="{BB962C8B-B14F-4D97-AF65-F5344CB8AC3E}">
        <p14:creationId xmlns:p14="http://schemas.microsoft.com/office/powerpoint/2010/main" val="1598549748"/>
      </p:ext>
    </p:extLst>
  </p:cSld>
  <p:clrMap bg1="lt1" tx1="dk1" bg2="lt2" tx2="dk2" accent1="accent1" accent2="accent2" accent3="accent3" accent4="accent4" accent5="accent5" accent6="accent6" hlink="hlink" folHlink="folHlink"/>
  <p:sldLayoutIdLst>
    <p:sldLayoutId id="2147483704" r:id="rId1"/>
    <p:sldLayoutId id="2147483705" r:id="rId2"/>
    <p:sldLayoutId id="2147483706" r:id="rId3"/>
    <p:sldLayoutId id="2147483707" r:id="rId4"/>
    <p:sldLayoutId id="2147483708" r:id="rId5"/>
    <p:sldLayoutId id="2147483709" r:id="rId6"/>
    <p:sldLayoutId id="2147483710" r:id="rId7"/>
    <p:sldLayoutId id="2147483711" r:id="rId8"/>
    <p:sldLayoutId id="2147483712" r:id="rId9"/>
    <p:sldLayoutId id="2147483713" r:id="rId10"/>
    <p:sldLayoutId id="2147483714" r:id="rId11"/>
  </p:sldLayoutIdLst>
  <p:txStyles>
    <p:titleStyle>
      <a:lvl1pPr algn="l" defTabSz="914400" rtl="0" eaLnBrk="1" latinLnBrk="0" hangingPunct="1">
        <a:lnSpc>
          <a:spcPct val="90000"/>
        </a:lnSpc>
        <a:spcBef>
          <a:spcPct val="0"/>
        </a:spcBef>
        <a:buNone/>
        <a:defRPr sz="4400" kern="1200">
          <a:solidFill>
            <a:srgbClr val="0070C0"/>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customXml" Target="../ink/ink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0070C0"/>
                </a:solidFill>
              </a:rPr>
              <a:t>CMSC 304</a:t>
            </a:r>
          </a:p>
        </p:txBody>
      </p:sp>
      <p:sp>
        <p:nvSpPr>
          <p:cNvPr id="3" name="Subtitle 2"/>
          <p:cNvSpPr>
            <a:spLocks noGrp="1"/>
          </p:cNvSpPr>
          <p:nvPr>
            <p:ph type="subTitle" idx="1"/>
          </p:nvPr>
        </p:nvSpPr>
        <p:spPr/>
        <p:txBody>
          <a:bodyPr/>
          <a:lstStyle/>
          <a:p>
            <a:r>
              <a:rPr lang="en-US" dirty="0"/>
              <a:t>Syntactic Structure</a:t>
            </a:r>
          </a:p>
          <a:p>
            <a:r>
              <a:rPr lang="en-US" dirty="0"/>
              <a:t>Claire Sparks</a:t>
            </a:r>
          </a:p>
        </p:txBody>
      </p:sp>
    </p:spTree>
    <p:extLst>
      <p:ext uri="{BB962C8B-B14F-4D97-AF65-F5344CB8AC3E}">
        <p14:creationId xmlns:p14="http://schemas.microsoft.com/office/powerpoint/2010/main" val="700718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Rectangle 2">
            <a:extLst>
              <a:ext uri="{FF2B5EF4-FFF2-40B4-BE49-F238E27FC236}">
                <a16:creationId xmlns:a16="http://schemas.microsoft.com/office/drawing/2014/main" id="{082CCDF6-7E5E-FF42-9359-1557D30F268E}"/>
              </a:ext>
            </a:extLst>
          </p:cNvPr>
          <p:cNvSpPr>
            <a:spLocks noGrp="1" noChangeArrowheads="1"/>
          </p:cNvSpPr>
          <p:nvPr>
            <p:ph type="title"/>
          </p:nvPr>
        </p:nvSpPr>
        <p:spPr/>
        <p:txBody>
          <a:bodyPr/>
          <a:lstStyle/>
          <a:p>
            <a:pPr eaLnBrk="1" hangingPunct="1"/>
            <a:r>
              <a:rPr lang="en-US" altLang="en-US" b="1" dirty="0">
                <a:solidFill>
                  <a:srgbClr val="0070C0"/>
                </a:solidFill>
              </a:rPr>
              <a:t>Introduction</a:t>
            </a:r>
          </a:p>
        </p:txBody>
      </p:sp>
      <p:sp>
        <p:nvSpPr>
          <p:cNvPr id="8197" name="Rectangle 3">
            <a:extLst>
              <a:ext uri="{FF2B5EF4-FFF2-40B4-BE49-F238E27FC236}">
                <a16:creationId xmlns:a16="http://schemas.microsoft.com/office/drawing/2014/main" id="{5B156095-E31D-2A4E-84CA-2A842E99B0BD}"/>
              </a:ext>
            </a:extLst>
          </p:cNvPr>
          <p:cNvSpPr>
            <a:spLocks noGrp="1" noChangeArrowheads="1"/>
          </p:cNvSpPr>
          <p:nvPr>
            <p:ph type="body" idx="1"/>
          </p:nvPr>
        </p:nvSpPr>
        <p:spPr/>
        <p:txBody>
          <a:bodyPr/>
          <a:lstStyle/>
          <a:p>
            <a:pPr eaLnBrk="1" hangingPunct="1">
              <a:lnSpc>
                <a:spcPct val="90000"/>
              </a:lnSpc>
            </a:pPr>
            <a:r>
              <a:rPr lang="en-US" altLang="en-US" b="1" dirty="0"/>
              <a:t>Syntax:</a:t>
            </a:r>
            <a:r>
              <a:rPr lang="en-US" altLang="en-US" dirty="0"/>
              <a:t> the form or structure of the expressions, statements, and program units</a:t>
            </a:r>
          </a:p>
          <a:p>
            <a:pPr eaLnBrk="1" hangingPunct="1">
              <a:lnSpc>
                <a:spcPct val="90000"/>
              </a:lnSpc>
            </a:pPr>
            <a:r>
              <a:rPr lang="en-US" altLang="en-US" b="1" dirty="0"/>
              <a:t>Semantics:</a:t>
            </a:r>
            <a:r>
              <a:rPr lang="en-US" altLang="en-US" dirty="0"/>
              <a:t> the meaning of the expressions, statements, and program units</a:t>
            </a:r>
          </a:p>
          <a:p>
            <a:pPr eaLnBrk="1" hangingPunct="1">
              <a:lnSpc>
                <a:spcPct val="90000"/>
              </a:lnSpc>
            </a:pPr>
            <a:r>
              <a:rPr lang="en-US" altLang="en-US" dirty="0"/>
              <a:t>Syntax and semantics provide a language’s definition</a:t>
            </a:r>
          </a:p>
          <a:p>
            <a:pPr lvl="1" eaLnBrk="1" hangingPunct="1">
              <a:lnSpc>
                <a:spcPct val="90000"/>
              </a:lnSpc>
            </a:pPr>
            <a:r>
              <a:rPr lang="en-US" altLang="en-US" dirty="0"/>
              <a:t> Users of a language definition</a:t>
            </a:r>
          </a:p>
          <a:p>
            <a:pPr lvl="2" eaLnBrk="1" hangingPunct="1">
              <a:lnSpc>
                <a:spcPct val="90000"/>
              </a:lnSpc>
            </a:pPr>
            <a:r>
              <a:rPr lang="en-US" altLang="en-US" dirty="0"/>
              <a:t>Other language designers</a:t>
            </a:r>
          </a:p>
          <a:p>
            <a:pPr lvl="2" eaLnBrk="1" hangingPunct="1">
              <a:lnSpc>
                <a:spcPct val="90000"/>
              </a:lnSpc>
            </a:pPr>
            <a:r>
              <a:rPr lang="en-US" altLang="en-US" dirty="0"/>
              <a:t>Implementers</a:t>
            </a:r>
          </a:p>
          <a:p>
            <a:pPr lvl="2" eaLnBrk="1" hangingPunct="1">
              <a:lnSpc>
                <a:spcPct val="90000"/>
              </a:lnSpc>
            </a:pPr>
            <a:r>
              <a:rPr lang="en-US" altLang="en-US" dirty="0"/>
              <a:t>Programmers (the users of the language)</a:t>
            </a:r>
          </a:p>
        </p:txBody>
      </p:sp>
    </p:spTree>
    <p:extLst>
      <p:ext uri="{BB962C8B-B14F-4D97-AF65-F5344CB8AC3E}">
        <p14:creationId xmlns:p14="http://schemas.microsoft.com/office/powerpoint/2010/main" val="22252258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Syntax Analysis of Code</a:t>
            </a:r>
          </a:p>
        </p:txBody>
      </p:sp>
      <p:sp>
        <p:nvSpPr>
          <p:cNvPr id="3" name="Content Placeholder 2"/>
          <p:cNvSpPr>
            <a:spLocks noGrp="1"/>
          </p:cNvSpPr>
          <p:nvPr>
            <p:ph idx="1"/>
          </p:nvPr>
        </p:nvSpPr>
        <p:spPr>
          <a:xfrm>
            <a:off x="838200" y="1825624"/>
            <a:ext cx="10695432" cy="4884458"/>
          </a:xfrm>
        </p:spPr>
        <p:txBody>
          <a:bodyPr>
            <a:noAutofit/>
          </a:bodyPr>
          <a:lstStyle/>
          <a:p>
            <a:r>
              <a:rPr lang="en-US" altLang="en-US" dirty="0"/>
              <a:t>Two phases:</a:t>
            </a:r>
          </a:p>
          <a:p>
            <a:pPr lvl="1"/>
            <a:r>
              <a:rPr lang="en-US" altLang="en-US" sz="2800" dirty="0"/>
              <a:t>Scanning: lexical structure</a:t>
            </a:r>
          </a:p>
          <a:p>
            <a:pPr lvl="1"/>
            <a:r>
              <a:rPr lang="en-US" altLang="en-US" sz="2800" dirty="0"/>
              <a:t>Parsing: syntactic structure</a:t>
            </a:r>
          </a:p>
          <a:p>
            <a:r>
              <a:rPr lang="en-US" altLang="en-US" b="1" dirty="0">
                <a:ea typeface="MS PGothic" charset="-128"/>
              </a:rPr>
              <a:t>Lexical structure</a:t>
            </a:r>
            <a:r>
              <a:rPr lang="en-US" altLang="en-US" dirty="0">
                <a:ea typeface="MS PGothic" charset="-128"/>
              </a:rPr>
              <a:t>: the structure of the </a:t>
            </a:r>
            <a:r>
              <a:rPr lang="en-US" altLang="en-US" b="1" dirty="0">
                <a:ea typeface="MS PGothic" charset="-128"/>
              </a:rPr>
              <a:t>terminals </a:t>
            </a:r>
            <a:r>
              <a:rPr lang="en-US" altLang="en-US" dirty="0">
                <a:ea typeface="MS PGothic" charset="-128"/>
              </a:rPr>
              <a:t>(tokens)</a:t>
            </a:r>
            <a:r>
              <a:rPr lang="en-US" altLang="en-US" b="1" dirty="0">
                <a:ea typeface="MS PGothic" charset="-128"/>
              </a:rPr>
              <a:t> </a:t>
            </a:r>
            <a:r>
              <a:rPr lang="en-US" altLang="en-US" dirty="0">
                <a:ea typeface="MS PGothic" charset="-128"/>
              </a:rPr>
              <a:t>in a language </a:t>
            </a:r>
          </a:p>
          <a:p>
            <a:r>
              <a:rPr lang="en-US" altLang="en-US" b="1" dirty="0">
                <a:ea typeface="MS PGothic" charset="-128"/>
              </a:rPr>
              <a:t>Syntactic structure</a:t>
            </a:r>
            <a:r>
              <a:rPr lang="en-US" altLang="en-US" dirty="0">
                <a:ea typeface="MS PGothic" charset="-128"/>
              </a:rPr>
              <a:t>: the structure of a </a:t>
            </a:r>
            <a:r>
              <a:rPr lang="en-US" altLang="en-US" b="1" dirty="0">
                <a:ea typeface="MS PGothic" charset="-128"/>
              </a:rPr>
              <a:t>derivation</a:t>
            </a:r>
            <a:r>
              <a:rPr lang="en-US" altLang="en-US" dirty="0">
                <a:ea typeface="MS PGothic" charset="-128"/>
              </a:rPr>
              <a:t> from a language</a:t>
            </a:r>
          </a:p>
          <a:p>
            <a:endParaRPr lang="en-US" altLang="en-US" sz="3200" dirty="0"/>
          </a:p>
        </p:txBody>
      </p:sp>
    </p:spTree>
    <p:extLst>
      <p:ext uri="{BB962C8B-B14F-4D97-AF65-F5344CB8AC3E}">
        <p14:creationId xmlns:p14="http://schemas.microsoft.com/office/powerpoint/2010/main" val="386218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Syntactic Structure</a:t>
            </a:r>
          </a:p>
        </p:txBody>
      </p:sp>
      <p:sp>
        <p:nvSpPr>
          <p:cNvPr id="3" name="Content Placeholder 2"/>
          <p:cNvSpPr>
            <a:spLocks noGrp="1"/>
          </p:cNvSpPr>
          <p:nvPr>
            <p:ph idx="1"/>
          </p:nvPr>
        </p:nvSpPr>
        <p:spPr>
          <a:xfrm>
            <a:off x="838200" y="1825624"/>
            <a:ext cx="10515600" cy="4884458"/>
          </a:xfrm>
        </p:spPr>
        <p:txBody>
          <a:bodyPr>
            <a:noAutofit/>
          </a:bodyPr>
          <a:lstStyle/>
          <a:p>
            <a:r>
              <a:rPr lang="en-US" altLang="en-US" dirty="0"/>
              <a:t>We need a way to attach semantics to syntax since the meaning of a structure is related to its syntax</a:t>
            </a:r>
          </a:p>
          <a:p>
            <a:r>
              <a:rPr lang="en-US" altLang="en-US" dirty="0"/>
              <a:t>The process of associating the semantics of a construct to its structure is called </a:t>
            </a:r>
            <a:r>
              <a:rPr lang="en-US" altLang="en-US" b="1" dirty="0"/>
              <a:t>syntax-directed semantics</a:t>
            </a:r>
            <a:endParaRPr lang="en-US" altLang="en-US" dirty="0"/>
          </a:p>
          <a:p>
            <a:pPr lvl="1"/>
            <a:r>
              <a:rPr lang="en-US" altLang="en-US" sz="2800" dirty="0"/>
              <a:t>Construct syntax so that it reflects the semantics we will eventually attach to it</a:t>
            </a:r>
          </a:p>
          <a:p>
            <a:pPr lvl="1"/>
            <a:r>
              <a:rPr lang="en-US" altLang="en-US" sz="2800" dirty="0"/>
              <a:t>Need a way of expressing this structure as determined by a derivation </a:t>
            </a:r>
          </a:p>
          <a:p>
            <a:pPr lvl="1"/>
            <a:r>
              <a:rPr lang="en-US" altLang="en-US" sz="2800" dirty="0"/>
              <a:t>Standard way to do this is with a </a:t>
            </a:r>
            <a:r>
              <a:rPr lang="en-US" altLang="en-US" sz="2800" b="1" dirty="0"/>
              <a:t>parse tree</a:t>
            </a:r>
          </a:p>
        </p:txBody>
      </p:sp>
    </p:spTree>
    <p:extLst>
      <p:ext uri="{BB962C8B-B14F-4D97-AF65-F5344CB8AC3E}">
        <p14:creationId xmlns:p14="http://schemas.microsoft.com/office/powerpoint/2010/main" val="1229365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Parse Trees</a:t>
            </a:r>
          </a:p>
        </p:txBody>
      </p:sp>
      <p:sp>
        <p:nvSpPr>
          <p:cNvPr id="3" name="Content Placeholder 2"/>
          <p:cNvSpPr>
            <a:spLocks noGrp="1"/>
          </p:cNvSpPr>
          <p:nvPr>
            <p:ph idx="1"/>
          </p:nvPr>
        </p:nvSpPr>
        <p:spPr>
          <a:xfrm>
            <a:off x="838200" y="1825624"/>
            <a:ext cx="10515600" cy="4884458"/>
          </a:xfrm>
        </p:spPr>
        <p:txBody>
          <a:bodyPr>
            <a:noAutofit/>
          </a:bodyPr>
          <a:lstStyle/>
          <a:p>
            <a:r>
              <a:rPr lang="en-US" altLang="en-US" b="1" dirty="0"/>
              <a:t>Parse tree</a:t>
            </a:r>
            <a:r>
              <a:rPr lang="en-US" altLang="en-US" dirty="0"/>
              <a:t>: graphical depiction of the replacement process in a derivation</a:t>
            </a:r>
            <a:endParaRPr lang="en-US" altLang="en-US" b="1" dirty="0"/>
          </a:p>
          <a:p>
            <a:pPr lvl="1"/>
            <a:r>
              <a:rPr lang="en-US" altLang="en-US" sz="2800" dirty="0"/>
              <a:t>Labeled by </a:t>
            </a:r>
            <a:r>
              <a:rPr lang="en-US" altLang="en-US" sz="2800" dirty="0" err="1"/>
              <a:t>nonterminals</a:t>
            </a:r>
            <a:r>
              <a:rPr lang="en-US" altLang="en-US" sz="2800" dirty="0"/>
              <a:t> at interior nodes (nodes with at least one child)</a:t>
            </a:r>
          </a:p>
          <a:p>
            <a:pPr lvl="1"/>
            <a:r>
              <a:rPr lang="en-US" altLang="en-US" sz="2800" dirty="0"/>
              <a:t>Labeled by terminals at leaves (nodes with no children)</a:t>
            </a:r>
          </a:p>
          <a:p>
            <a:pPr lvl="1"/>
            <a:r>
              <a:rPr lang="en-US" altLang="en-US" sz="2800" dirty="0"/>
              <a:t>Structure is completely specified by the grammar rules of the language and a derivation of a particular sequence of terminals</a:t>
            </a:r>
          </a:p>
        </p:txBody>
      </p:sp>
    </p:spTree>
    <p:extLst>
      <p:ext uri="{BB962C8B-B14F-4D97-AF65-F5344CB8AC3E}">
        <p14:creationId xmlns:p14="http://schemas.microsoft.com/office/powerpoint/2010/main" val="23757104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Parse Trees</a:t>
            </a:r>
          </a:p>
        </p:txBody>
      </p:sp>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01449" y="4343982"/>
            <a:ext cx="4190551" cy="2278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a:extLst>
              <a:ext uri="{FF2B5EF4-FFF2-40B4-BE49-F238E27FC236}">
                <a16:creationId xmlns:a16="http://schemas.microsoft.com/office/drawing/2014/main" id="{B9DA9AF2-35DF-9E4F-A909-83B71F2AA13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90390"/>
          <a:stretch/>
        </p:blipFill>
        <p:spPr bwMode="auto">
          <a:xfrm>
            <a:off x="365352" y="6386944"/>
            <a:ext cx="7749947" cy="471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62117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Parse Trees</a:t>
            </a:r>
          </a:p>
        </p:txBody>
      </p:sp>
      <p:pic>
        <p:nvPicPr>
          <p:cNvPr id="4" name="Picture 2"/>
          <p:cNvPicPr>
            <a:picLocks noGrp="1" noChangeAspect="1" noChangeArrowheads="1"/>
          </p:cNvPicPr>
          <p:nvPr>
            <p:ph idx="1"/>
          </p:nvPr>
        </p:nvPicPr>
        <p:blipFill rotWithShape="1">
          <a:blip r:embed="rId3">
            <a:extLst>
              <a:ext uri="{28A0092B-C50C-407E-A947-70E740481C1C}">
                <a14:useLocalDpi xmlns:a14="http://schemas.microsoft.com/office/drawing/2010/main" val="0"/>
              </a:ext>
            </a:extLst>
          </a:blip>
          <a:srcRect b="9610"/>
          <a:stretch/>
        </p:blipFill>
        <p:spPr bwMode="auto">
          <a:xfrm>
            <a:off x="0" y="1579136"/>
            <a:ext cx="7749947" cy="44306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866056" y="1579136"/>
            <a:ext cx="4190551" cy="2278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a:extLst>
              <a:ext uri="{FF2B5EF4-FFF2-40B4-BE49-F238E27FC236}">
                <a16:creationId xmlns:a16="http://schemas.microsoft.com/office/drawing/2014/main" id="{B9DA9AF2-35DF-9E4F-A909-83B71F2AA1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0390"/>
          <a:stretch/>
        </p:blipFill>
        <p:spPr bwMode="auto">
          <a:xfrm>
            <a:off x="365352" y="6386944"/>
            <a:ext cx="7749947" cy="471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18477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Parse Trees</a:t>
            </a:r>
          </a:p>
        </p:txBody>
      </p:sp>
      <p:pic>
        <p:nvPicPr>
          <p:cNvPr id="5"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b="8967"/>
          <a:stretch/>
        </p:blipFill>
        <p:spPr bwMode="auto">
          <a:xfrm>
            <a:off x="2133600" y="1654175"/>
            <a:ext cx="5295900" cy="4661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a:extLst>
              <a:ext uri="{FF2B5EF4-FFF2-40B4-BE49-F238E27FC236}">
                <a16:creationId xmlns:a16="http://schemas.microsoft.com/office/drawing/2014/main" id="{EB32BF88-057B-7741-ADDB-FB5BB06BD57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91032"/>
          <a:stretch/>
        </p:blipFill>
        <p:spPr bwMode="auto">
          <a:xfrm>
            <a:off x="2133600" y="6315741"/>
            <a:ext cx="5295900" cy="4592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
            <a:extLst>
              <a:ext uri="{FF2B5EF4-FFF2-40B4-BE49-F238E27FC236}">
                <a16:creationId xmlns:a16="http://schemas.microsoft.com/office/drawing/2014/main" id="{C85660EC-9360-F744-B45A-D93BB978A96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27899"/>
          <a:stretch/>
        </p:blipFill>
        <p:spPr bwMode="auto">
          <a:xfrm>
            <a:off x="6654006" y="5209954"/>
            <a:ext cx="5475288" cy="988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877003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Parse Trees</a:t>
            </a:r>
          </a:p>
        </p:txBody>
      </p:sp>
      <p:sp>
        <p:nvSpPr>
          <p:cNvPr id="3" name="Content Placeholder 2"/>
          <p:cNvSpPr>
            <a:spLocks noGrp="1"/>
          </p:cNvSpPr>
          <p:nvPr>
            <p:ph idx="1"/>
          </p:nvPr>
        </p:nvSpPr>
        <p:spPr>
          <a:xfrm>
            <a:off x="838200" y="1825624"/>
            <a:ext cx="10515600" cy="4884458"/>
          </a:xfrm>
        </p:spPr>
        <p:txBody>
          <a:bodyPr>
            <a:noAutofit/>
          </a:bodyPr>
          <a:lstStyle/>
          <a:p>
            <a:r>
              <a:rPr lang="en-US" altLang="en-US" dirty="0"/>
              <a:t>Parse trees are considered </a:t>
            </a:r>
            <a:r>
              <a:rPr lang="en-US" altLang="en-US" b="1" dirty="0"/>
              <a:t>concrete syntax </a:t>
            </a:r>
          </a:p>
          <a:p>
            <a:pPr lvl="1"/>
            <a:r>
              <a:rPr lang="en-US" altLang="en-US" dirty="0"/>
              <a:t>A representation of the entire parsed input </a:t>
            </a:r>
            <a:endParaRPr lang="en-US" altLang="en-US" b="1" dirty="0"/>
          </a:p>
          <a:p>
            <a:r>
              <a:rPr lang="en-US" altLang="en-US" dirty="0"/>
              <a:t>We represent the syntax of an expression as a tree so we can attach semantics to it</a:t>
            </a:r>
          </a:p>
          <a:p>
            <a:r>
              <a:rPr lang="en-US" altLang="en-US" dirty="0"/>
              <a:t>But parse trees can be very large and verbose </a:t>
            </a:r>
          </a:p>
          <a:p>
            <a:pPr lvl="1"/>
            <a:r>
              <a:rPr lang="en-US" altLang="en-US" dirty="0"/>
              <a:t>Not all terminals and </a:t>
            </a:r>
            <a:r>
              <a:rPr lang="en-US" altLang="en-US" dirty="0" err="1"/>
              <a:t>nonterminals</a:t>
            </a:r>
            <a:r>
              <a:rPr lang="en-US" altLang="en-US" dirty="0"/>
              <a:t> are needed to determine the meaning of a given expression </a:t>
            </a:r>
          </a:p>
          <a:p>
            <a:pPr marL="0" indent="0">
              <a:buNone/>
            </a:pPr>
            <a:endParaRPr lang="en-US" altLang="en-US" dirty="0"/>
          </a:p>
        </p:txBody>
      </p:sp>
    </p:spTree>
    <p:extLst>
      <p:ext uri="{BB962C8B-B14F-4D97-AF65-F5344CB8AC3E}">
        <p14:creationId xmlns:p14="http://schemas.microsoft.com/office/powerpoint/2010/main" val="19754958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Abstract Syntax Trees</a:t>
            </a:r>
          </a:p>
        </p:txBody>
      </p:sp>
      <p:sp>
        <p:nvSpPr>
          <p:cNvPr id="3" name="Content Placeholder 2"/>
          <p:cNvSpPr>
            <a:spLocks noGrp="1"/>
          </p:cNvSpPr>
          <p:nvPr>
            <p:ph idx="1"/>
          </p:nvPr>
        </p:nvSpPr>
        <p:spPr>
          <a:xfrm>
            <a:off x="838200" y="1825624"/>
            <a:ext cx="5757153" cy="4884458"/>
          </a:xfrm>
        </p:spPr>
        <p:txBody>
          <a:bodyPr>
            <a:noAutofit/>
          </a:bodyPr>
          <a:lstStyle/>
          <a:p>
            <a:r>
              <a:rPr lang="en-US" altLang="en-US" b="1" dirty="0"/>
              <a:t>Abstract syntax tree</a:t>
            </a:r>
            <a:r>
              <a:rPr lang="en-US" altLang="en-US" dirty="0"/>
              <a:t>: a tree that abstracts away the nonessential structure of the parse tree</a:t>
            </a:r>
          </a:p>
          <a:p>
            <a:pPr lvl="1"/>
            <a:r>
              <a:rPr lang="en-US" altLang="en-US" dirty="0"/>
              <a:t>An AST is a condensed view of the parse tree</a:t>
            </a:r>
          </a:p>
          <a:p>
            <a:pPr lvl="1"/>
            <a:r>
              <a:rPr lang="en-US" altLang="en-US" dirty="0"/>
              <a:t>This condensed tree expresses a language’s </a:t>
            </a:r>
            <a:r>
              <a:rPr lang="en-US" altLang="en-US" i="1" dirty="0"/>
              <a:t>essential</a:t>
            </a:r>
            <a:r>
              <a:rPr lang="en-US" altLang="en-US" dirty="0"/>
              <a:t> syntactic structure</a:t>
            </a:r>
          </a:p>
          <a:p>
            <a:pPr lvl="2"/>
            <a:r>
              <a:rPr lang="en-US" altLang="en-US" dirty="0"/>
              <a:t>The full, concrete syntax isn’t necessary to express this</a:t>
            </a:r>
          </a:p>
          <a:p>
            <a:pPr lvl="1"/>
            <a:r>
              <a:rPr lang="en-US" altLang="en-US" dirty="0"/>
              <a:t>Easier to attach semantics to a condensed AST than a parse tree</a:t>
            </a:r>
          </a:p>
          <a:p>
            <a:endParaRPr lang="en-US" altLang="en-US" dirty="0"/>
          </a:p>
        </p:txBody>
      </p:sp>
      <p:pic>
        <p:nvPicPr>
          <p:cNvPr id="4" name="Picture 6">
            <a:extLst>
              <a:ext uri="{FF2B5EF4-FFF2-40B4-BE49-F238E27FC236}">
                <a16:creationId xmlns:a16="http://schemas.microsoft.com/office/drawing/2014/main" id="{2206F2DD-7084-774F-BB61-A64A3DADAE0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67293" b="16489"/>
          <a:stretch/>
        </p:blipFill>
        <p:spPr bwMode="auto">
          <a:xfrm>
            <a:off x="8601437" y="4493130"/>
            <a:ext cx="2108716" cy="22169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2">
            <a:extLst>
              <a:ext uri="{FF2B5EF4-FFF2-40B4-BE49-F238E27FC236}">
                <a16:creationId xmlns:a16="http://schemas.microsoft.com/office/drawing/2014/main" id="{BE1A6F8F-A805-A84F-8962-CB87C7C0A6A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9654"/>
          <a:stretch/>
        </p:blipFill>
        <p:spPr bwMode="auto">
          <a:xfrm>
            <a:off x="8135320" y="1456250"/>
            <a:ext cx="3218480" cy="28116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297986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Abstract Syntax Trees</a:t>
            </a:r>
          </a:p>
        </p:txBody>
      </p:sp>
      <p:sp>
        <p:nvSpPr>
          <p:cNvPr id="3" name="Content Placeholder 2"/>
          <p:cNvSpPr>
            <a:spLocks noGrp="1"/>
          </p:cNvSpPr>
          <p:nvPr>
            <p:ph idx="1"/>
          </p:nvPr>
        </p:nvSpPr>
        <p:spPr>
          <a:xfrm>
            <a:off x="838200" y="1825624"/>
            <a:ext cx="10515600" cy="4884458"/>
          </a:xfrm>
        </p:spPr>
        <p:txBody>
          <a:bodyPr>
            <a:noAutofit/>
          </a:bodyPr>
          <a:lstStyle/>
          <a:p>
            <a:r>
              <a:rPr lang="en-US" altLang="en-US" dirty="0"/>
              <a:t>How do we convert a parse tree into an abstract syntax tree (AST)?</a:t>
            </a:r>
          </a:p>
          <a:p>
            <a:pPr marL="514350" indent="-514350">
              <a:buFont typeface="+mj-lt"/>
              <a:buAutoNum type="arabicPeriod"/>
            </a:pPr>
            <a:r>
              <a:rPr lang="en-US" altLang="en-US" dirty="0"/>
              <a:t>Remove all structure defining symbols </a:t>
            </a:r>
          </a:p>
          <a:p>
            <a:pPr marL="514350" indent="-514350">
              <a:buFont typeface="+mj-lt"/>
              <a:buAutoNum type="arabicPeriod"/>
            </a:pPr>
            <a:r>
              <a:rPr lang="en-US" altLang="en-US" dirty="0"/>
              <a:t>Remove all single-successor nodes</a:t>
            </a:r>
          </a:p>
          <a:p>
            <a:pPr lvl="1"/>
            <a:r>
              <a:rPr lang="en-US" altLang="en-US" b="1" dirty="0"/>
              <a:t>Single-Successor Node</a:t>
            </a:r>
            <a:r>
              <a:rPr lang="en-US" altLang="en-US" dirty="0"/>
              <a:t>: A node with a single child </a:t>
            </a:r>
          </a:p>
          <a:p>
            <a:pPr marL="514350" indent="-514350">
              <a:buFont typeface="+mj-lt"/>
              <a:buAutoNum type="arabicPeriod"/>
            </a:pPr>
            <a:r>
              <a:rPr lang="en-US" altLang="en-US" dirty="0"/>
              <a:t>Make operator tokens nonterminal nodes </a:t>
            </a:r>
          </a:p>
          <a:p>
            <a:endParaRPr lang="en-US" altLang="en-US" dirty="0"/>
          </a:p>
          <a:p>
            <a:endParaRPr lang="en-US" altLang="en-US" dirty="0"/>
          </a:p>
        </p:txBody>
      </p:sp>
    </p:spTree>
    <p:extLst>
      <p:ext uri="{BB962C8B-B14F-4D97-AF65-F5344CB8AC3E}">
        <p14:creationId xmlns:p14="http://schemas.microsoft.com/office/powerpoint/2010/main" val="27876421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Abstract Syntax Trees</a:t>
            </a:r>
          </a:p>
        </p:txBody>
      </p:sp>
      <p:pic>
        <p:nvPicPr>
          <p:cNvPr id="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8312" r="29989" b="6287"/>
          <a:stretch/>
        </p:blipFill>
        <p:spPr bwMode="auto">
          <a:xfrm>
            <a:off x="838200" y="1690688"/>
            <a:ext cx="5052582" cy="396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5064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Abstract Syntax Trees</a:t>
            </a:r>
          </a:p>
        </p:txBody>
      </p:sp>
      <p:pic>
        <p:nvPicPr>
          <p:cNvPr id="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t="8312" r="29989" b="6287"/>
          <a:stretch/>
        </p:blipFill>
        <p:spPr bwMode="auto">
          <a:xfrm>
            <a:off x="838200" y="1690688"/>
            <a:ext cx="5052582" cy="396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2">
            <a:extLst>
              <a:ext uri="{FF2B5EF4-FFF2-40B4-BE49-F238E27FC236}">
                <a16:creationId xmlns:a16="http://schemas.microsoft.com/office/drawing/2014/main" id="{D24E67DA-8B58-B54E-97CB-33A94772021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4400" t="8312" b="6287"/>
          <a:stretch/>
        </p:blipFill>
        <p:spPr bwMode="auto">
          <a:xfrm>
            <a:off x="7740502" y="1690688"/>
            <a:ext cx="2103753" cy="4516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29077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Abstract Syntax Trees</a:t>
            </a:r>
          </a:p>
        </p:txBody>
      </p:sp>
      <p:sp>
        <p:nvSpPr>
          <p:cNvPr id="3" name="Content Placeholder 2"/>
          <p:cNvSpPr>
            <a:spLocks noGrp="1"/>
          </p:cNvSpPr>
          <p:nvPr>
            <p:ph idx="1"/>
          </p:nvPr>
        </p:nvSpPr>
        <p:spPr>
          <a:xfrm>
            <a:off x="838200" y="1825624"/>
            <a:ext cx="10515600" cy="4884458"/>
          </a:xfrm>
        </p:spPr>
        <p:txBody>
          <a:bodyPr>
            <a:noAutofit/>
          </a:bodyPr>
          <a:lstStyle/>
          <a:p>
            <a:r>
              <a:rPr lang="en-US" altLang="en-US" b="1" dirty="0"/>
              <a:t>Abstract syntax trees </a:t>
            </a:r>
            <a:r>
              <a:rPr lang="en-US" altLang="en-US" dirty="0"/>
              <a:t>(or </a:t>
            </a:r>
            <a:r>
              <a:rPr lang="en-US" altLang="en-US" b="1" dirty="0"/>
              <a:t>syntax trees</a:t>
            </a:r>
            <a:r>
              <a:rPr lang="en-US" altLang="en-US" dirty="0"/>
              <a:t>): trees that abstract away the nonessential structure of the parse tree</a:t>
            </a:r>
          </a:p>
          <a:p>
            <a:pPr lvl="1"/>
            <a:r>
              <a:rPr lang="en-US" altLang="en-US" dirty="0"/>
              <a:t>Do away with terminals unnecessary for expressing </a:t>
            </a:r>
            <a:r>
              <a:rPr lang="en-US" altLang="en-US" i="1" dirty="0"/>
              <a:t>essential</a:t>
            </a:r>
            <a:r>
              <a:rPr lang="en-US" altLang="en-US" dirty="0"/>
              <a:t> syntactic structure</a:t>
            </a:r>
          </a:p>
          <a:p>
            <a:pPr marL="0" indent="0">
              <a:buNone/>
            </a:pPr>
            <a:r>
              <a:rPr lang="en-US" altLang="en-US" dirty="0"/>
              <a:t> </a:t>
            </a:r>
          </a:p>
          <a:p>
            <a:endParaRPr lang="en-US" altLang="en-US" dirty="0"/>
          </a:p>
          <a:p>
            <a:endParaRPr lang="en-US" altLang="en-US" dirty="0"/>
          </a:p>
        </p:txBody>
      </p:sp>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90788" y="3542339"/>
            <a:ext cx="9270614" cy="592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4134475"/>
            <a:ext cx="10624379" cy="25756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tangle 3">
            <a:extLst>
              <a:ext uri="{FF2B5EF4-FFF2-40B4-BE49-F238E27FC236}">
                <a16:creationId xmlns:a16="http://schemas.microsoft.com/office/drawing/2014/main" id="{C04BCFAC-AA31-2040-8F3A-877B8F076E48}"/>
              </a:ext>
            </a:extLst>
          </p:cNvPr>
          <p:cNvSpPr/>
          <p:nvPr/>
        </p:nvSpPr>
        <p:spPr>
          <a:xfrm>
            <a:off x="6648371" y="4781413"/>
            <a:ext cx="4635795" cy="125464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7">
            <a:extLst>
              <a:ext uri="{FF2B5EF4-FFF2-40B4-BE49-F238E27FC236}">
                <a16:creationId xmlns:a16="http://schemas.microsoft.com/office/drawing/2014/main" id="{78FA9155-70D5-2F4C-9C85-9BAC1344CC6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55454" t="32662" r="1913" b="33010"/>
          <a:stretch/>
        </p:blipFill>
        <p:spPr bwMode="auto">
          <a:xfrm>
            <a:off x="6582803" y="4980210"/>
            <a:ext cx="4529470" cy="884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65885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82EFB4-C2AD-AA4C-BE71-EF4B34CB07EC}"/>
              </a:ext>
            </a:extLst>
          </p:cNvPr>
          <p:cNvSpPr>
            <a:spLocks noGrp="1"/>
          </p:cNvSpPr>
          <p:nvPr>
            <p:ph type="title"/>
          </p:nvPr>
        </p:nvSpPr>
        <p:spPr/>
        <p:txBody>
          <a:bodyPr/>
          <a:lstStyle/>
          <a:p>
            <a:r>
              <a:rPr lang="en-US" b="1" dirty="0"/>
              <a:t>Abstract Syntax Trees</a:t>
            </a:r>
            <a:endParaRPr lang="en-US" dirty="0"/>
          </a:p>
        </p:txBody>
      </p:sp>
      <p:sp>
        <p:nvSpPr>
          <p:cNvPr id="3" name="Content Placeholder 2">
            <a:extLst>
              <a:ext uri="{FF2B5EF4-FFF2-40B4-BE49-F238E27FC236}">
                <a16:creationId xmlns:a16="http://schemas.microsoft.com/office/drawing/2014/main" id="{F877D84B-8F8A-0444-AC3D-D7463571C6CF}"/>
              </a:ext>
            </a:extLst>
          </p:cNvPr>
          <p:cNvSpPr>
            <a:spLocks noGrp="1"/>
          </p:cNvSpPr>
          <p:nvPr>
            <p:ph idx="1"/>
          </p:nvPr>
        </p:nvSpPr>
        <p:spPr>
          <a:xfrm>
            <a:off x="838200" y="1825625"/>
            <a:ext cx="6672072" cy="4351338"/>
          </a:xfrm>
        </p:spPr>
        <p:txBody>
          <a:bodyPr>
            <a:noAutofit/>
          </a:bodyPr>
          <a:lstStyle/>
          <a:p>
            <a:r>
              <a:rPr lang="en-US" dirty="0"/>
              <a:t>When converting a parse tree into an AST, how do we handle nodes with multiple operator children?</a:t>
            </a:r>
          </a:p>
          <a:p>
            <a:r>
              <a:rPr lang="en-US" dirty="0"/>
              <a:t>If operators are of a differencing precedence:</a:t>
            </a:r>
          </a:p>
          <a:p>
            <a:pPr lvl="1"/>
            <a:r>
              <a:rPr lang="en-US" dirty="0"/>
              <a:t>Make lower precedence operator the parent </a:t>
            </a:r>
          </a:p>
          <a:p>
            <a:r>
              <a:rPr lang="en-US" dirty="0"/>
              <a:t>Else if the operators are not of a differencing precedence:</a:t>
            </a:r>
          </a:p>
          <a:p>
            <a:pPr lvl="1"/>
            <a:r>
              <a:rPr lang="en-US" dirty="0"/>
              <a:t>Make right child operator the parent</a:t>
            </a:r>
          </a:p>
          <a:p>
            <a:r>
              <a:rPr lang="en-US" dirty="0"/>
              <a:t>The other operator will become a child of the first operator and it’s neighboring nodes will become it’s children </a:t>
            </a:r>
          </a:p>
        </p:txBody>
      </p:sp>
      <p:pic>
        <p:nvPicPr>
          <p:cNvPr id="7" name="Picture 6">
            <a:extLst>
              <a:ext uri="{FF2B5EF4-FFF2-40B4-BE49-F238E27FC236}">
                <a16:creationId xmlns:a16="http://schemas.microsoft.com/office/drawing/2014/main" id="{C1D49B2A-C350-F243-8F50-143162B0399E}"/>
              </a:ext>
            </a:extLst>
          </p:cNvPr>
          <p:cNvPicPr>
            <a:picLocks noChangeAspect="1"/>
          </p:cNvPicPr>
          <p:nvPr/>
        </p:nvPicPr>
        <p:blipFill>
          <a:blip r:embed="rId2"/>
          <a:stretch>
            <a:fillRect/>
          </a:stretch>
        </p:blipFill>
        <p:spPr>
          <a:xfrm>
            <a:off x="7510272" y="1825625"/>
            <a:ext cx="1499616" cy="3026498"/>
          </a:xfrm>
          <a:prstGeom prst="rect">
            <a:avLst/>
          </a:prstGeom>
        </p:spPr>
      </p:pic>
      <p:pic>
        <p:nvPicPr>
          <p:cNvPr id="9" name="Picture 8">
            <a:extLst>
              <a:ext uri="{FF2B5EF4-FFF2-40B4-BE49-F238E27FC236}">
                <a16:creationId xmlns:a16="http://schemas.microsoft.com/office/drawing/2014/main" id="{56066E85-DED5-F04A-A92B-3653AA22BAA2}"/>
              </a:ext>
            </a:extLst>
          </p:cNvPr>
          <p:cNvPicPr>
            <a:picLocks noChangeAspect="1"/>
          </p:cNvPicPr>
          <p:nvPr/>
        </p:nvPicPr>
        <p:blipFill>
          <a:blip r:embed="rId3"/>
          <a:stretch>
            <a:fillRect/>
          </a:stretch>
        </p:blipFill>
        <p:spPr>
          <a:xfrm>
            <a:off x="9671304" y="1825625"/>
            <a:ext cx="1682496" cy="2994273"/>
          </a:xfrm>
          <a:prstGeom prst="rect">
            <a:avLst/>
          </a:prstGeom>
        </p:spPr>
      </p:pic>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09076274-CFDE-D545-9A6B-073E316299A4}"/>
                  </a:ext>
                </a:extLst>
              </p14:cNvPr>
              <p14:cNvContentPartPr/>
              <p14:nvPr/>
            </p14:nvContentPartPr>
            <p14:xfrm>
              <a:off x="9386640" y="1527240"/>
              <a:ext cx="6120" cy="3587400"/>
            </p14:xfrm>
          </p:contentPart>
        </mc:Choice>
        <mc:Fallback xmlns="">
          <p:pic>
            <p:nvPicPr>
              <p:cNvPr id="10" name="Ink 9">
                <a:extLst>
                  <a:ext uri="{FF2B5EF4-FFF2-40B4-BE49-F238E27FC236}">
                    <a16:creationId xmlns:a16="http://schemas.microsoft.com/office/drawing/2014/main" id="{09076274-CFDE-D545-9A6B-073E316299A4}"/>
                  </a:ext>
                </a:extLst>
              </p:cNvPr>
              <p:cNvPicPr/>
              <p:nvPr/>
            </p:nvPicPr>
            <p:blipFill>
              <a:blip r:embed="rId5"/>
              <a:stretch>
                <a:fillRect/>
              </a:stretch>
            </p:blipFill>
            <p:spPr>
              <a:xfrm>
                <a:off x="9378000" y="1518600"/>
                <a:ext cx="23760" cy="3605040"/>
              </a:xfrm>
              <a:prstGeom prst="rect">
                <a:avLst/>
              </a:prstGeom>
            </p:spPr>
          </p:pic>
        </mc:Fallback>
      </mc:AlternateContent>
      <p:cxnSp>
        <p:nvCxnSpPr>
          <p:cNvPr id="17" name="Straight Arrow Connector 16">
            <a:extLst>
              <a:ext uri="{FF2B5EF4-FFF2-40B4-BE49-F238E27FC236}">
                <a16:creationId xmlns:a16="http://schemas.microsoft.com/office/drawing/2014/main" id="{1020462B-9DFA-1349-9538-9D9CF3734C18}"/>
              </a:ext>
            </a:extLst>
          </p:cNvPr>
          <p:cNvCxnSpPr/>
          <p:nvPr/>
        </p:nvCxnSpPr>
        <p:spPr>
          <a:xfrm>
            <a:off x="8260080" y="2938272"/>
            <a:ext cx="0" cy="3826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1816E83F-5046-DB40-8B1C-11F63787BDB1}"/>
              </a:ext>
            </a:extLst>
          </p:cNvPr>
          <p:cNvCxnSpPr/>
          <p:nvPr/>
        </p:nvCxnSpPr>
        <p:spPr>
          <a:xfrm>
            <a:off x="10512552" y="2901696"/>
            <a:ext cx="0" cy="4371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994131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Ambiguity, Associativity, and Precedence</a:t>
            </a:r>
          </a:p>
        </p:txBody>
      </p:sp>
      <p:sp>
        <p:nvSpPr>
          <p:cNvPr id="3" name="Content Placeholder 2"/>
          <p:cNvSpPr>
            <a:spLocks noGrp="1"/>
          </p:cNvSpPr>
          <p:nvPr>
            <p:ph idx="1"/>
          </p:nvPr>
        </p:nvSpPr>
        <p:spPr>
          <a:xfrm>
            <a:off x="838200" y="1825624"/>
            <a:ext cx="10515600" cy="4884458"/>
          </a:xfrm>
        </p:spPr>
        <p:txBody>
          <a:bodyPr>
            <a:noAutofit/>
          </a:bodyPr>
          <a:lstStyle/>
          <a:p>
            <a:r>
              <a:rPr lang="en-US" altLang="en-US" dirty="0"/>
              <a:t>Syntax and semantics can become interdependent when semantic information is required to distinguish ambiguous parsing situations</a:t>
            </a:r>
          </a:p>
          <a:p>
            <a:r>
              <a:rPr lang="en-US" altLang="en-US" dirty="0">
                <a:ea typeface="MS PGothic" charset="-128"/>
              </a:rPr>
              <a:t>Ambiguous parsing situations are problematic</a:t>
            </a:r>
          </a:p>
          <a:p>
            <a:pPr lvl="1"/>
            <a:r>
              <a:rPr lang="en-US" altLang="en-US" dirty="0">
                <a:ea typeface="MS PGothic" charset="-128"/>
              </a:rPr>
              <a:t>They lead to an expression having different meanings for different derivations</a:t>
            </a:r>
          </a:p>
          <a:p>
            <a:r>
              <a:rPr lang="en-US" altLang="en-US" dirty="0">
                <a:ea typeface="MS PGothic" charset="-128"/>
              </a:rPr>
              <a:t>Ideal to design syntax which makes attaching semantic meaning as painless as possible </a:t>
            </a:r>
          </a:p>
        </p:txBody>
      </p:sp>
    </p:spTree>
    <p:extLst>
      <p:ext uri="{BB962C8B-B14F-4D97-AF65-F5344CB8AC3E}">
        <p14:creationId xmlns:p14="http://schemas.microsoft.com/office/powerpoint/2010/main" val="39876883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Ambiguity, Associativity, and Precedence</a:t>
            </a:r>
          </a:p>
        </p:txBody>
      </p:sp>
      <p:sp>
        <p:nvSpPr>
          <p:cNvPr id="3" name="Content Placeholder 2"/>
          <p:cNvSpPr>
            <a:spLocks noGrp="1"/>
          </p:cNvSpPr>
          <p:nvPr>
            <p:ph idx="1"/>
          </p:nvPr>
        </p:nvSpPr>
        <p:spPr>
          <a:xfrm>
            <a:off x="838200" y="1825624"/>
            <a:ext cx="10515600" cy="4884458"/>
          </a:xfrm>
        </p:spPr>
        <p:txBody>
          <a:bodyPr>
            <a:noAutofit/>
          </a:bodyPr>
          <a:lstStyle/>
          <a:p>
            <a:r>
              <a:rPr lang="en-US" altLang="en-US" dirty="0"/>
              <a:t>However, can have ambiguous grammars such as:</a:t>
            </a:r>
          </a:p>
          <a:p>
            <a:endParaRPr lang="en-US" altLang="en-US" dirty="0">
              <a:ea typeface="MS PGothic" charset="-128"/>
            </a:endParaRPr>
          </a:p>
          <a:p>
            <a:endParaRPr lang="en-US" altLang="en-US" dirty="0">
              <a:ea typeface="MS PGothic" charset="-128"/>
            </a:endParaRPr>
          </a:p>
          <a:p>
            <a:endParaRPr lang="en-US" altLang="en-US" dirty="0">
              <a:ea typeface="MS PGothic" charset="-128"/>
            </a:endParaRPr>
          </a:p>
          <a:p>
            <a:r>
              <a:rPr lang="en-US" altLang="en-US" b="1" dirty="0">
                <a:ea typeface="MS PGothic" charset="-128"/>
              </a:rPr>
              <a:t>Ambiguous Grammar</a:t>
            </a:r>
            <a:r>
              <a:rPr lang="en-US" altLang="en-US" dirty="0">
                <a:ea typeface="MS PGothic" charset="-128"/>
              </a:rPr>
              <a:t>: one for which two distinct parse or syntax trees are possible</a:t>
            </a:r>
          </a:p>
          <a:p>
            <a:r>
              <a:rPr lang="en-US" altLang="en-US" dirty="0">
                <a:ea typeface="MS PGothic" charset="-128"/>
              </a:rPr>
              <a:t>How is this grammar ambiguous?</a:t>
            </a:r>
          </a:p>
        </p:txBody>
      </p:sp>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3628" y="2397124"/>
            <a:ext cx="5475288"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958115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Ambiguity, Associativity, and Precedence</a:t>
            </a:r>
          </a:p>
        </p:txBody>
      </p:sp>
      <p:sp>
        <p:nvSpPr>
          <p:cNvPr id="3" name="Content Placeholder 2"/>
          <p:cNvSpPr>
            <a:spLocks noGrp="1"/>
          </p:cNvSpPr>
          <p:nvPr>
            <p:ph idx="1"/>
          </p:nvPr>
        </p:nvSpPr>
        <p:spPr>
          <a:xfrm>
            <a:off x="838200" y="1825624"/>
            <a:ext cx="10515600" cy="4884458"/>
          </a:xfrm>
        </p:spPr>
        <p:txBody>
          <a:bodyPr>
            <a:noAutofit/>
          </a:bodyPr>
          <a:lstStyle/>
          <a:p>
            <a:r>
              <a:rPr lang="en-US" altLang="en-US" dirty="0"/>
              <a:t>However, can have ambiguous grammars such as:</a:t>
            </a:r>
          </a:p>
          <a:p>
            <a:endParaRPr lang="en-US" altLang="en-US" dirty="0">
              <a:ea typeface="MS PGothic" charset="-128"/>
            </a:endParaRPr>
          </a:p>
          <a:p>
            <a:endParaRPr lang="en-US" altLang="en-US" dirty="0">
              <a:ea typeface="MS PGothic" charset="-128"/>
            </a:endParaRPr>
          </a:p>
          <a:p>
            <a:endParaRPr lang="en-US" altLang="en-US" dirty="0">
              <a:ea typeface="MS PGothic" charset="-128"/>
            </a:endParaRPr>
          </a:p>
        </p:txBody>
      </p:sp>
      <p:pic>
        <p:nvPicPr>
          <p:cNvPr id="4" name="Picture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73628" y="2397124"/>
            <a:ext cx="5475288"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0650" y="3409332"/>
            <a:ext cx="6490835" cy="3448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476794" y="2605870"/>
            <a:ext cx="3312434" cy="523220"/>
          </a:xfrm>
          <a:prstGeom prst="rect">
            <a:avLst/>
          </a:prstGeom>
          <a:noFill/>
        </p:spPr>
        <p:txBody>
          <a:bodyPr wrap="square" rtlCol="0">
            <a:spAutoFit/>
          </a:bodyPr>
          <a:lstStyle/>
          <a:p>
            <a:r>
              <a:rPr lang="en-US" sz="2800" dirty="0">
                <a:solidFill>
                  <a:schemeClr val="accent1"/>
                </a:solidFill>
              </a:rPr>
              <a:t>3+4*5</a:t>
            </a:r>
          </a:p>
        </p:txBody>
      </p:sp>
    </p:spTree>
    <p:extLst>
      <p:ext uri="{BB962C8B-B14F-4D97-AF65-F5344CB8AC3E}">
        <p14:creationId xmlns:p14="http://schemas.microsoft.com/office/powerpoint/2010/main" val="539238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Ambiguity, Associativity, and Precedence</a:t>
            </a:r>
          </a:p>
        </p:txBody>
      </p:sp>
      <p:sp>
        <p:nvSpPr>
          <p:cNvPr id="3" name="Content Placeholder 2"/>
          <p:cNvSpPr>
            <a:spLocks noGrp="1"/>
          </p:cNvSpPr>
          <p:nvPr>
            <p:ph idx="1"/>
          </p:nvPr>
        </p:nvSpPr>
        <p:spPr>
          <a:xfrm>
            <a:off x="838200" y="1825624"/>
            <a:ext cx="10515600" cy="4884458"/>
          </a:xfrm>
        </p:spPr>
        <p:txBody>
          <a:bodyPr>
            <a:noAutofit/>
          </a:bodyPr>
          <a:lstStyle/>
          <a:p>
            <a:r>
              <a:rPr lang="en-US" altLang="en-US" dirty="0"/>
              <a:t>Abstract syntax tree showing ambiguous grammar:</a:t>
            </a:r>
          </a:p>
          <a:p>
            <a:endParaRPr lang="en-US" altLang="en-US" dirty="0">
              <a:ea typeface="MS PGothic" charset="-128"/>
            </a:endParaRPr>
          </a:p>
          <a:p>
            <a:endParaRPr lang="en-US" altLang="en-US" dirty="0">
              <a:ea typeface="MS PGothic" charset="-128"/>
            </a:endParaRPr>
          </a:p>
          <a:p>
            <a:endParaRPr lang="en-US" altLang="en-US" dirty="0">
              <a:ea typeface="MS PGothic" charset="-128"/>
            </a:endParaRPr>
          </a:p>
        </p:txBody>
      </p:sp>
      <p:pic>
        <p:nvPicPr>
          <p:cNvPr id="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9457" y="2307772"/>
            <a:ext cx="9908748" cy="44023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7061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Ambiguity, Associativity, and Precedence</a:t>
            </a:r>
          </a:p>
        </p:txBody>
      </p:sp>
      <p:sp>
        <p:nvSpPr>
          <p:cNvPr id="3" name="Content Placeholder 2"/>
          <p:cNvSpPr>
            <a:spLocks noGrp="1"/>
          </p:cNvSpPr>
          <p:nvPr>
            <p:ph idx="1"/>
          </p:nvPr>
        </p:nvSpPr>
        <p:spPr>
          <a:xfrm>
            <a:off x="838200" y="1825624"/>
            <a:ext cx="10515600" cy="4884458"/>
          </a:xfrm>
        </p:spPr>
        <p:txBody>
          <a:bodyPr>
            <a:noAutofit/>
          </a:bodyPr>
          <a:lstStyle/>
          <a:p>
            <a:r>
              <a:rPr lang="en-US" altLang="en-US" dirty="0"/>
              <a:t>Can use concept of testing a grammar with a certain special derivation to see if derivations constructed in a special order can produce two different parse trees</a:t>
            </a:r>
          </a:p>
          <a:p>
            <a:r>
              <a:rPr lang="en-US" altLang="en-US" dirty="0"/>
              <a:t>One such special derivation is called </a:t>
            </a:r>
            <a:r>
              <a:rPr lang="en-US" altLang="en-US" b="1" dirty="0"/>
              <a:t>leftmost derivation</a:t>
            </a:r>
            <a:endParaRPr lang="en-US" altLang="en-US" dirty="0"/>
          </a:p>
          <a:p>
            <a:pPr lvl="1"/>
            <a:r>
              <a:rPr lang="en-US" altLang="en-US" dirty="0"/>
              <a:t>In this derivation, the leftmost remaining nonterminal is singled out for replacement at each step</a:t>
            </a:r>
          </a:p>
          <a:p>
            <a:r>
              <a:rPr lang="en-US" altLang="en-US" dirty="0"/>
              <a:t>If using a special derivation, you get two parse trees for the same string, then the grammar is ambiguous</a:t>
            </a:r>
          </a:p>
          <a:p>
            <a:endParaRPr lang="en-US" altLang="en-US" dirty="0">
              <a:ea typeface="MS PGothic" charset="-128"/>
            </a:endParaRPr>
          </a:p>
          <a:p>
            <a:endParaRPr lang="en-US" altLang="en-US" dirty="0">
              <a:ea typeface="MS PGothic" charset="-128"/>
            </a:endParaRPr>
          </a:p>
          <a:p>
            <a:endParaRPr lang="en-US" altLang="en-US" dirty="0">
              <a:ea typeface="MS PGothic" charset="-128"/>
            </a:endParaRPr>
          </a:p>
        </p:txBody>
      </p:sp>
    </p:spTree>
    <p:extLst>
      <p:ext uri="{BB962C8B-B14F-4D97-AF65-F5344CB8AC3E}">
        <p14:creationId xmlns:p14="http://schemas.microsoft.com/office/powerpoint/2010/main" val="1549892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Ambiguity, Associativity, and Precedence</a:t>
            </a:r>
          </a:p>
        </p:txBody>
      </p:sp>
      <p:sp>
        <p:nvSpPr>
          <p:cNvPr id="3" name="Content Placeholder 2"/>
          <p:cNvSpPr>
            <a:spLocks noGrp="1"/>
          </p:cNvSpPr>
          <p:nvPr>
            <p:ph idx="1"/>
          </p:nvPr>
        </p:nvSpPr>
        <p:spPr>
          <a:xfrm>
            <a:off x="838200" y="1825624"/>
            <a:ext cx="10515600" cy="4884458"/>
          </a:xfrm>
        </p:spPr>
        <p:txBody>
          <a:bodyPr>
            <a:noAutofit/>
          </a:bodyPr>
          <a:lstStyle/>
          <a:p>
            <a:r>
              <a:rPr lang="en-US" altLang="en-US" dirty="0"/>
              <a:t>Ex:</a:t>
            </a:r>
          </a:p>
          <a:p>
            <a:endParaRPr lang="en-US" altLang="en-US" dirty="0">
              <a:ea typeface="MS PGothic" charset="-128"/>
            </a:endParaRPr>
          </a:p>
          <a:p>
            <a:endParaRPr lang="en-US" altLang="en-US" dirty="0">
              <a:ea typeface="MS PGothic" charset="-128"/>
            </a:endParaRPr>
          </a:p>
          <a:p>
            <a:endParaRPr lang="en-US" altLang="en-US" dirty="0">
              <a:ea typeface="MS PGothic" charset="-128"/>
            </a:endParaRPr>
          </a:p>
        </p:txBody>
      </p:sp>
      <p:pic>
        <p:nvPicPr>
          <p:cNvPr id="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7415" y="1825624"/>
            <a:ext cx="8040634" cy="5032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66106" y="4588329"/>
            <a:ext cx="5996737" cy="15022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816967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Ambiguity, Associativity, and Precedence</a:t>
            </a:r>
          </a:p>
        </p:txBody>
      </p:sp>
      <p:sp>
        <p:nvSpPr>
          <p:cNvPr id="3" name="Content Placeholder 2"/>
          <p:cNvSpPr>
            <a:spLocks noGrp="1"/>
          </p:cNvSpPr>
          <p:nvPr>
            <p:ph idx="1"/>
          </p:nvPr>
        </p:nvSpPr>
        <p:spPr>
          <a:xfrm>
            <a:off x="838200" y="1809295"/>
            <a:ext cx="10515600" cy="4884458"/>
          </a:xfrm>
        </p:spPr>
        <p:txBody>
          <a:bodyPr>
            <a:noAutofit/>
          </a:bodyPr>
          <a:lstStyle/>
          <a:p>
            <a:r>
              <a:rPr lang="en-US" altLang="en-US" dirty="0"/>
              <a:t>How do we remove the ambiguities?</a:t>
            </a:r>
          </a:p>
          <a:p>
            <a:r>
              <a:rPr lang="en-US" altLang="en-US" u="sng" dirty="0"/>
              <a:t>How do we make multiplication take precedence over addition?</a:t>
            </a:r>
          </a:p>
          <a:p>
            <a:pPr lvl="1"/>
            <a:r>
              <a:rPr lang="en-US" altLang="en-US" sz="2800" dirty="0"/>
              <a:t>State a </a:t>
            </a:r>
            <a:r>
              <a:rPr lang="en-US" altLang="en-US" sz="2800" b="1" dirty="0"/>
              <a:t>disambiguating rule </a:t>
            </a:r>
            <a:r>
              <a:rPr lang="en-US" altLang="en-US" sz="2800" dirty="0"/>
              <a:t>separately from the grammar</a:t>
            </a:r>
          </a:p>
          <a:p>
            <a:pPr lvl="1"/>
            <a:r>
              <a:rPr lang="en-US" altLang="en-US" sz="2800" dirty="0">
                <a:ea typeface="MS PGothic" charset="-128"/>
              </a:rPr>
              <a:t>Revise the grammar to remove the ambiguity</a:t>
            </a:r>
          </a:p>
          <a:p>
            <a:pPr lvl="2"/>
            <a:r>
              <a:rPr lang="en-US" altLang="en-US" sz="2800" dirty="0">
                <a:ea typeface="MS PGothic" charset="-128"/>
              </a:rPr>
              <a:t>Establish a precedence cascade to force the matching of the “*” at a lower point in the parse tree</a:t>
            </a:r>
          </a:p>
          <a:p>
            <a:pPr lvl="2"/>
            <a:r>
              <a:rPr lang="en-US" altLang="en-US" sz="2800" dirty="0">
                <a:ea typeface="MS PGothic" charset="-128"/>
              </a:rPr>
              <a:t>Instead of:</a:t>
            </a:r>
          </a:p>
          <a:p>
            <a:pPr marL="914400" lvl="2" indent="0">
              <a:buNone/>
            </a:pPr>
            <a:r>
              <a:rPr lang="en-US" altLang="en-US" sz="2800" dirty="0">
                <a:ea typeface="MS PGothic" charset="-128"/>
              </a:rPr>
              <a:t>	expr -&gt; expr + expr | expr * expr | (expr) | NUMBER</a:t>
            </a:r>
          </a:p>
          <a:p>
            <a:pPr lvl="2"/>
            <a:r>
              <a:rPr lang="en-US" altLang="en-US" sz="2800" dirty="0">
                <a:ea typeface="MS PGothic" charset="-128"/>
              </a:rPr>
              <a:t>We have:</a:t>
            </a:r>
          </a:p>
          <a:p>
            <a:pPr marL="1371600" lvl="3" indent="0">
              <a:buNone/>
            </a:pPr>
            <a:r>
              <a:rPr lang="en-US" altLang="en-US" sz="2800" dirty="0">
                <a:ea typeface="MS PGothic" charset="-128"/>
              </a:rPr>
              <a:t>	expr </a:t>
            </a:r>
            <a:r>
              <a:rPr lang="en-US" altLang="en-US" sz="2800" dirty="0">
                <a:ea typeface="MS PGothic" charset="-128"/>
                <a:sym typeface="Wingdings" panose="05000000000000000000" pitchFamily="2" charset="2"/>
              </a:rPr>
              <a:t> expr + expr | term</a:t>
            </a:r>
          </a:p>
          <a:p>
            <a:pPr marL="1371600" lvl="3" indent="0">
              <a:buNone/>
            </a:pPr>
            <a:r>
              <a:rPr lang="en-US" altLang="en-US" sz="2800" dirty="0">
                <a:ea typeface="MS PGothic" charset="-128"/>
                <a:sym typeface="Wingdings" panose="05000000000000000000" pitchFamily="2" charset="2"/>
              </a:rPr>
              <a:t>	term  term * term | (expr) | number</a:t>
            </a:r>
            <a:endParaRPr lang="en-US" altLang="en-US" sz="2600" dirty="0">
              <a:ea typeface="MS PGothic" charset="-128"/>
            </a:endParaRPr>
          </a:p>
          <a:p>
            <a:endParaRPr lang="en-US" altLang="en-US" dirty="0">
              <a:ea typeface="MS PGothic" charset="-128"/>
            </a:endParaRPr>
          </a:p>
          <a:p>
            <a:endParaRPr lang="en-US" altLang="en-US" dirty="0">
              <a:ea typeface="MS PGothic" charset="-128"/>
            </a:endParaRPr>
          </a:p>
        </p:txBody>
      </p:sp>
    </p:spTree>
    <p:extLst>
      <p:ext uri="{BB962C8B-B14F-4D97-AF65-F5344CB8AC3E}">
        <p14:creationId xmlns:p14="http://schemas.microsoft.com/office/powerpoint/2010/main" val="323453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Ambiguity, Associativity, and Precedence</a:t>
            </a:r>
          </a:p>
        </p:txBody>
      </p:sp>
      <p:sp>
        <p:nvSpPr>
          <p:cNvPr id="8" name="Content Placeholder 7"/>
          <p:cNvSpPr>
            <a:spLocks noGrp="1"/>
          </p:cNvSpPr>
          <p:nvPr>
            <p:ph idx="1"/>
          </p:nvPr>
        </p:nvSpPr>
        <p:spPr/>
        <p:txBody>
          <a:bodyPr/>
          <a:lstStyle/>
          <a:p>
            <a:pPr marL="0" indent="0">
              <a:buNone/>
            </a:pPr>
            <a:r>
              <a:rPr lang="en-US" altLang="en-US" sz="3800" dirty="0">
                <a:ea typeface="MS PGothic" charset="-128"/>
              </a:rPr>
              <a:t>expr </a:t>
            </a:r>
            <a:r>
              <a:rPr lang="en-US" altLang="en-US" sz="3800" dirty="0">
                <a:ea typeface="MS PGothic" charset="-128"/>
                <a:sym typeface="Wingdings" panose="05000000000000000000" pitchFamily="2" charset="2"/>
              </a:rPr>
              <a:t> expr + expr | term</a:t>
            </a:r>
          </a:p>
          <a:p>
            <a:pPr marL="0" indent="0">
              <a:buNone/>
            </a:pPr>
            <a:r>
              <a:rPr lang="en-US" altLang="en-US" sz="3800" dirty="0">
                <a:ea typeface="MS PGothic" charset="-128"/>
                <a:sym typeface="Wingdings" panose="05000000000000000000" pitchFamily="2" charset="2"/>
              </a:rPr>
              <a:t>term  term * term | (expr) | number</a:t>
            </a:r>
          </a:p>
          <a:p>
            <a:pPr marL="0" indent="0">
              <a:buNone/>
            </a:pPr>
            <a:r>
              <a:rPr lang="en-US" altLang="en-US" sz="3800" dirty="0">
                <a:ea typeface="MS PGothic" charset="-128"/>
                <a:sym typeface="Wingdings" panose="05000000000000000000" pitchFamily="2" charset="2"/>
              </a:rPr>
              <a:t>number </a:t>
            </a:r>
            <a:r>
              <a:rPr lang="en-US" altLang="en-US" sz="3800" dirty="0">
                <a:ea typeface="MS PGothic" charset="-128"/>
                <a:sym typeface="Wingdings"/>
              </a:rPr>
              <a:t>  number digit | digit</a:t>
            </a:r>
          </a:p>
          <a:p>
            <a:pPr marL="0" indent="0">
              <a:buNone/>
            </a:pPr>
            <a:r>
              <a:rPr lang="en-US" altLang="en-US" sz="3800" dirty="0">
                <a:ea typeface="MS PGothic" charset="-128"/>
                <a:sym typeface="Wingdings"/>
              </a:rPr>
              <a:t>digit  0 | 1 | 2 | 3 | 4 | 5 | 6 | 7 | 8 | 9 </a:t>
            </a:r>
            <a:endParaRPr lang="en-US" altLang="en-US" sz="3600" dirty="0">
              <a:ea typeface="MS PGothic" charset="-128"/>
            </a:endParaRPr>
          </a:p>
        </p:txBody>
      </p:sp>
    </p:spTree>
    <p:extLst>
      <p:ext uri="{BB962C8B-B14F-4D97-AF65-F5344CB8AC3E}">
        <p14:creationId xmlns:p14="http://schemas.microsoft.com/office/powerpoint/2010/main" val="18208759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Ambiguity, Associativity, and Precedence</a:t>
            </a:r>
          </a:p>
        </p:txBody>
      </p:sp>
      <p:sp>
        <p:nvSpPr>
          <p:cNvPr id="3" name="Content Placeholder 2"/>
          <p:cNvSpPr>
            <a:spLocks noGrp="1"/>
          </p:cNvSpPr>
          <p:nvPr>
            <p:ph idx="1"/>
          </p:nvPr>
        </p:nvSpPr>
        <p:spPr>
          <a:xfrm>
            <a:off x="838200" y="1690688"/>
            <a:ext cx="10515600" cy="4884458"/>
          </a:xfrm>
        </p:spPr>
        <p:txBody>
          <a:bodyPr>
            <a:noAutofit/>
          </a:bodyPr>
          <a:lstStyle/>
          <a:p>
            <a:r>
              <a:rPr lang="en-US" altLang="en-US" dirty="0"/>
              <a:t>Modified grammar removes ambiguity around multiplication </a:t>
            </a:r>
          </a:p>
          <a:p>
            <a:endParaRPr lang="en-US" altLang="en-US" dirty="0">
              <a:ea typeface="MS PGothic" charset="-128"/>
            </a:endParaRPr>
          </a:p>
          <a:p>
            <a:endParaRPr lang="en-US" altLang="en-US" dirty="0">
              <a:ea typeface="MS PGothic" charset="-128"/>
            </a:endParaRPr>
          </a:p>
          <a:p>
            <a:endParaRPr lang="en-US" altLang="en-US" dirty="0">
              <a:ea typeface="MS PGothic" charset="-128"/>
            </a:endParaRPr>
          </a:p>
        </p:txBody>
      </p:sp>
      <p:pic>
        <p:nvPicPr>
          <p:cNvPr id="5"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0650" y="3409332"/>
            <a:ext cx="6490835" cy="34486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p:cNvSpPr txBox="1"/>
          <p:nvPr/>
        </p:nvSpPr>
        <p:spPr>
          <a:xfrm>
            <a:off x="8476794" y="2605870"/>
            <a:ext cx="3312434" cy="523220"/>
          </a:xfrm>
          <a:prstGeom prst="rect">
            <a:avLst/>
          </a:prstGeom>
          <a:noFill/>
        </p:spPr>
        <p:txBody>
          <a:bodyPr wrap="square" rtlCol="0">
            <a:spAutoFit/>
          </a:bodyPr>
          <a:lstStyle/>
          <a:p>
            <a:r>
              <a:rPr lang="en-US" sz="2800" dirty="0">
                <a:solidFill>
                  <a:schemeClr val="accent1"/>
                </a:solidFill>
              </a:rPr>
              <a:t>3+4*5</a:t>
            </a:r>
          </a:p>
        </p:txBody>
      </p:sp>
      <p:sp>
        <p:nvSpPr>
          <p:cNvPr id="8" name="TextBox 7">
            <a:extLst>
              <a:ext uri="{FF2B5EF4-FFF2-40B4-BE49-F238E27FC236}">
                <a16:creationId xmlns:a16="http://schemas.microsoft.com/office/drawing/2014/main" id="{C8E55214-5DC1-334A-A742-8512D75DBBB3}"/>
              </a:ext>
            </a:extLst>
          </p:cNvPr>
          <p:cNvSpPr txBox="1"/>
          <p:nvPr/>
        </p:nvSpPr>
        <p:spPr>
          <a:xfrm>
            <a:off x="883297" y="2228671"/>
            <a:ext cx="4861182" cy="1077218"/>
          </a:xfrm>
          <a:prstGeom prst="rect">
            <a:avLst/>
          </a:prstGeom>
          <a:solidFill>
            <a:srgbClr val="D3D3D3"/>
          </a:solidFill>
        </p:spPr>
        <p:txBody>
          <a:bodyPr wrap="square">
            <a:spAutoFit/>
          </a:bodyPr>
          <a:lstStyle/>
          <a:p>
            <a:pPr marL="0" indent="0">
              <a:buNone/>
            </a:pPr>
            <a:r>
              <a:rPr lang="en-US" altLang="en-US" sz="1600" dirty="0">
                <a:ea typeface="MS PGothic" charset="-128"/>
              </a:rPr>
              <a:t>expr </a:t>
            </a:r>
            <a:r>
              <a:rPr lang="en-US" altLang="en-US" sz="1600" dirty="0">
                <a:ea typeface="MS PGothic" charset="-128"/>
                <a:sym typeface="Wingdings" panose="05000000000000000000" pitchFamily="2" charset="2"/>
              </a:rPr>
              <a:t> expr + expr | term</a:t>
            </a:r>
          </a:p>
          <a:p>
            <a:pPr marL="0" indent="0">
              <a:buNone/>
            </a:pPr>
            <a:r>
              <a:rPr lang="en-US" altLang="en-US" sz="1600" dirty="0">
                <a:ea typeface="MS PGothic" charset="-128"/>
                <a:sym typeface="Wingdings" panose="05000000000000000000" pitchFamily="2" charset="2"/>
              </a:rPr>
              <a:t>term  term * term | (expr) | number</a:t>
            </a:r>
          </a:p>
          <a:p>
            <a:pPr marL="0" indent="0">
              <a:buNone/>
            </a:pPr>
            <a:r>
              <a:rPr lang="en-US" altLang="en-US" sz="1600" dirty="0">
                <a:ea typeface="MS PGothic" charset="-128"/>
                <a:sym typeface="Wingdings" panose="05000000000000000000" pitchFamily="2" charset="2"/>
              </a:rPr>
              <a:t>number </a:t>
            </a:r>
            <a:r>
              <a:rPr lang="en-US" altLang="en-US" sz="1600" dirty="0">
                <a:ea typeface="MS PGothic" charset="-128"/>
                <a:sym typeface="Wingdings"/>
              </a:rPr>
              <a:t>  number digit | digit</a:t>
            </a:r>
          </a:p>
          <a:p>
            <a:pPr marL="0" indent="0">
              <a:buNone/>
            </a:pPr>
            <a:r>
              <a:rPr lang="en-US" altLang="en-US" sz="1600" dirty="0">
                <a:ea typeface="MS PGothic" charset="-128"/>
                <a:sym typeface="Wingdings"/>
              </a:rPr>
              <a:t>digit  0 | 1 | 2 | 3 | 4 | 5 | 6 | 7 | 8 | 9 </a:t>
            </a:r>
            <a:endParaRPr lang="en-US" altLang="en-US" sz="1400" dirty="0">
              <a:ea typeface="MS PGothic" charset="-128"/>
            </a:endParaRPr>
          </a:p>
        </p:txBody>
      </p:sp>
      <p:sp>
        <p:nvSpPr>
          <p:cNvPr id="6" name="&quot;No&quot; Symbol 5">
            <a:extLst>
              <a:ext uri="{FF2B5EF4-FFF2-40B4-BE49-F238E27FC236}">
                <a16:creationId xmlns:a16="http://schemas.microsoft.com/office/drawing/2014/main" id="{5D50FB4D-281D-8148-B362-195B812629E6}"/>
              </a:ext>
            </a:extLst>
          </p:cNvPr>
          <p:cNvSpPr/>
          <p:nvPr/>
        </p:nvSpPr>
        <p:spPr>
          <a:xfrm>
            <a:off x="5670025" y="3001812"/>
            <a:ext cx="3931920" cy="3774300"/>
          </a:xfrm>
          <a:prstGeom prst="noSmoking">
            <a:avLst/>
          </a:prstGeom>
          <a:solidFill>
            <a:srgbClr val="FF0000"/>
          </a:solidFill>
          <a:ln w="0">
            <a:solidFill>
              <a:schemeClr val="accent1">
                <a:shade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Tree>
    <p:extLst>
      <p:ext uri="{BB962C8B-B14F-4D97-AF65-F5344CB8AC3E}">
        <p14:creationId xmlns:p14="http://schemas.microsoft.com/office/powerpoint/2010/main" val="1590081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Ambiguity, Associativity, and Precedence</a:t>
            </a:r>
          </a:p>
        </p:txBody>
      </p:sp>
      <p:sp>
        <p:nvSpPr>
          <p:cNvPr id="3" name="Content Placeholder 2"/>
          <p:cNvSpPr>
            <a:spLocks noGrp="1"/>
          </p:cNvSpPr>
          <p:nvPr>
            <p:ph idx="1"/>
          </p:nvPr>
        </p:nvSpPr>
        <p:spPr>
          <a:xfrm>
            <a:off x="838200" y="1809295"/>
            <a:ext cx="10515600" cy="4884458"/>
          </a:xfrm>
        </p:spPr>
        <p:txBody>
          <a:bodyPr>
            <a:noAutofit/>
          </a:bodyPr>
          <a:lstStyle/>
          <a:p>
            <a:r>
              <a:rPr lang="en-US" altLang="en-US" dirty="0"/>
              <a:t>Does the cascading precedence fix the problem?</a:t>
            </a:r>
          </a:p>
          <a:p>
            <a:endParaRPr lang="en-US" altLang="en-US" dirty="0">
              <a:ea typeface="MS PGothic" charset="-128"/>
            </a:endParaRPr>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7557" y="2350353"/>
            <a:ext cx="7921625"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p:cNvSpPr txBox="1"/>
          <p:nvPr/>
        </p:nvSpPr>
        <p:spPr>
          <a:xfrm>
            <a:off x="9608908" y="2581955"/>
            <a:ext cx="2044249" cy="2677656"/>
          </a:xfrm>
          <a:prstGeom prst="rect">
            <a:avLst/>
          </a:prstGeom>
          <a:noFill/>
        </p:spPr>
        <p:txBody>
          <a:bodyPr wrap="square" rtlCol="0">
            <a:spAutoFit/>
          </a:bodyPr>
          <a:lstStyle/>
          <a:p>
            <a:r>
              <a:rPr lang="en-US" sz="2800" dirty="0">
                <a:solidFill>
                  <a:schemeClr val="accent1"/>
                </a:solidFill>
              </a:rPr>
              <a:t>3+4+5</a:t>
            </a:r>
          </a:p>
          <a:p>
            <a:endParaRPr lang="en-US" sz="2800" dirty="0">
              <a:solidFill>
                <a:schemeClr val="accent1"/>
              </a:solidFill>
            </a:endParaRPr>
          </a:p>
          <a:p>
            <a:r>
              <a:rPr lang="en-US" sz="2800" dirty="0">
                <a:solidFill>
                  <a:schemeClr val="accent1"/>
                </a:solidFill>
              </a:rPr>
              <a:t>Still have two parse trees when just adding</a:t>
            </a:r>
          </a:p>
        </p:txBody>
      </p:sp>
      <p:sp>
        <p:nvSpPr>
          <p:cNvPr id="6" name="TextBox 5">
            <a:extLst>
              <a:ext uri="{FF2B5EF4-FFF2-40B4-BE49-F238E27FC236}">
                <a16:creationId xmlns:a16="http://schemas.microsoft.com/office/drawing/2014/main" id="{EC2AC417-F14C-884E-8235-DFAC9B6C1DAA}"/>
              </a:ext>
            </a:extLst>
          </p:cNvPr>
          <p:cNvSpPr txBox="1"/>
          <p:nvPr/>
        </p:nvSpPr>
        <p:spPr>
          <a:xfrm>
            <a:off x="8083684" y="5655307"/>
            <a:ext cx="3955813" cy="1077218"/>
          </a:xfrm>
          <a:prstGeom prst="rect">
            <a:avLst/>
          </a:prstGeom>
          <a:solidFill>
            <a:srgbClr val="D3D3D3"/>
          </a:solidFill>
        </p:spPr>
        <p:txBody>
          <a:bodyPr wrap="square">
            <a:spAutoFit/>
          </a:bodyPr>
          <a:lstStyle/>
          <a:p>
            <a:pPr marL="0" indent="0">
              <a:buNone/>
            </a:pPr>
            <a:r>
              <a:rPr lang="en-US" altLang="en-US" sz="1600" dirty="0">
                <a:ea typeface="MS PGothic" charset="-128"/>
              </a:rPr>
              <a:t>expr </a:t>
            </a:r>
            <a:r>
              <a:rPr lang="en-US" altLang="en-US" sz="1600" dirty="0">
                <a:ea typeface="MS PGothic" charset="-128"/>
                <a:sym typeface="Wingdings" panose="05000000000000000000" pitchFamily="2" charset="2"/>
              </a:rPr>
              <a:t> expr + expr | term</a:t>
            </a:r>
          </a:p>
          <a:p>
            <a:pPr marL="0" indent="0">
              <a:buNone/>
            </a:pPr>
            <a:r>
              <a:rPr lang="en-US" altLang="en-US" sz="1600" dirty="0">
                <a:ea typeface="MS PGothic" charset="-128"/>
                <a:sym typeface="Wingdings" panose="05000000000000000000" pitchFamily="2" charset="2"/>
              </a:rPr>
              <a:t>term  term * term | (expr) | number</a:t>
            </a:r>
          </a:p>
          <a:p>
            <a:pPr marL="0" indent="0">
              <a:buNone/>
            </a:pPr>
            <a:r>
              <a:rPr lang="en-US" altLang="en-US" sz="1600" dirty="0">
                <a:ea typeface="MS PGothic" charset="-128"/>
                <a:sym typeface="Wingdings" panose="05000000000000000000" pitchFamily="2" charset="2"/>
              </a:rPr>
              <a:t>number </a:t>
            </a:r>
            <a:r>
              <a:rPr lang="en-US" altLang="en-US" sz="1600" dirty="0">
                <a:ea typeface="MS PGothic" charset="-128"/>
                <a:sym typeface="Wingdings"/>
              </a:rPr>
              <a:t>  number digit | digit</a:t>
            </a:r>
          </a:p>
          <a:p>
            <a:pPr marL="0" indent="0">
              <a:buNone/>
            </a:pPr>
            <a:r>
              <a:rPr lang="en-US" altLang="en-US" sz="1600" dirty="0">
                <a:ea typeface="MS PGothic" charset="-128"/>
                <a:sym typeface="Wingdings"/>
              </a:rPr>
              <a:t>digit  0 | 1 | 2 | 3 | 4 | 5 | 6 | 7 | 8 | 9 </a:t>
            </a:r>
            <a:endParaRPr lang="en-US" altLang="en-US" sz="1400" dirty="0">
              <a:ea typeface="MS PGothic" charset="-128"/>
            </a:endParaRPr>
          </a:p>
        </p:txBody>
      </p:sp>
    </p:spTree>
    <p:extLst>
      <p:ext uri="{BB962C8B-B14F-4D97-AF65-F5344CB8AC3E}">
        <p14:creationId xmlns:p14="http://schemas.microsoft.com/office/powerpoint/2010/main" val="2443023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Ambiguity, Associativity, and Precedence</a:t>
            </a:r>
          </a:p>
        </p:txBody>
      </p:sp>
      <p:sp>
        <p:nvSpPr>
          <p:cNvPr id="3" name="Content Placeholder 2"/>
          <p:cNvSpPr>
            <a:spLocks noGrp="1"/>
          </p:cNvSpPr>
          <p:nvPr>
            <p:ph idx="1"/>
          </p:nvPr>
        </p:nvSpPr>
        <p:spPr>
          <a:xfrm>
            <a:off x="838200" y="1809295"/>
            <a:ext cx="10515600" cy="4884458"/>
          </a:xfrm>
        </p:spPr>
        <p:txBody>
          <a:bodyPr>
            <a:noAutofit/>
          </a:bodyPr>
          <a:lstStyle/>
          <a:p>
            <a:r>
              <a:rPr lang="en-US" altLang="en-US" dirty="0"/>
              <a:t>Does the cascading precedence fix the problem?</a:t>
            </a:r>
          </a:p>
          <a:p>
            <a:pPr>
              <a:defRPr/>
            </a:pPr>
            <a:r>
              <a:rPr lang="en-US" altLang="en-US" dirty="0"/>
              <a:t>Let’s do subtraction instead of addition:</a:t>
            </a:r>
          </a:p>
          <a:p>
            <a:pPr marL="457200" lvl="1" indent="0">
              <a:buFontTx/>
              <a:buNone/>
              <a:defRPr/>
            </a:pPr>
            <a:r>
              <a:rPr lang="en-US" altLang="en-US" sz="2800"/>
              <a:t>expr -&gt; </a:t>
            </a:r>
            <a:r>
              <a:rPr lang="en-US" altLang="en-US" sz="2800" dirty="0"/>
              <a:t>expr - expr | term</a:t>
            </a:r>
          </a:p>
          <a:p>
            <a:pPr marL="457200" lvl="1" indent="0">
              <a:buFontTx/>
              <a:buNone/>
              <a:defRPr/>
            </a:pPr>
            <a:r>
              <a:rPr lang="en-US" altLang="en-US" sz="2800"/>
              <a:t>term -&gt; </a:t>
            </a:r>
            <a:r>
              <a:rPr lang="en-US" altLang="en-US" sz="2800" dirty="0"/>
              <a:t>term * term | ( expr) | number</a:t>
            </a:r>
          </a:p>
          <a:p>
            <a:pPr>
              <a:defRPr/>
            </a:pPr>
            <a:r>
              <a:rPr lang="en-US" altLang="en-US" dirty="0"/>
              <a:t>Problems for e.g. 5-4-3</a:t>
            </a:r>
          </a:p>
          <a:p>
            <a:pPr lvl="1">
              <a:defRPr/>
            </a:pPr>
            <a:r>
              <a:rPr lang="en-US" altLang="en-US" sz="2800" dirty="0"/>
              <a:t>Depends if you use left- or right-associative</a:t>
            </a:r>
          </a:p>
          <a:p>
            <a:pPr lvl="1">
              <a:defRPr/>
            </a:pPr>
            <a:r>
              <a:rPr lang="en-US" altLang="en-US" sz="2800" dirty="0"/>
              <a:t>Are we doing (5 - 4) - 3 or 5 - (4 - 3)</a:t>
            </a:r>
          </a:p>
          <a:p>
            <a:pPr lvl="1">
              <a:defRPr/>
            </a:pPr>
            <a:r>
              <a:rPr lang="en-US" altLang="en-US" sz="2800" dirty="0"/>
              <a:t>Is it -2, or 4?</a:t>
            </a:r>
          </a:p>
          <a:p>
            <a:pPr lvl="1">
              <a:defRPr/>
            </a:pPr>
            <a:endParaRPr lang="en-US" altLang="en-US" sz="2800" dirty="0"/>
          </a:p>
          <a:p>
            <a:endParaRPr lang="en-US" altLang="en-US" dirty="0"/>
          </a:p>
          <a:p>
            <a:endParaRPr lang="en-US" altLang="en-US" dirty="0">
              <a:ea typeface="MS PGothic" charset="-128"/>
            </a:endParaRPr>
          </a:p>
        </p:txBody>
      </p:sp>
    </p:spTree>
    <p:extLst>
      <p:ext uri="{BB962C8B-B14F-4D97-AF65-F5344CB8AC3E}">
        <p14:creationId xmlns:p14="http://schemas.microsoft.com/office/powerpoint/2010/main" val="17959241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Ambiguity, Associativity, and Precedence</a:t>
            </a:r>
          </a:p>
        </p:txBody>
      </p:sp>
      <p:sp>
        <p:nvSpPr>
          <p:cNvPr id="3" name="Content Placeholder 2"/>
          <p:cNvSpPr>
            <a:spLocks noGrp="1"/>
          </p:cNvSpPr>
          <p:nvPr>
            <p:ph idx="1"/>
          </p:nvPr>
        </p:nvSpPr>
        <p:spPr>
          <a:xfrm>
            <a:off x="838200" y="1809295"/>
            <a:ext cx="10515600" cy="4884458"/>
          </a:xfrm>
        </p:spPr>
        <p:txBody>
          <a:bodyPr>
            <a:noAutofit/>
          </a:bodyPr>
          <a:lstStyle/>
          <a:p>
            <a:r>
              <a:rPr lang="en-US" altLang="en-US" dirty="0"/>
              <a:t>One Possible Solution:</a:t>
            </a:r>
          </a:p>
          <a:p>
            <a:pPr>
              <a:defRPr/>
            </a:pPr>
            <a:r>
              <a:rPr lang="en-US" altLang="en-US" dirty="0"/>
              <a:t>For subtraction:</a:t>
            </a:r>
          </a:p>
          <a:p>
            <a:pPr marL="457200" lvl="1" indent="0">
              <a:buFontTx/>
              <a:buNone/>
            </a:pPr>
            <a:r>
              <a:rPr lang="en-US" altLang="en-US" sz="2800" dirty="0"/>
              <a:t>expr -&gt; expr - term | term</a:t>
            </a:r>
          </a:p>
          <a:p>
            <a:pPr marL="457200" lvl="1" indent="0">
              <a:buFontTx/>
              <a:buNone/>
            </a:pPr>
            <a:r>
              <a:rPr lang="en-US" altLang="en-US" sz="2800" dirty="0"/>
              <a:t>term -&gt; term * factor | factor</a:t>
            </a:r>
          </a:p>
          <a:p>
            <a:pPr marL="457200" lvl="1" indent="0">
              <a:buFontTx/>
              <a:buNone/>
            </a:pPr>
            <a:r>
              <a:rPr lang="en-US" altLang="en-US" sz="2800" dirty="0"/>
              <a:t>factor -&gt; ( expr) | number</a:t>
            </a:r>
          </a:p>
          <a:p>
            <a:r>
              <a:rPr lang="en-US" altLang="en-US" dirty="0"/>
              <a:t>Left-associate solution</a:t>
            </a:r>
          </a:p>
          <a:p>
            <a:pPr lvl="1"/>
            <a:r>
              <a:rPr lang="en-US" altLang="en-US" sz="2800" dirty="0"/>
              <a:t>5 - 4 - 3 becomes (5 - 4) - 3</a:t>
            </a:r>
          </a:p>
          <a:p>
            <a:pPr lvl="1"/>
            <a:endParaRPr lang="en-US" altLang="en-US" sz="2800" dirty="0"/>
          </a:p>
          <a:p>
            <a:pPr lvl="1"/>
            <a:endParaRPr lang="en-US" altLang="en-US" sz="2800" dirty="0"/>
          </a:p>
        </p:txBody>
      </p:sp>
    </p:spTree>
    <p:extLst>
      <p:ext uri="{BB962C8B-B14F-4D97-AF65-F5344CB8AC3E}">
        <p14:creationId xmlns:p14="http://schemas.microsoft.com/office/powerpoint/2010/main" val="282719382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Ambiguity, Associativity, and Precedence</a:t>
            </a:r>
          </a:p>
        </p:txBody>
      </p:sp>
      <p:pic>
        <p:nvPicPr>
          <p:cNvPr id="4"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1812472"/>
            <a:ext cx="9525762" cy="3559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06525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Ambiguity, Associativity, and Precedence</a:t>
            </a:r>
          </a:p>
        </p:txBody>
      </p:sp>
      <p:sp>
        <p:nvSpPr>
          <p:cNvPr id="3" name="Content Placeholder 2"/>
          <p:cNvSpPr>
            <a:spLocks noGrp="1"/>
          </p:cNvSpPr>
          <p:nvPr>
            <p:ph idx="1"/>
          </p:nvPr>
        </p:nvSpPr>
        <p:spPr>
          <a:xfrm>
            <a:off x="838200" y="1809295"/>
            <a:ext cx="10515600" cy="4884458"/>
          </a:xfrm>
        </p:spPr>
        <p:txBody>
          <a:bodyPr>
            <a:noAutofit/>
          </a:bodyPr>
          <a:lstStyle/>
          <a:p>
            <a:pPr lvl="1"/>
            <a:endParaRPr lang="en-US" altLang="en-US" sz="2800" dirty="0"/>
          </a:p>
          <a:p>
            <a:pPr lvl="1"/>
            <a:endParaRPr lang="en-US" altLang="en-US" sz="2800" dirty="0"/>
          </a:p>
        </p:txBody>
      </p:sp>
    </p:spTree>
    <p:extLst>
      <p:ext uri="{BB962C8B-B14F-4D97-AF65-F5344CB8AC3E}">
        <p14:creationId xmlns:p14="http://schemas.microsoft.com/office/powerpoint/2010/main" val="413664098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EBNF</a:t>
            </a:r>
          </a:p>
        </p:txBody>
      </p:sp>
      <p:sp>
        <p:nvSpPr>
          <p:cNvPr id="3" name="Content Placeholder 2"/>
          <p:cNvSpPr>
            <a:spLocks noGrp="1"/>
          </p:cNvSpPr>
          <p:nvPr>
            <p:ph idx="1"/>
          </p:nvPr>
        </p:nvSpPr>
        <p:spPr>
          <a:xfrm>
            <a:off x="838200" y="1825624"/>
            <a:ext cx="10515600" cy="4884458"/>
          </a:xfrm>
        </p:spPr>
        <p:txBody>
          <a:bodyPr>
            <a:noAutofit/>
          </a:bodyPr>
          <a:lstStyle/>
          <a:p>
            <a:r>
              <a:rPr lang="en-US" altLang="en-US" b="1" dirty="0"/>
              <a:t>Extended Backus-Naur form </a:t>
            </a:r>
            <a:r>
              <a:rPr lang="en-US" altLang="en-US" dirty="0"/>
              <a:t>(or </a:t>
            </a:r>
            <a:r>
              <a:rPr lang="en-US" altLang="en-US" b="1" dirty="0"/>
              <a:t>EBNF</a:t>
            </a:r>
            <a:r>
              <a:rPr lang="en-US" altLang="en-US" dirty="0"/>
              <a:t>): introduces new notation to handle common issues</a:t>
            </a:r>
          </a:p>
          <a:p>
            <a:pPr lvl="1"/>
            <a:r>
              <a:rPr lang="en-US" altLang="en-US" sz="2800" dirty="0"/>
              <a:t>Examples:	number </a:t>
            </a:r>
            <a:r>
              <a:rPr lang="en-US" altLang="en-US" sz="2800" dirty="0">
                <a:sym typeface="Wingdings" panose="05000000000000000000" pitchFamily="2" charset="2"/>
              </a:rPr>
              <a:t> number digit | digit</a:t>
            </a:r>
            <a:endParaRPr lang="en-US" altLang="en-US" dirty="0">
              <a:sym typeface="Wingdings" panose="05000000000000000000" pitchFamily="2" charset="2"/>
            </a:endParaRPr>
          </a:p>
          <a:p>
            <a:pPr marL="457200" lvl="1" indent="0">
              <a:buNone/>
            </a:pPr>
            <a:r>
              <a:rPr lang="en-US" altLang="en-US" sz="2800" dirty="0">
                <a:sym typeface="Wingdings" panose="05000000000000000000" pitchFamily="2" charset="2"/>
              </a:rPr>
              <a:t> 	generates:	</a:t>
            </a:r>
            <a:r>
              <a:rPr lang="en-US" altLang="en-US" sz="2800">
                <a:sym typeface="Wingdings" panose="05000000000000000000" pitchFamily="2" charset="2"/>
              </a:rPr>
              <a:t>number=&gt; </a:t>
            </a:r>
            <a:r>
              <a:rPr lang="en-US" altLang="en-US" sz="2800" dirty="0">
                <a:sym typeface="Wingdings" panose="05000000000000000000" pitchFamily="2" charset="2"/>
              </a:rPr>
              <a:t>	number digit</a:t>
            </a:r>
          </a:p>
          <a:p>
            <a:pPr marL="457200" lvl="1" indent="0">
              <a:buNone/>
            </a:pPr>
            <a:r>
              <a:rPr lang="en-US" altLang="en-US" sz="2800" dirty="0">
                <a:sym typeface="Wingdings" panose="05000000000000000000" pitchFamily="2" charset="2"/>
              </a:rPr>
              <a:t>					number digit </a:t>
            </a:r>
            <a:r>
              <a:rPr lang="en-US" altLang="en-US" sz="2800" dirty="0" err="1">
                <a:sym typeface="Wingdings" panose="05000000000000000000" pitchFamily="2" charset="2"/>
              </a:rPr>
              <a:t>digit</a:t>
            </a:r>
            <a:endParaRPr lang="en-US" altLang="en-US" sz="2800" dirty="0">
              <a:sym typeface="Wingdings" panose="05000000000000000000" pitchFamily="2" charset="2"/>
            </a:endParaRPr>
          </a:p>
          <a:p>
            <a:pPr marL="457200" lvl="1" indent="0">
              <a:buNone/>
            </a:pPr>
            <a:r>
              <a:rPr lang="en-US" altLang="en-US" sz="2800" dirty="0">
                <a:sym typeface="Wingdings" panose="05000000000000000000" pitchFamily="2" charset="2"/>
              </a:rPr>
              <a:t>					number digit </a:t>
            </a:r>
            <a:r>
              <a:rPr lang="en-US" altLang="en-US" sz="2800" dirty="0" err="1">
                <a:sym typeface="Wingdings" panose="05000000000000000000" pitchFamily="2" charset="2"/>
              </a:rPr>
              <a:t>digit</a:t>
            </a:r>
            <a:r>
              <a:rPr lang="en-US" altLang="en-US" sz="2800" dirty="0">
                <a:sym typeface="Wingdings" panose="05000000000000000000" pitchFamily="2" charset="2"/>
              </a:rPr>
              <a:t> </a:t>
            </a:r>
            <a:r>
              <a:rPr lang="en-US" altLang="en-US" sz="2800" dirty="0" err="1">
                <a:sym typeface="Wingdings" panose="05000000000000000000" pitchFamily="2" charset="2"/>
              </a:rPr>
              <a:t>digit</a:t>
            </a:r>
            <a:endParaRPr lang="en-US" altLang="en-US" sz="2800" dirty="0">
              <a:sym typeface="Wingdings" panose="05000000000000000000" pitchFamily="2" charset="2"/>
            </a:endParaRPr>
          </a:p>
          <a:p>
            <a:pPr marL="457200" lvl="1" indent="0">
              <a:buNone/>
            </a:pPr>
            <a:r>
              <a:rPr lang="en-US" altLang="en-US" sz="2800" dirty="0">
                <a:sym typeface="Wingdings" panose="05000000000000000000" pitchFamily="2" charset="2"/>
              </a:rPr>
              <a:t>					…</a:t>
            </a:r>
          </a:p>
          <a:p>
            <a:pPr marL="457200" lvl="1" indent="0">
              <a:buNone/>
            </a:pPr>
            <a:r>
              <a:rPr lang="en-US" altLang="en-US" sz="2800" dirty="0">
                <a:sym typeface="Wingdings" panose="05000000000000000000" pitchFamily="2" charset="2"/>
              </a:rPr>
              <a:t>Or			expr  expr + term | term</a:t>
            </a:r>
          </a:p>
          <a:p>
            <a:pPr marL="457200" lvl="1" indent="0">
              <a:buNone/>
            </a:pPr>
            <a:r>
              <a:rPr lang="en-US" altLang="en-US" sz="2800" dirty="0">
                <a:sym typeface="Wingdings" panose="05000000000000000000" pitchFamily="2" charset="2"/>
              </a:rPr>
              <a:t>	generates: 	</a:t>
            </a:r>
            <a:r>
              <a:rPr lang="en-US" altLang="en-US" sz="2800">
                <a:sym typeface="Wingdings" panose="05000000000000000000" pitchFamily="2" charset="2"/>
              </a:rPr>
              <a:t>expr =&gt; </a:t>
            </a:r>
            <a:r>
              <a:rPr lang="en-US" altLang="en-US" sz="2800" dirty="0">
                <a:sym typeface="Wingdings" panose="05000000000000000000" pitchFamily="2" charset="2"/>
              </a:rPr>
              <a:t>expr + term</a:t>
            </a:r>
          </a:p>
          <a:p>
            <a:pPr marL="457200" lvl="1" indent="0">
              <a:buNone/>
            </a:pPr>
            <a:r>
              <a:rPr lang="en-US" altLang="en-US" sz="2800" dirty="0">
                <a:sym typeface="Wingdings" panose="05000000000000000000" pitchFamily="2" charset="2"/>
              </a:rPr>
              <a:t>			 </a:t>
            </a:r>
            <a:r>
              <a:rPr lang="en-US" altLang="en-US" sz="2800">
                <a:sym typeface="Wingdings" panose="05000000000000000000" pitchFamily="2" charset="2"/>
              </a:rPr>
              <a:t>expr =&gt; </a:t>
            </a:r>
            <a:r>
              <a:rPr lang="en-US" altLang="en-US" sz="2800" dirty="0">
                <a:sym typeface="Wingdings" panose="05000000000000000000" pitchFamily="2" charset="2"/>
              </a:rPr>
              <a:t>expr + term + term</a:t>
            </a:r>
          </a:p>
          <a:p>
            <a:pPr marL="457200" lvl="1" indent="0">
              <a:buNone/>
            </a:pPr>
            <a:r>
              <a:rPr lang="en-US" altLang="en-US" sz="2800" dirty="0">
                <a:sym typeface="Wingdings" panose="05000000000000000000" pitchFamily="2" charset="2"/>
              </a:rPr>
              <a:t>			 </a:t>
            </a:r>
            <a:r>
              <a:rPr lang="en-US" altLang="en-US" sz="2800">
                <a:sym typeface="Wingdings" panose="05000000000000000000" pitchFamily="2" charset="2"/>
              </a:rPr>
              <a:t>expr =&gt; </a:t>
            </a:r>
            <a:r>
              <a:rPr lang="en-US" altLang="en-US" sz="2800" dirty="0">
                <a:sym typeface="Wingdings" panose="05000000000000000000" pitchFamily="2" charset="2"/>
              </a:rPr>
              <a:t>expr + term + term + term 	…</a:t>
            </a:r>
          </a:p>
          <a:p>
            <a:pPr marL="457200" lvl="1" indent="0">
              <a:buNone/>
            </a:pPr>
            <a:r>
              <a:rPr lang="en-US" altLang="en-US" sz="2800" dirty="0">
                <a:sym typeface="Wingdings" panose="05000000000000000000" pitchFamily="2" charset="2"/>
              </a:rPr>
              <a:t>		</a:t>
            </a:r>
          </a:p>
        </p:txBody>
      </p:sp>
    </p:spTree>
    <p:extLst>
      <p:ext uri="{BB962C8B-B14F-4D97-AF65-F5344CB8AC3E}">
        <p14:creationId xmlns:p14="http://schemas.microsoft.com/office/powerpoint/2010/main" val="3113262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EBNF</a:t>
            </a:r>
          </a:p>
        </p:txBody>
      </p:sp>
      <p:sp>
        <p:nvSpPr>
          <p:cNvPr id="3" name="Content Placeholder 2"/>
          <p:cNvSpPr>
            <a:spLocks noGrp="1"/>
          </p:cNvSpPr>
          <p:nvPr>
            <p:ph idx="1"/>
          </p:nvPr>
        </p:nvSpPr>
        <p:spPr>
          <a:xfrm>
            <a:off x="838200" y="1825624"/>
            <a:ext cx="10515600" cy="4884458"/>
          </a:xfrm>
        </p:spPr>
        <p:txBody>
          <a:bodyPr>
            <a:noAutofit/>
          </a:bodyPr>
          <a:lstStyle/>
          <a:p>
            <a:r>
              <a:rPr lang="en-US" altLang="en-US" b="1" dirty="0"/>
              <a:t>Extended Backus-Naur form </a:t>
            </a:r>
            <a:r>
              <a:rPr lang="en-US" altLang="en-US" dirty="0"/>
              <a:t>(or </a:t>
            </a:r>
            <a:r>
              <a:rPr lang="en-US" altLang="en-US" b="1" dirty="0"/>
              <a:t>EBNF</a:t>
            </a:r>
            <a:r>
              <a:rPr lang="en-US" altLang="en-US" dirty="0"/>
              <a:t>): introduces new notation to handle common issues</a:t>
            </a:r>
          </a:p>
          <a:p>
            <a:r>
              <a:rPr lang="en-US" altLang="en-US" dirty="0"/>
              <a:t>Use curly braces to indicate 0 or more repetitions</a:t>
            </a:r>
          </a:p>
          <a:p>
            <a:pPr lvl="1"/>
            <a:r>
              <a:rPr lang="en-US" altLang="en-US" sz="2800" dirty="0"/>
              <a:t>Assumes that any operator involved in a curly bracket repetition is left-associative</a:t>
            </a:r>
          </a:p>
          <a:p>
            <a:pPr lvl="1"/>
            <a:r>
              <a:rPr lang="en-US" altLang="en-US" sz="2800" dirty="0"/>
              <a:t>Example: </a:t>
            </a:r>
          </a:p>
          <a:p>
            <a:r>
              <a:rPr lang="en-US" altLang="en-US" dirty="0"/>
              <a:t>Use square brackets to indicate optional parts</a:t>
            </a:r>
          </a:p>
          <a:p>
            <a:pPr lvl="1"/>
            <a:r>
              <a:rPr lang="en-US" altLang="en-US" sz="2800" dirty="0"/>
              <a:t>Example:</a:t>
            </a:r>
          </a:p>
        </p:txBody>
      </p:sp>
      <p:pic>
        <p:nvPicPr>
          <p:cNvPr id="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92929" y="3902529"/>
            <a:ext cx="3829483" cy="593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8685" y="5410200"/>
            <a:ext cx="9682167" cy="582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33971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rgbClr val="0070C0"/>
                </a:solidFill>
              </a:rPr>
              <a:t>EBNF</a:t>
            </a:r>
          </a:p>
        </p:txBody>
      </p:sp>
      <p:pic>
        <p:nvPicPr>
          <p:cNvPr id="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341" y="2322689"/>
            <a:ext cx="11178975" cy="4250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2"/>
          <p:cNvPicPr>
            <a:picLocks noGrp="1" noChangeAspect="1" noChangeArrowheads="1"/>
          </p:cNvPicPr>
          <p:nvPr>
            <p:ph idx="1"/>
          </p:nvPr>
        </p:nvPicPr>
        <p:blipFill>
          <a:blip r:embed="rId4">
            <a:extLst>
              <a:ext uri="{28A0092B-C50C-407E-A947-70E740481C1C}">
                <a14:useLocalDpi xmlns:a14="http://schemas.microsoft.com/office/drawing/2010/main" val="0"/>
              </a:ext>
            </a:extLst>
          </a:blip>
          <a:srcRect/>
          <a:stretch>
            <a:fillRect/>
          </a:stretch>
        </p:blipFill>
        <p:spPr bwMode="auto">
          <a:xfrm>
            <a:off x="6955970" y="1690688"/>
            <a:ext cx="5061203" cy="1891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12942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65316EAB-7D9D-F44C-9359-5EAF5ACFF67A}" vid="{A314C093-9F88-C04E-9797-11A80E266CD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1538</TotalTime>
  <Words>1591</Words>
  <Application>Microsoft Macintosh PowerPoint</Application>
  <PresentationFormat>Widescreen</PresentationFormat>
  <Paragraphs>236</Paragraphs>
  <Slides>32</Slides>
  <Notes>26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32</vt:i4>
      </vt:variant>
    </vt:vector>
  </HeadingPairs>
  <TitlesOfParts>
    <vt:vector size="41" baseType="lpstr">
      <vt:lpstr>MS PGothic</vt:lpstr>
      <vt:lpstr>Arial</vt:lpstr>
      <vt:lpstr>Calibri</vt:lpstr>
      <vt:lpstr>Calibri Light</vt:lpstr>
      <vt:lpstr>Lucida Sans Unicode</vt:lpstr>
      <vt:lpstr>Mangal</vt:lpstr>
      <vt:lpstr>Times</vt:lpstr>
      <vt:lpstr>Wingdings</vt:lpstr>
      <vt:lpstr>Office Theme</vt:lpstr>
      <vt:lpstr>CMSC 304</vt:lpstr>
      <vt:lpstr>Introduction</vt:lpstr>
      <vt:lpstr>Syntax Analysis of Code</vt:lpstr>
      <vt:lpstr>Syntactic Structure</vt:lpstr>
      <vt:lpstr>Parse Trees</vt:lpstr>
      <vt:lpstr>Parse Trees</vt:lpstr>
      <vt:lpstr>Parse Trees</vt:lpstr>
      <vt:lpstr>Parse Trees</vt:lpstr>
      <vt:lpstr>Parse Trees</vt:lpstr>
      <vt:lpstr>Abstract Syntax Trees</vt:lpstr>
      <vt:lpstr>Abstract Syntax Trees</vt:lpstr>
      <vt:lpstr>Abstract Syntax Trees</vt:lpstr>
      <vt:lpstr>Abstract Syntax Trees</vt:lpstr>
      <vt:lpstr>Abstract Syntax Trees</vt:lpstr>
      <vt:lpstr>Abstract Syntax Trees</vt:lpstr>
      <vt:lpstr>Ambiguity, Associativity, and Precedence</vt:lpstr>
      <vt:lpstr>Ambiguity, Associativity, and Precedence</vt:lpstr>
      <vt:lpstr>Ambiguity, Associativity, and Precedence</vt:lpstr>
      <vt:lpstr>Ambiguity, Associativity, and Precedence</vt:lpstr>
      <vt:lpstr>Ambiguity, Associativity, and Precedence</vt:lpstr>
      <vt:lpstr>Ambiguity, Associativity, and Precedence</vt:lpstr>
      <vt:lpstr>Ambiguity, Associativity, and Precedence</vt:lpstr>
      <vt:lpstr>Ambiguity, Associativity, and Precedence</vt:lpstr>
      <vt:lpstr>Ambiguity, Associativity, and Precedence</vt:lpstr>
      <vt:lpstr>Ambiguity, Associativity, and Precedence</vt:lpstr>
      <vt:lpstr>Ambiguity, Associativity, and Precedence</vt:lpstr>
      <vt:lpstr>Ambiguity, Associativity, and Precedence</vt:lpstr>
      <vt:lpstr>Ambiguity, Associativity, and Precedence</vt:lpstr>
      <vt:lpstr>Ambiguity, Associativity, and Precedence</vt:lpstr>
      <vt:lpstr>EBNF</vt:lpstr>
      <vt:lpstr>EBNF</vt:lpstr>
      <vt:lpstr>EBNF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CMSC 403</dc:title>
  <dc:creator>Microsoft Office User</dc:creator>
  <cp:lastModifiedBy>Microsoft Office User</cp:lastModifiedBy>
  <cp:revision>50</cp:revision>
  <dcterms:created xsi:type="dcterms:W3CDTF">2019-07-09T19:26:21Z</dcterms:created>
  <dcterms:modified xsi:type="dcterms:W3CDTF">2025-04-02T15:35:20Z</dcterms:modified>
</cp:coreProperties>
</file>