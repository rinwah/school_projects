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325" r:id="rId3"/>
    <p:sldId id="481" r:id="rId4"/>
    <p:sldId id="442" r:id="rId5"/>
    <p:sldId id="443" r:id="rId6"/>
    <p:sldId id="408" r:id="rId7"/>
    <p:sldId id="479" r:id="rId8"/>
    <p:sldId id="428" r:id="rId9"/>
    <p:sldId id="482" r:id="rId10"/>
    <p:sldId id="445" r:id="rId11"/>
    <p:sldId id="483" r:id="rId12"/>
    <p:sldId id="484" r:id="rId13"/>
    <p:sldId id="648" r:id="rId14"/>
    <p:sldId id="430" r:id="rId15"/>
    <p:sldId id="485" r:id="rId16"/>
    <p:sldId id="495" r:id="rId17"/>
    <p:sldId id="486" r:id="rId18"/>
    <p:sldId id="496" r:id="rId19"/>
    <p:sldId id="487" r:id="rId20"/>
    <p:sldId id="488" r:id="rId21"/>
    <p:sldId id="497" r:id="rId22"/>
    <p:sldId id="446" r:id="rId23"/>
    <p:sldId id="452" r:id="rId24"/>
    <p:sldId id="645" r:id="rId25"/>
    <p:sldId id="456" r:id="rId26"/>
    <p:sldId id="457" r:id="rId27"/>
    <p:sldId id="499" r:id="rId28"/>
    <p:sldId id="644" r:id="rId29"/>
    <p:sldId id="501" r:id="rId30"/>
    <p:sldId id="420" r:id="rId31"/>
    <p:sldId id="425" r:id="rId32"/>
    <p:sldId id="421" r:id="rId33"/>
    <p:sldId id="426" r:id="rId34"/>
    <p:sldId id="647"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20"/>
    <p:restoredTop sz="80897"/>
  </p:normalViewPr>
  <p:slideViewPr>
    <p:cSldViewPr snapToGrid="0" snapToObjects="1">
      <p:cViewPr varScale="1">
        <p:scale>
          <a:sx n="78" d="100"/>
          <a:sy n="78" d="100"/>
        </p:scale>
        <p:origin x="200" y="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9C3FBE-CC6D-C84E-A32C-3E7139D0BEF1}" type="datetimeFigureOut">
              <a:rPr lang="en-US" smtClean="0"/>
              <a:t>2/19/25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AC0DA4-3FAE-DF4B-9554-5D7B5414A6C1}" type="slidenum">
              <a:rPr lang="en-US" smtClean="0"/>
              <a:t>‹#›</a:t>
            </a:fld>
            <a:endParaRPr lang="en-US"/>
          </a:p>
        </p:txBody>
      </p:sp>
    </p:spTree>
    <p:extLst>
      <p:ext uri="{BB962C8B-B14F-4D97-AF65-F5344CB8AC3E}">
        <p14:creationId xmlns:p14="http://schemas.microsoft.com/office/powerpoint/2010/main" val="33856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All these built in data types are objects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Contrast this with Java’s messy Primitive vs Reference type nonsense </a:t>
            </a:r>
          </a:p>
        </p:txBody>
      </p:sp>
      <p:sp>
        <p:nvSpPr>
          <p:cNvPr id="4" name="Slide Number Placeholder 3"/>
          <p:cNvSpPr>
            <a:spLocks noGrp="1"/>
          </p:cNvSpPr>
          <p:nvPr>
            <p:ph type="sldNum" sz="quarter" idx="5"/>
          </p:nvPr>
        </p:nvSpPr>
        <p:spPr/>
        <p:txBody>
          <a:bodyPr/>
          <a:lstStyle/>
          <a:p>
            <a:fld id="{BCAC0DA4-3FAE-DF4B-9554-5D7B5414A6C1}" type="slidenum">
              <a:rPr lang="en-US" smtClean="0"/>
              <a:t>3</a:t>
            </a:fld>
            <a:endParaRPr lang="en-US"/>
          </a:p>
        </p:txBody>
      </p:sp>
    </p:spTree>
    <p:extLst>
      <p:ext uri="{BB962C8B-B14F-4D97-AF65-F5344CB8AC3E}">
        <p14:creationId xmlns:p14="http://schemas.microsoft.com/office/powerpoint/2010/main" val="2507300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is considered </a:t>
            </a:r>
          </a:p>
        </p:txBody>
      </p:sp>
      <p:sp>
        <p:nvSpPr>
          <p:cNvPr id="4" name="Slide Number Placeholder 3"/>
          <p:cNvSpPr>
            <a:spLocks noGrp="1"/>
          </p:cNvSpPr>
          <p:nvPr>
            <p:ph type="sldNum" sz="quarter" idx="5"/>
          </p:nvPr>
        </p:nvSpPr>
        <p:spPr/>
        <p:txBody>
          <a:bodyPr/>
          <a:lstStyle/>
          <a:p>
            <a:fld id="{BCAC0DA4-3FAE-DF4B-9554-5D7B5414A6C1}" type="slidenum">
              <a:rPr lang="en-US" smtClean="0"/>
              <a:t>7</a:t>
            </a:fld>
            <a:endParaRPr lang="en-US"/>
          </a:p>
        </p:txBody>
      </p:sp>
    </p:spTree>
    <p:extLst>
      <p:ext uri="{BB962C8B-B14F-4D97-AF65-F5344CB8AC3E}">
        <p14:creationId xmlns:p14="http://schemas.microsoft.com/office/powerpoint/2010/main" val="2808985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Lists are:</a:t>
            </a:r>
          </a:p>
          <a:p>
            <a:pPr lvl="1"/>
            <a:r>
              <a:rPr lang="en-US" altLang="en-US" dirty="0">
                <a:cs typeface="Times New Roman" panose="02020603050405020304" pitchFamily="18" charset="0"/>
              </a:rPr>
              <a:t>Ordered and accessed by index </a:t>
            </a:r>
          </a:p>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10</a:t>
            </a:fld>
            <a:endParaRPr lang="en-US"/>
          </a:p>
        </p:txBody>
      </p:sp>
    </p:spTree>
    <p:extLst>
      <p:ext uri="{BB962C8B-B14F-4D97-AF65-F5344CB8AC3E}">
        <p14:creationId xmlns:p14="http://schemas.microsoft.com/office/powerpoint/2010/main" val="3121839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Lists are:</a:t>
            </a:r>
          </a:p>
          <a:p>
            <a:pPr lvl="1"/>
            <a:r>
              <a:rPr lang="en-US" altLang="en-US" dirty="0">
                <a:cs typeface="Times New Roman" panose="02020603050405020304" pitchFamily="18" charset="0"/>
              </a:rPr>
              <a:t>Mutable</a:t>
            </a:r>
          </a:p>
          <a:p>
            <a:pPr lvl="1"/>
            <a:r>
              <a:rPr lang="en-US" altLang="en-US" dirty="0">
                <a:cs typeface="Times New Roman" panose="02020603050405020304" pitchFamily="18" charset="0"/>
              </a:rPr>
              <a:t>Able to hold objects of arbitrary type </a:t>
            </a:r>
          </a:p>
          <a:p>
            <a:pPr lvl="1"/>
            <a:r>
              <a:rPr lang="en-US" altLang="en-US" dirty="0">
                <a:cs typeface="Times New Roman" panose="02020603050405020304" pitchFamily="18" charset="0"/>
              </a:rPr>
              <a:t>Able to hold objects of different types </a:t>
            </a:r>
          </a:p>
          <a:p>
            <a:pPr lvl="1"/>
            <a:r>
              <a:rPr lang="en-US" altLang="en-US" dirty="0">
                <a:cs typeface="Times New Roman" panose="02020603050405020304" pitchFamily="18" charset="0"/>
              </a:rPr>
              <a:t>Dynamically sized </a:t>
            </a:r>
          </a:p>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11</a:t>
            </a:fld>
            <a:endParaRPr lang="en-US"/>
          </a:p>
        </p:txBody>
      </p:sp>
    </p:spTree>
    <p:extLst>
      <p:ext uri="{BB962C8B-B14F-4D97-AF65-F5344CB8AC3E}">
        <p14:creationId xmlns:p14="http://schemas.microsoft.com/office/powerpoint/2010/main" val="1113705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cs typeface="Times New Roman" panose="02020603050405020304" pitchFamily="18" charset="0"/>
              </a:rPr>
              <a:t>Tuples: </a:t>
            </a:r>
          </a:p>
          <a:p>
            <a:pPr lvl="1"/>
            <a:r>
              <a:rPr lang="en-US" altLang="en-US" dirty="0">
                <a:cs typeface="Times New Roman" panose="02020603050405020304" pitchFamily="18" charset="0"/>
              </a:rPr>
              <a:t>Are immutable </a:t>
            </a:r>
          </a:p>
          <a:p>
            <a:pPr lvl="1"/>
            <a:r>
              <a:rPr lang="en-US" altLang="en-US" dirty="0">
                <a:cs typeface="Times New Roman" panose="02020603050405020304" pitchFamily="18" charset="0"/>
              </a:rPr>
              <a:t>Support sequence packing and unpacking </a:t>
            </a:r>
          </a:p>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12</a:t>
            </a:fld>
            <a:endParaRPr lang="en-US"/>
          </a:p>
        </p:txBody>
      </p:sp>
    </p:spTree>
    <p:extLst>
      <p:ext uri="{BB962C8B-B14F-4D97-AF65-F5344CB8AC3E}">
        <p14:creationId xmlns:p14="http://schemas.microsoft.com/office/powerpoint/2010/main" val="3206331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happens because Python is trying to save memory here</a:t>
            </a:r>
          </a:p>
          <a:p>
            <a:endParaRPr lang="en-US" dirty="0"/>
          </a:p>
          <a:p>
            <a:r>
              <a:rPr lang="en-US" dirty="0"/>
              <a:t>It works because most objects are immutable</a:t>
            </a:r>
          </a:p>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14</a:t>
            </a:fld>
            <a:endParaRPr lang="en-US"/>
          </a:p>
        </p:txBody>
      </p:sp>
    </p:spTree>
    <p:extLst>
      <p:ext uri="{BB962C8B-B14F-4D97-AF65-F5344CB8AC3E}">
        <p14:creationId xmlns:p14="http://schemas.microsoft.com/office/powerpoint/2010/main" val="4278120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cs typeface="Times New Roman" panose="02020603050405020304" pitchFamily="18" charset="0"/>
              </a:rPr>
              <a:t>Control-C can be used as an escape sequence in the python environment </a:t>
            </a:r>
          </a:p>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15</a:t>
            </a:fld>
            <a:endParaRPr lang="en-US"/>
          </a:p>
        </p:txBody>
      </p:sp>
    </p:spTree>
    <p:extLst>
      <p:ext uri="{BB962C8B-B14F-4D97-AF65-F5344CB8AC3E}">
        <p14:creationId xmlns:p14="http://schemas.microsoft.com/office/powerpoint/2010/main" val="2690154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
            </a:r>
            <a:r>
              <a:rPr lang="en-US" dirty="0" err="1"/>
              <a:t>i</a:t>
            </a:r>
            <a:r>
              <a:rPr lang="en-US" dirty="0"/>
              <a:t>] = start + step*</a:t>
            </a:r>
            <a:r>
              <a:rPr lang="en-US" dirty="0" err="1"/>
              <a:t>i</a:t>
            </a:r>
            <a:r>
              <a:rPr lang="en-US" dirty="0"/>
              <a:t> where </a:t>
            </a:r>
            <a:r>
              <a:rPr lang="en-US" dirty="0" err="1"/>
              <a:t>i</a:t>
            </a:r>
            <a:r>
              <a:rPr lang="en-US" dirty="0"/>
              <a:t> &gt;= 0 and r[</a:t>
            </a:r>
            <a:r>
              <a:rPr lang="en-US" dirty="0" err="1"/>
              <a:t>i</a:t>
            </a:r>
            <a:r>
              <a:rPr lang="en-US" dirty="0"/>
              <a:t>] &lt; stop </a:t>
            </a:r>
          </a:p>
        </p:txBody>
      </p:sp>
      <p:sp>
        <p:nvSpPr>
          <p:cNvPr id="4" name="Slide Number Placeholder 3"/>
          <p:cNvSpPr>
            <a:spLocks noGrp="1"/>
          </p:cNvSpPr>
          <p:nvPr>
            <p:ph type="sldNum" sz="quarter" idx="5"/>
          </p:nvPr>
        </p:nvSpPr>
        <p:spPr/>
        <p:txBody>
          <a:bodyPr/>
          <a:lstStyle/>
          <a:p>
            <a:fld id="{BCAC0DA4-3FAE-DF4B-9554-5D7B5414A6C1}" type="slidenum">
              <a:rPr lang="en-US" smtClean="0"/>
              <a:t>16</a:t>
            </a:fld>
            <a:endParaRPr lang="en-US"/>
          </a:p>
        </p:txBody>
      </p:sp>
    </p:spTree>
    <p:extLst>
      <p:ext uri="{BB962C8B-B14F-4D97-AF65-F5344CB8AC3E}">
        <p14:creationId xmlns:p14="http://schemas.microsoft.com/office/powerpoint/2010/main" val="238349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cs typeface="Times New Roman" panose="02020603050405020304" pitchFamily="18" charset="0"/>
              </a:rPr>
              <a:t>The range function returns a list from x to y, x is included, y is not  </a:t>
            </a:r>
          </a:p>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17</a:t>
            </a:fld>
            <a:endParaRPr lang="en-US"/>
          </a:p>
        </p:txBody>
      </p:sp>
    </p:spTree>
    <p:extLst>
      <p:ext uri="{BB962C8B-B14F-4D97-AF65-F5344CB8AC3E}">
        <p14:creationId xmlns:p14="http://schemas.microsoft.com/office/powerpoint/2010/main" val="36125270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18</a:t>
            </a:fld>
            <a:endParaRPr lang="en-US"/>
          </a:p>
        </p:txBody>
      </p:sp>
    </p:spTree>
    <p:extLst>
      <p:ext uri="{BB962C8B-B14F-4D97-AF65-F5344CB8AC3E}">
        <p14:creationId xmlns:p14="http://schemas.microsoft.com/office/powerpoint/2010/main" val="29565854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23</a:t>
            </a:fld>
            <a:endParaRPr lang="en-US"/>
          </a:p>
        </p:txBody>
      </p:sp>
    </p:spTree>
    <p:extLst>
      <p:ext uri="{BB962C8B-B14F-4D97-AF65-F5344CB8AC3E}">
        <p14:creationId xmlns:p14="http://schemas.microsoft.com/office/powerpoint/2010/main" val="1319152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C197D23-1D1C-734C-9188-3D38F4DBA869}" type="datetimeFigureOut">
              <a:rPr lang="en-US" smtClean="0"/>
              <a:t>2/19/25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72538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197D23-1D1C-734C-9188-3D38F4DBA869}" type="datetimeFigureOut">
              <a:rPr lang="en-US" smtClean="0"/>
              <a:t>2/19/25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536450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197D23-1D1C-734C-9188-3D38F4DBA869}" type="datetimeFigureOut">
              <a:rPr lang="en-US" smtClean="0"/>
              <a:t>2/19/25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788232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C197D23-1D1C-734C-9188-3D38F4DBA869}" type="datetimeFigureOut">
              <a:rPr lang="en-US" smtClean="0"/>
              <a:t>2/19/25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790407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C197D23-1D1C-734C-9188-3D38F4DBA869}" type="datetimeFigureOut">
              <a:rPr lang="en-US" smtClean="0"/>
              <a:t>2/19/25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51903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C197D23-1D1C-734C-9188-3D38F4DBA869}" type="datetimeFigureOut">
              <a:rPr lang="en-US" smtClean="0"/>
              <a:t>2/19/25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455830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197D23-1D1C-734C-9188-3D38F4DBA869}" type="datetimeFigureOut">
              <a:rPr lang="en-US" smtClean="0"/>
              <a:t>2/19/25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076002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197D23-1D1C-734C-9188-3D38F4DBA869}" type="datetimeFigureOut">
              <a:rPr lang="en-US" smtClean="0"/>
              <a:t>2/19/25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418411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197D23-1D1C-734C-9188-3D38F4DBA869}" type="datetimeFigureOut">
              <a:rPr lang="en-US" smtClean="0"/>
              <a:t>2/19/25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373157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197D23-1D1C-734C-9188-3D38F4DBA869}" type="datetimeFigureOut">
              <a:rPr lang="en-US" smtClean="0"/>
              <a:t>2/19/25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80578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197D23-1D1C-734C-9188-3D38F4DBA869}" type="datetimeFigureOut">
              <a:rPr lang="en-US" smtClean="0"/>
              <a:t>2/19/25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672554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197D23-1D1C-734C-9188-3D38F4DBA869}" type="datetimeFigureOut">
              <a:rPr lang="en-US" smtClean="0"/>
              <a:t>2/19/25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726966-79DA-234F-B9D6-D01F1009FBDE}" type="slidenum">
              <a:rPr lang="en-US" smtClean="0"/>
              <a:t>‹#›</a:t>
            </a:fld>
            <a:endParaRPr lang="en-US"/>
          </a:p>
        </p:txBody>
      </p:sp>
    </p:spTree>
    <p:extLst>
      <p:ext uri="{BB962C8B-B14F-4D97-AF65-F5344CB8AC3E}">
        <p14:creationId xmlns:p14="http://schemas.microsoft.com/office/powerpoint/2010/main" val="1408447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ocs.python.org/3/library/functions.html#func-range"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docs.python.org/3/library/stdtypes.html#tuple" TargetMode="External"/><Relationship Id="rId5" Type="http://schemas.openxmlformats.org/officeDocument/2006/relationships/hyperlink" Target="https://docs.python.org/3/library/stdtypes.html#list" TargetMode="External"/><Relationship Id="rId4" Type="http://schemas.openxmlformats.org/officeDocument/2006/relationships/hyperlink" Target="https://docs.python.org/3/library/stdtypes.html#range"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0070C0"/>
                </a:solidFill>
              </a:rPr>
              <a:t>CMSC 304</a:t>
            </a:r>
          </a:p>
        </p:txBody>
      </p:sp>
      <p:sp>
        <p:nvSpPr>
          <p:cNvPr id="3" name="Subtitle 2"/>
          <p:cNvSpPr>
            <a:spLocks noGrp="1"/>
          </p:cNvSpPr>
          <p:nvPr>
            <p:ph type="subTitle" idx="1"/>
          </p:nvPr>
        </p:nvSpPr>
        <p:spPr/>
        <p:txBody>
          <a:bodyPr/>
          <a:lstStyle/>
          <a:p>
            <a:r>
              <a:rPr lang="en-US" dirty="0"/>
              <a:t>Introduction to Python</a:t>
            </a:r>
          </a:p>
          <a:p>
            <a:r>
              <a:rPr lang="en-US" dirty="0"/>
              <a:t>Claire Sparks</a:t>
            </a:r>
          </a:p>
        </p:txBody>
      </p:sp>
    </p:spTree>
    <p:extLst>
      <p:ext uri="{BB962C8B-B14F-4D97-AF65-F5344CB8AC3E}">
        <p14:creationId xmlns:p14="http://schemas.microsoft.com/office/powerpoint/2010/main" val="70071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Python</a:t>
            </a:r>
          </a:p>
        </p:txBody>
      </p:sp>
      <p:sp>
        <p:nvSpPr>
          <p:cNvPr id="3" name="Content Placeholder 2"/>
          <p:cNvSpPr>
            <a:spLocks noGrp="1"/>
          </p:cNvSpPr>
          <p:nvPr>
            <p:ph idx="1"/>
          </p:nvPr>
        </p:nvSpPr>
        <p:spPr/>
        <p:txBody>
          <a:bodyPr>
            <a:normAutofit/>
          </a:bodyPr>
          <a:lstStyle/>
          <a:p>
            <a:r>
              <a:rPr lang="en-US" dirty="0"/>
              <a:t>Python is a high level, interpreted, imperative, and object oriented programming language</a:t>
            </a:r>
          </a:p>
          <a:p>
            <a:pPr lvl="1"/>
            <a:r>
              <a:rPr lang="en-US" dirty="0"/>
              <a:t>Technically a multi-paradigm language but we’re focusing on the imperative / OO elements</a:t>
            </a:r>
          </a:p>
          <a:p>
            <a:r>
              <a:rPr lang="en-US" dirty="0"/>
              <a:t>Python fits into some of the same language paradigms as Java </a:t>
            </a:r>
          </a:p>
          <a:p>
            <a:pPr lvl="1"/>
            <a:r>
              <a:rPr lang="en-US" dirty="0"/>
              <a:t>Thus the languages behave in very similar ways</a:t>
            </a:r>
          </a:p>
          <a:p>
            <a:r>
              <a:rPr lang="en-US" dirty="0"/>
              <a:t>Python 2 was sunset in 2020 and is significantly different from Python 3</a:t>
            </a:r>
          </a:p>
          <a:p>
            <a:pPr lvl="1"/>
            <a:r>
              <a:rPr lang="en-US" dirty="0"/>
              <a:t>Solutions which work in Python 2 will most likely not work in Python 3</a:t>
            </a:r>
            <a:endParaRPr lang="en-US" altLang="en-US" dirty="0">
              <a:cs typeface="Times New Roman" panose="02020603050405020304" pitchFamily="18" charset="0"/>
            </a:endParaRPr>
          </a:p>
        </p:txBody>
      </p:sp>
    </p:spTree>
    <p:extLst>
      <p:ext uri="{BB962C8B-B14F-4D97-AF65-F5344CB8AC3E}">
        <p14:creationId xmlns:p14="http://schemas.microsoft.com/office/powerpoint/2010/main" val="1946245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Python Data Types</a:t>
            </a:r>
          </a:p>
        </p:txBody>
      </p:sp>
      <p:sp>
        <p:nvSpPr>
          <p:cNvPr id="3" name="Content Placeholder 2"/>
          <p:cNvSpPr>
            <a:spLocks noGrp="1"/>
          </p:cNvSpPr>
          <p:nvPr>
            <p:ph idx="1"/>
          </p:nvPr>
        </p:nvSpPr>
        <p:spPr>
          <a:xfrm>
            <a:off x="838200" y="1825624"/>
            <a:ext cx="5534466" cy="5032375"/>
          </a:xfrm>
        </p:spPr>
        <p:txBody>
          <a:bodyPr>
            <a:normAutofit/>
          </a:bodyPr>
          <a:lstStyle/>
          <a:p>
            <a:r>
              <a:rPr lang="en-US" altLang="en-US" dirty="0">
                <a:cs typeface="Times New Roman" panose="02020603050405020304" pitchFamily="18" charset="0"/>
              </a:rPr>
              <a:t>All data types are objects</a:t>
            </a:r>
          </a:p>
          <a:p>
            <a:r>
              <a:rPr lang="en-US" altLang="en-US" dirty="0">
                <a:cs typeface="Times New Roman" panose="02020603050405020304" pitchFamily="18" charset="0"/>
              </a:rPr>
              <a:t>Python has several built-in data types:</a:t>
            </a:r>
          </a:p>
          <a:p>
            <a:r>
              <a:rPr lang="en-US" altLang="en-US" dirty="0">
                <a:cs typeface="Times New Roman" panose="02020603050405020304" pitchFamily="18" charset="0"/>
              </a:rPr>
              <a:t>None</a:t>
            </a:r>
          </a:p>
          <a:p>
            <a:pPr lvl="1"/>
            <a:r>
              <a:rPr lang="en-US" altLang="en-US" dirty="0">
                <a:cs typeface="Times New Roman" panose="02020603050405020304" pitchFamily="18" charset="0"/>
              </a:rPr>
              <a:t>Python equivalent of null</a:t>
            </a:r>
          </a:p>
          <a:p>
            <a:r>
              <a:rPr lang="en-US" dirty="0"/>
              <a:t>Numeric types:</a:t>
            </a:r>
          </a:p>
          <a:p>
            <a:pPr lvl="1"/>
            <a:r>
              <a:rPr lang="en-US" dirty="0" err="1"/>
              <a:t>int</a:t>
            </a:r>
            <a:r>
              <a:rPr lang="en-US" dirty="0"/>
              <a:t>: Integers; non-limited length </a:t>
            </a:r>
          </a:p>
          <a:p>
            <a:pPr lvl="1"/>
            <a:r>
              <a:rPr lang="en-US" dirty="0"/>
              <a:t>bool: True / False</a:t>
            </a:r>
          </a:p>
          <a:p>
            <a:pPr lvl="1"/>
            <a:r>
              <a:rPr lang="en-US" dirty="0"/>
              <a:t>float: Floating-Point numbers, equivalent to Java doubles</a:t>
            </a:r>
          </a:p>
          <a:p>
            <a:pPr lvl="1"/>
            <a:r>
              <a:rPr lang="en-US" dirty="0"/>
              <a:t>complex: Complex numbers</a:t>
            </a:r>
          </a:p>
          <a:p>
            <a:endParaRPr lang="en-US" dirty="0">
              <a:cs typeface="Times New Roman" panose="02020603050405020304" pitchFamily="18" charset="0"/>
            </a:endParaRPr>
          </a:p>
        </p:txBody>
      </p:sp>
      <p:pic>
        <p:nvPicPr>
          <p:cNvPr id="5" name="Picture 4">
            <a:extLst>
              <a:ext uri="{FF2B5EF4-FFF2-40B4-BE49-F238E27FC236}">
                <a16:creationId xmlns:a16="http://schemas.microsoft.com/office/drawing/2014/main" id="{08121F1A-C76A-C345-AE37-6EB8BD4B35F4}"/>
              </a:ext>
            </a:extLst>
          </p:cNvPr>
          <p:cNvPicPr>
            <a:picLocks noChangeAspect="1"/>
          </p:cNvPicPr>
          <p:nvPr/>
        </p:nvPicPr>
        <p:blipFill>
          <a:blip r:embed="rId3"/>
          <a:stretch>
            <a:fillRect/>
          </a:stretch>
        </p:blipFill>
        <p:spPr>
          <a:xfrm>
            <a:off x="6901375" y="365125"/>
            <a:ext cx="4629443" cy="6542946"/>
          </a:xfrm>
          <a:prstGeom prst="rect">
            <a:avLst/>
          </a:prstGeom>
        </p:spPr>
      </p:pic>
    </p:spTree>
    <p:extLst>
      <p:ext uri="{BB962C8B-B14F-4D97-AF65-F5344CB8AC3E}">
        <p14:creationId xmlns:p14="http://schemas.microsoft.com/office/powerpoint/2010/main" val="639868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Python Data Types</a:t>
            </a:r>
          </a:p>
        </p:txBody>
      </p:sp>
      <p:sp>
        <p:nvSpPr>
          <p:cNvPr id="3" name="Content Placeholder 2"/>
          <p:cNvSpPr>
            <a:spLocks noGrp="1"/>
          </p:cNvSpPr>
          <p:nvPr>
            <p:ph idx="1"/>
          </p:nvPr>
        </p:nvSpPr>
        <p:spPr>
          <a:xfrm>
            <a:off x="838199" y="1825624"/>
            <a:ext cx="11081657" cy="5032375"/>
          </a:xfrm>
        </p:spPr>
        <p:txBody>
          <a:bodyPr>
            <a:normAutofit/>
          </a:bodyPr>
          <a:lstStyle/>
          <a:p>
            <a:r>
              <a:rPr lang="en-US" dirty="0"/>
              <a:t>Sequences:</a:t>
            </a:r>
          </a:p>
          <a:p>
            <a:pPr lvl="1"/>
            <a:r>
              <a:rPr lang="en-US" dirty="0" err="1"/>
              <a:t>str</a:t>
            </a:r>
            <a:r>
              <a:rPr lang="en-US" dirty="0"/>
              <a:t>: String; represented as a sequence of Unicode characters (in the range of U+0000 - U+10FFFF) </a:t>
            </a:r>
          </a:p>
          <a:p>
            <a:pPr lvl="1"/>
            <a:r>
              <a:rPr lang="en-US" dirty="0"/>
              <a:t>list</a:t>
            </a:r>
          </a:p>
          <a:p>
            <a:pPr lvl="1"/>
            <a:r>
              <a:rPr lang="en-US" dirty="0"/>
              <a:t>tuple (immutable list)</a:t>
            </a:r>
          </a:p>
          <a:p>
            <a:pPr lvl="1"/>
            <a:r>
              <a:rPr lang="en-US" dirty="0"/>
              <a:t>byte &amp; </a:t>
            </a:r>
            <a:r>
              <a:rPr lang="en-US" dirty="0" err="1"/>
              <a:t>bytearray</a:t>
            </a:r>
            <a:r>
              <a:rPr lang="en-US" dirty="0"/>
              <a:t> </a:t>
            </a:r>
          </a:p>
          <a:p>
            <a:r>
              <a:rPr lang="en-US" dirty="0"/>
              <a:t>Sets:</a:t>
            </a:r>
          </a:p>
          <a:p>
            <a:pPr lvl="1"/>
            <a:r>
              <a:rPr lang="en-US" dirty="0"/>
              <a:t>set: an unordered collection of unique objects</a:t>
            </a:r>
          </a:p>
          <a:p>
            <a:r>
              <a:rPr lang="en-US" dirty="0"/>
              <a:t>Mappings:</a:t>
            </a:r>
          </a:p>
          <a:p>
            <a:pPr lvl="1"/>
            <a:r>
              <a:rPr lang="en-US" dirty="0" err="1"/>
              <a:t>dict</a:t>
            </a:r>
            <a:r>
              <a:rPr lang="en-US" dirty="0"/>
              <a:t>: Python dictionaries, also called </a:t>
            </a:r>
            <a:r>
              <a:rPr lang="en-US" dirty="0" err="1"/>
              <a:t>hashmaps</a:t>
            </a:r>
            <a:r>
              <a:rPr lang="en-US" dirty="0"/>
              <a:t> or associative arrays, which means that an element of the list is associated with a definition, rather like a Map in Java</a:t>
            </a:r>
          </a:p>
          <a:p>
            <a:pPr lvl="1"/>
            <a:r>
              <a:rPr lang="en-US" dirty="0"/>
              <a:t>Unordered set of key: value pairs</a:t>
            </a:r>
          </a:p>
        </p:txBody>
      </p:sp>
    </p:spTree>
    <p:extLst>
      <p:ext uri="{BB962C8B-B14F-4D97-AF65-F5344CB8AC3E}">
        <p14:creationId xmlns:p14="http://schemas.microsoft.com/office/powerpoint/2010/main" val="1563914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Mutable vs. Immutable Objects</a:t>
            </a:r>
          </a:p>
        </p:txBody>
      </p:sp>
      <p:sp>
        <p:nvSpPr>
          <p:cNvPr id="3" name="Content Placeholder 2"/>
          <p:cNvSpPr>
            <a:spLocks noGrp="1"/>
          </p:cNvSpPr>
          <p:nvPr>
            <p:ph idx="1"/>
          </p:nvPr>
        </p:nvSpPr>
        <p:spPr>
          <a:xfrm>
            <a:off x="838199" y="1825624"/>
            <a:ext cx="11081657" cy="5032375"/>
          </a:xfrm>
        </p:spPr>
        <p:txBody>
          <a:bodyPr>
            <a:normAutofit/>
          </a:bodyPr>
          <a:lstStyle/>
          <a:p>
            <a:r>
              <a:rPr lang="en-US" altLang="en-US" dirty="0">
                <a:cs typeface="Times New Roman" panose="02020603050405020304" pitchFamily="18" charset="0"/>
              </a:rPr>
              <a:t>Most objects in Python are immutable and cannot be changed once they are created.</a:t>
            </a:r>
          </a:p>
        </p:txBody>
      </p:sp>
      <p:graphicFrame>
        <p:nvGraphicFramePr>
          <p:cNvPr id="4" name="Table 3"/>
          <p:cNvGraphicFramePr>
            <a:graphicFrameLocks noGrp="1"/>
          </p:cNvGraphicFramePr>
          <p:nvPr>
            <p:extLst>
              <p:ext uri="{D42A27DB-BD31-4B8C-83A1-F6EECF244321}">
                <p14:modId xmlns:p14="http://schemas.microsoft.com/office/powerpoint/2010/main" val="4189349422"/>
              </p:ext>
            </p:extLst>
          </p:nvPr>
        </p:nvGraphicFramePr>
        <p:xfrm>
          <a:off x="1110343" y="2879408"/>
          <a:ext cx="9144000" cy="2011680"/>
        </p:xfrm>
        <a:graphic>
          <a:graphicData uri="http://schemas.openxmlformats.org/drawingml/2006/table">
            <a:tbl>
              <a:tblPr/>
              <a:tblGrid>
                <a:gridCol w="4974770">
                  <a:extLst>
                    <a:ext uri="{9D8B030D-6E8A-4147-A177-3AD203B41FA5}">
                      <a16:colId xmlns:a16="http://schemas.microsoft.com/office/drawing/2014/main" val="3749199588"/>
                    </a:ext>
                  </a:extLst>
                </a:gridCol>
                <a:gridCol w="4169230">
                  <a:extLst>
                    <a:ext uri="{9D8B030D-6E8A-4147-A177-3AD203B41FA5}">
                      <a16:colId xmlns:a16="http://schemas.microsoft.com/office/drawing/2014/main" val="1415965228"/>
                    </a:ext>
                  </a:extLst>
                </a:gridCol>
              </a:tblGrid>
              <a:tr h="0">
                <a:tc>
                  <a:txBody>
                    <a:bodyPr/>
                    <a:lstStyle/>
                    <a:p>
                      <a:pPr algn="ctr"/>
                      <a:r>
                        <a:rPr lang="en-US" sz="2400" dirty="0">
                          <a:effectLst/>
                        </a:rPr>
                        <a:t>Some </a:t>
                      </a:r>
                      <a:r>
                        <a:rPr lang="en-US" sz="2400" i="1" dirty="0">
                          <a:effectLst/>
                        </a:rPr>
                        <a:t>immutable</a:t>
                      </a:r>
                      <a:r>
                        <a:rPr lang="en-US" sz="2400" dirty="0">
                          <a:effectLst/>
                        </a:rPr>
                        <a:t> types</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tc>
                  <a:txBody>
                    <a:bodyPr/>
                    <a:lstStyle/>
                    <a:p>
                      <a:pPr algn="ctr"/>
                      <a:r>
                        <a:rPr lang="en-US" sz="2400" dirty="0">
                          <a:effectLst/>
                        </a:rPr>
                        <a:t>Some </a:t>
                      </a:r>
                      <a:r>
                        <a:rPr lang="en-US" sz="2400" i="1" dirty="0">
                          <a:effectLst/>
                        </a:rPr>
                        <a:t>mutable</a:t>
                      </a:r>
                      <a:r>
                        <a:rPr lang="en-US" sz="2400" dirty="0">
                          <a:effectLst/>
                        </a:rPr>
                        <a:t> types</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EAECF0"/>
                    </a:solidFill>
                  </a:tcPr>
                </a:tc>
                <a:extLst>
                  <a:ext uri="{0D108BD9-81ED-4DB2-BD59-A6C34878D82A}">
                    <a16:rowId xmlns:a16="http://schemas.microsoft.com/office/drawing/2014/main" val="3786758048"/>
                  </a:ext>
                </a:extLst>
              </a:tr>
              <a:tr h="0">
                <a:tc>
                  <a:txBody>
                    <a:bodyPr/>
                    <a:lstStyle/>
                    <a:p>
                      <a:pPr>
                        <a:buFont typeface="Arial" panose="020B0604020202020204" pitchFamily="34" charset="0"/>
                        <a:buChar char="•"/>
                      </a:pPr>
                      <a:r>
                        <a:rPr lang="en-US" sz="2400" dirty="0" err="1">
                          <a:effectLst/>
                        </a:rPr>
                        <a:t>int</a:t>
                      </a:r>
                      <a:r>
                        <a:rPr lang="en-US" sz="2400">
                          <a:effectLst/>
                        </a:rPr>
                        <a:t>, float, </a:t>
                      </a:r>
                      <a:r>
                        <a:rPr lang="en-US" sz="2400" dirty="0">
                          <a:effectLst/>
                        </a:rPr>
                        <a:t>complex, bool</a:t>
                      </a:r>
                    </a:p>
                    <a:p>
                      <a:pPr>
                        <a:buFont typeface="Arial" panose="020B0604020202020204" pitchFamily="34" charset="0"/>
                        <a:buChar char="•"/>
                      </a:pPr>
                      <a:r>
                        <a:rPr lang="en-US" sz="2400" dirty="0" err="1">
                          <a:effectLst/>
                        </a:rPr>
                        <a:t>str</a:t>
                      </a:r>
                      <a:endParaRPr lang="en-US" sz="2400" dirty="0">
                        <a:effectLst/>
                      </a:endParaRPr>
                    </a:p>
                    <a:p>
                      <a:pPr>
                        <a:buFont typeface="Arial" panose="020B0604020202020204" pitchFamily="34" charset="0"/>
                        <a:buChar char="•"/>
                      </a:pPr>
                      <a:r>
                        <a:rPr lang="en-US" sz="2400" dirty="0">
                          <a:effectLst/>
                        </a:rPr>
                        <a:t>bytes</a:t>
                      </a:r>
                    </a:p>
                    <a:p>
                      <a:pPr>
                        <a:buFont typeface="Arial" panose="020B0604020202020204" pitchFamily="34" charset="0"/>
                        <a:buChar char="•"/>
                      </a:pPr>
                      <a:r>
                        <a:rPr lang="en-US" sz="2400" dirty="0">
                          <a:effectLst/>
                        </a:rPr>
                        <a:t>tuple</a:t>
                      </a: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buFont typeface="Arial" panose="020B0604020202020204" pitchFamily="34" charset="0"/>
                        <a:buChar char="•"/>
                      </a:pPr>
                      <a:r>
                        <a:rPr lang="en-US" sz="2400" dirty="0">
                          <a:effectLst/>
                        </a:rPr>
                        <a:t>list</a:t>
                      </a:r>
                    </a:p>
                    <a:p>
                      <a:pPr>
                        <a:buFont typeface="Arial" panose="020B0604020202020204" pitchFamily="34" charset="0"/>
                        <a:buChar char="•"/>
                      </a:pPr>
                      <a:r>
                        <a:rPr lang="en-US" sz="2400" dirty="0">
                          <a:effectLst/>
                        </a:rPr>
                        <a:t>set</a:t>
                      </a:r>
                    </a:p>
                    <a:p>
                      <a:pPr>
                        <a:buFont typeface="Arial" panose="020B0604020202020204" pitchFamily="34" charset="0"/>
                        <a:buChar char="•"/>
                      </a:pPr>
                      <a:r>
                        <a:rPr lang="en-US" sz="2400" dirty="0" err="1">
                          <a:effectLst/>
                        </a:rPr>
                        <a:t>dict</a:t>
                      </a:r>
                      <a:endParaRPr lang="en-US" sz="2400" dirty="0">
                        <a:effectLst/>
                      </a:endParaRPr>
                    </a:p>
                  </a:txBody>
                  <a:tcPr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515875633"/>
                  </a:ext>
                </a:extLst>
              </a:tr>
            </a:tbl>
          </a:graphicData>
        </a:graphic>
      </p:graphicFrame>
    </p:spTree>
    <p:extLst>
      <p:ext uri="{BB962C8B-B14F-4D97-AF65-F5344CB8AC3E}">
        <p14:creationId xmlns:p14="http://schemas.microsoft.com/office/powerpoint/2010/main" val="3554163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Python Basics</a:t>
            </a:r>
          </a:p>
        </p:txBody>
      </p:sp>
      <p:sp>
        <p:nvSpPr>
          <p:cNvPr id="3" name="Content Placeholder 2"/>
          <p:cNvSpPr>
            <a:spLocks noGrp="1"/>
          </p:cNvSpPr>
          <p:nvPr>
            <p:ph idx="1"/>
          </p:nvPr>
        </p:nvSpPr>
        <p:spPr>
          <a:xfrm>
            <a:off x="838200" y="1825624"/>
            <a:ext cx="10657114" cy="5032375"/>
          </a:xfrm>
        </p:spPr>
        <p:txBody>
          <a:bodyPr>
            <a:normAutofit lnSpcReduction="10000"/>
          </a:bodyPr>
          <a:lstStyle/>
          <a:p>
            <a:r>
              <a:rPr lang="en-US" altLang="en-US" sz="3000" dirty="0">
                <a:cs typeface="Times New Roman" panose="02020603050405020304" pitchFamily="18" charset="0"/>
              </a:rPr>
              <a:t>Python utilizes white space</a:t>
            </a:r>
          </a:p>
          <a:p>
            <a:pPr lvl="1"/>
            <a:r>
              <a:rPr lang="en-US" altLang="en-US" sz="3000" dirty="0">
                <a:cs typeface="Times New Roman" panose="02020603050405020304" pitchFamily="18" charset="0"/>
              </a:rPr>
              <a:t>Statements must be properly indented</a:t>
            </a:r>
          </a:p>
          <a:p>
            <a:pPr lvl="1"/>
            <a:r>
              <a:rPr lang="en-US" altLang="en-US" sz="3000" dirty="0">
                <a:cs typeface="Times New Roman" panose="02020603050405020304" pitchFamily="18" charset="0"/>
              </a:rPr>
              <a:t>Classes and code blocks are denoted by : and are indented </a:t>
            </a:r>
          </a:p>
          <a:p>
            <a:r>
              <a:rPr lang="en-US" altLang="en-US" sz="3000" dirty="0">
                <a:cs typeface="Times New Roman" panose="02020603050405020304" pitchFamily="18" charset="0"/>
              </a:rPr>
              <a:t>Statements are executed line by line</a:t>
            </a:r>
          </a:p>
          <a:p>
            <a:pPr lvl="1"/>
            <a:r>
              <a:rPr lang="en-US" altLang="en-US" sz="2600" dirty="0">
                <a:cs typeface="Times New Roman" panose="02020603050405020304" pitchFamily="18" charset="0"/>
              </a:rPr>
              <a:t>No defined entry point ("Main method") like in Java or C</a:t>
            </a:r>
          </a:p>
          <a:p>
            <a:r>
              <a:rPr lang="en-US" altLang="en-US" sz="3000" dirty="0">
                <a:cs typeface="Times New Roman" panose="02020603050405020304" pitchFamily="18" charset="0"/>
              </a:rPr>
              <a:t>Each item in Python is an object with a unique identifier</a:t>
            </a:r>
          </a:p>
          <a:p>
            <a:pPr lvl="1"/>
            <a:r>
              <a:rPr lang="en-US" altLang="en-US" sz="2600" dirty="0">
                <a:cs typeface="Times New Roman" panose="02020603050405020304" pitchFamily="18" charset="0"/>
              </a:rPr>
              <a:t>This includes functions </a:t>
            </a:r>
          </a:p>
          <a:p>
            <a:r>
              <a:rPr lang="en-US" altLang="en-US" sz="3000" dirty="0">
                <a:latin typeface="Courier New" panose="02070309020205020404" pitchFamily="49" charset="0"/>
                <a:cs typeface="Courier New" panose="02070309020205020404" pitchFamily="49" charset="0"/>
              </a:rPr>
              <a:t>#</a:t>
            </a:r>
            <a:r>
              <a:rPr lang="en-US" altLang="en-US" sz="3000" dirty="0">
                <a:cs typeface="Times New Roman" panose="02020603050405020304" pitchFamily="18" charset="0"/>
              </a:rPr>
              <a:t> denotes a comment</a:t>
            </a:r>
          </a:p>
          <a:p>
            <a:r>
              <a:rPr lang="en-US" altLang="en-US" sz="3000" dirty="0">
                <a:cs typeface="Times New Roman" panose="02020603050405020304" pitchFamily="18" charset="0"/>
              </a:rPr>
              <a:t>No multiline comment</a:t>
            </a:r>
          </a:p>
          <a:p>
            <a:pPr lvl="1"/>
            <a:r>
              <a:rPr lang="en-US" altLang="en-US" sz="2200" dirty="0">
                <a:cs typeface="Times New Roman" panose="02020603050405020304" pitchFamily="18" charset="0"/>
              </a:rPr>
              <a:t>""" denotes a documentation String and can be incorrectly used as a multiline comment</a:t>
            </a:r>
          </a:p>
          <a:p>
            <a:endParaRPr lang="en-US" altLang="en-US" sz="3000" dirty="0">
              <a:cs typeface="Times New Roman" panose="02020603050405020304" pitchFamily="18" charset="0"/>
            </a:endParaRPr>
          </a:p>
        </p:txBody>
      </p:sp>
    </p:spTree>
    <p:extLst>
      <p:ext uri="{BB962C8B-B14F-4D97-AF65-F5344CB8AC3E}">
        <p14:creationId xmlns:p14="http://schemas.microsoft.com/office/powerpoint/2010/main" val="113681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Dynamic Typing</a:t>
            </a:r>
          </a:p>
        </p:txBody>
      </p:sp>
      <p:sp>
        <p:nvSpPr>
          <p:cNvPr id="3" name="Content Placeholder 2"/>
          <p:cNvSpPr>
            <a:spLocks noGrp="1"/>
          </p:cNvSpPr>
          <p:nvPr>
            <p:ph idx="1"/>
          </p:nvPr>
        </p:nvSpPr>
        <p:spPr>
          <a:xfrm>
            <a:off x="838200" y="1825624"/>
            <a:ext cx="10708037" cy="5032375"/>
          </a:xfrm>
        </p:spPr>
        <p:txBody>
          <a:bodyPr>
            <a:noAutofit/>
          </a:bodyPr>
          <a:lstStyle/>
          <a:p>
            <a:r>
              <a:rPr lang="en-US" altLang="en-US" sz="2400" dirty="0">
                <a:cs typeface="Times New Roman" panose="02020603050405020304" pitchFamily="18" charset="0"/>
              </a:rPr>
              <a:t>Python is dynamically typed</a:t>
            </a:r>
          </a:p>
          <a:p>
            <a:pPr marL="0" indent="0">
              <a:buNone/>
            </a:pPr>
            <a:r>
              <a:rPr lang="en-US" altLang="en-US" sz="2400" dirty="0">
                <a:cs typeface="Times New Roman" panose="02020603050405020304" pitchFamily="18" charset="0"/>
              </a:rPr>
              <a:t>	</a:t>
            </a:r>
            <a:r>
              <a:rPr lang="en-US" altLang="en-US" sz="2400" dirty="0" err="1">
                <a:latin typeface="Courier New" panose="02070309020205020404" pitchFamily="49" charset="0"/>
                <a:cs typeface="Courier New" panose="02070309020205020404" pitchFamily="49" charset="0"/>
              </a:rPr>
              <a:t>num</a:t>
            </a:r>
            <a:r>
              <a:rPr lang="en-US" altLang="en-US" sz="2400" dirty="0">
                <a:latin typeface="Courier New" panose="02070309020205020404" pitchFamily="49" charset="0"/>
                <a:cs typeface="Courier New" panose="02070309020205020404" pitchFamily="49" charset="0"/>
              </a:rPr>
              <a:t> = 3</a:t>
            </a:r>
          </a:p>
          <a:p>
            <a:pPr marL="0" indent="0">
              <a:buNone/>
            </a:pPr>
            <a:r>
              <a:rPr lang="en-US" altLang="en-US" sz="2400" dirty="0">
                <a:cs typeface="Times New Roman" panose="02020603050405020304" pitchFamily="18" charset="0"/>
              </a:rPr>
              <a:t>	</a:t>
            </a:r>
            <a:r>
              <a:rPr lang="en-US" altLang="en-US" sz="2400" dirty="0" err="1">
                <a:latin typeface="Courier New" panose="02070309020205020404" pitchFamily="49" charset="0"/>
                <a:cs typeface="Courier New" panose="02070309020205020404" pitchFamily="49" charset="0"/>
              </a:rPr>
              <a:t>num</a:t>
            </a:r>
            <a:r>
              <a:rPr lang="en-US" altLang="en-US" sz="2400" dirty="0">
                <a:latin typeface="Courier New" panose="02070309020205020404" pitchFamily="49" charset="0"/>
                <a:cs typeface="Courier New" panose="02070309020205020404" pitchFamily="49" charset="0"/>
              </a:rPr>
              <a:t> = “Hello” </a:t>
            </a:r>
            <a:r>
              <a:rPr lang="en-US" altLang="en-US" sz="2400" dirty="0">
                <a:cs typeface="Times New Roman" panose="02020603050405020304" pitchFamily="18" charset="0"/>
              </a:rPr>
              <a:t> </a:t>
            </a:r>
          </a:p>
          <a:p>
            <a:r>
              <a:rPr lang="en-US" altLang="en-US" sz="2400" dirty="0" err="1">
                <a:cs typeface="Times New Roman" panose="02020603050405020304" pitchFamily="18" charset="0"/>
              </a:rPr>
              <a:t>num</a:t>
            </a:r>
            <a:r>
              <a:rPr lang="en-US" altLang="en-US" sz="2400" dirty="0">
                <a:cs typeface="Times New Roman" panose="02020603050405020304" pitchFamily="18" charset="0"/>
              </a:rPr>
              <a:t> is not an object, it is a name</a:t>
            </a:r>
          </a:p>
          <a:p>
            <a:r>
              <a:rPr lang="en-US" altLang="en-US" sz="2400" dirty="0">
                <a:cs typeface="Times New Roman" panose="02020603050405020304" pitchFamily="18" charset="0"/>
              </a:rPr>
              <a:t>First statement we create an integer object with the value of 3 and bind the name ‘</a:t>
            </a:r>
            <a:r>
              <a:rPr lang="en-US" altLang="en-US" sz="2400" dirty="0" err="1">
                <a:cs typeface="Times New Roman" panose="02020603050405020304" pitchFamily="18" charset="0"/>
              </a:rPr>
              <a:t>num</a:t>
            </a:r>
            <a:r>
              <a:rPr lang="en-US" altLang="en-US" sz="2400" dirty="0">
                <a:cs typeface="Times New Roman" panose="02020603050405020304" pitchFamily="18" charset="0"/>
              </a:rPr>
              <a:t>’ to it</a:t>
            </a:r>
          </a:p>
          <a:p>
            <a:r>
              <a:rPr lang="en-US" altLang="en-US" sz="2400" dirty="0">
                <a:cs typeface="Times New Roman" panose="02020603050405020304" pitchFamily="18" charset="0"/>
              </a:rPr>
              <a:t>Second statement we create a new string object with the value of “Hello” and rebind the name ‘</a:t>
            </a:r>
            <a:r>
              <a:rPr lang="en-US" altLang="en-US" sz="2400" dirty="0" err="1">
                <a:cs typeface="Times New Roman" panose="02020603050405020304" pitchFamily="18" charset="0"/>
              </a:rPr>
              <a:t>num</a:t>
            </a:r>
            <a:r>
              <a:rPr lang="en-US" altLang="en-US" sz="2400" dirty="0">
                <a:cs typeface="Times New Roman" panose="02020603050405020304" pitchFamily="18" charset="0"/>
              </a:rPr>
              <a:t>’ to it.  If there are no other names bound to the first object, then it will be garbage collected</a:t>
            </a:r>
          </a:p>
          <a:p>
            <a:r>
              <a:rPr lang="en-US" altLang="en-US" sz="2400" dirty="0">
                <a:cs typeface="Times New Roman" panose="02020603050405020304" pitchFamily="18" charset="0"/>
              </a:rPr>
              <a:t>Type is associated with the object, not with the name</a:t>
            </a:r>
          </a:p>
          <a:p>
            <a:r>
              <a:rPr lang="en-US" altLang="en-US" sz="2400" dirty="0">
                <a:cs typeface="Times New Roman" panose="02020603050405020304" pitchFamily="18" charset="0"/>
              </a:rPr>
              <a:t>Pass around references but don’t check the type until runtime</a:t>
            </a:r>
          </a:p>
        </p:txBody>
      </p:sp>
    </p:spTree>
    <p:extLst>
      <p:ext uri="{BB962C8B-B14F-4D97-AF65-F5344CB8AC3E}">
        <p14:creationId xmlns:p14="http://schemas.microsoft.com/office/powerpoint/2010/main" val="1123084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Python Assignment Statements</a:t>
            </a:r>
          </a:p>
        </p:txBody>
      </p:sp>
      <p:sp>
        <p:nvSpPr>
          <p:cNvPr id="3" name="Content Placeholder 2"/>
          <p:cNvSpPr>
            <a:spLocks noGrp="1"/>
          </p:cNvSpPr>
          <p:nvPr>
            <p:ph idx="1"/>
          </p:nvPr>
        </p:nvSpPr>
        <p:spPr>
          <a:xfrm>
            <a:off x="838200" y="1825624"/>
            <a:ext cx="10657114" cy="5032375"/>
          </a:xfrm>
        </p:spPr>
        <p:txBody>
          <a:bodyPr>
            <a:normAutofit/>
          </a:bodyPr>
          <a:lstStyle/>
          <a:p>
            <a:r>
              <a:rPr lang="en-US" altLang="en-US" sz="3000" dirty="0">
                <a:cs typeface="Times New Roman" panose="02020603050405020304" pitchFamily="18" charset="0"/>
              </a:rPr>
              <a:t>Allows multiple assignments</a:t>
            </a:r>
          </a:p>
          <a:p>
            <a:pPr marL="457200" lvl="1" indent="0">
              <a:buNone/>
            </a:pPr>
            <a:r>
              <a:rPr lang="en-US" altLang="en-US" sz="2600" dirty="0">
                <a:latin typeface="Courier New" panose="02070309020205020404" pitchFamily="49" charset="0"/>
                <a:cs typeface="Courier New" panose="02070309020205020404" pitchFamily="49" charset="0"/>
              </a:rPr>
              <a:t>x = 5</a:t>
            </a:r>
          </a:p>
          <a:p>
            <a:pPr marL="457200" lvl="1" indent="0">
              <a:buNone/>
            </a:pPr>
            <a:r>
              <a:rPr lang="en-US" altLang="en-US" sz="2600" dirty="0">
                <a:latin typeface="Courier New" panose="02070309020205020404" pitchFamily="49" charset="0"/>
                <a:cs typeface="Courier New" panose="02070309020205020404" pitchFamily="49" charset="0"/>
              </a:rPr>
              <a:t>y = 4</a:t>
            </a:r>
          </a:p>
          <a:p>
            <a:pPr marL="457200" lvl="1" indent="0">
              <a:buNone/>
            </a:pPr>
            <a:r>
              <a:rPr lang="en-US" altLang="en-US" sz="2600" dirty="0">
                <a:latin typeface="Courier New" panose="02070309020205020404" pitchFamily="49" charset="0"/>
                <a:cs typeface="Courier New" panose="02070309020205020404" pitchFamily="49" charset="0"/>
              </a:rPr>
              <a:t>x, y = y, x</a:t>
            </a:r>
          </a:p>
          <a:p>
            <a:pPr marL="457200" lvl="1" indent="0">
              <a:buNone/>
            </a:pPr>
            <a:r>
              <a:rPr lang="en-US" altLang="en-US" sz="2600" dirty="0">
                <a:latin typeface="Courier New" panose="02070309020205020404" pitchFamily="49" charset="0"/>
                <a:cs typeface="Courier New" panose="02070309020205020404" pitchFamily="49" charset="0"/>
              </a:rPr>
              <a:t>print(x)  #4</a:t>
            </a:r>
          </a:p>
          <a:p>
            <a:pPr marL="457200" lvl="1" indent="0">
              <a:buNone/>
            </a:pPr>
            <a:r>
              <a:rPr lang="en-US" altLang="en-US" sz="2600" dirty="0">
                <a:latin typeface="Courier New" panose="02070309020205020404" pitchFamily="49" charset="0"/>
                <a:cs typeface="Courier New" panose="02070309020205020404" pitchFamily="49" charset="0"/>
              </a:rPr>
              <a:t>print(y)  #5</a:t>
            </a:r>
          </a:p>
          <a:p>
            <a:pPr marL="0" indent="0">
              <a:buNone/>
            </a:pPr>
            <a:endParaRPr lang="en-US" altLang="en-US" sz="3000" dirty="0">
              <a:cs typeface="Times New Roman" panose="02020603050405020304" pitchFamily="18" charset="0"/>
            </a:endParaRPr>
          </a:p>
          <a:p>
            <a:pPr marL="457200" lvl="1" indent="0">
              <a:buNone/>
            </a:pPr>
            <a:endParaRPr lang="en-US" altLang="en-US" sz="2600" dirty="0">
              <a:cs typeface="Times New Roman" panose="02020603050405020304" pitchFamily="18" charset="0"/>
            </a:endParaRPr>
          </a:p>
        </p:txBody>
      </p:sp>
    </p:spTree>
    <p:extLst>
      <p:ext uri="{BB962C8B-B14F-4D97-AF65-F5344CB8AC3E}">
        <p14:creationId xmlns:p14="http://schemas.microsoft.com/office/powerpoint/2010/main" val="3542027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Lists &amp; Tuples</a:t>
            </a:r>
          </a:p>
        </p:txBody>
      </p:sp>
      <p:sp>
        <p:nvSpPr>
          <p:cNvPr id="3" name="Content Placeholder 2"/>
          <p:cNvSpPr>
            <a:spLocks noGrp="1"/>
          </p:cNvSpPr>
          <p:nvPr>
            <p:ph idx="1"/>
          </p:nvPr>
        </p:nvSpPr>
        <p:spPr>
          <a:xfrm>
            <a:off x="838199" y="1825624"/>
            <a:ext cx="11081657" cy="5032375"/>
          </a:xfrm>
        </p:spPr>
        <p:txBody>
          <a:bodyPr>
            <a:normAutofit/>
          </a:bodyPr>
          <a:lstStyle/>
          <a:p>
            <a:r>
              <a:rPr lang="en-US" altLang="en-US" dirty="0">
                <a:cs typeface="Times New Roman" panose="02020603050405020304" pitchFamily="18" charset="0"/>
              </a:rPr>
              <a:t>In Python, lists are: </a:t>
            </a:r>
          </a:p>
          <a:p>
            <a:pPr lvl="1"/>
            <a:r>
              <a:rPr lang="en-US" altLang="en-US" dirty="0">
                <a:cs typeface="Times New Roman" panose="02020603050405020304" pitchFamily="18" charset="0"/>
              </a:rPr>
              <a:t>Ordered and accessed by index </a:t>
            </a:r>
          </a:p>
          <a:p>
            <a:pPr lvl="1"/>
            <a:r>
              <a:rPr lang="en-US" altLang="en-US" dirty="0">
                <a:cs typeface="Times New Roman" panose="02020603050405020304" pitchFamily="18" charset="0"/>
              </a:rPr>
              <a:t>Mutable</a:t>
            </a:r>
          </a:p>
          <a:p>
            <a:pPr lvl="1"/>
            <a:r>
              <a:rPr lang="en-US" altLang="en-US" dirty="0">
                <a:cs typeface="Times New Roman" panose="02020603050405020304" pitchFamily="18" charset="0"/>
              </a:rPr>
              <a:t>Able to hold objects of arbitrary type </a:t>
            </a:r>
          </a:p>
          <a:p>
            <a:pPr lvl="1"/>
            <a:r>
              <a:rPr lang="en-US" altLang="en-US" dirty="0">
                <a:cs typeface="Times New Roman" panose="02020603050405020304" pitchFamily="18" charset="0"/>
              </a:rPr>
              <a:t>Able to hold objects of different types </a:t>
            </a:r>
          </a:p>
          <a:p>
            <a:pPr lvl="1"/>
            <a:r>
              <a:rPr lang="en-US" altLang="en-US" dirty="0">
                <a:cs typeface="Times New Roman" panose="02020603050405020304" pitchFamily="18" charset="0"/>
              </a:rPr>
              <a:t>Dynamically sized </a:t>
            </a:r>
          </a:p>
          <a:p>
            <a:r>
              <a:rPr lang="en-US" altLang="en-US" dirty="0">
                <a:cs typeface="Times New Roman" panose="02020603050405020304" pitchFamily="18" charset="0"/>
              </a:rPr>
              <a:t>Tuples are similar to lists but possess some key differences </a:t>
            </a:r>
          </a:p>
          <a:p>
            <a:r>
              <a:rPr lang="en-US" altLang="en-US" dirty="0">
                <a:cs typeface="Times New Roman" panose="02020603050405020304" pitchFamily="18" charset="0"/>
              </a:rPr>
              <a:t>Tuples: </a:t>
            </a:r>
          </a:p>
          <a:p>
            <a:pPr lvl="1"/>
            <a:r>
              <a:rPr lang="en-US" altLang="en-US" dirty="0">
                <a:cs typeface="Times New Roman" panose="02020603050405020304" pitchFamily="18" charset="0"/>
              </a:rPr>
              <a:t>Are immutable </a:t>
            </a:r>
          </a:p>
          <a:p>
            <a:pPr lvl="1"/>
            <a:r>
              <a:rPr lang="en-US" altLang="en-US" dirty="0">
                <a:cs typeface="Times New Roman" panose="02020603050405020304" pitchFamily="18" charset="0"/>
              </a:rPr>
              <a:t>Support sequence packing and unpacking </a:t>
            </a:r>
          </a:p>
          <a:p>
            <a:pPr lvl="1"/>
            <a:r>
              <a:rPr lang="en-US" altLang="en-US" dirty="0">
                <a:cs typeface="Times New Roman" panose="02020603050405020304" pitchFamily="18" charset="0"/>
              </a:rPr>
              <a:t>Support access by attribute </a:t>
            </a:r>
          </a:p>
        </p:txBody>
      </p:sp>
    </p:spTree>
    <p:extLst>
      <p:ext uri="{BB962C8B-B14F-4D97-AF65-F5344CB8AC3E}">
        <p14:creationId xmlns:p14="http://schemas.microsoft.com/office/powerpoint/2010/main" val="1483916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Lists &amp; Tuples</a:t>
            </a:r>
          </a:p>
        </p:txBody>
      </p:sp>
      <p:sp>
        <p:nvSpPr>
          <p:cNvPr id="3" name="Content Placeholder 2"/>
          <p:cNvSpPr>
            <a:spLocks noGrp="1"/>
          </p:cNvSpPr>
          <p:nvPr>
            <p:ph idx="1"/>
          </p:nvPr>
        </p:nvSpPr>
        <p:spPr>
          <a:xfrm>
            <a:off x="838199" y="1825624"/>
            <a:ext cx="11081657" cy="5032375"/>
          </a:xfrm>
        </p:spPr>
        <p:txBody>
          <a:bodyPr>
            <a:normAutofit fontScale="92500" lnSpcReduction="20000"/>
          </a:bodyPr>
          <a:lstStyle/>
          <a:p>
            <a:r>
              <a:rPr lang="en-US" altLang="en-US" dirty="0">
                <a:cs typeface="Times New Roman" panose="02020603050405020304" pitchFamily="18" charset="0"/>
              </a:rPr>
              <a:t>List objects in Python are mutable and can be changed</a:t>
            </a:r>
          </a:p>
          <a:p>
            <a:r>
              <a:rPr lang="en-US" altLang="en-US" dirty="0">
                <a:cs typeface="Times New Roman" panose="02020603050405020304" pitchFamily="18" charset="0"/>
              </a:rPr>
              <a:t>Example of a Mutable List Object:</a:t>
            </a:r>
          </a:p>
          <a:p>
            <a:pPr marL="0" indent="0">
              <a:buNone/>
            </a:pPr>
            <a:r>
              <a:rPr lang="en-US" dirty="0" err="1">
                <a:latin typeface="Courier New" panose="02070309020205020404" pitchFamily="49" charset="0"/>
                <a:cs typeface="Courier New" panose="02070309020205020404" pitchFamily="49" charset="0"/>
              </a:rPr>
              <a:t>listA</a:t>
            </a:r>
            <a:r>
              <a:rPr lang="en-US" dirty="0">
                <a:latin typeface="Courier New" panose="02070309020205020404" pitchFamily="49" charset="0"/>
                <a:cs typeface="Courier New" panose="02070309020205020404" pitchFamily="49" charset="0"/>
              </a:rPr>
              <a:t> = ["John", "Jane"];</a:t>
            </a:r>
          </a:p>
          <a:p>
            <a:pPr marL="0" indent="0">
              <a:buNone/>
            </a:pPr>
            <a:r>
              <a:rPr lang="en-US" dirty="0" err="1">
                <a:latin typeface="Courier New" panose="02070309020205020404" pitchFamily="49" charset="0"/>
                <a:cs typeface="Courier New" panose="02070309020205020404" pitchFamily="49" charset="0"/>
              </a:rPr>
              <a:t>tupleB</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listA</a:t>
            </a:r>
            <a:r>
              <a:rPr lang="en-US" dirty="0">
                <a:latin typeface="Courier New" panose="02070309020205020404" pitchFamily="49" charset="0"/>
                <a:cs typeface="Courier New" panose="02070309020205020404" pitchFamily="49" charset="0"/>
              </a:rPr>
              <a:t>, 1, "two" );</a:t>
            </a:r>
          </a:p>
          <a:p>
            <a:pPr marL="0" indent="0">
              <a:buNone/>
            </a:pPr>
            <a:r>
              <a:rPr lang="en-US" dirty="0" err="1">
                <a:latin typeface="Courier New" panose="02070309020205020404" pitchFamily="49" charset="0"/>
                <a:cs typeface="Courier New" panose="02070309020205020404" pitchFamily="49" charset="0"/>
              </a:rPr>
              <a:t>listA</a:t>
            </a:r>
            <a:r>
              <a:rPr lang="en-US" dirty="0">
                <a:latin typeface="Courier New" panose="02070309020205020404" pitchFamily="49" charset="0"/>
                <a:cs typeface="Courier New" panose="02070309020205020404" pitchFamily="49" charset="0"/>
              </a:rPr>
              <a:t>[0]="James"</a:t>
            </a:r>
          </a:p>
          <a:p>
            <a:pPr marL="0" indent="0">
              <a:buNone/>
            </a:pPr>
            <a:r>
              <a:rPr lang="en-US" dirty="0">
                <a:latin typeface="Courier New" panose="02070309020205020404" pitchFamily="49" charset="0"/>
                <a:cs typeface="Courier New" panose="02070309020205020404" pitchFamily="49" charset="0"/>
              </a:rPr>
              <a:t>print(</a:t>
            </a:r>
            <a:r>
              <a:rPr lang="en-US" dirty="0" err="1">
                <a:latin typeface="Courier New" panose="02070309020205020404" pitchFamily="49" charset="0"/>
                <a:cs typeface="Courier New" panose="02070309020205020404" pitchFamily="49" charset="0"/>
              </a:rPr>
              <a:t>listA</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 prints ['James', 'Jane']</a:t>
            </a:r>
          </a:p>
          <a:p>
            <a:pPr marL="0" indent="0">
              <a:buNone/>
            </a:pPr>
            <a:r>
              <a:rPr lang="en-US" dirty="0">
                <a:latin typeface="Courier New" panose="02070309020205020404" pitchFamily="49" charset="0"/>
                <a:cs typeface="Courier New" panose="02070309020205020404" pitchFamily="49" charset="0"/>
              </a:rPr>
              <a:t>print(</a:t>
            </a:r>
            <a:r>
              <a:rPr lang="en-US" dirty="0" err="1">
                <a:latin typeface="Courier New" panose="02070309020205020404" pitchFamily="49" charset="0"/>
                <a:cs typeface="Courier New" panose="02070309020205020404" pitchFamily="49" charset="0"/>
              </a:rPr>
              <a:t>tupleB</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 prints (['James', 'Jane'], 1, “two”)</a:t>
            </a:r>
          </a:p>
          <a:p>
            <a:pPr marL="0" indent="0">
              <a:buNone/>
            </a:pPr>
            <a:r>
              <a:rPr lang="en-US" dirty="0" err="1">
                <a:latin typeface="Courier New" panose="02070309020205020404" pitchFamily="49" charset="0"/>
                <a:cs typeface="Courier New" panose="02070309020205020404" pitchFamily="49" charset="0"/>
              </a:rPr>
              <a:t>tupleB</a:t>
            </a:r>
            <a:r>
              <a:rPr lang="en-US" dirty="0">
                <a:latin typeface="Courier New" panose="02070309020205020404" pitchFamily="49" charset="0"/>
                <a:cs typeface="Courier New" panose="02070309020205020404" pitchFamily="49" charset="0"/>
              </a:rPr>
              <a:t>[0][0]="John"</a:t>
            </a:r>
          </a:p>
          <a:p>
            <a:pPr marL="0" indent="0">
              <a:buNone/>
            </a:pPr>
            <a:r>
              <a:rPr lang="en-US" dirty="0">
                <a:latin typeface="Courier New" panose="02070309020205020404" pitchFamily="49" charset="0"/>
                <a:cs typeface="Courier New" panose="02070309020205020404" pitchFamily="49" charset="0"/>
              </a:rPr>
              <a:t>print(</a:t>
            </a:r>
            <a:r>
              <a:rPr lang="en-US" dirty="0" err="1">
                <a:latin typeface="Courier New" panose="02070309020205020404" pitchFamily="49" charset="0"/>
                <a:cs typeface="Courier New" panose="02070309020205020404" pitchFamily="49" charset="0"/>
              </a:rPr>
              <a:t>listA</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 prints ['John', 'Jane']</a:t>
            </a: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print(</a:t>
            </a:r>
            <a:r>
              <a:rPr lang="en-US" dirty="0" err="1">
                <a:latin typeface="Courier New" panose="02070309020205020404" pitchFamily="49" charset="0"/>
                <a:cs typeface="Courier New" panose="02070309020205020404" pitchFamily="49" charset="0"/>
              </a:rPr>
              <a:t>tupleB</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 prints (['John', 'Jane'], 1, “two”)</a:t>
            </a:r>
          </a:p>
          <a:p>
            <a:pPr marL="0" indent="0">
              <a:buNone/>
            </a:pP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tupleB</a:t>
            </a:r>
            <a:r>
              <a:rPr lang="en-US" dirty="0">
                <a:latin typeface="Courier New" panose="02070309020205020404" pitchFamily="49" charset="0"/>
                <a:cs typeface="Courier New" panose="02070309020205020404" pitchFamily="49" charset="0"/>
              </a:rPr>
              <a:t>[1]=3 </a:t>
            </a:r>
            <a:r>
              <a:rPr lang="en-US" dirty="0">
                <a:solidFill>
                  <a:schemeClr val="accent1"/>
                </a:solidFill>
                <a:latin typeface="Courier New" panose="02070309020205020404" pitchFamily="49" charset="0"/>
                <a:cs typeface="Courier New" panose="02070309020205020404" pitchFamily="49" charset="0"/>
              </a:rPr>
              <a:t> # prints error, tuple is immutable</a:t>
            </a:r>
          </a:p>
          <a:p>
            <a:pPr marL="0" indent="0">
              <a:buNone/>
            </a:pPr>
            <a:r>
              <a:rPr lang="en-US" altLang="en-US" dirty="0">
                <a:cs typeface="Times New Roman" panose="02020603050405020304" pitchFamily="18" charset="0"/>
              </a:rPr>
              <a:t> </a:t>
            </a:r>
          </a:p>
        </p:txBody>
      </p:sp>
    </p:spTree>
    <p:extLst>
      <p:ext uri="{BB962C8B-B14F-4D97-AF65-F5344CB8AC3E}">
        <p14:creationId xmlns:p14="http://schemas.microsoft.com/office/powerpoint/2010/main" val="2655447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Lists &amp; Tuples</a:t>
            </a:r>
          </a:p>
        </p:txBody>
      </p:sp>
      <p:sp>
        <p:nvSpPr>
          <p:cNvPr id="3" name="Content Placeholder 2"/>
          <p:cNvSpPr>
            <a:spLocks noGrp="1"/>
          </p:cNvSpPr>
          <p:nvPr>
            <p:ph idx="1"/>
          </p:nvPr>
        </p:nvSpPr>
        <p:spPr>
          <a:xfrm>
            <a:off x="838199" y="1825624"/>
            <a:ext cx="11081657" cy="5032375"/>
          </a:xfrm>
        </p:spPr>
        <p:txBody>
          <a:bodyPr>
            <a:normAutofit/>
          </a:bodyPr>
          <a:lstStyle/>
          <a:p>
            <a:r>
              <a:rPr lang="en-US" altLang="en-US" dirty="0">
                <a:cs typeface="Times New Roman" panose="02020603050405020304" pitchFamily="18" charset="0"/>
              </a:rPr>
              <a:t>List operations:</a:t>
            </a:r>
          </a:p>
          <a:p>
            <a:pPr marL="0" indent="0">
              <a:buNone/>
            </a:pPr>
            <a:r>
              <a:rPr lang="en-US" altLang="en-US" sz="2200" dirty="0" err="1">
                <a:latin typeface="Courier New" panose="02070309020205020404" pitchFamily="49" charset="0"/>
                <a:cs typeface="Courier New" panose="02070309020205020404" pitchFamily="49" charset="0"/>
              </a:rPr>
              <a:t>listA</a:t>
            </a:r>
            <a:r>
              <a:rPr lang="en-US" altLang="en-US" sz="2200" dirty="0">
                <a:latin typeface="Courier New" panose="02070309020205020404" pitchFamily="49" charset="0"/>
                <a:cs typeface="Courier New" panose="02070309020205020404" pitchFamily="49" charset="0"/>
              </a:rPr>
              <a:t> = ["Hello",2,"World"]</a:t>
            </a:r>
          </a:p>
          <a:p>
            <a:pPr marL="0" indent="0">
              <a:buNone/>
            </a:pPr>
            <a:r>
              <a:rPr lang="en-US" altLang="en-US" sz="2200" dirty="0">
                <a:latin typeface="Courier New" panose="02070309020205020404" pitchFamily="49" charset="0"/>
                <a:cs typeface="Courier New" panose="02070309020205020404" pitchFamily="49" charset="0"/>
              </a:rPr>
              <a:t>print(</a:t>
            </a:r>
            <a:r>
              <a:rPr lang="en-US" altLang="en-US" sz="2200" dirty="0" err="1">
                <a:latin typeface="Courier New" panose="02070309020205020404" pitchFamily="49" charset="0"/>
                <a:cs typeface="Courier New" panose="02070309020205020404" pitchFamily="49" charset="0"/>
              </a:rPr>
              <a:t>len</a:t>
            </a:r>
            <a:r>
              <a:rPr lang="en-US" altLang="en-US" sz="2200" dirty="0">
                <a:latin typeface="Courier New" panose="02070309020205020404" pitchFamily="49" charset="0"/>
                <a:cs typeface="Courier New" panose="02070309020205020404" pitchFamily="49" charset="0"/>
              </a:rPr>
              <a:t>(</a:t>
            </a:r>
            <a:r>
              <a:rPr lang="en-US" altLang="en-US" sz="2200" dirty="0" err="1">
                <a:latin typeface="Courier New" panose="02070309020205020404" pitchFamily="49" charset="0"/>
                <a:cs typeface="Courier New" panose="02070309020205020404" pitchFamily="49" charset="0"/>
              </a:rPr>
              <a:t>listA</a:t>
            </a:r>
            <a:r>
              <a:rPr lang="en-US" altLang="en-US" sz="2200" dirty="0">
                <a:latin typeface="Courier New" panose="02070309020205020404" pitchFamily="49" charset="0"/>
                <a:cs typeface="Courier New" panose="02070309020205020404" pitchFamily="49" charset="0"/>
              </a:rPr>
              <a:t>))		     #prints 3</a:t>
            </a:r>
          </a:p>
          <a:p>
            <a:pPr marL="0" indent="0">
              <a:buNone/>
            </a:pPr>
            <a:r>
              <a:rPr lang="en-US" altLang="en-US" sz="2200" dirty="0" err="1">
                <a:latin typeface="Courier New" panose="02070309020205020404" pitchFamily="49" charset="0"/>
                <a:cs typeface="Courier New" panose="02070309020205020404" pitchFamily="49" charset="0"/>
              </a:rPr>
              <a:t>listA.remove</a:t>
            </a:r>
            <a:r>
              <a:rPr lang="en-US" altLang="en-US" sz="2200" dirty="0">
                <a:latin typeface="Courier New" panose="02070309020205020404" pitchFamily="49" charset="0"/>
                <a:cs typeface="Courier New" panose="02070309020205020404" pitchFamily="49" charset="0"/>
              </a:rPr>
              <a:t>(2)</a:t>
            </a:r>
          </a:p>
          <a:p>
            <a:pPr marL="0" indent="0">
              <a:buNone/>
            </a:pPr>
            <a:r>
              <a:rPr lang="en-US" altLang="en-US" sz="2200" dirty="0" err="1">
                <a:latin typeface="Courier New" panose="02070309020205020404" pitchFamily="49" charset="0"/>
                <a:cs typeface="Courier New" panose="02070309020205020404" pitchFamily="49" charset="0"/>
              </a:rPr>
              <a:t>listA.insert</a:t>
            </a:r>
            <a:r>
              <a:rPr lang="en-US" altLang="en-US" sz="2200" dirty="0">
                <a:latin typeface="Courier New" panose="02070309020205020404" pitchFamily="49" charset="0"/>
                <a:cs typeface="Courier New" panose="02070309020205020404" pitchFamily="49" charset="0"/>
              </a:rPr>
              <a:t>(1,"Wonderful")</a:t>
            </a:r>
          </a:p>
          <a:p>
            <a:pPr marL="0" indent="0">
              <a:buNone/>
            </a:pPr>
            <a:r>
              <a:rPr lang="en-US" altLang="en-US" sz="2200" dirty="0" err="1">
                <a:latin typeface="Courier New" panose="02070309020205020404" pitchFamily="49" charset="0"/>
                <a:cs typeface="Courier New" panose="02070309020205020404" pitchFamily="49" charset="0"/>
              </a:rPr>
              <a:t>listA.append</a:t>
            </a:r>
            <a:r>
              <a:rPr lang="en-US" altLang="en-US" sz="2200" dirty="0">
                <a:latin typeface="Courier New" panose="02070309020205020404" pitchFamily="49" charset="0"/>
                <a:cs typeface="Courier New" panose="02070309020205020404" pitchFamily="49" charset="0"/>
              </a:rPr>
              <a:t>("!")</a:t>
            </a:r>
          </a:p>
          <a:p>
            <a:pPr marL="0" indent="0">
              <a:buNone/>
            </a:pPr>
            <a:r>
              <a:rPr lang="en-US" altLang="en-US" sz="2200" dirty="0">
                <a:latin typeface="Courier New" panose="02070309020205020404" pitchFamily="49" charset="0"/>
                <a:cs typeface="Courier New" panose="02070309020205020404" pitchFamily="49" charset="0"/>
              </a:rPr>
              <a:t>print(</a:t>
            </a:r>
            <a:r>
              <a:rPr lang="en-US" altLang="en-US" sz="2200" dirty="0" err="1">
                <a:latin typeface="Courier New" panose="02070309020205020404" pitchFamily="49" charset="0"/>
                <a:cs typeface="Courier New" panose="02070309020205020404" pitchFamily="49" charset="0"/>
              </a:rPr>
              <a:t>listA</a:t>
            </a:r>
            <a:r>
              <a:rPr lang="en-US" altLang="en-US" sz="2200" dirty="0">
                <a:latin typeface="Courier New" panose="02070309020205020404" pitchFamily="49" charset="0"/>
                <a:cs typeface="Courier New" panose="02070309020205020404" pitchFamily="49" charset="0"/>
              </a:rPr>
              <a:t>)	#prints ['Hello', 'Wonderful', 'World', '!']</a:t>
            </a:r>
          </a:p>
          <a:p>
            <a:pPr marL="0" indent="0">
              <a:buNone/>
            </a:pPr>
            <a:r>
              <a:rPr lang="en-US" altLang="en-US" sz="2200" dirty="0">
                <a:latin typeface="Courier New" panose="02070309020205020404" pitchFamily="49" charset="0"/>
                <a:cs typeface="Courier New" panose="02070309020205020404" pitchFamily="49" charset="0"/>
              </a:rPr>
              <a:t>print(</a:t>
            </a:r>
            <a:r>
              <a:rPr lang="en-US" altLang="en-US" sz="2200" dirty="0" err="1">
                <a:latin typeface="Courier New" panose="02070309020205020404" pitchFamily="49" charset="0"/>
                <a:cs typeface="Courier New" panose="02070309020205020404" pitchFamily="49" charset="0"/>
              </a:rPr>
              <a:t>listA.pop</a:t>
            </a:r>
            <a:r>
              <a:rPr lang="en-US" altLang="en-US" sz="2200" dirty="0">
                <a:latin typeface="Courier New" panose="02070309020205020404" pitchFamily="49" charset="0"/>
                <a:cs typeface="Courier New" panose="02070309020205020404" pitchFamily="49" charset="0"/>
              </a:rPr>
              <a:t>(</a:t>
            </a:r>
            <a:r>
              <a:rPr lang="en-US" altLang="en-US" sz="2200" dirty="0" err="1">
                <a:latin typeface="Courier New" panose="02070309020205020404" pitchFamily="49" charset="0"/>
                <a:cs typeface="Courier New" panose="02070309020205020404" pitchFamily="49" charset="0"/>
              </a:rPr>
              <a:t>len</a:t>
            </a:r>
            <a:r>
              <a:rPr lang="en-US" altLang="en-US" sz="2200" dirty="0">
                <a:latin typeface="Courier New" panose="02070309020205020404" pitchFamily="49" charset="0"/>
                <a:cs typeface="Courier New" panose="02070309020205020404" pitchFamily="49" charset="0"/>
              </a:rPr>
              <a:t>(</a:t>
            </a:r>
            <a:r>
              <a:rPr lang="en-US" altLang="en-US" sz="2200" dirty="0" err="1">
                <a:latin typeface="Courier New" panose="02070309020205020404" pitchFamily="49" charset="0"/>
                <a:cs typeface="Courier New" panose="02070309020205020404" pitchFamily="49" charset="0"/>
              </a:rPr>
              <a:t>listA</a:t>
            </a:r>
            <a:r>
              <a:rPr lang="en-US" altLang="en-US" sz="2200" dirty="0">
                <a:latin typeface="Courier New" panose="02070309020205020404" pitchFamily="49" charset="0"/>
                <a:cs typeface="Courier New" panose="02070309020205020404" pitchFamily="49" charset="0"/>
              </a:rPr>
              <a:t>) -1)) #prints !</a:t>
            </a:r>
          </a:p>
          <a:p>
            <a:pPr marL="0" indent="0">
              <a:buNone/>
            </a:pPr>
            <a:r>
              <a:rPr lang="en-US" altLang="en-US" sz="2200" dirty="0">
                <a:latin typeface="Courier New" panose="02070309020205020404" pitchFamily="49" charset="0"/>
                <a:cs typeface="Courier New" panose="02070309020205020404" pitchFamily="49" charset="0"/>
              </a:rPr>
              <a:t>print(</a:t>
            </a:r>
            <a:r>
              <a:rPr lang="en-US" altLang="en-US" sz="2200" dirty="0" err="1">
                <a:latin typeface="Courier New" panose="02070309020205020404" pitchFamily="49" charset="0"/>
                <a:cs typeface="Courier New" panose="02070309020205020404" pitchFamily="49" charset="0"/>
              </a:rPr>
              <a:t>listA</a:t>
            </a:r>
            <a:r>
              <a:rPr lang="en-US" altLang="en-US" sz="2200" dirty="0">
                <a:latin typeface="Courier New" panose="02070309020205020404" pitchFamily="49" charset="0"/>
                <a:cs typeface="Courier New" panose="02070309020205020404" pitchFamily="49" charset="0"/>
              </a:rPr>
              <a:t>)	#prints ['Hello', 'Wonderful', 'World']</a:t>
            </a:r>
          </a:p>
        </p:txBody>
      </p:sp>
    </p:spTree>
    <p:extLst>
      <p:ext uri="{BB962C8B-B14F-4D97-AF65-F5344CB8AC3E}">
        <p14:creationId xmlns:p14="http://schemas.microsoft.com/office/powerpoint/2010/main" val="1653162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Lists &amp; Tuples</a:t>
            </a:r>
          </a:p>
        </p:txBody>
      </p:sp>
      <p:sp>
        <p:nvSpPr>
          <p:cNvPr id="3" name="Content Placeholder 2"/>
          <p:cNvSpPr>
            <a:spLocks noGrp="1"/>
          </p:cNvSpPr>
          <p:nvPr>
            <p:ph idx="1"/>
          </p:nvPr>
        </p:nvSpPr>
        <p:spPr>
          <a:xfrm>
            <a:off x="838199" y="1825624"/>
            <a:ext cx="11081657" cy="5032375"/>
          </a:xfrm>
        </p:spPr>
        <p:txBody>
          <a:bodyPr>
            <a:normAutofit/>
          </a:bodyPr>
          <a:lstStyle/>
          <a:p>
            <a:r>
              <a:rPr lang="en-US" altLang="en-US" dirty="0">
                <a:cs typeface="Times New Roman" panose="02020603050405020304" pitchFamily="18" charset="0"/>
              </a:rPr>
              <a:t>Tuple operations:</a:t>
            </a:r>
          </a:p>
          <a:p>
            <a:pPr marL="0" indent="0">
              <a:buNone/>
            </a:pPr>
            <a:r>
              <a:rPr lang="en-US" altLang="en-US" sz="2200" dirty="0">
                <a:latin typeface="Courier New" panose="02070309020205020404" pitchFamily="49" charset="0"/>
                <a:cs typeface="Courier New" panose="02070309020205020404" pitchFamily="49" charset="0"/>
              </a:rPr>
              <a:t>v = (8,9,10)</a:t>
            </a:r>
          </a:p>
          <a:p>
            <a:pPr marL="0" indent="0">
              <a:buNone/>
            </a:pPr>
            <a:r>
              <a:rPr lang="en-US" altLang="en-US" sz="2200" dirty="0">
                <a:latin typeface="Courier New" panose="02070309020205020404" pitchFamily="49" charset="0"/>
                <a:cs typeface="Courier New" panose="02070309020205020404" pitchFamily="49" charset="0"/>
              </a:rPr>
              <a:t>print(v)		# prints (8, 9, 10)</a:t>
            </a:r>
          </a:p>
          <a:p>
            <a:pPr marL="0" indent="0">
              <a:buNone/>
            </a:pPr>
            <a:r>
              <a:rPr lang="en-US" altLang="en-US" sz="2200" dirty="0" err="1">
                <a:latin typeface="Courier New" panose="02070309020205020404" pitchFamily="49" charset="0"/>
                <a:cs typeface="Courier New" panose="02070309020205020404" pitchFamily="49" charset="0"/>
              </a:rPr>
              <a:t>x,y,z</a:t>
            </a:r>
            <a:r>
              <a:rPr lang="en-US" altLang="en-US" sz="2200" dirty="0">
                <a:latin typeface="Courier New" panose="02070309020205020404" pitchFamily="49" charset="0"/>
                <a:cs typeface="Courier New" panose="02070309020205020404" pitchFamily="49" charset="0"/>
              </a:rPr>
              <a:t> = 1,2,3</a:t>
            </a:r>
          </a:p>
          <a:p>
            <a:pPr marL="0" indent="0">
              <a:buNone/>
            </a:pPr>
            <a:r>
              <a:rPr lang="en-US" altLang="en-US" sz="2200" dirty="0">
                <a:latin typeface="Courier New" panose="02070309020205020404" pitchFamily="49" charset="0"/>
                <a:cs typeface="Courier New" panose="02070309020205020404" pitchFamily="49" charset="0"/>
              </a:rPr>
              <a:t>w = </a:t>
            </a:r>
            <a:r>
              <a:rPr lang="en-US" altLang="en-US" sz="2200" dirty="0" err="1">
                <a:latin typeface="Courier New" panose="02070309020205020404" pitchFamily="49" charset="0"/>
                <a:cs typeface="Courier New" panose="02070309020205020404" pitchFamily="49" charset="0"/>
              </a:rPr>
              <a:t>x,y,z</a:t>
            </a:r>
            <a:endParaRPr lang="en-US" altLang="en-US" sz="2200" dirty="0">
              <a:latin typeface="Courier New" panose="02070309020205020404" pitchFamily="49" charset="0"/>
              <a:cs typeface="Courier New" panose="02070309020205020404" pitchFamily="49" charset="0"/>
            </a:endParaRPr>
          </a:p>
          <a:p>
            <a:pPr marL="0" indent="0">
              <a:buNone/>
            </a:pPr>
            <a:r>
              <a:rPr lang="en-US" altLang="en-US" sz="2200" dirty="0">
                <a:latin typeface="Courier New" panose="02070309020205020404" pitchFamily="49" charset="0"/>
                <a:cs typeface="Courier New" panose="02070309020205020404" pitchFamily="49" charset="0"/>
              </a:rPr>
              <a:t>print(w)		# prints (1, 2, 3)</a:t>
            </a:r>
          </a:p>
          <a:p>
            <a:pPr marL="0" indent="0">
              <a:buNone/>
            </a:pPr>
            <a:r>
              <a:rPr lang="en-US" altLang="en-US" sz="2200" dirty="0" err="1">
                <a:latin typeface="Courier New" panose="02070309020205020404" pitchFamily="49" charset="0"/>
                <a:cs typeface="Courier New" panose="02070309020205020404" pitchFamily="49" charset="0"/>
              </a:rPr>
              <a:t>a,b,c</a:t>
            </a:r>
            <a:r>
              <a:rPr lang="en-US" altLang="en-US" sz="2200" dirty="0">
                <a:latin typeface="Courier New" panose="02070309020205020404" pitchFamily="49" charset="0"/>
                <a:cs typeface="Courier New" panose="02070309020205020404" pitchFamily="49" charset="0"/>
              </a:rPr>
              <a:t> = w</a:t>
            </a:r>
          </a:p>
          <a:p>
            <a:pPr marL="0" indent="0">
              <a:buNone/>
            </a:pPr>
            <a:r>
              <a:rPr lang="en-US" altLang="en-US" sz="2200" dirty="0">
                <a:latin typeface="Courier New" panose="02070309020205020404" pitchFamily="49" charset="0"/>
                <a:cs typeface="Courier New" panose="02070309020205020404" pitchFamily="49" charset="0"/>
              </a:rPr>
              <a:t>print(b)		# prints 2</a:t>
            </a:r>
          </a:p>
        </p:txBody>
      </p:sp>
    </p:spTree>
    <p:extLst>
      <p:ext uri="{BB962C8B-B14F-4D97-AF65-F5344CB8AC3E}">
        <p14:creationId xmlns:p14="http://schemas.microsoft.com/office/powerpoint/2010/main" val="2702039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Python Demo</a:t>
            </a:r>
          </a:p>
        </p:txBody>
      </p:sp>
      <p:sp>
        <p:nvSpPr>
          <p:cNvPr id="5" name="Content Placeholder 4">
            <a:extLst>
              <a:ext uri="{FF2B5EF4-FFF2-40B4-BE49-F238E27FC236}">
                <a16:creationId xmlns:a16="http://schemas.microsoft.com/office/drawing/2014/main" id="{47B69F51-635D-6F4D-B18B-C9406F90F58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737762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Python Basics</a:t>
            </a:r>
          </a:p>
        </p:txBody>
      </p:sp>
      <p:sp>
        <p:nvSpPr>
          <p:cNvPr id="3" name="Content Placeholder 2"/>
          <p:cNvSpPr>
            <a:spLocks noGrp="1"/>
          </p:cNvSpPr>
          <p:nvPr>
            <p:ph idx="1"/>
          </p:nvPr>
        </p:nvSpPr>
        <p:spPr>
          <a:xfrm>
            <a:off x="838200" y="1825624"/>
            <a:ext cx="10657114" cy="5032375"/>
          </a:xfrm>
        </p:spPr>
        <p:txBody>
          <a:bodyPr>
            <a:normAutofit/>
          </a:bodyPr>
          <a:lstStyle/>
          <a:p>
            <a:pPr marL="457200" lvl="1" indent="0">
              <a:buNone/>
            </a:pPr>
            <a:r>
              <a:rPr lang="en-US" altLang="en-US" sz="2600" dirty="0">
                <a:latin typeface="Courier New" panose="02070309020205020404" pitchFamily="49" charset="0"/>
                <a:cs typeface="Courier New" panose="02070309020205020404" pitchFamily="49" charset="0"/>
              </a:rPr>
              <a:t>new = 45</a:t>
            </a:r>
          </a:p>
          <a:p>
            <a:pPr marL="457200" lvl="1" indent="0">
              <a:buNone/>
            </a:pPr>
            <a:r>
              <a:rPr lang="en-US" altLang="en-US" sz="2600" dirty="0">
                <a:latin typeface="Courier New" panose="02070309020205020404" pitchFamily="49" charset="0"/>
                <a:cs typeface="Courier New" panose="02070309020205020404" pitchFamily="49" charset="0"/>
              </a:rPr>
              <a:t>old = 45</a:t>
            </a:r>
          </a:p>
          <a:p>
            <a:pPr marL="457200" lvl="1" indent="0">
              <a:buNone/>
            </a:pPr>
            <a:r>
              <a:rPr lang="en-US" altLang="en-US" sz="2600" dirty="0">
                <a:latin typeface="Courier New" panose="02070309020205020404" pitchFamily="49" charset="0"/>
                <a:cs typeface="Courier New" panose="02070309020205020404" pitchFamily="49" charset="0"/>
              </a:rPr>
              <a:t>x = new	</a:t>
            </a:r>
          </a:p>
          <a:p>
            <a:pPr marL="457200" lvl="1" indent="0">
              <a:buNone/>
            </a:pPr>
            <a:r>
              <a:rPr lang="en-US" altLang="en-US" sz="2600" dirty="0">
                <a:latin typeface="Courier New" panose="02070309020205020404" pitchFamily="49" charset="0"/>
                <a:cs typeface="Courier New" panose="02070309020205020404" pitchFamily="49" charset="0"/>
              </a:rPr>
              <a:t>a = 34</a:t>
            </a:r>
          </a:p>
          <a:p>
            <a:pPr marL="457200" lvl="1" indent="0">
              <a:buNone/>
            </a:pPr>
            <a:endParaRPr lang="en-US" altLang="en-US" sz="2600" dirty="0">
              <a:latin typeface="Courier New" panose="02070309020205020404" pitchFamily="49" charset="0"/>
              <a:cs typeface="Courier New" panose="02070309020205020404" pitchFamily="49" charset="0"/>
            </a:endParaRPr>
          </a:p>
          <a:p>
            <a:pPr marL="457200" lvl="1" indent="0">
              <a:buNone/>
            </a:pPr>
            <a:endParaRPr lang="en-US" altLang="en-US" sz="2600" dirty="0">
              <a:latin typeface="Courier New" panose="02070309020205020404" pitchFamily="49" charset="0"/>
              <a:cs typeface="Courier New" panose="02070309020205020404" pitchFamily="49" charset="0"/>
            </a:endParaRPr>
          </a:p>
          <a:p>
            <a:pPr marL="457200" lvl="1" indent="0">
              <a:buNone/>
            </a:pPr>
            <a:r>
              <a:rPr lang="en-US" altLang="en-US" sz="2600" dirty="0">
                <a:latin typeface="Courier New" panose="02070309020205020404" pitchFamily="49" charset="0"/>
                <a:cs typeface="Courier New" panose="02070309020205020404" pitchFamily="49" charset="0"/>
              </a:rPr>
              <a:t>print(id(new)) 	# 1750060080</a:t>
            </a:r>
          </a:p>
          <a:p>
            <a:pPr marL="457200" lvl="1" indent="0">
              <a:buNone/>
            </a:pPr>
            <a:r>
              <a:rPr lang="en-US" altLang="en-US" sz="2600" dirty="0">
                <a:latin typeface="Courier New" panose="02070309020205020404" pitchFamily="49" charset="0"/>
                <a:cs typeface="Courier New" panose="02070309020205020404" pitchFamily="49" charset="0"/>
              </a:rPr>
              <a:t>print(id(old))	# 1750060080</a:t>
            </a:r>
          </a:p>
          <a:p>
            <a:pPr marL="457200" lvl="1" indent="0">
              <a:buNone/>
            </a:pPr>
            <a:r>
              <a:rPr lang="en-US" altLang="en-US" sz="2600" dirty="0">
                <a:latin typeface="Courier New" panose="02070309020205020404" pitchFamily="49" charset="0"/>
                <a:cs typeface="Courier New" panose="02070309020205020404" pitchFamily="49" charset="0"/>
              </a:rPr>
              <a:t>print(id(x))	# 1750060080</a:t>
            </a:r>
          </a:p>
          <a:p>
            <a:pPr marL="457200" lvl="1" indent="0">
              <a:buNone/>
            </a:pPr>
            <a:r>
              <a:rPr lang="en-US" altLang="en-US" sz="2600" dirty="0">
                <a:latin typeface="Courier New" panose="02070309020205020404" pitchFamily="49" charset="0"/>
                <a:cs typeface="Courier New" panose="02070309020205020404" pitchFamily="49" charset="0"/>
              </a:rPr>
              <a:t>print(id(a)) 	# 1750059728</a:t>
            </a:r>
          </a:p>
          <a:p>
            <a:pPr marL="457200" lvl="1" indent="0">
              <a:buNone/>
            </a:pPr>
            <a:endParaRPr lang="en-US" altLang="en-US" sz="2600" dirty="0">
              <a:cs typeface="Times New Roman" panose="02020603050405020304" pitchFamily="18" charset="0"/>
            </a:endParaRPr>
          </a:p>
          <a:p>
            <a:pPr marL="457200" lvl="1" indent="0">
              <a:buNone/>
            </a:pPr>
            <a:endParaRPr lang="en-US" altLang="en-US" sz="2600" dirty="0">
              <a:cs typeface="Times New Roman" panose="02020603050405020304" pitchFamily="18" charset="0"/>
            </a:endParaRPr>
          </a:p>
        </p:txBody>
      </p:sp>
      <p:sp>
        <p:nvSpPr>
          <p:cNvPr id="4" name="TextBox 3"/>
          <p:cNvSpPr txBox="1"/>
          <p:nvPr/>
        </p:nvSpPr>
        <p:spPr>
          <a:xfrm>
            <a:off x="3810000" y="1690688"/>
            <a:ext cx="7685314" cy="2246769"/>
          </a:xfrm>
          <a:prstGeom prst="rect">
            <a:avLst/>
          </a:prstGeom>
          <a:noFill/>
        </p:spPr>
        <p:txBody>
          <a:bodyPr wrap="square" rtlCol="0">
            <a:spAutoFit/>
          </a:bodyPr>
          <a:lstStyle/>
          <a:p>
            <a:pPr marL="457200" indent="-457200">
              <a:buFont typeface="Arial" panose="020B0604020202020204" pitchFamily="34" charset="0"/>
              <a:buChar char="•"/>
            </a:pPr>
            <a:r>
              <a:rPr lang="en-US" sz="2800" dirty="0"/>
              <a:t>Id(object) returns the identity of the object</a:t>
            </a:r>
          </a:p>
          <a:p>
            <a:pPr marL="914400" lvl="1" indent="-457200">
              <a:buFont typeface="Arial" panose="020B0604020202020204" pitchFamily="34" charset="0"/>
              <a:buChar char="•"/>
            </a:pPr>
            <a:r>
              <a:rPr lang="en-US" sz="2800" dirty="0"/>
              <a:t>an integer that is unique and constant for this object during its lifetime</a:t>
            </a:r>
          </a:p>
          <a:p>
            <a:pPr marL="457200" indent="-457200">
              <a:buFont typeface="Arial" panose="020B0604020202020204" pitchFamily="34" charset="0"/>
              <a:buChar char="•"/>
            </a:pPr>
            <a:r>
              <a:rPr lang="en-US" sz="2800" dirty="0"/>
              <a:t>Objects with non-overlapping lifetimes can have same id() value</a:t>
            </a:r>
          </a:p>
        </p:txBody>
      </p:sp>
    </p:spTree>
    <p:extLst>
      <p:ext uri="{BB962C8B-B14F-4D97-AF65-F5344CB8AC3E}">
        <p14:creationId xmlns:p14="http://schemas.microsoft.com/office/powerpoint/2010/main" val="3305500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Looping in Python</a:t>
            </a:r>
          </a:p>
        </p:txBody>
      </p:sp>
      <p:sp>
        <p:nvSpPr>
          <p:cNvPr id="3" name="Content Placeholder 2"/>
          <p:cNvSpPr>
            <a:spLocks noGrp="1"/>
          </p:cNvSpPr>
          <p:nvPr>
            <p:ph idx="1"/>
          </p:nvPr>
        </p:nvSpPr>
        <p:spPr>
          <a:xfrm>
            <a:off x="838199" y="1825624"/>
            <a:ext cx="11081657" cy="5032375"/>
          </a:xfrm>
        </p:spPr>
        <p:txBody>
          <a:bodyPr>
            <a:normAutofit/>
          </a:bodyPr>
          <a:lstStyle/>
          <a:p>
            <a:r>
              <a:rPr lang="en-US" altLang="en-US" dirty="0">
                <a:cs typeface="Times New Roman" panose="02020603050405020304" pitchFamily="18" charset="0"/>
              </a:rPr>
              <a:t>Python provides two looping structures: the for loop and the while loop</a:t>
            </a:r>
          </a:p>
          <a:p>
            <a:r>
              <a:rPr lang="en-US" altLang="en-US" dirty="0">
                <a:cs typeface="Times New Roman" panose="02020603050405020304" pitchFamily="18" charset="0"/>
              </a:rPr>
              <a:t>The while loop in Python is a standard event controlled loop</a:t>
            </a:r>
          </a:p>
          <a:p>
            <a:pPr marL="457200" lvl="1" indent="0">
              <a:buNone/>
            </a:pPr>
            <a:r>
              <a:rPr lang="en-US" dirty="0">
                <a:latin typeface="Courier New" panose="02070309020205020404" pitchFamily="49" charset="0"/>
                <a:cs typeface="Courier New" panose="02070309020205020404" pitchFamily="49" charset="0"/>
              </a:rPr>
              <a:t>while True:</a:t>
            </a:r>
          </a:p>
          <a:p>
            <a:pPr marL="457200" lvl="1" indent="0">
              <a:buNone/>
            </a:pPr>
            <a:r>
              <a:rPr lang="en-US" dirty="0">
                <a:latin typeface="Courier New" panose="02070309020205020404" pitchFamily="49" charset="0"/>
                <a:cs typeface="Courier New" panose="02070309020205020404" pitchFamily="49" charset="0"/>
              </a:rPr>
              <a:t>    print("stop")</a:t>
            </a:r>
          </a:p>
          <a:p>
            <a:r>
              <a:rPr lang="en-US" altLang="en-US" dirty="0">
                <a:latin typeface="Calibri" panose="020F0502020204030204" pitchFamily="34" charset="0"/>
                <a:cs typeface="Calibri" panose="020F0502020204030204" pitchFamily="34" charset="0"/>
              </a:rPr>
              <a:t>The for loop structure in Python is similar to the for each loop in Java</a:t>
            </a:r>
          </a:p>
          <a:p>
            <a:pPr lvl="1"/>
            <a:r>
              <a:rPr lang="en-US" altLang="en-US" dirty="0">
                <a:latin typeface="Calibri" panose="020F0502020204030204" pitchFamily="34" charset="0"/>
                <a:cs typeface="Calibri" panose="020F0502020204030204" pitchFamily="34" charset="0"/>
              </a:rPr>
              <a:t> There is no traditional for loop equivalent in Python</a:t>
            </a:r>
          </a:p>
          <a:p>
            <a:r>
              <a:rPr lang="en-US" dirty="0"/>
              <a:t>The Python </a:t>
            </a:r>
            <a:r>
              <a:rPr lang="en-US" i="1" dirty="0"/>
              <a:t>for</a:t>
            </a:r>
            <a:r>
              <a:rPr lang="en-US" dirty="0"/>
              <a:t> statement iterates over the members of a sequence in order</a:t>
            </a:r>
          </a:p>
          <a:p>
            <a:pPr marL="457200" lvl="1" indent="0">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aValue</a:t>
            </a:r>
            <a:r>
              <a:rPr lang="en-US" dirty="0">
                <a:latin typeface="Courier New" panose="02070309020205020404" pitchFamily="49" charset="0"/>
                <a:cs typeface="Courier New" panose="02070309020205020404" pitchFamily="49" charset="0"/>
              </a:rPr>
              <a:t> in </a:t>
            </a:r>
            <a:r>
              <a:rPr lang="en-US" dirty="0" err="1">
                <a:latin typeface="Courier New" panose="02070309020205020404" pitchFamily="49" charset="0"/>
                <a:cs typeface="Courier New" panose="02070309020205020404" pitchFamily="49" charset="0"/>
              </a:rPr>
              <a:t>myList</a:t>
            </a:r>
            <a:r>
              <a:rPr lang="en-US" dirty="0">
                <a:latin typeface="Courier New" panose="02070309020205020404" pitchFamily="49" charset="0"/>
                <a:cs typeface="Courier New" panose="02070309020205020404" pitchFamily="49" charset="0"/>
              </a:rPr>
              <a:t>:</a:t>
            </a:r>
          </a:p>
          <a:p>
            <a:pPr marL="457200" lvl="1" indent="0">
              <a:buNone/>
            </a:pPr>
            <a:r>
              <a:rPr lang="en-US" dirty="0">
                <a:latin typeface="Courier New" panose="02070309020205020404" pitchFamily="49" charset="0"/>
                <a:cs typeface="Courier New" panose="02070309020205020404" pitchFamily="49" charset="0"/>
              </a:rPr>
              <a:t>    print(</a:t>
            </a:r>
            <a:r>
              <a:rPr lang="en-US" dirty="0" err="1">
                <a:latin typeface="Courier New" panose="02070309020205020404" pitchFamily="49" charset="0"/>
                <a:cs typeface="Courier New" panose="02070309020205020404" pitchFamily="49" charset="0"/>
              </a:rPr>
              <a:t>aValue</a:t>
            </a:r>
            <a:r>
              <a:rPr lang="en-US" dirty="0">
                <a:latin typeface="Courier New" panose="02070309020205020404" pitchFamily="49" charset="0"/>
                <a:cs typeface="Courier New" panose="02070309020205020404" pitchFamily="49" charset="0"/>
              </a:rPr>
              <a:t>)</a:t>
            </a:r>
          </a:p>
          <a:p>
            <a:pPr marL="0" indent="0">
              <a:buNone/>
            </a:pPr>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07247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Looping in Python</a:t>
            </a:r>
          </a:p>
        </p:txBody>
      </p:sp>
      <p:sp>
        <p:nvSpPr>
          <p:cNvPr id="3" name="Content Placeholder 2"/>
          <p:cNvSpPr>
            <a:spLocks noGrp="1"/>
          </p:cNvSpPr>
          <p:nvPr>
            <p:ph idx="1"/>
          </p:nvPr>
        </p:nvSpPr>
        <p:spPr>
          <a:xfrm>
            <a:off x="838199" y="1825624"/>
            <a:ext cx="11081657" cy="5032375"/>
          </a:xfrm>
        </p:spPr>
        <p:txBody>
          <a:bodyPr>
            <a:noAutofit/>
          </a:bodyPr>
          <a:lstStyle/>
          <a:p>
            <a:r>
              <a:rPr lang="en-US" altLang="en-US" dirty="0">
                <a:cs typeface="Times New Roman" panose="02020603050405020304" pitchFamily="18" charset="0"/>
              </a:rPr>
              <a:t>Although there is no traditional for loop in Python we can emulate its behavior using the </a:t>
            </a:r>
            <a:r>
              <a:rPr lang="en-US" altLang="en-US" dirty="0">
                <a:cs typeface="Times New Roman" panose="02020603050405020304" pitchFamily="18" charset="0"/>
                <a:hlinkClick r:id="rId3"/>
              </a:rPr>
              <a:t>range</a:t>
            </a:r>
            <a:r>
              <a:rPr lang="en-US" altLang="en-US" dirty="0">
                <a:cs typeface="Times New Roman" panose="02020603050405020304" pitchFamily="18" charset="0"/>
              </a:rPr>
              <a:t> function</a:t>
            </a:r>
          </a:p>
          <a:p>
            <a:r>
              <a:rPr lang="en-US" altLang="en-US" dirty="0">
                <a:latin typeface="Calibri" panose="020F0502020204030204" pitchFamily="34" charset="0"/>
                <a:cs typeface="Times New Roman" panose="02020603050405020304" pitchFamily="18" charset="0"/>
              </a:rPr>
              <a:t>range is technically a constructor which takes a start and stop value and returns a range object</a:t>
            </a:r>
          </a:p>
          <a:p>
            <a:r>
              <a:rPr lang="en-US" altLang="en-US" dirty="0">
                <a:latin typeface="Calibri" panose="020F0502020204030204" pitchFamily="34" charset="0"/>
                <a:cs typeface="Times New Roman" panose="02020603050405020304" pitchFamily="18" charset="0"/>
              </a:rPr>
              <a:t>A third optional parameter, step, specifies the difference in value between two elements in the range </a:t>
            </a:r>
          </a:p>
          <a:p>
            <a:pPr lvl="1"/>
            <a:r>
              <a:rPr lang="en-US" altLang="en-US" dirty="0">
                <a:latin typeface="Calibri" panose="020F0502020204030204" pitchFamily="34" charset="0"/>
                <a:cs typeface="Times New Roman" panose="02020603050405020304" pitchFamily="18" charset="0"/>
              </a:rPr>
              <a:t>The default value for step is 1</a:t>
            </a:r>
            <a:endParaRPr lang="en-US" altLang="en-US" dirty="0">
              <a:latin typeface="Calibri" panose="020F0502020204030204" pitchFamily="34" charset="0"/>
              <a:cs typeface="Calibri" panose="020F0502020204030204" pitchFamily="34" charset="0"/>
            </a:endParaRPr>
          </a:p>
          <a:p>
            <a:r>
              <a:rPr lang="en-US" dirty="0"/>
              <a:t>The advantage of the </a:t>
            </a:r>
            <a:r>
              <a:rPr lang="en-US" dirty="0">
                <a:hlinkClick r:id="rId4" tooltip="range"/>
              </a:rPr>
              <a:t>range</a:t>
            </a:r>
            <a:r>
              <a:rPr lang="en-US" dirty="0"/>
              <a:t> type over a regular </a:t>
            </a:r>
            <a:r>
              <a:rPr lang="en-US" dirty="0">
                <a:hlinkClick r:id="rId5" tooltip="list"/>
              </a:rPr>
              <a:t>list</a:t>
            </a:r>
            <a:r>
              <a:rPr lang="en-US" dirty="0"/>
              <a:t> or </a:t>
            </a:r>
            <a:r>
              <a:rPr lang="en-US" dirty="0">
                <a:hlinkClick r:id="rId6" tooltip="tuple"/>
              </a:rPr>
              <a:t>tuple</a:t>
            </a:r>
            <a:r>
              <a:rPr lang="en-US" dirty="0"/>
              <a:t> is that a </a:t>
            </a:r>
            <a:r>
              <a:rPr lang="en-US" dirty="0">
                <a:hlinkClick r:id="rId4" tooltip="range"/>
              </a:rPr>
              <a:t>range</a:t>
            </a:r>
            <a:r>
              <a:rPr lang="en-US" dirty="0"/>
              <a:t> object will always take the same (small) amount of memory, no matter the size of the range it represents </a:t>
            </a:r>
          </a:p>
          <a:p>
            <a:pPr lvl="1"/>
            <a:r>
              <a:rPr lang="en-US" dirty="0"/>
              <a:t>It only stores the start, stop and step values, calculating individual items and subranges as needed</a:t>
            </a:r>
            <a:endParaRPr lang="en-US" altLang="en-US" dirty="0">
              <a:cs typeface="Times New Roman" panose="02020603050405020304" pitchFamily="18" charset="0"/>
            </a:endParaRPr>
          </a:p>
        </p:txBody>
      </p:sp>
    </p:spTree>
    <p:extLst>
      <p:ext uri="{BB962C8B-B14F-4D97-AF65-F5344CB8AC3E}">
        <p14:creationId xmlns:p14="http://schemas.microsoft.com/office/powerpoint/2010/main" val="1236542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Looping in Python</a:t>
            </a:r>
          </a:p>
        </p:txBody>
      </p:sp>
      <p:sp>
        <p:nvSpPr>
          <p:cNvPr id="3" name="Content Placeholder 2"/>
          <p:cNvSpPr>
            <a:spLocks noGrp="1"/>
          </p:cNvSpPr>
          <p:nvPr>
            <p:ph idx="1"/>
          </p:nvPr>
        </p:nvSpPr>
        <p:spPr>
          <a:xfrm>
            <a:off x="838199" y="1825624"/>
            <a:ext cx="11081657" cy="5032375"/>
          </a:xfrm>
        </p:spPr>
        <p:txBody>
          <a:bodyPr>
            <a:normAutofit/>
          </a:bodyPr>
          <a:lstStyle/>
          <a:p>
            <a:pPr marL="0" indent="0">
              <a:buNone/>
            </a:pPr>
            <a:r>
              <a:rPr lang="en-US" altLang="en-US" sz="2400" dirty="0" err="1">
                <a:latin typeface="Courier New" panose="02070309020205020404" pitchFamily="49" charset="0"/>
                <a:cs typeface="Courier New" panose="02070309020205020404" pitchFamily="49" charset="0"/>
              </a:rPr>
              <a:t>listA</a:t>
            </a:r>
            <a:r>
              <a:rPr lang="en-US" altLang="en-US" sz="2400" dirty="0">
                <a:latin typeface="Courier New" panose="02070309020205020404" pitchFamily="49" charset="0"/>
                <a:cs typeface="Courier New" panose="02070309020205020404" pitchFamily="49" charset="0"/>
              </a:rPr>
              <a:t> = ["Hello",2,"World"]</a:t>
            </a:r>
          </a:p>
          <a:p>
            <a:pPr marL="0" indent="0">
              <a:buNone/>
            </a:pPr>
            <a:r>
              <a:rPr lang="en-US" altLang="en-US" sz="2400" dirty="0">
                <a:latin typeface="Courier New" panose="02070309020205020404" pitchFamily="49" charset="0"/>
                <a:cs typeface="Courier New" panose="02070309020205020404" pitchFamily="49" charset="0"/>
              </a:rPr>
              <a:t>for x in </a:t>
            </a:r>
            <a:r>
              <a:rPr lang="en-US" altLang="en-US" sz="2400" dirty="0" err="1">
                <a:latin typeface="Courier New" panose="02070309020205020404" pitchFamily="49" charset="0"/>
                <a:cs typeface="Courier New" panose="02070309020205020404" pitchFamily="49" charset="0"/>
              </a:rPr>
              <a:t>listA</a:t>
            </a:r>
            <a:r>
              <a:rPr lang="en-US" altLang="en-US" sz="2400" dirty="0">
                <a:latin typeface="Courier New" panose="02070309020205020404" pitchFamily="49" charset="0"/>
                <a:cs typeface="Courier New" panose="02070309020205020404" pitchFamily="49" charset="0"/>
              </a:rPr>
              <a:t>:</a:t>
            </a:r>
          </a:p>
          <a:p>
            <a:pPr marL="0" indent="0">
              <a:buNone/>
            </a:pPr>
            <a:r>
              <a:rPr lang="en-US" altLang="en-US" sz="2400" dirty="0">
                <a:latin typeface="Courier New" panose="02070309020205020404" pitchFamily="49" charset="0"/>
                <a:cs typeface="Courier New" panose="02070309020205020404" pitchFamily="49" charset="0"/>
              </a:rPr>
              <a:t>    print(x)</a:t>
            </a:r>
          </a:p>
          <a:p>
            <a:pPr marL="0" indent="0">
              <a:buNone/>
            </a:pPr>
            <a:endParaRPr lang="en-US" alt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for x in range(0, 3): </a:t>
            </a:r>
          </a:p>
          <a:p>
            <a:pPr marL="0" indent="0">
              <a:buNone/>
            </a:pPr>
            <a:r>
              <a:rPr lang="en-US" sz="2400">
                <a:latin typeface="Courier New" panose="02070309020205020404" pitchFamily="49" charset="0"/>
                <a:cs typeface="Courier New" panose="02070309020205020404" pitchFamily="49" charset="0"/>
              </a:rPr>
              <a:t>	print("</a:t>
            </a:r>
            <a:r>
              <a:rPr lang="en-US" sz="2400" dirty="0">
                <a:latin typeface="Courier New" panose="02070309020205020404" pitchFamily="49" charset="0"/>
                <a:cs typeface="Courier New" panose="02070309020205020404" pitchFamily="49" charset="0"/>
              </a:rPr>
              <a:t>We're on iteration %d" % (</a:t>
            </a:r>
            <a:r>
              <a:rPr lang="en-US" sz="2400">
                <a:latin typeface="Courier New" panose="02070309020205020404" pitchFamily="49" charset="0"/>
                <a:cs typeface="Courier New" panose="02070309020205020404" pitchFamily="49" charset="0"/>
              </a:rPr>
              <a:t>x))</a:t>
            </a:r>
            <a:endParaRPr lang="en-US" alt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502962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Looping in Python</a:t>
            </a:r>
          </a:p>
        </p:txBody>
      </p:sp>
      <p:sp>
        <p:nvSpPr>
          <p:cNvPr id="3" name="Content Placeholder 2"/>
          <p:cNvSpPr>
            <a:spLocks noGrp="1"/>
          </p:cNvSpPr>
          <p:nvPr>
            <p:ph idx="1"/>
          </p:nvPr>
        </p:nvSpPr>
        <p:spPr>
          <a:xfrm>
            <a:off x="838199" y="1825624"/>
            <a:ext cx="4873285" cy="5032375"/>
          </a:xfrm>
        </p:spPr>
        <p:txBody>
          <a:bodyPr>
            <a:noAutofit/>
          </a:bodyPr>
          <a:lstStyle/>
          <a:p>
            <a:r>
              <a:rPr lang="en-US" altLang="en-US" dirty="0">
                <a:cs typeface="Times New Roman" panose="02020603050405020304" pitchFamily="18" charset="0"/>
              </a:rPr>
              <a:t>Another limitation of the foreach loop is the inability to modify the collection being iterated over </a:t>
            </a:r>
          </a:p>
          <a:p>
            <a:r>
              <a:rPr lang="en-US" altLang="en-US" dirty="0">
                <a:cs typeface="Times New Roman" panose="02020603050405020304" pitchFamily="18" charset="0"/>
              </a:rPr>
              <a:t>The limitation can be overcome using the </a:t>
            </a:r>
            <a:r>
              <a:rPr lang="en-US" dirty="0"/>
              <a:t>enumerate function </a:t>
            </a:r>
            <a:r>
              <a:rPr lang="en-US" altLang="en-US" dirty="0">
                <a:cs typeface="Times New Roman" panose="02020603050405020304" pitchFamily="18" charset="0"/>
              </a:rPr>
              <a:t> </a:t>
            </a:r>
          </a:p>
          <a:p>
            <a:pPr marL="0" indent="0">
              <a:buNone/>
            </a:pPr>
            <a:endParaRPr lang="en-US" altLang="en-US" dirty="0">
              <a:cs typeface="Times New Roman" panose="02020603050405020304" pitchFamily="18" charset="0"/>
            </a:endParaRPr>
          </a:p>
        </p:txBody>
      </p:sp>
      <p:sp>
        <p:nvSpPr>
          <p:cNvPr id="4" name="Content Placeholder 2">
            <a:extLst>
              <a:ext uri="{FF2B5EF4-FFF2-40B4-BE49-F238E27FC236}">
                <a16:creationId xmlns:a16="http://schemas.microsoft.com/office/drawing/2014/main" id="{9562A604-1E61-D947-9A66-5721118C8515}"/>
              </a:ext>
            </a:extLst>
          </p:cNvPr>
          <p:cNvSpPr txBox="1">
            <a:spLocks/>
          </p:cNvSpPr>
          <p:nvPr/>
        </p:nvSpPr>
        <p:spPr>
          <a:xfrm>
            <a:off x="5711484" y="1825625"/>
            <a:ext cx="7258928" cy="50323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altLang="en-US" sz="2000" dirty="0">
                <a:latin typeface="Courier New" panose="02070309020205020404" pitchFamily="49" charset="0"/>
                <a:cs typeface="Courier New" panose="02070309020205020404" pitchFamily="49" charset="0"/>
              </a:rPr>
              <a:t>foo = ["</a:t>
            </a:r>
            <a:r>
              <a:rPr lang="en-US" altLang="en-US" sz="2000" dirty="0" err="1">
                <a:latin typeface="Courier New" panose="02070309020205020404" pitchFamily="49" charset="0"/>
                <a:cs typeface="Courier New" panose="02070309020205020404" pitchFamily="49" charset="0"/>
              </a:rPr>
              <a:t>Hello","World","Element</a:t>
            </a:r>
            <a:r>
              <a:rPr lang="en-US" altLang="en-US" sz="2000" dirty="0">
                <a:latin typeface="Courier New" panose="02070309020205020404" pitchFamily="49" charset="0"/>
                <a:cs typeface="Courier New" panose="02070309020205020404" pitchFamily="49" charset="0"/>
              </a:rPr>
              <a:t>"]</a:t>
            </a:r>
          </a:p>
          <a:p>
            <a:pPr marL="0" indent="0">
              <a:buNone/>
            </a:pPr>
            <a:r>
              <a:rPr lang="en-US" altLang="en-US" sz="2000" dirty="0">
                <a:latin typeface="Courier New" panose="02070309020205020404" pitchFamily="49" charset="0"/>
                <a:cs typeface="Courier New" panose="02070309020205020404" pitchFamily="49" charset="0"/>
              </a:rPr>
              <a:t>bar = ["</a:t>
            </a:r>
            <a:r>
              <a:rPr lang="en-US" altLang="en-US" sz="2000" dirty="0" err="1">
                <a:latin typeface="Courier New" panose="02070309020205020404" pitchFamily="49" charset="0"/>
                <a:cs typeface="Courier New" panose="02070309020205020404" pitchFamily="49" charset="0"/>
              </a:rPr>
              <a:t>Other","Unknown","Data</a:t>
            </a:r>
            <a:r>
              <a:rPr lang="en-US" altLang="en-US" sz="2000" dirty="0">
                <a:latin typeface="Courier New" panose="02070309020205020404" pitchFamily="49" charset="0"/>
                <a:cs typeface="Courier New" panose="02070309020205020404" pitchFamily="49" charset="0"/>
              </a:rPr>
              <a:t>"]</a:t>
            </a:r>
          </a:p>
          <a:p>
            <a:pPr marL="0" indent="0">
              <a:buNone/>
            </a:pPr>
            <a:r>
              <a:rPr lang="en-US" altLang="en-US" sz="2000" dirty="0">
                <a:latin typeface="Courier New" panose="02070309020205020404" pitchFamily="49" charset="0"/>
                <a:cs typeface="Courier New" panose="02070309020205020404" pitchFamily="49" charset="0"/>
              </a:rPr>
              <a:t>for </a:t>
            </a:r>
            <a:r>
              <a:rPr lang="en-US" altLang="en-US" sz="2000" dirty="0" err="1">
                <a:latin typeface="Courier New" panose="02070309020205020404" pitchFamily="49" charset="0"/>
                <a:cs typeface="Courier New" panose="02070309020205020404" pitchFamily="49" charset="0"/>
              </a:rPr>
              <a:t>index,element</a:t>
            </a:r>
            <a:r>
              <a:rPr lang="en-US" altLang="en-US" sz="2000" dirty="0">
                <a:latin typeface="Courier New" panose="02070309020205020404" pitchFamily="49" charset="0"/>
                <a:cs typeface="Courier New" panose="02070309020205020404" pitchFamily="49" charset="0"/>
              </a:rPr>
              <a:t> in enumerate(foo):</a:t>
            </a:r>
          </a:p>
          <a:p>
            <a:pPr marL="0" indent="0">
              <a:buNone/>
            </a:pPr>
            <a:r>
              <a:rPr lang="en-US" altLang="en-US" sz="2000" dirty="0">
                <a:latin typeface="Courier New" panose="02070309020205020404" pitchFamily="49" charset="0"/>
                <a:cs typeface="Courier New" panose="02070309020205020404" pitchFamily="49" charset="0"/>
              </a:rPr>
              <a:t>	if "World" in element:</a:t>
            </a:r>
          </a:p>
          <a:p>
            <a:pPr marL="0" indent="0">
              <a:buNone/>
            </a:pPr>
            <a:r>
              <a:rPr lang="en-US" altLang="en-US" sz="2000" dirty="0">
                <a:latin typeface="Courier New" panose="02070309020205020404" pitchFamily="49" charset="0"/>
                <a:cs typeface="Courier New" panose="02070309020205020404" pitchFamily="49" charset="0"/>
              </a:rPr>
              <a:t>		foo[index] = bar[index]</a:t>
            </a:r>
          </a:p>
          <a:p>
            <a:pPr marL="0" indent="0">
              <a:buNone/>
            </a:pPr>
            <a:r>
              <a:rPr lang="en-US" altLang="en-US" sz="2000" dirty="0">
                <a:latin typeface="Courier New" panose="02070309020205020404" pitchFamily="49" charset="0"/>
                <a:cs typeface="Courier New" panose="02070309020205020404" pitchFamily="49" charset="0"/>
              </a:rPr>
              <a:t>print(foo)</a:t>
            </a:r>
          </a:p>
          <a:p>
            <a:pPr marL="0" indent="0">
              <a:buNone/>
            </a:pPr>
            <a:r>
              <a:rPr lang="en-US" altLang="en-US" sz="2000" dirty="0">
                <a:latin typeface="Courier New" panose="02070309020205020404" pitchFamily="49" charset="0"/>
                <a:cs typeface="Courier New" panose="02070309020205020404" pitchFamily="49" charset="0"/>
              </a:rPr>
              <a:t># ['Hello', 'Unknown', 'Element']</a:t>
            </a:r>
          </a:p>
        </p:txBody>
      </p:sp>
    </p:spTree>
    <p:extLst>
      <p:ext uri="{BB962C8B-B14F-4D97-AF65-F5344CB8AC3E}">
        <p14:creationId xmlns:p14="http://schemas.microsoft.com/office/powerpoint/2010/main" val="2230567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Working Through Lists &amp; Tuples</a:t>
            </a:r>
          </a:p>
        </p:txBody>
      </p:sp>
      <p:sp>
        <p:nvSpPr>
          <p:cNvPr id="3" name="Content Placeholder 2"/>
          <p:cNvSpPr>
            <a:spLocks noGrp="1"/>
          </p:cNvSpPr>
          <p:nvPr>
            <p:ph idx="1"/>
          </p:nvPr>
        </p:nvSpPr>
        <p:spPr>
          <a:xfrm>
            <a:off x="838200" y="1825624"/>
            <a:ext cx="10515600" cy="4689475"/>
          </a:xfrm>
        </p:spPr>
        <p:txBody>
          <a:bodyPr>
            <a:normAutofit/>
          </a:bodyPr>
          <a:lstStyle/>
          <a:p>
            <a:r>
              <a:rPr lang="en-US" altLang="en-US" dirty="0">
                <a:cs typeface="Times New Roman" panose="02020603050405020304" pitchFamily="18" charset="0"/>
              </a:rPr>
              <a:t>Going through elements in a loop</a:t>
            </a:r>
          </a:p>
          <a:p>
            <a:pPr lvl="1"/>
            <a:r>
              <a:rPr lang="en-US" altLang="en-US" sz="2800" dirty="0" err="1">
                <a:cs typeface="Times New Roman" panose="02020603050405020304" pitchFamily="18" charset="0"/>
              </a:rPr>
              <a:t>len</a:t>
            </a:r>
            <a:r>
              <a:rPr lang="en-US" altLang="en-US" sz="2800" dirty="0">
                <a:cs typeface="Times New Roman" panose="02020603050405020304" pitchFamily="18" charset="0"/>
              </a:rPr>
              <a:t>(x) returns length of list/tuple</a:t>
            </a:r>
          </a:p>
          <a:p>
            <a:pPr lvl="1"/>
            <a:r>
              <a:rPr lang="en-US" altLang="en-US" sz="2800" dirty="0">
                <a:cs typeface="Times New Roman" panose="02020603050405020304" pitchFamily="18" charset="0"/>
              </a:rPr>
              <a:t>range(N) allows us to go through 0,…,N-1</a:t>
            </a:r>
          </a:p>
          <a:p>
            <a:pPr lvl="1"/>
            <a:r>
              <a:rPr lang="en-US" altLang="en-US" sz="2800" dirty="0">
                <a:cs typeface="Times New Roman" panose="02020603050405020304" pitchFamily="18" charset="0"/>
              </a:rPr>
              <a:t>Slicing allows us to get a subset of a list/tuple</a:t>
            </a:r>
          </a:p>
          <a:p>
            <a:pPr lvl="1"/>
            <a:r>
              <a:rPr lang="en-US" altLang="en-US" sz="2800" dirty="0">
                <a:cs typeface="Times New Roman" panose="02020603050405020304" pitchFamily="18" charset="0"/>
              </a:rPr>
              <a:t>Slicing [</a:t>
            </a:r>
            <a:r>
              <a:rPr lang="en-US" altLang="en-US" sz="2800" dirty="0" err="1">
                <a:cs typeface="Times New Roman" panose="02020603050405020304" pitchFamily="18" charset="0"/>
              </a:rPr>
              <a:t>start:end:step</a:t>
            </a:r>
            <a:r>
              <a:rPr lang="en-US" altLang="en-US" sz="2800" dirty="0">
                <a:cs typeface="Times New Roman" panose="02020603050405020304" pitchFamily="18" charset="0"/>
              </a:rPr>
              <a:t>]</a:t>
            </a:r>
            <a:br>
              <a:rPr lang="en-US" altLang="en-US" sz="2800" dirty="0">
                <a:cs typeface="Times New Roman" panose="02020603050405020304" pitchFamily="18" charset="0"/>
              </a:rPr>
            </a:br>
            <a:r>
              <a:rPr lang="en-US" altLang="en-US" sz="2800" dirty="0">
                <a:cs typeface="Times New Roman" panose="02020603050405020304" pitchFamily="18" charset="0"/>
              </a:rPr>
              <a:t>  from start </a:t>
            </a:r>
            <a:br>
              <a:rPr lang="en-US" altLang="en-US" sz="2800" dirty="0">
                <a:cs typeface="Times New Roman" panose="02020603050405020304" pitchFamily="18" charset="0"/>
              </a:rPr>
            </a:br>
            <a:r>
              <a:rPr lang="en-US" altLang="en-US" sz="2800" dirty="0">
                <a:cs typeface="Times New Roman" panose="02020603050405020304" pitchFamily="18" charset="0"/>
              </a:rPr>
              <a:t>  to (but not including) end</a:t>
            </a:r>
          </a:p>
          <a:p>
            <a:pPr marL="457200" lvl="1" indent="0">
              <a:buNone/>
            </a:pPr>
            <a:r>
              <a:rPr lang="en-US" altLang="en-US" sz="2800" dirty="0">
                <a:cs typeface="Times New Roman" panose="02020603050405020304" pitchFamily="18" charset="0"/>
              </a:rPr>
              <a:t>     step – how many are skipped each time</a:t>
            </a:r>
            <a:br>
              <a:rPr lang="en-US" altLang="en-US" dirty="0">
                <a:cs typeface="Times New Roman" panose="02020603050405020304" pitchFamily="18" charset="0"/>
              </a:rPr>
            </a:br>
            <a:endParaRPr lang="en-US" altLang="en-US" dirty="0">
              <a:cs typeface="Times New Roman" panose="02020603050405020304" pitchFamily="18" charset="0"/>
            </a:endParaRPr>
          </a:p>
        </p:txBody>
      </p:sp>
    </p:spTree>
    <p:extLst>
      <p:ext uri="{BB962C8B-B14F-4D97-AF65-F5344CB8AC3E}">
        <p14:creationId xmlns:p14="http://schemas.microsoft.com/office/powerpoint/2010/main" val="3396073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Working Through Lists &amp; Tuples</a:t>
            </a:r>
          </a:p>
        </p:txBody>
      </p:sp>
      <p:sp>
        <p:nvSpPr>
          <p:cNvPr id="3" name="Content Placeholder 2"/>
          <p:cNvSpPr>
            <a:spLocks noGrp="1"/>
          </p:cNvSpPr>
          <p:nvPr>
            <p:ph idx="1"/>
          </p:nvPr>
        </p:nvSpPr>
        <p:spPr>
          <a:xfrm>
            <a:off x="838200" y="1825624"/>
            <a:ext cx="10515600" cy="4689475"/>
          </a:xfrm>
        </p:spPr>
        <p:txBody>
          <a:bodyPr>
            <a:normAutofit/>
          </a:bodyPr>
          <a:lstStyle/>
          <a:p>
            <a:pPr marL="0" indent="0">
              <a:buNone/>
            </a:pPr>
            <a:r>
              <a:rPr lang="en-US" altLang="en-US" sz="2600" dirty="0" err="1">
                <a:latin typeface="Courier New" panose="02070309020205020404" pitchFamily="49" charset="0"/>
                <a:cs typeface="Courier New" panose="02070309020205020404" pitchFamily="49" charset="0"/>
              </a:rPr>
              <a:t>listB</a:t>
            </a:r>
            <a:r>
              <a:rPr lang="en-US" altLang="en-US" sz="2600" dirty="0">
                <a:latin typeface="Courier New" panose="02070309020205020404" pitchFamily="49" charset="0"/>
                <a:cs typeface="Courier New" panose="02070309020205020404" pitchFamily="49" charset="0"/>
              </a:rPr>
              <a:t> = [1,2,3,4,5,6,7,8,9,10]</a:t>
            </a:r>
          </a:p>
          <a:p>
            <a:pPr marL="0" indent="0">
              <a:buNone/>
            </a:pPr>
            <a:r>
              <a:rPr lang="en-US" altLang="en-US" sz="2600" dirty="0">
                <a:latin typeface="Courier New" panose="02070309020205020404" pitchFamily="49" charset="0"/>
                <a:cs typeface="Courier New" panose="02070309020205020404" pitchFamily="49" charset="0"/>
              </a:rPr>
              <a:t>print(</a:t>
            </a:r>
            <a:r>
              <a:rPr lang="en-US" altLang="en-US" sz="2600" dirty="0" err="1">
                <a:latin typeface="Courier New" panose="02070309020205020404" pitchFamily="49" charset="0"/>
                <a:cs typeface="Courier New" panose="02070309020205020404" pitchFamily="49" charset="0"/>
              </a:rPr>
              <a:t>listB</a:t>
            </a:r>
            <a:r>
              <a:rPr lang="en-US" altLang="en-US" sz="2600" dirty="0">
                <a:latin typeface="Courier New" panose="02070309020205020404" pitchFamily="49" charset="0"/>
                <a:cs typeface="Courier New" panose="02070309020205020404" pitchFamily="49" charset="0"/>
              </a:rPr>
              <a:t>[slice(0,9,3)])  #[1, 4, 7]</a:t>
            </a:r>
          </a:p>
          <a:p>
            <a:pPr marL="0" indent="0">
              <a:buNone/>
            </a:pPr>
            <a:r>
              <a:rPr lang="en-US" altLang="en-US" sz="2600" dirty="0">
                <a:latin typeface="Courier New" panose="02070309020205020404" pitchFamily="49" charset="0"/>
                <a:cs typeface="Courier New" panose="02070309020205020404" pitchFamily="49" charset="0"/>
              </a:rPr>
              <a:t>print(</a:t>
            </a:r>
            <a:r>
              <a:rPr lang="en-US" altLang="en-US" sz="2600" dirty="0" err="1">
                <a:latin typeface="Courier New" panose="02070309020205020404" pitchFamily="49" charset="0"/>
                <a:cs typeface="Courier New" panose="02070309020205020404" pitchFamily="49" charset="0"/>
              </a:rPr>
              <a:t>listB</a:t>
            </a:r>
            <a:r>
              <a:rPr lang="en-US" altLang="en-US" sz="2600" dirty="0">
                <a:latin typeface="Courier New" panose="02070309020205020404" pitchFamily="49" charset="0"/>
                <a:cs typeface="Courier New" panose="02070309020205020404" pitchFamily="49" charset="0"/>
              </a:rPr>
              <a:t>[0:9:3])		#[1, 4, 7]</a:t>
            </a:r>
          </a:p>
          <a:p>
            <a:pPr marL="0" indent="0">
              <a:buNone/>
            </a:pPr>
            <a:r>
              <a:rPr lang="en-US" altLang="en-US" sz="2600" dirty="0">
                <a:latin typeface="Courier New" panose="02070309020205020404" pitchFamily="49" charset="0"/>
                <a:cs typeface="Courier New" panose="02070309020205020404" pitchFamily="49" charset="0"/>
              </a:rPr>
              <a:t>print(</a:t>
            </a:r>
            <a:r>
              <a:rPr lang="en-US" altLang="en-US" sz="2600" dirty="0" err="1">
                <a:latin typeface="Courier New" panose="02070309020205020404" pitchFamily="49" charset="0"/>
                <a:cs typeface="Courier New" panose="02070309020205020404" pitchFamily="49" charset="0"/>
              </a:rPr>
              <a:t>listB</a:t>
            </a:r>
            <a:r>
              <a:rPr lang="en-US" altLang="en-US" sz="2600" dirty="0">
                <a:latin typeface="Courier New" panose="02070309020205020404" pitchFamily="49" charset="0"/>
                <a:cs typeface="Courier New" panose="02070309020205020404" pitchFamily="49" charset="0"/>
              </a:rPr>
              <a:t>[3:5:])			#[4, 5]</a:t>
            </a:r>
          </a:p>
          <a:p>
            <a:pPr marL="0" indent="0">
              <a:buNone/>
            </a:pPr>
            <a:r>
              <a:rPr lang="en-US" altLang="en-US" sz="2600" dirty="0">
                <a:latin typeface="Courier New" panose="02070309020205020404" pitchFamily="49" charset="0"/>
                <a:cs typeface="Courier New" panose="02070309020205020404" pitchFamily="49" charset="0"/>
              </a:rPr>
              <a:t>print(</a:t>
            </a:r>
            <a:r>
              <a:rPr lang="en-US" altLang="en-US" sz="2600" dirty="0" err="1">
                <a:latin typeface="Courier New" panose="02070309020205020404" pitchFamily="49" charset="0"/>
                <a:cs typeface="Courier New" panose="02070309020205020404" pitchFamily="49" charset="0"/>
              </a:rPr>
              <a:t>listB</a:t>
            </a:r>
            <a:r>
              <a:rPr lang="en-US" altLang="en-US" sz="2600" dirty="0">
                <a:latin typeface="Courier New" panose="02070309020205020404" pitchFamily="49" charset="0"/>
                <a:cs typeface="Courier New" panose="02070309020205020404" pitchFamily="49" charset="0"/>
              </a:rPr>
              <a:t>[:5:])			#[1, 2, 3, 4, 5]</a:t>
            </a:r>
            <a:br>
              <a:rPr lang="en-US" altLang="en-US" sz="2600" dirty="0">
                <a:latin typeface="Courier New" panose="02070309020205020404" pitchFamily="49" charset="0"/>
                <a:cs typeface="Courier New" panose="02070309020205020404" pitchFamily="49" charset="0"/>
              </a:rPr>
            </a:br>
            <a:endParaRPr lang="en-US" altLang="en-US" sz="2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403434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Slice vs Range</a:t>
            </a:r>
          </a:p>
        </p:txBody>
      </p:sp>
      <p:sp>
        <p:nvSpPr>
          <p:cNvPr id="3" name="Content Placeholder 2"/>
          <p:cNvSpPr>
            <a:spLocks noGrp="1"/>
          </p:cNvSpPr>
          <p:nvPr>
            <p:ph idx="1"/>
          </p:nvPr>
        </p:nvSpPr>
        <p:spPr>
          <a:xfrm>
            <a:off x="838200" y="1825624"/>
            <a:ext cx="10515600" cy="4689475"/>
          </a:xfrm>
        </p:spPr>
        <p:txBody>
          <a:bodyPr>
            <a:normAutofit/>
          </a:bodyPr>
          <a:lstStyle/>
          <a:p>
            <a:r>
              <a:rPr lang="en-US" altLang="en-US" dirty="0">
                <a:cs typeface="Times New Roman" panose="02020603050405020304" pitchFamily="18" charset="0"/>
              </a:rPr>
              <a:t>In Python, ranges and slices are very similar </a:t>
            </a:r>
          </a:p>
          <a:p>
            <a:pPr lvl="1"/>
            <a:r>
              <a:rPr lang="en-US" altLang="en-US" dirty="0">
                <a:cs typeface="Times New Roman" panose="02020603050405020304" pitchFamily="18" charset="0"/>
              </a:rPr>
              <a:t>Both conform to the start, stop, and step design pattern </a:t>
            </a:r>
          </a:p>
          <a:p>
            <a:r>
              <a:rPr lang="en-US" altLang="en-US" dirty="0">
                <a:cs typeface="Times New Roman" panose="02020603050405020304" pitchFamily="18" charset="0"/>
              </a:rPr>
              <a:t>Subtle differences between the two </a:t>
            </a:r>
          </a:p>
          <a:p>
            <a:pPr lvl="1"/>
            <a:r>
              <a:rPr lang="en-US" altLang="en-US" dirty="0">
                <a:cs typeface="Times New Roman" panose="02020603050405020304" pitchFamily="18" charset="0"/>
              </a:rPr>
              <a:t>Range objects are </a:t>
            </a:r>
            <a:r>
              <a:rPr lang="en-US" altLang="en-US" dirty="0" err="1">
                <a:cs typeface="Times New Roman" panose="02020603050405020304" pitchFamily="18" charset="0"/>
              </a:rPr>
              <a:t>iterable</a:t>
            </a:r>
            <a:r>
              <a:rPr lang="en-US" altLang="en-US" dirty="0">
                <a:cs typeface="Times New Roman" panose="02020603050405020304" pitchFamily="18" charset="0"/>
              </a:rPr>
              <a:t> and slice objects are not </a:t>
            </a:r>
          </a:p>
          <a:p>
            <a:pPr lvl="1"/>
            <a:r>
              <a:rPr lang="en-US" altLang="en-US" dirty="0">
                <a:cs typeface="Times New Roman" panose="02020603050405020304" pitchFamily="18" charset="0"/>
              </a:rPr>
              <a:t>Slices can be used as indices, ranges can not </a:t>
            </a:r>
          </a:p>
          <a:p>
            <a:pPr lvl="1"/>
            <a:r>
              <a:rPr lang="en-US" altLang="en-US" dirty="0">
                <a:cs typeface="Times New Roman" panose="02020603050405020304" pitchFamily="18" charset="0"/>
              </a:rPr>
              <a:t>You can slice a range but you can not range a slide </a:t>
            </a:r>
          </a:p>
          <a:p>
            <a:endParaRPr lang="en-US" altLang="en-US" dirty="0">
              <a:cs typeface="Times New Roman" panose="02020603050405020304" pitchFamily="18" charset="0"/>
            </a:endParaRPr>
          </a:p>
        </p:txBody>
      </p:sp>
    </p:spTree>
    <p:extLst>
      <p:ext uri="{BB962C8B-B14F-4D97-AF65-F5344CB8AC3E}">
        <p14:creationId xmlns:p14="http://schemas.microsoft.com/office/powerpoint/2010/main" val="33754078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Working Through Lists &amp; Tuples, cont.</a:t>
            </a:r>
          </a:p>
        </p:txBody>
      </p:sp>
      <p:sp>
        <p:nvSpPr>
          <p:cNvPr id="3" name="Content Placeholder 2"/>
          <p:cNvSpPr>
            <a:spLocks noGrp="1"/>
          </p:cNvSpPr>
          <p:nvPr>
            <p:ph idx="1"/>
          </p:nvPr>
        </p:nvSpPr>
        <p:spPr>
          <a:xfrm>
            <a:off x="838200" y="1825624"/>
            <a:ext cx="10515600" cy="4689475"/>
          </a:xfrm>
        </p:spPr>
        <p:txBody>
          <a:bodyPr>
            <a:normAutofit/>
          </a:bodyPr>
          <a:lstStyle/>
          <a:p>
            <a:r>
              <a:rPr lang="en-US" altLang="en-US" dirty="0">
                <a:cs typeface="Times New Roman" panose="02020603050405020304" pitchFamily="18" charset="0"/>
              </a:rPr>
              <a:t>Examples</a:t>
            </a:r>
          </a:p>
        </p:txBody>
      </p:sp>
      <p:sp>
        <p:nvSpPr>
          <p:cNvPr id="4" name="Rectangle 5"/>
          <p:cNvSpPr>
            <a:spLocks noChangeArrowheads="1"/>
          </p:cNvSpPr>
          <p:nvPr/>
        </p:nvSpPr>
        <p:spPr bwMode="auto">
          <a:xfrm>
            <a:off x="1273629" y="2334271"/>
            <a:ext cx="4572000" cy="37856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sz="2400" dirty="0"/>
              <a:t>print("list")	</a:t>
            </a:r>
            <a:r>
              <a:rPr lang="en-US" sz="2400" dirty="0">
                <a:solidFill>
                  <a:schemeClr val="accent1"/>
                </a:solidFill>
              </a:rPr>
              <a:t>  # list</a:t>
            </a:r>
          </a:p>
          <a:p>
            <a:r>
              <a:rPr lang="en-US" sz="2400" dirty="0"/>
              <a:t>l=['</a:t>
            </a:r>
            <a:r>
              <a:rPr lang="en-US" sz="2400" dirty="0" err="1"/>
              <a:t>d','c','b','a</a:t>
            </a:r>
            <a:r>
              <a:rPr lang="en-US" sz="2400" dirty="0"/>
              <a:t>']	      </a:t>
            </a:r>
            <a:r>
              <a:rPr lang="en-US" sz="2400" dirty="0">
                <a:solidFill>
                  <a:schemeClr val="accent1"/>
                </a:solidFill>
              </a:rPr>
              <a:t>d</a:t>
            </a:r>
          </a:p>
          <a:p>
            <a:r>
              <a:rPr lang="en-US" sz="2400" dirty="0"/>
              <a:t>for char in l:	      </a:t>
            </a:r>
            <a:r>
              <a:rPr lang="en-US" sz="2400" dirty="0">
                <a:solidFill>
                  <a:schemeClr val="accent1"/>
                </a:solidFill>
              </a:rPr>
              <a:t>c</a:t>
            </a:r>
          </a:p>
          <a:p>
            <a:r>
              <a:rPr lang="en-US" sz="2400" dirty="0"/>
              <a:t>    print(char)	      </a:t>
            </a:r>
            <a:r>
              <a:rPr lang="en-US" sz="2400" dirty="0">
                <a:solidFill>
                  <a:schemeClr val="accent1"/>
                </a:solidFill>
              </a:rPr>
              <a:t>b</a:t>
            </a:r>
          </a:p>
          <a:p>
            <a:r>
              <a:rPr lang="en-US" sz="2400" dirty="0"/>
              <a:t>    		      </a:t>
            </a:r>
            <a:r>
              <a:rPr lang="en-US" sz="2400" dirty="0">
                <a:solidFill>
                  <a:schemeClr val="accent1"/>
                </a:solidFill>
              </a:rPr>
              <a:t>a</a:t>
            </a:r>
          </a:p>
          <a:p>
            <a:r>
              <a:rPr lang="en-US" sz="2400" dirty="0"/>
              <a:t>print("tuple")	  </a:t>
            </a:r>
            <a:r>
              <a:rPr lang="en-US" sz="2400" dirty="0">
                <a:solidFill>
                  <a:schemeClr val="accent1"/>
                </a:solidFill>
              </a:rPr>
              <a:t># tuple</a:t>
            </a:r>
          </a:p>
          <a:p>
            <a:r>
              <a:rPr lang="en-US" sz="2400" dirty="0"/>
              <a:t>t=('</a:t>
            </a:r>
            <a:r>
              <a:rPr lang="en-US" sz="2400" dirty="0" err="1"/>
              <a:t>d','c','b','a</a:t>
            </a:r>
            <a:r>
              <a:rPr lang="en-US" sz="2400" dirty="0"/>
              <a:t>')	      </a:t>
            </a:r>
            <a:r>
              <a:rPr lang="en-US" sz="2400" dirty="0">
                <a:solidFill>
                  <a:schemeClr val="accent1"/>
                </a:solidFill>
              </a:rPr>
              <a:t>d</a:t>
            </a:r>
          </a:p>
          <a:p>
            <a:r>
              <a:rPr lang="en-US" sz="2400" dirty="0"/>
              <a:t>for char in t:	      </a:t>
            </a:r>
            <a:r>
              <a:rPr lang="en-US" sz="2400" dirty="0">
                <a:solidFill>
                  <a:schemeClr val="accent1"/>
                </a:solidFill>
              </a:rPr>
              <a:t>c</a:t>
            </a:r>
          </a:p>
          <a:p>
            <a:r>
              <a:rPr lang="en-US" sz="2400" dirty="0"/>
              <a:t>    print(char)	      </a:t>
            </a:r>
            <a:r>
              <a:rPr lang="en-US" sz="2400" dirty="0">
                <a:solidFill>
                  <a:schemeClr val="accent1"/>
                </a:solidFill>
              </a:rPr>
              <a:t>b</a:t>
            </a:r>
          </a:p>
          <a:p>
            <a:r>
              <a:rPr lang="en-US" sz="2400" dirty="0"/>
              <a:t>		      </a:t>
            </a:r>
            <a:r>
              <a:rPr lang="en-US" sz="2400" dirty="0">
                <a:solidFill>
                  <a:schemeClr val="accent1"/>
                </a:solidFill>
              </a:rPr>
              <a:t>a</a:t>
            </a:r>
          </a:p>
        </p:txBody>
      </p:sp>
      <p:sp>
        <p:nvSpPr>
          <p:cNvPr id="5" name="Rectangle 5"/>
          <p:cNvSpPr>
            <a:spLocks noChangeArrowheads="1"/>
          </p:cNvSpPr>
          <p:nvPr/>
        </p:nvSpPr>
        <p:spPr bwMode="auto">
          <a:xfrm>
            <a:off x="6928758" y="2338999"/>
            <a:ext cx="4572000" cy="34163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sz="2400" dirty="0"/>
              <a:t>print("range")		       </a:t>
            </a:r>
            <a:r>
              <a:rPr lang="en-US" sz="2400" dirty="0">
                <a:solidFill>
                  <a:schemeClr val="accent1"/>
                </a:solidFill>
              </a:rPr>
              <a:t># range</a:t>
            </a:r>
          </a:p>
          <a:p>
            <a:r>
              <a:rPr lang="en-US" sz="2400" dirty="0"/>
              <a:t>for </a:t>
            </a:r>
            <a:r>
              <a:rPr lang="en-US" sz="2400" dirty="0" err="1"/>
              <a:t>idx</a:t>
            </a:r>
            <a:r>
              <a:rPr lang="en-US" sz="2400" dirty="0"/>
              <a:t> in range(</a:t>
            </a:r>
            <a:r>
              <a:rPr lang="en-US" sz="2400" dirty="0" err="1"/>
              <a:t>len</a:t>
            </a:r>
            <a:r>
              <a:rPr lang="en-US" sz="2400" dirty="0"/>
              <a:t>(t)):	</a:t>
            </a:r>
            <a:r>
              <a:rPr lang="en-US" sz="2400" dirty="0">
                <a:solidFill>
                  <a:schemeClr val="accent1"/>
                </a:solidFill>
              </a:rPr>
              <a:t>d</a:t>
            </a:r>
          </a:p>
          <a:p>
            <a:r>
              <a:rPr lang="en-US" sz="2400" dirty="0"/>
              <a:t>    print(t[</a:t>
            </a:r>
            <a:r>
              <a:rPr lang="en-US" sz="2400" dirty="0" err="1"/>
              <a:t>idx</a:t>
            </a:r>
            <a:r>
              <a:rPr lang="en-US" sz="2400" dirty="0"/>
              <a:t>])	</a:t>
            </a:r>
            <a:r>
              <a:rPr lang="en-US" sz="2400" dirty="0">
                <a:solidFill>
                  <a:schemeClr val="accent1"/>
                </a:solidFill>
              </a:rPr>
              <a:t>	</a:t>
            </a:r>
            <a:r>
              <a:rPr lang="en-US" sz="2400" dirty="0"/>
              <a:t>	</a:t>
            </a:r>
            <a:r>
              <a:rPr lang="en-US" sz="2400" dirty="0">
                <a:solidFill>
                  <a:schemeClr val="accent1"/>
                </a:solidFill>
              </a:rPr>
              <a:t>c</a:t>
            </a:r>
          </a:p>
          <a:p>
            <a:r>
              <a:rPr lang="en-US" sz="2400" dirty="0">
                <a:solidFill>
                  <a:schemeClr val="accent1"/>
                </a:solidFill>
              </a:rPr>
              <a:t>				b</a:t>
            </a:r>
          </a:p>
          <a:p>
            <a:r>
              <a:rPr lang="en-US" sz="2400" dirty="0">
                <a:solidFill>
                  <a:schemeClr val="accent1"/>
                </a:solidFill>
              </a:rPr>
              <a:t>				a</a:t>
            </a:r>
          </a:p>
          <a:p>
            <a:r>
              <a:rPr lang="en-US" sz="2400" dirty="0"/>
              <a:t>    </a:t>
            </a:r>
          </a:p>
          <a:p>
            <a:r>
              <a:rPr lang="en-US" sz="2400" dirty="0"/>
              <a:t>print("slice")		      </a:t>
            </a:r>
            <a:r>
              <a:rPr lang="en-US" sz="2400" dirty="0">
                <a:solidFill>
                  <a:schemeClr val="accent1"/>
                </a:solidFill>
              </a:rPr>
              <a:t># slice</a:t>
            </a:r>
            <a:endParaRPr lang="en-US" sz="2400" dirty="0"/>
          </a:p>
          <a:p>
            <a:r>
              <a:rPr lang="en-US" sz="2400" dirty="0"/>
              <a:t>for char in l[0:4:2]:		</a:t>
            </a:r>
            <a:r>
              <a:rPr lang="en-US" sz="2400" dirty="0">
                <a:solidFill>
                  <a:schemeClr val="accent1"/>
                </a:solidFill>
              </a:rPr>
              <a:t>d</a:t>
            </a:r>
            <a:endParaRPr lang="en-US" sz="2400" dirty="0"/>
          </a:p>
          <a:p>
            <a:r>
              <a:rPr lang="en-US" sz="2400" dirty="0"/>
              <a:t>    print(char)			</a:t>
            </a:r>
            <a:r>
              <a:rPr lang="en-US" sz="2400" dirty="0">
                <a:solidFill>
                  <a:schemeClr val="accent1"/>
                </a:solidFill>
              </a:rPr>
              <a:t>b</a:t>
            </a:r>
            <a:endParaRPr lang="en-US" sz="2400" dirty="0"/>
          </a:p>
        </p:txBody>
      </p:sp>
    </p:spTree>
    <p:extLst>
      <p:ext uri="{BB962C8B-B14F-4D97-AF65-F5344CB8AC3E}">
        <p14:creationId xmlns:p14="http://schemas.microsoft.com/office/powerpoint/2010/main" val="2285459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Functions</a:t>
            </a:r>
          </a:p>
        </p:txBody>
      </p:sp>
      <p:sp>
        <p:nvSpPr>
          <p:cNvPr id="3" name="Content Placeholder 2"/>
          <p:cNvSpPr>
            <a:spLocks noGrp="1"/>
          </p:cNvSpPr>
          <p:nvPr>
            <p:ph idx="1"/>
          </p:nvPr>
        </p:nvSpPr>
        <p:spPr>
          <a:xfrm>
            <a:off x="838200" y="1825624"/>
            <a:ext cx="6603609" cy="4689475"/>
          </a:xfrm>
        </p:spPr>
        <p:txBody>
          <a:bodyPr>
            <a:noAutofit/>
          </a:bodyPr>
          <a:lstStyle/>
          <a:p>
            <a:r>
              <a:rPr lang="en-US" sz="2800" dirty="0"/>
              <a:t>Python functions:</a:t>
            </a:r>
          </a:p>
          <a:p>
            <a:pPr lvl="1"/>
            <a:r>
              <a:rPr lang="en-US" dirty="0"/>
              <a:t>are defined using the </a:t>
            </a:r>
            <a:r>
              <a:rPr lang="en-US" dirty="0">
                <a:latin typeface="Courier New" panose="02070309020205020404" pitchFamily="49" charset="0"/>
                <a:cs typeface="Courier New" panose="02070309020205020404" pitchFamily="49" charset="0"/>
              </a:rPr>
              <a:t>def</a:t>
            </a:r>
            <a:r>
              <a:rPr lang="en-US" dirty="0"/>
              <a:t> keyword</a:t>
            </a:r>
          </a:p>
          <a:p>
            <a:pPr lvl="1"/>
            <a:r>
              <a:rPr lang="en-US" dirty="0"/>
              <a:t>Support multiple return values </a:t>
            </a:r>
          </a:p>
          <a:p>
            <a:pPr lvl="2"/>
            <a:r>
              <a:rPr lang="en-US" dirty="0"/>
              <a:t>Like multiple assignment, when multiple values are returned they are stored in a single tuple and that tuple is returned</a:t>
            </a:r>
          </a:p>
          <a:p>
            <a:pPr lvl="1"/>
            <a:r>
              <a:rPr lang="en-US" dirty="0"/>
              <a:t>Support default arguments, keyword arguments, and variable length arguments </a:t>
            </a:r>
          </a:p>
          <a:p>
            <a:pPr lvl="1"/>
            <a:r>
              <a:rPr lang="en-US" dirty="0"/>
              <a:t>Do not support function overloading (the internet is lying!!!)</a:t>
            </a:r>
          </a:p>
          <a:p>
            <a:r>
              <a:rPr lang="en-US" sz="2800" dirty="0"/>
              <a:t>Function arguments are passed by value  </a:t>
            </a:r>
          </a:p>
        </p:txBody>
      </p:sp>
      <p:sp>
        <p:nvSpPr>
          <p:cNvPr id="4" name="Content Placeholder 2">
            <a:extLst>
              <a:ext uri="{FF2B5EF4-FFF2-40B4-BE49-F238E27FC236}">
                <a16:creationId xmlns:a16="http://schemas.microsoft.com/office/drawing/2014/main" id="{DD9D85E5-F2F0-A34B-BF6A-9E61F91D7403}"/>
              </a:ext>
            </a:extLst>
          </p:cNvPr>
          <p:cNvSpPr txBox="1">
            <a:spLocks/>
          </p:cNvSpPr>
          <p:nvPr/>
        </p:nvSpPr>
        <p:spPr>
          <a:xfrm>
            <a:off x="7441809" y="1825624"/>
            <a:ext cx="3911991" cy="46894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dirty="0">
              <a:latin typeface="Courier New" panose="02070309020205020404" pitchFamily="49" charset="0"/>
              <a:cs typeface="Courier New" panose="02070309020205020404" pitchFamily="49" charset="0"/>
            </a:endParaRPr>
          </a:p>
        </p:txBody>
      </p:sp>
      <p:sp>
        <p:nvSpPr>
          <p:cNvPr id="6" name="Content Placeholder 2">
            <a:extLst>
              <a:ext uri="{FF2B5EF4-FFF2-40B4-BE49-F238E27FC236}">
                <a16:creationId xmlns:a16="http://schemas.microsoft.com/office/drawing/2014/main" id="{CF5C2A7F-9194-9B4A-AE5A-729F14A4F20D}"/>
              </a:ext>
            </a:extLst>
          </p:cNvPr>
          <p:cNvSpPr txBox="1">
            <a:spLocks/>
          </p:cNvSpPr>
          <p:nvPr/>
        </p:nvSpPr>
        <p:spPr>
          <a:xfrm>
            <a:off x="7441809" y="1825624"/>
            <a:ext cx="4750191" cy="46894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dirty="0">
                <a:latin typeface="Courier New" panose="02070309020205020404" pitchFamily="49" charset="0"/>
                <a:cs typeface="Courier New" panose="02070309020205020404" pitchFamily="49" charset="0"/>
              </a:rPr>
              <a:t>def foo(x, y):</a:t>
            </a:r>
          </a:p>
          <a:p>
            <a:pPr marL="0" indent="0">
              <a:buNone/>
            </a:pPr>
            <a:r>
              <a:rPr lang="en-US" sz="2400" dirty="0">
                <a:latin typeface="Courier New" panose="02070309020205020404" pitchFamily="49" charset="0"/>
                <a:cs typeface="Courier New" panose="02070309020205020404" pitchFamily="49" charset="0"/>
              </a:rPr>
              <a:t>	return </a:t>
            </a:r>
            <a:r>
              <a:rPr lang="en-US" sz="2400" dirty="0" err="1">
                <a:latin typeface="Courier New" panose="02070309020205020404" pitchFamily="49" charset="0"/>
                <a:cs typeface="Courier New" panose="02070309020205020404" pitchFamily="49" charset="0"/>
              </a:rPr>
              <a:t>x,y</a:t>
            </a: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def bar(a, b = 2):</a:t>
            </a:r>
          </a:p>
          <a:p>
            <a:pPr marL="0" indent="0">
              <a:buNone/>
            </a:pPr>
            <a:r>
              <a:rPr lang="en-US" sz="2400" dirty="0">
                <a:latin typeface="Courier New" panose="02070309020205020404" pitchFamily="49" charset="0"/>
                <a:cs typeface="Courier New" panose="02070309020205020404" pitchFamily="49" charset="0"/>
              </a:rPr>
              <a:t>	return </a:t>
            </a:r>
            <a:r>
              <a:rPr lang="en-US" sz="2400" dirty="0" err="1">
                <a:latin typeface="Courier New" panose="02070309020205020404" pitchFamily="49" charset="0"/>
                <a:cs typeface="Courier New" panose="02070309020205020404" pitchFamily="49" charset="0"/>
              </a:rPr>
              <a:t>a+b</a:t>
            </a:r>
            <a:endParaRPr lang="en-US" sz="2400" dirty="0">
              <a:latin typeface="Courier New" panose="02070309020205020404" pitchFamily="49" charset="0"/>
              <a:cs typeface="Courier New" panose="02070309020205020404" pitchFamily="49" charset="0"/>
            </a:endParaRPr>
          </a:p>
          <a:p>
            <a:pPr marL="0" indent="0">
              <a:buNone/>
            </a:pPr>
            <a:endParaRPr 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196401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Python Demo</a:t>
            </a:r>
          </a:p>
        </p:txBody>
      </p:sp>
      <p:sp>
        <p:nvSpPr>
          <p:cNvPr id="5" name="Content Placeholder 4">
            <a:extLst>
              <a:ext uri="{FF2B5EF4-FFF2-40B4-BE49-F238E27FC236}">
                <a16:creationId xmlns:a16="http://schemas.microsoft.com/office/drawing/2014/main" id="{47B69F51-635D-6F4D-B18B-C9406F90F58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267823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Python Scoping</a:t>
            </a:r>
          </a:p>
        </p:txBody>
      </p:sp>
      <p:sp>
        <p:nvSpPr>
          <p:cNvPr id="3" name="Content Placeholder 2"/>
          <p:cNvSpPr>
            <a:spLocks noGrp="1"/>
          </p:cNvSpPr>
          <p:nvPr>
            <p:ph idx="1"/>
          </p:nvPr>
        </p:nvSpPr>
        <p:spPr>
          <a:xfrm>
            <a:off x="838200" y="1825624"/>
            <a:ext cx="10515600" cy="4689475"/>
          </a:xfrm>
        </p:spPr>
        <p:txBody>
          <a:bodyPr>
            <a:normAutofit fontScale="70000" lnSpcReduction="20000"/>
          </a:bodyPr>
          <a:lstStyle/>
          <a:p>
            <a:r>
              <a:rPr lang="en-US" dirty="0"/>
              <a:t>A variable is either global or local throughout the whole function</a:t>
            </a:r>
          </a:p>
          <a:p>
            <a:pPr marL="0" indent="0">
              <a:buNone/>
            </a:pPr>
            <a:r>
              <a:rPr lang="en-US" dirty="0">
                <a:latin typeface="Courier New" panose="02070309020205020404" pitchFamily="49" charset="0"/>
                <a:cs typeface="Courier New" panose="02070309020205020404" pitchFamily="49" charset="0"/>
              </a:rPr>
              <a:t>x=10</a:t>
            </a:r>
          </a:p>
          <a:p>
            <a:pPr marL="0" indent="0">
              <a:buNone/>
            </a:pPr>
            <a:r>
              <a:rPr lang="en-US" dirty="0">
                <a:latin typeface="Courier New" panose="02070309020205020404" pitchFamily="49" charset="0"/>
                <a:cs typeface="Courier New" panose="02070309020205020404" pitchFamily="49" charset="0"/>
              </a:rPr>
              <a:t>def whatsX1():</a:t>
            </a:r>
          </a:p>
          <a:p>
            <a:pPr marL="0" indent="0">
              <a:buNone/>
            </a:pPr>
            <a:r>
              <a:rPr lang="en-US" dirty="0">
                <a:latin typeface="Courier New" panose="02070309020205020404" pitchFamily="49" charset="0"/>
                <a:cs typeface="Courier New" panose="02070309020205020404" pitchFamily="49" charset="0"/>
              </a:rPr>
              <a:t>    y=x</a:t>
            </a:r>
          </a:p>
          <a:p>
            <a:pPr marL="0" indent="0">
              <a:buNone/>
            </a:pPr>
            <a:r>
              <a:rPr lang="en-US" dirty="0">
                <a:latin typeface="Courier New" panose="02070309020205020404" pitchFamily="49" charset="0"/>
                <a:cs typeface="Courier New" panose="02070309020205020404" pitchFamily="49" charset="0"/>
              </a:rPr>
              <a:t>    return </a:t>
            </a:r>
            <a:r>
              <a:rPr lang="en-US" dirty="0" err="1">
                <a:latin typeface="Courier New" panose="02070309020205020404" pitchFamily="49" charset="0"/>
                <a:cs typeface="Courier New" panose="02070309020205020404" pitchFamily="49" charset="0"/>
              </a:rPr>
              <a:t>x+y</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print(whatsX1()) # Prints 20</a:t>
            </a:r>
          </a:p>
          <a:p>
            <a:pPr marL="0" indent="0">
              <a:buNone/>
            </a:pPr>
            <a:r>
              <a:rPr lang="en-US" dirty="0">
                <a:latin typeface="Courier New" panose="02070309020205020404" pitchFamily="49" charset="0"/>
                <a:cs typeface="Courier New" panose="02070309020205020404" pitchFamily="49" charset="0"/>
              </a:rPr>
              <a:t>x=10</a:t>
            </a:r>
          </a:p>
          <a:p>
            <a:pPr marL="0" indent="0">
              <a:buNone/>
            </a:pPr>
            <a:r>
              <a:rPr lang="en-US" dirty="0">
                <a:latin typeface="Courier New" panose="02070309020205020404" pitchFamily="49" charset="0"/>
                <a:cs typeface="Courier New" panose="02070309020205020404" pitchFamily="49" charset="0"/>
              </a:rPr>
              <a:t>def whatsX2():</a:t>
            </a:r>
          </a:p>
          <a:p>
            <a:pPr marL="0" indent="0">
              <a:buNone/>
            </a:pPr>
            <a:r>
              <a:rPr lang="en-US" dirty="0">
                <a:latin typeface="Courier New" panose="02070309020205020404" pitchFamily="49" charset="0"/>
                <a:cs typeface="Courier New" panose="02070309020205020404" pitchFamily="49" charset="0"/>
              </a:rPr>
              <a:t>    y=x</a:t>
            </a:r>
          </a:p>
          <a:p>
            <a:pPr marL="0" indent="0">
              <a:buNone/>
            </a:pPr>
            <a:r>
              <a:rPr lang="en-US" dirty="0">
                <a:latin typeface="Courier New" panose="02070309020205020404" pitchFamily="49" charset="0"/>
                <a:cs typeface="Courier New" panose="02070309020205020404" pitchFamily="49" charset="0"/>
              </a:rPr>
              <a:t>    x=3</a:t>
            </a:r>
          </a:p>
          <a:p>
            <a:pPr marL="0" indent="0">
              <a:buNone/>
            </a:pPr>
            <a:r>
              <a:rPr lang="en-US" dirty="0">
                <a:latin typeface="Courier New" panose="02070309020205020404" pitchFamily="49" charset="0"/>
                <a:cs typeface="Courier New" panose="02070309020205020404" pitchFamily="49" charset="0"/>
              </a:rPr>
              <a:t>    return </a:t>
            </a:r>
            <a:r>
              <a:rPr lang="en-US" dirty="0" err="1">
                <a:latin typeface="Courier New" panose="02070309020205020404" pitchFamily="49" charset="0"/>
                <a:cs typeface="Courier New" panose="02070309020205020404" pitchFamily="49" charset="0"/>
              </a:rPr>
              <a:t>x+y</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print(whatsX2()) </a:t>
            </a:r>
          </a:p>
          <a:p>
            <a:pPr marL="0" indent="0">
              <a:buNone/>
            </a:pP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UnboundLocalError</a:t>
            </a:r>
            <a:r>
              <a:rPr lang="en-US" dirty="0">
                <a:latin typeface="Courier New" panose="02070309020205020404" pitchFamily="49" charset="0"/>
                <a:cs typeface="Courier New" panose="02070309020205020404" pitchFamily="49" charset="0"/>
              </a:rPr>
              <a:t>: local variable 'x' referenced before assignment</a:t>
            </a:r>
            <a:endParaRPr lang="en-US" dirty="0"/>
          </a:p>
          <a:p>
            <a:pPr marL="0" indent="0">
              <a:buNone/>
            </a:pPr>
            <a:endParaRPr lang="en-US" dirty="0"/>
          </a:p>
          <a:p>
            <a:pPr marL="0" indent="0">
              <a:buNone/>
            </a:pPr>
            <a:endParaRPr lang="en-US" dirty="0"/>
          </a:p>
          <a:p>
            <a:endParaRPr lang="en-US" dirty="0"/>
          </a:p>
          <a:p>
            <a:pPr marL="0" indent="0">
              <a:buNone/>
            </a:pPr>
            <a:endParaRPr lang="en-US" dirty="0"/>
          </a:p>
        </p:txBody>
      </p:sp>
    </p:spTree>
    <p:extLst>
      <p:ext uri="{BB962C8B-B14F-4D97-AF65-F5344CB8AC3E}">
        <p14:creationId xmlns:p14="http://schemas.microsoft.com/office/powerpoint/2010/main" val="26117434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Python Scoping</a:t>
            </a:r>
          </a:p>
        </p:txBody>
      </p:sp>
      <p:sp>
        <p:nvSpPr>
          <p:cNvPr id="3" name="Content Placeholder 2"/>
          <p:cNvSpPr>
            <a:spLocks noGrp="1"/>
          </p:cNvSpPr>
          <p:nvPr>
            <p:ph sz="half" idx="1"/>
          </p:nvPr>
        </p:nvSpPr>
        <p:spPr>
          <a:xfrm>
            <a:off x="838200" y="2352357"/>
            <a:ext cx="5181600" cy="3824605"/>
          </a:xfrm>
        </p:spPr>
        <p:txBody>
          <a:bodyPr>
            <a:normAutofit/>
          </a:bodyPr>
          <a:lstStyle/>
          <a:p>
            <a:pPr marL="0" indent="0">
              <a:buNone/>
            </a:pPr>
            <a:r>
              <a:rPr lang="en-US" sz="2200" dirty="0">
                <a:latin typeface="Courier New" panose="02070309020205020404" pitchFamily="49" charset="0"/>
                <a:cs typeface="Courier New" panose="02070309020205020404" pitchFamily="49" charset="0"/>
              </a:rPr>
              <a:t>x=10</a:t>
            </a:r>
          </a:p>
          <a:p>
            <a:pPr marL="0" indent="0">
              <a:buNone/>
            </a:pPr>
            <a:r>
              <a:rPr lang="en-US" sz="2200" dirty="0">
                <a:latin typeface="Courier New" panose="02070309020205020404" pitchFamily="49" charset="0"/>
                <a:cs typeface="Courier New" panose="02070309020205020404" pitchFamily="49" charset="0"/>
              </a:rPr>
              <a:t>def whatsX1():</a:t>
            </a:r>
          </a:p>
          <a:p>
            <a:pPr marL="0" indent="0">
              <a:buNone/>
            </a:pPr>
            <a:r>
              <a:rPr lang="en-US" sz="2200" dirty="0">
                <a:latin typeface="Courier New" panose="02070309020205020404" pitchFamily="49" charset="0"/>
                <a:cs typeface="Courier New" panose="02070309020205020404" pitchFamily="49" charset="0"/>
              </a:rPr>
              <a:t>    global x </a:t>
            </a:r>
          </a:p>
          <a:p>
            <a:pPr marL="0" indent="0">
              <a:buNone/>
            </a:pPr>
            <a:r>
              <a:rPr lang="en-US" sz="2200" dirty="0">
                <a:latin typeface="Courier New" panose="02070309020205020404" pitchFamily="49" charset="0"/>
                <a:cs typeface="Courier New" panose="02070309020205020404" pitchFamily="49" charset="0"/>
              </a:rPr>
              <a:t>    y=x</a:t>
            </a:r>
          </a:p>
          <a:p>
            <a:pPr marL="0" indent="0">
              <a:buNone/>
            </a:pPr>
            <a:r>
              <a:rPr lang="en-US" sz="2200" dirty="0">
                <a:latin typeface="Courier New" panose="02070309020205020404" pitchFamily="49" charset="0"/>
                <a:cs typeface="Courier New" panose="02070309020205020404" pitchFamily="49" charset="0"/>
              </a:rPr>
              <a:t>    x=3</a:t>
            </a:r>
          </a:p>
          <a:p>
            <a:pPr marL="0" indent="0">
              <a:buNone/>
            </a:pPr>
            <a:r>
              <a:rPr lang="en-US" sz="2200" dirty="0">
                <a:latin typeface="Courier New" panose="02070309020205020404" pitchFamily="49" charset="0"/>
                <a:cs typeface="Courier New" panose="02070309020205020404" pitchFamily="49" charset="0"/>
              </a:rPr>
              <a:t>    return </a:t>
            </a:r>
            <a:r>
              <a:rPr lang="en-US" sz="2200" dirty="0" err="1">
                <a:latin typeface="Courier New" panose="02070309020205020404" pitchFamily="49" charset="0"/>
                <a:cs typeface="Courier New" panose="02070309020205020404" pitchFamily="49" charset="0"/>
              </a:rPr>
              <a:t>x+y</a:t>
            </a:r>
            <a:endParaRPr lang="en-US" sz="2200" dirty="0">
              <a:latin typeface="Courier New" panose="02070309020205020404" pitchFamily="49" charset="0"/>
              <a:cs typeface="Courier New" panose="02070309020205020404" pitchFamily="49" charset="0"/>
            </a:endParaRPr>
          </a:p>
          <a:p>
            <a:pPr marL="0" indent="0">
              <a:buNone/>
            </a:pPr>
            <a:r>
              <a:rPr lang="en-US" sz="2200" dirty="0">
                <a:latin typeface="Courier New" panose="02070309020205020404" pitchFamily="49" charset="0"/>
                <a:cs typeface="Courier New" panose="02070309020205020404" pitchFamily="49" charset="0"/>
              </a:rPr>
              <a:t>print(whatsX1())  # Prints 13</a:t>
            </a:r>
          </a:p>
          <a:p>
            <a:pPr marL="0" indent="0">
              <a:buNone/>
            </a:pPr>
            <a:r>
              <a:rPr lang="en-US" sz="2200" dirty="0">
                <a:latin typeface="Courier New" panose="02070309020205020404" pitchFamily="49" charset="0"/>
                <a:cs typeface="Courier New" panose="02070309020205020404" pitchFamily="49" charset="0"/>
              </a:rPr>
              <a:t>print(x)          # Prints 3</a:t>
            </a:r>
          </a:p>
        </p:txBody>
      </p:sp>
      <p:sp>
        <p:nvSpPr>
          <p:cNvPr id="4" name="Content Placeholder 3">
            <a:extLst>
              <a:ext uri="{FF2B5EF4-FFF2-40B4-BE49-F238E27FC236}">
                <a16:creationId xmlns:a16="http://schemas.microsoft.com/office/drawing/2014/main" id="{D63D8202-244B-0649-A05C-B633475013DA}"/>
              </a:ext>
            </a:extLst>
          </p:cNvPr>
          <p:cNvSpPr>
            <a:spLocks noGrp="1"/>
          </p:cNvSpPr>
          <p:nvPr>
            <p:ph sz="half" idx="2"/>
          </p:nvPr>
        </p:nvSpPr>
        <p:spPr>
          <a:xfrm>
            <a:off x="6172200" y="2352357"/>
            <a:ext cx="5181600" cy="3824606"/>
          </a:xfrm>
        </p:spPr>
        <p:txBody>
          <a:bodyPr>
            <a:normAutofit/>
          </a:bodyPr>
          <a:lstStyle/>
          <a:p>
            <a:pPr marL="0" indent="0">
              <a:buNone/>
            </a:pPr>
            <a:r>
              <a:rPr lang="en-US" sz="2000" dirty="0">
                <a:latin typeface="Courier New" panose="02070309020205020404" pitchFamily="49" charset="0"/>
                <a:cs typeface="Courier New" panose="02070309020205020404" pitchFamily="49" charset="0"/>
              </a:rPr>
              <a:t>x=10</a:t>
            </a:r>
          </a:p>
          <a:p>
            <a:pPr marL="0" indent="0">
              <a:buNone/>
            </a:pPr>
            <a:r>
              <a:rPr lang="en-US" sz="2000" dirty="0">
                <a:latin typeface="Courier New" panose="02070309020205020404" pitchFamily="49" charset="0"/>
                <a:cs typeface="Courier New" panose="02070309020205020404" pitchFamily="49" charset="0"/>
              </a:rPr>
              <a:t>def whatsX2():</a:t>
            </a:r>
          </a:p>
          <a:p>
            <a:pPr marL="0" indent="0">
              <a:buNone/>
            </a:pPr>
            <a:r>
              <a:rPr lang="en-US" sz="2000" dirty="0">
                <a:latin typeface="Courier New" panose="02070309020205020404" pitchFamily="49" charset="0"/>
                <a:cs typeface="Courier New" panose="02070309020205020404" pitchFamily="49" charset="0"/>
              </a:rPr>
              <a:t>    y=x</a:t>
            </a:r>
          </a:p>
          <a:p>
            <a:pPr marL="0" indent="0">
              <a:buNone/>
            </a:pPr>
            <a:r>
              <a:rPr lang="en-US" sz="2000" dirty="0">
                <a:latin typeface="Courier New" panose="02070309020205020404" pitchFamily="49" charset="0"/>
                <a:cs typeface="Courier New" panose="02070309020205020404" pitchFamily="49" charset="0"/>
              </a:rPr>
              <a:t>    global x</a:t>
            </a:r>
          </a:p>
          <a:p>
            <a:pPr marL="0" indent="0">
              <a:buNone/>
            </a:pPr>
            <a:r>
              <a:rPr lang="en-US" sz="2000" dirty="0">
                <a:latin typeface="Courier New" panose="02070309020205020404" pitchFamily="49" charset="0"/>
                <a:cs typeface="Courier New" panose="02070309020205020404" pitchFamily="49" charset="0"/>
              </a:rPr>
              <a:t>    x=3</a:t>
            </a:r>
          </a:p>
          <a:p>
            <a:pPr marL="0" indent="0">
              <a:buNone/>
            </a:pPr>
            <a:r>
              <a:rPr lang="en-US" sz="2000" dirty="0">
                <a:latin typeface="Courier New" panose="02070309020205020404" pitchFamily="49" charset="0"/>
                <a:cs typeface="Courier New" panose="02070309020205020404" pitchFamily="49" charset="0"/>
              </a:rPr>
              <a:t>    return </a:t>
            </a:r>
            <a:r>
              <a:rPr lang="en-US" sz="2000" dirty="0" err="1">
                <a:latin typeface="Courier New" panose="02070309020205020404" pitchFamily="49" charset="0"/>
                <a:cs typeface="Courier New" panose="02070309020205020404" pitchFamily="49" charset="0"/>
              </a:rPr>
              <a:t>x+y</a:t>
            </a:r>
            <a:endParaRPr lang="en-US" sz="2000" dirty="0">
              <a:latin typeface="Courier New" panose="02070309020205020404" pitchFamily="49" charset="0"/>
              <a:cs typeface="Courier New" panose="02070309020205020404" pitchFamily="49" charset="0"/>
            </a:endParaRPr>
          </a:p>
          <a:p>
            <a:pPr marL="0" indent="0">
              <a:buNone/>
            </a:pPr>
            <a:r>
              <a:rPr lang="en-US" sz="2000" dirty="0">
                <a:latin typeface="Courier New" panose="02070309020205020404" pitchFamily="49" charset="0"/>
                <a:cs typeface="Courier New" panose="02070309020205020404" pitchFamily="49" charset="0"/>
              </a:rPr>
              <a:t>print(whatsX2()) </a:t>
            </a:r>
          </a:p>
          <a:p>
            <a:pPr marL="0" indent="0">
              <a:buNone/>
            </a:pP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SyntaxWarning</a:t>
            </a:r>
            <a:r>
              <a:rPr lang="en-US" sz="2000" dirty="0">
                <a:latin typeface="Courier New" panose="02070309020205020404" pitchFamily="49" charset="0"/>
                <a:cs typeface="Courier New" panose="02070309020205020404" pitchFamily="49" charset="0"/>
              </a:rPr>
              <a:t>: name 'x' is used #prior to global declaration  #global x</a:t>
            </a:r>
          </a:p>
          <a:p>
            <a:pPr marL="0" indent="0">
              <a:buNone/>
            </a:pPr>
            <a:endParaRPr lang="en-US" sz="2000" dirty="0">
              <a:latin typeface="Courier New" panose="02070309020205020404" pitchFamily="49" charset="0"/>
              <a:cs typeface="Courier New" panose="02070309020205020404" pitchFamily="49" charset="0"/>
            </a:endParaRPr>
          </a:p>
          <a:p>
            <a:pPr marL="0" indent="0">
              <a:buNone/>
            </a:pPr>
            <a:endParaRPr lang="en-US" sz="2000" dirty="0">
              <a:latin typeface="Courier New" panose="02070309020205020404" pitchFamily="49" charset="0"/>
              <a:cs typeface="Courier New" panose="02070309020205020404" pitchFamily="49" charset="0"/>
            </a:endParaRPr>
          </a:p>
          <a:p>
            <a:pPr marL="0" indent="0">
              <a:buNone/>
            </a:pPr>
            <a:endParaRPr lang="en-US" sz="2000" dirty="0">
              <a:latin typeface="Courier New" panose="02070309020205020404" pitchFamily="49" charset="0"/>
              <a:cs typeface="Courier New" panose="02070309020205020404" pitchFamily="49" charset="0"/>
            </a:endParaRPr>
          </a:p>
        </p:txBody>
      </p:sp>
      <p:sp>
        <p:nvSpPr>
          <p:cNvPr id="8" name="Content Placeholder 2">
            <a:extLst>
              <a:ext uri="{FF2B5EF4-FFF2-40B4-BE49-F238E27FC236}">
                <a16:creationId xmlns:a16="http://schemas.microsoft.com/office/drawing/2014/main" id="{CDD940B9-29B3-B845-A459-CB8246F5627D}"/>
              </a:ext>
            </a:extLst>
          </p:cNvPr>
          <p:cNvSpPr txBox="1">
            <a:spLocks/>
          </p:cNvSpPr>
          <p:nvPr/>
        </p:nvSpPr>
        <p:spPr>
          <a:xfrm>
            <a:off x="990600" y="1825625"/>
            <a:ext cx="10363200" cy="8975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A variable is either global, or local, throughout the whole function</a:t>
            </a:r>
          </a:p>
        </p:txBody>
      </p:sp>
    </p:spTree>
    <p:extLst>
      <p:ext uri="{BB962C8B-B14F-4D97-AF65-F5344CB8AC3E}">
        <p14:creationId xmlns:p14="http://schemas.microsoft.com/office/powerpoint/2010/main" val="23663474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List Comprehensions</a:t>
            </a:r>
          </a:p>
        </p:txBody>
      </p:sp>
      <p:sp>
        <p:nvSpPr>
          <p:cNvPr id="3" name="Content Placeholder 2"/>
          <p:cNvSpPr>
            <a:spLocks noGrp="1"/>
          </p:cNvSpPr>
          <p:nvPr>
            <p:ph idx="1"/>
          </p:nvPr>
        </p:nvSpPr>
        <p:spPr>
          <a:xfrm>
            <a:off x="838200" y="1825624"/>
            <a:ext cx="10515600" cy="4689475"/>
          </a:xfrm>
        </p:spPr>
        <p:txBody>
          <a:bodyPr>
            <a:normAutofit/>
          </a:bodyPr>
          <a:lstStyle/>
          <a:p>
            <a:r>
              <a:rPr lang="en-US" dirty="0">
                <a:latin typeface="Calibri" panose="020F0502020204030204" pitchFamily="34" charset="0"/>
                <a:cs typeface="Calibri" panose="020F0502020204030204" pitchFamily="34" charset="0"/>
              </a:rPr>
              <a:t>Tool for transforming an </a:t>
            </a:r>
            <a:r>
              <a:rPr lang="en-US" dirty="0" err="1">
                <a:latin typeface="Calibri" panose="020F0502020204030204" pitchFamily="34" charset="0"/>
                <a:cs typeface="Calibri" panose="020F0502020204030204" pitchFamily="34" charset="0"/>
              </a:rPr>
              <a:t>iterable</a:t>
            </a:r>
            <a:r>
              <a:rPr lang="en-US" dirty="0">
                <a:latin typeface="Calibri" panose="020F0502020204030204" pitchFamily="34" charset="0"/>
                <a:cs typeface="Calibri" panose="020F0502020204030204" pitchFamily="34" charset="0"/>
              </a:rPr>
              <a:t> into another </a:t>
            </a:r>
            <a:r>
              <a:rPr lang="en-US" dirty="0" err="1">
                <a:latin typeface="Calibri" panose="020F0502020204030204" pitchFamily="34" charset="0"/>
                <a:cs typeface="Calibri" panose="020F0502020204030204" pitchFamily="34" charset="0"/>
              </a:rPr>
              <a:t>iterable</a:t>
            </a:r>
            <a:r>
              <a:rPr lang="en-US" dirty="0">
                <a:latin typeface="Calibri" panose="020F0502020204030204" pitchFamily="34" charset="0"/>
                <a:cs typeface="Calibri" panose="020F0502020204030204" pitchFamily="34" charset="0"/>
              </a:rPr>
              <a:t> </a:t>
            </a:r>
          </a:p>
          <a:p>
            <a:pPr lvl="1"/>
            <a:r>
              <a:rPr lang="en-US" dirty="0">
                <a:latin typeface="Calibri" panose="020F0502020204030204" pitchFamily="34" charset="0"/>
                <a:cs typeface="Calibri" panose="020F0502020204030204" pitchFamily="34" charset="0"/>
              </a:rPr>
              <a:t>Elements can be both transformed and conditionally included </a:t>
            </a:r>
          </a:p>
          <a:p>
            <a:r>
              <a:rPr lang="en-US" dirty="0">
                <a:latin typeface="Calibri" panose="020F0502020204030204" pitchFamily="34" charset="0"/>
                <a:cs typeface="Calibri" panose="020F0502020204030204" pitchFamily="34" charset="0"/>
              </a:rPr>
              <a:t>List comprehensions are composed of four parts:</a:t>
            </a:r>
          </a:p>
          <a:p>
            <a:pPr lvl="1"/>
            <a:r>
              <a:rPr lang="en-US" dirty="0">
                <a:latin typeface="Calibri" panose="020F0502020204030204" pitchFamily="34" charset="0"/>
                <a:cs typeface="Calibri" panose="020F0502020204030204" pitchFamily="34" charset="0"/>
              </a:rPr>
              <a:t>The </a:t>
            </a:r>
            <a:r>
              <a:rPr lang="en-US" dirty="0">
                <a:solidFill>
                  <a:srgbClr val="FF0000"/>
                </a:solidFill>
                <a:latin typeface="Calibri" panose="020F0502020204030204" pitchFamily="34" charset="0"/>
                <a:cs typeface="Calibri" panose="020F0502020204030204" pitchFamily="34" charset="0"/>
              </a:rPr>
              <a:t>result</a:t>
            </a:r>
          </a:p>
          <a:p>
            <a:pPr lvl="1"/>
            <a:r>
              <a:rPr lang="en-US" dirty="0">
                <a:latin typeface="Calibri" panose="020F0502020204030204" pitchFamily="34" charset="0"/>
                <a:cs typeface="Calibri" panose="020F0502020204030204" pitchFamily="34" charset="0"/>
              </a:rPr>
              <a:t>The </a:t>
            </a:r>
            <a:r>
              <a:rPr lang="en-US" dirty="0">
                <a:solidFill>
                  <a:srgbClr val="00B050"/>
                </a:solidFill>
                <a:latin typeface="Calibri" panose="020F0502020204030204" pitchFamily="34" charset="0"/>
                <a:cs typeface="Calibri" panose="020F0502020204030204" pitchFamily="34" charset="0"/>
              </a:rPr>
              <a:t>transformation</a:t>
            </a:r>
          </a:p>
          <a:p>
            <a:pPr lvl="1"/>
            <a:r>
              <a:rPr lang="en-US" dirty="0">
                <a:latin typeface="Calibri" panose="020F0502020204030204" pitchFamily="34" charset="0"/>
                <a:cs typeface="Calibri" panose="020F0502020204030204" pitchFamily="34" charset="0"/>
              </a:rPr>
              <a:t>The </a:t>
            </a:r>
            <a:r>
              <a:rPr lang="en-US" dirty="0">
                <a:solidFill>
                  <a:srgbClr val="00B0F0"/>
                </a:solidFill>
                <a:latin typeface="Calibri" panose="020F0502020204030204" pitchFamily="34" charset="0"/>
                <a:cs typeface="Calibri" panose="020F0502020204030204" pitchFamily="34" charset="0"/>
              </a:rPr>
              <a:t>collection</a:t>
            </a:r>
          </a:p>
          <a:p>
            <a:pPr lvl="1"/>
            <a:r>
              <a:rPr lang="en-US" dirty="0">
                <a:latin typeface="Calibri" panose="020F0502020204030204" pitchFamily="34" charset="0"/>
                <a:cs typeface="Calibri" panose="020F0502020204030204" pitchFamily="34" charset="0"/>
              </a:rPr>
              <a:t>The </a:t>
            </a:r>
            <a:r>
              <a:rPr lang="en-US" dirty="0">
                <a:solidFill>
                  <a:srgbClr val="7030A0"/>
                </a:solidFill>
                <a:latin typeface="Calibri" panose="020F0502020204030204" pitchFamily="34" charset="0"/>
                <a:cs typeface="Calibri" panose="020F0502020204030204" pitchFamily="34" charset="0"/>
              </a:rPr>
              <a:t>conditional</a:t>
            </a:r>
            <a:r>
              <a:rPr lang="en-US" dirty="0">
                <a:latin typeface="Calibri" panose="020F0502020204030204" pitchFamily="34" charset="0"/>
                <a:cs typeface="Calibri" panose="020F0502020204030204" pitchFamily="34" charset="0"/>
              </a:rPr>
              <a:t> </a:t>
            </a:r>
          </a:p>
        </p:txBody>
      </p:sp>
      <p:sp>
        <p:nvSpPr>
          <p:cNvPr id="4" name="Content Placeholder 2">
            <a:extLst>
              <a:ext uri="{FF2B5EF4-FFF2-40B4-BE49-F238E27FC236}">
                <a16:creationId xmlns:a16="http://schemas.microsoft.com/office/drawing/2014/main" id="{2260FD00-408E-124E-94B5-CD40BE1C3628}"/>
              </a:ext>
            </a:extLst>
          </p:cNvPr>
          <p:cNvSpPr txBox="1">
            <a:spLocks/>
          </p:cNvSpPr>
          <p:nvPr/>
        </p:nvSpPr>
        <p:spPr>
          <a:xfrm>
            <a:off x="838200" y="4973809"/>
            <a:ext cx="10515600" cy="18841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latin typeface="Courier New" panose="02070309020205020404" pitchFamily="49" charset="0"/>
                <a:cs typeface="Courier New" panose="02070309020205020404" pitchFamily="49" charset="0"/>
              </a:rPr>
              <a:t>foo = [1,2,3,4,5,6,7,8,9,10]</a:t>
            </a:r>
          </a:p>
          <a:p>
            <a:pPr marL="0" indent="0">
              <a:buNone/>
            </a:pPr>
            <a:r>
              <a:rPr lang="en-US" sz="2200" dirty="0" err="1">
                <a:solidFill>
                  <a:srgbClr val="FF0000"/>
                </a:solidFill>
                <a:latin typeface="Courier New" panose="02070309020205020404" pitchFamily="49" charset="0"/>
                <a:cs typeface="Courier New" panose="02070309020205020404" pitchFamily="49" charset="0"/>
              </a:rPr>
              <a:t>doubled_odds</a:t>
            </a:r>
            <a:r>
              <a:rPr lang="en-US" sz="2200" dirty="0">
                <a:solidFill>
                  <a:srgbClr val="FF0000"/>
                </a:solidFill>
                <a:latin typeface="Courier New" panose="02070309020205020404" pitchFamily="49" charset="0"/>
                <a:cs typeface="Courier New" panose="02070309020205020404" pitchFamily="49" charset="0"/>
              </a:rPr>
              <a:t> </a:t>
            </a:r>
            <a:r>
              <a:rPr lang="en-US" sz="2200" dirty="0">
                <a:latin typeface="Courier New" panose="02070309020205020404" pitchFamily="49" charset="0"/>
                <a:cs typeface="Courier New" panose="02070309020205020404" pitchFamily="49" charset="0"/>
              </a:rPr>
              <a:t>= [</a:t>
            </a:r>
            <a:r>
              <a:rPr lang="en-US" sz="2200" dirty="0">
                <a:solidFill>
                  <a:srgbClr val="00B050"/>
                </a:solidFill>
                <a:latin typeface="Courier New" panose="02070309020205020404" pitchFamily="49" charset="0"/>
                <a:cs typeface="Courier New" panose="02070309020205020404" pitchFamily="49" charset="0"/>
              </a:rPr>
              <a:t>n * 2 </a:t>
            </a:r>
            <a:r>
              <a:rPr lang="en-US" sz="2200" dirty="0">
                <a:solidFill>
                  <a:srgbClr val="00B0F0"/>
                </a:solidFill>
                <a:latin typeface="Courier New" panose="02070309020205020404" pitchFamily="49" charset="0"/>
                <a:cs typeface="Courier New" panose="02070309020205020404" pitchFamily="49" charset="0"/>
              </a:rPr>
              <a:t>for n in foo</a:t>
            </a:r>
            <a:r>
              <a:rPr lang="en-US" sz="2200" dirty="0">
                <a:latin typeface="Courier New" panose="02070309020205020404" pitchFamily="49" charset="0"/>
                <a:cs typeface="Courier New" panose="02070309020205020404" pitchFamily="49" charset="0"/>
              </a:rPr>
              <a:t> </a:t>
            </a:r>
            <a:r>
              <a:rPr lang="en-US" sz="2200" dirty="0">
                <a:solidFill>
                  <a:srgbClr val="7030A0"/>
                </a:solidFill>
                <a:latin typeface="Courier New" panose="02070309020205020404" pitchFamily="49" charset="0"/>
                <a:cs typeface="Courier New" panose="02070309020205020404" pitchFamily="49" charset="0"/>
              </a:rPr>
              <a:t>if n % 2 == 1</a:t>
            </a:r>
            <a:r>
              <a:rPr lang="en-US" sz="2200" dirty="0">
                <a:latin typeface="Courier New" panose="02070309020205020404" pitchFamily="49" charset="0"/>
                <a:cs typeface="Courier New" panose="02070309020205020404" pitchFamily="49" charset="0"/>
              </a:rPr>
              <a:t>]</a:t>
            </a:r>
          </a:p>
          <a:p>
            <a:pPr marL="0" indent="0">
              <a:buNone/>
            </a:pPr>
            <a:r>
              <a:rPr lang="en-US" sz="2200" dirty="0">
                <a:latin typeface="Courier New" panose="02070309020205020404" pitchFamily="49" charset="0"/>
                <a:cs typeface="Courier New" panose="02070309020205020404" pitchFamily="49" charset="0"/>
              </a:rPr>
              <a:t>print(</a:t>
            </a:r>
            <a:r>
              <a:rPr lang="en-US" sz="2200" dirty="0" err="1">
                <a:latin typeface="Courier New" panose="02070309020205020404" pitchFamily="49" charset="0"/>
                <a:cs typeface="Courier New" panose="02070309020205020404" pitchFamily="49" charset="0"/>
              </a:rPr>
              <a:t>doubled_odds</a:t>
            </a:r>
            <a:r>
              <a:rPr lang="en-US" sz="2200" dirty="0">
                <a:latin typeface="Courier New" panose="02070309020205020404" pitchFamily="49" charset="0"/>
                <a:cs typeface="Courier New" panose="02070309020205020404" pitchFamily="49" charset="0"/>
              </a:rPr>
              <a:t>)</a:t>
            </a:r>
          </a:p>
          <a:p>
            <a:pPr marL="0" indent="0">
              <a:buNone/>
            </a:pPr>
            <a:r>
              <a:rPr lang="en-US" sz="2200" dirty="0">
                <a:latin typeface="Courier New" panose="02070309020205020404" pitchFamily="49" charset="0"/>
                <a:cs typeface="Courier New" panose="02070309020205020404" pitchFamily="49" charset="0"/>
              </a:rPr>
              <a:t>#[2, 6, 10, 14, 18]</a:t>
            </a:r>
          </a:p>
          <a:p>
            <a:pPr marL="0" indent="0">
              <a:buNone/>
            </a:pPr>
            <a:endParaRPr lang="en-US" sz="2200" dirty="0">
              <a:latin typeface="Courier New" panose="02070309020205020404" pitchFamily="49" charset="0"/>
              <a:cs typeface="Courier New" panose="02070309020205020404" pitchFamily="49" charset="0"/>
            </a:endParaRPr>
          </a:p>
          <a:p>
            <a:pPr marL="0" indent="0">
              <a:buNone/>
            </a:pPr>
            <a:endParaRPr lang="en-US" sz="2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7220798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List Comprehensions</a:t>
            </a:r>
          </a:p>
        </p:txBody>
      </p:sp>
      <p:sp>
        <p:nvSpPr>
          <p:cNvPr id="3" name="Content Placeholder 2"/>
          <p:cNvSpPr>
            <a:spLocks noGrp="1"/>
          </p:cNvSpPr>
          <p:nvPr>
            <p:ph idx="1"/>
          </p:nvPr>
        </p:nvSpPr>
        <p:spPr>
          <a:xfrm>
            <a:off x="838200" y="1825624"/>
            <a:ext cx="10515600" cy="4689475"/>
          </a:xfrm>
        </p:spPr>
        <p:txBody>
          <a:bodyPr>
            <a:normAutofit/>
          </a:bodyPr>
          <a:lstStyle/>
          <a:p>
            <a:r>
              <a:rPr lang="en-US" dirty="0">
                <a:latin typeface="Calibri" panose="020F0502020204030204" pitchFamily="34" charset="0"/>
                <a:cs typeface="Calibri" panose="020F0502020204030204" pitchFamily="34" charset="0"/>
              </a:rPr>
              <a:t>List comprehensions are composed of four parts:</a:t>
            </a:r>
          </a:p>
          <a:p>
            <a:pPr lvl="1"/>
            <a:r>
              <a:rPr lang="en-US" dirty="0">
                <a:latin typeface="Calibri" panose="020F0502020204030204" pitchFamily="34" charset="0"/>
                <a:cs typeface="Calibri" panose="020F0502020204030204" pitchFamily="34" charset="0"/>
              </a:rPr>
              <a:t>The </a:t>
            </a:r>
            <a:r>
              <a:rPr lang="en-US" dirty="0">
                <a:solidFill>
                  <a:srgbClr val="FF0000"/>
                </a:solidFill>
                <a:latin typeface="Calibri" panose="020F0502020204030204" pitchFamily="34" charset="0"/>
                <a:cs typeface="Calibri" panose="020F0502020204030204" pitchFamily="34" charset="0"/>
              </a:rPr>
              <a:t>result</a:t>
            </a:r>
          </a:p>
          <a:p>
            <a:pPr lvl="2"/>
            <a:r>
              <a:rPr lang="en-US" dirty="0">
                <a:latin typeface="Calibri" panose="020F0502020204030204" pitchFamily="34" charset="0"/>
                <a:cs typeface="Calibri" panose="020F0502020204030204" pitchFamily="34" charset="0"/>
              </a:rPr>
              <a:t>Variable assignment for resulting collection</a:t>
            </a:r>
          </a:p>
          <a:p>
            <a:pPr lvl="1"/>
            <a:r>
              <a:rPr lang="en-US" dirty="0">
                <a:latin typeface="Calibri" panose="020F0502020204030204" pitchFamily="34" charset="0"/>
                <a:cs typeface="Calibri" panose="020F0502020204030204" pitchFamily="34" charset="0"/>
              </a:rPr>
              <a:t>The </a:t>
            </a:r>
            <a:r>
              <a:rPr lang="en-US" dirty="0">
                <a:solidFill>
                  <a:srgbClr val="00B050"/>
                </a:solidFill>
                <a:latin typeface="Calibri" panose="020F0502020204030204" pitchFamily="34" charset="0"/>
                <a:cs typeface="Calibri" panose="020F0502020204030204" pitchFamily="34" charset="0"/>
              </a:rPr>
              <a:t>transformation</a:t>
            </a:r>
          </a:p>
          <a:p>
            <a:pPr lvl="2"/>
            <a:r>
              <a:rPr lang="en-US" dirty="0">
                <a:latin typeface="Calibri" panose="020F0502020204030204" pitchFamily="34" charset="0"/>
                <a:cs typeface="Calibri" panose="020F0502020204030204" pitchFamily="34" charset="0"/>
              </a:rPr>
              <a:t>Expression being appending to resulting collection</a:t>
            </a:r>
          </a:p>
          <a:p>
            <a:pPr lvl="1"/>
            <a:r>
              <a:rPr lang="en-US" dirty="0">
                <a:latin typeface="Calibri" panose="020F0502020204030204" pitchFamily="34" charset="0"/>
                <a:cs typeface="Calibri" panose="020F0502020204030204" pitchFamily="34" charset="0"/>
              </a:rPr>
              <a:t>The </a:t>
            </a:r>
            <a:r>
              <a:rPr lang="en-US" dirty="0">
                <a:solidFill>
                  <a:srgbClr val="00B0F0"/>
                </a:solidFill>
                <a:latin typeface="Calibri" panose="020F0502020204030204" pitchFamily="34" charset="0"/>
                <a:cs typeface="Calibri" panose="020F0502020204030204" pitchFamily="34" charset="0"/>
              </a:rPr>
              <a:t>collection</a:t>
            </a:r>
          </a:p>
          <a:p>
            <a:pPr lvl="2"/>
            <a:r>
              <a:rPr lang="en-US" dirty="0">
                <a:latin typeface="Calibri" panose="020F0502020204030204" pitchFamily="34" charset="0"/>
                <a:cs typeface="Calibri" panose="020F0502020204030204" pitchFamily="34" charset="0"/>
              </a:rPr>
              <a:t>Collection being iterated over </a:t>
            </a:r>
          </a:p>
          <a:p>
            <a:pPr lvl="1"/>
            <a:r>
              <a:rPr lang="en-US" dirty="0">
                <a:latin typeface="Calibri" panose="020F0502020204030204" pitchFamily="34" charset="0"/>
                <a:cs typeface="Calibri" panose="020F0502020204030204" pitchFamily="34" charset="0"/>
              </a:rPr>
              <a:t>The </a:t>
            </a:r>
            <a:r>
              <a:rPr lang="en-US" dirty="0">
                <a:solidFill>
                  <a:srgbClr val="7030A0"/>
                </a:solidFill>
                <a:latin typeface="Calibri" panose="020F0502020204030204" pitchFamily="34" charset="0"/>
                <a:cs typeface="Calibri" panose="020F0502020204030204" pitchFamily="34" charset="0"/>
              </a:rPr>
              <a:t>conditional</a:t>
            </a:r>
            <a:r>
              <a:rPr lang="en-US" dirty="0">
                <a:latin typeface="Calibri" panose="020F0502020204030204" pitchFamily="34" charset="0"/>
                <a:cs typeface="Calibri" panose="020F0502020204030204" pitchFamily="34" charset="0"/>
              </a:rPr>
              <a:t> </a:t>
            </a:r>
          </a:p>
          <a:p>
            <a:pPr lvl="2"/>
            <a:r>
              <a:rPr lang="en-US" dirty="0">
                <a:latin typeface="Calibri" panose="020F0502020204030204" pitchFamily="34" charset="0"/>
                <a:cs typeface="Calibri" panose="020F0502020204030204" pitchFamily="34" charset="0"/>
              </a:rPr>
              <a:t>Conditional determining if current element should be transformed and appended</a:t>
            </a:r>
          </a:p>
          <a:p>
            <a:pPr lvl="2"/>
            <a:r>
              <a:rPr lang="en-US" dirty="0">
                <a:latin typeface="Calibri" panose="020F0502020204030204" pitchFamily="34" charset="0"/>
                <a:cs typeface="Calibri" panose="020F0502020204030204" pitchFamily="34" charset="0"/>
              </a:rPr>
              <a:t>The conditional is an optional component </a:t>
            </a:r>
          </a:p>
        </p:txBody>
      </p:sp>
    </p:spTree>
    <p:extLst>
      <p:ext uri="{BB962C8B-B14F-4D97-AF65-F5344CB8AC3E}">
        <p14:creationId xmlns:p14="http://schemas.microsoft.com/office/powerpoint/2010/main" val="36353461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List Comprehensions</a:t>
            </a:r>
          </a:p>
        </p:txBody>
      </p:sp>
      <p:sp>
        <p:nvSpPr>
          <p:cNvPr id="3" name="Content Placeholder 2"/>
          <p:cNvSpPr>
            <a:spLocks noGrp="1"/>
          </p:cNvSpPr>
          <p:nvPr>
            <p:ph idx="1"/>
          </p:nvPr>
        </p:nvSpPr>
        <p:spPr>
          <a:xfrm>
            <a:off x="838200" y="1825624"/>
            <a:ext cx="10515600" cy="4689475"/>
          </a:xfrm>
        </p:spPr>
        <p:txBody>
          <a:bodyPr>
            <a:normAutofit/>
          </a:bodyPr>
          <a:lstStyle/>
          <a:p>
            <a:r>
              <a:rPr lang="en-US" dirty="0">
                <a:latin typeface="Calibri" panose="020F0502020204030204" pitchFamily="34" charset="0"/>
                <a:cs typeface="Calibri" panose="020F0502020204030204" pitchFamily="34" charset="0"/>
              </a:rPr>
              <a:t>List comprehensions work on any </a:t>
            </a:r>
            <a:r>
              <a:rPr lang="en-US" dirty="0" err="1">
                <a:latin typeface="Calibri" panose="020F0502020204030204" pitchFamily="34" charset="0"/>
                <a:cs typeface="Calibri" panose="020F0502020204030204" pitchFamily="34" charset="0"/>
              </a:rPr>
              <a:t>iterable</a:t>
            </a:r>
            <a:r>
              <a:rPr lang="en-US" dirty="0">
                <a:latin typeface="Calibri" panose="020F0502020204030204" pitchFamily="34" charset="0"/>
                <a:cs typeface="Calibri" panose="020F0502020204030204" pitchFamily="34" charset="0"/>
              </a:rPr>
              <a:t> </a:t>
            </a:r>
          </a:p>
          <a:p>
            <a:pPr marL="0" indent="0">
              <a:buNone/>
            </a:pPr>
            <a:r>
              <a:rPr lang="en-US" dirty="0" err="1">
                <a:latin typeface="Courier New" panose="02070309020205020404" pitchFamily="49" charset="0"/>
                <a:cs typeface="Courier New" panose="02070309020205020404" pitchFamily="49" charset="0"/>
              </a:rPr>
              <a:t>doubled_odds</a:t>
            </a:r>
            <a:r>
              <a:rPr lang="en-US" dirty="0">
                <a:latin typeface="Courier New" panose="02070309020205020404" pitchFamily="49" charset="0"/>
                <a:cs typeface="Courier New" panose="02070309020205020404" pitchFamily="49" charset="0"/>
              </a:rPr>
              <a:t> = [n * 2 for n in range(1,11,2)]</a:t>
            </a:r>
          </a:p>
          <a:p>
            <a:r>
              <a:rPr lang="en-US" dirty="0">
                <a:latin typeface="Calibri" panose="020F0502020204030204" pitchFamily="34" charset="0"/>
                <a:cs typeface="Calibri" panose="020F0502020204030204" pitchFamily="34" charset="0"/>
              </a:rPr>
              <a:t>List comprehensions can preform nested iteration </a:t>
            </a:r>
          </a:p>
          <a:p>
            <a:r>
              <a:rPr lang="en-US" dirty="0">
                <a:latin typeface="Calibri" panose="020F0502020204030204" pitchFamily="34" charset="0"/>
                <a:cs typeface="Calibri" panose="020F0502020204030204" pitchFamily="34" charset="0"/>
              </a:rPr>
              <a:t>We can use list comprehensions to flatten a 2D collection </a:t>
            </a:r>
          </a:p>
          <a:p>
            <a:pPr marL="0" indent="0">
              <a:buNone/>
            </a:pPr>
            <a:r>
              <a:rPr lang="en-US" dirty="0">
                <a:latin typeface="Courier New" panose="02070309020205020404" pitchFamily="49" charset="0"/>
                <a:cs typeface="Courier New" panose="02070309020205020404" pitchFamily="49" charset="0"/>
              </a:rPr>
              <a:t>bar = [(1,2),(3,4),(5,6)]</a:t>
            </a:r>
          </a:p>
          <a:p>
            <a:pPr marL="0" indent="0">
              <a:buNone/>
            </a:pPr>
            <a:r>
              <a:rPr lang="en-US" dirty="0">
                <a:latin typeface="Courier New" panose="02070309020205020404" pitchFamily="49" charset="0"/>
                <a:cs typeface="Courier New" panose="02070309020205020404" pitchFamily="49" charset="0"/>
              </a:rPr>
              <a:t>result = [y for x in bar for y in x]</a:t>
            </a:r>
          </a:p>
          <a:p>
            <a:pPr marL="0" indent="0">
              <a:buNone/>
            </a:pP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645796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Python Modules</a:t>
            </a:r>
          </a:p>
        </p:txBody>
      </p:sp>
      <p:sp>
        <p:nvSpPr>
          <p:cNvPr id="3" name="Content Placeholder 2"/>
          <p:cNvSpPr>
            <a:spLocks noGrp="1"/>
          </p:cNvSpPr>
          <p:nvPr>
            <p:ph idx="1"/>
          </p:nvPr>
        </p:nvSpPr>
        <p:spPr>
          <a:xfrm>
            <a:off x="838200" y="1825624"/>
            <a:ext cx="10657114" cy="5032375"/>
          </a:xfrm>
        </p:spPr>
        <p:txBody>
          <a:bodyPr>
            <a:normAutofit/>
          </a:bodyPr>
          <a:lstStyle/>
          <a:p>
            <a:r>
              <a:rPr lang="en-US" altLang="en-US" dirty="0">
                <a:cs typeface="Times New Roman" panose="02020603050405020304" pitchFamily="18" charset="0"/>
              </a:rPr>
              <a:t>Modules are files containing Python definitions and statements</a:t>
            </a:r>
          </a:p>
          <a:p>
            <a:pPr lvl="1"/>
            <a:r>
              <a:rPr lang="en-US" altLang="en-US" dirty="0">
                <a:cs typeface="Times New Roman" panose="02020603050405020304" pitchFamily="18" charset="0"/>
              </a:rPr>
              <a:t>The file name is the module name with the suffix .</a:t>
            </a:r>
            <a:r>
              <a:rPr lang="en-US" altLang="en-US" dirty="0" err="1">
                <a:cs typeface="Times New Roman" panose="02020603050405020304" pitchFamily="18" charset="0"/>
              </a:rPr>
              <a:t>py</a:t>
            </a:r>
            <a:r>
              <a:rPr lang="en-US" altLang="en-US" dirty="0">
                <a:cs typeface="Times New Roman" panose="02020603050405020304" pitchFamily="18" charset="0"/>
              </a:rPr>
              <a:t> appended</a:t>
            </a:r>
          </a:p>
          <a:p>
            <a:r>
              <a:rPr lang="en-US" altLang="en-US" dirty="0">
                <a:cs typeface="Times New Roman" panose="02020603050405020304" pitchFamily="18" charset="0"/>
              </a:rPr>
              <a:t>With the module, the module’s name as a string is available as the global variable __name__</a:t>
            </a:r>
          </a:p>
          <a:p>
            <a:pPr lvl="1"/>
            <a:r>
              <a:rPr lang="en-US" altLang="en-US" sz="2800" dirty="0">
                <a:cs typeface="Times New Roman" panose="02020603050405020304" pitchFamily="18" charset="0"/>
              </a:rPr>
              <a:t>Ex: import math</a:t>
            </a:r>
          </a:p>
          <a:p>
            <a:pPr marL="457200" lvl="1" indent="0">
              <a:buNone/>
            </a:pPr>
            <a:r>
              <a:rPr lang="en-US" altLang="en-US" sz="2800" dirty="0">
                <a:cs typeface="Times New Roman" panose="02020603050405020304" pitchFamily="18" charset="0"/>
              </a:rPr>
              <a:t>         </a:t>
            </a:r>
            <a:r>
              <a:rPr lang="en-US" altLang="en-US" sz="2800" dirty="0" err="1">
                <a:cs typeface="Times New Roman" panose="02020603050405020304" pitchFamily="18" charset="0"/>
              </a:rPr>
              <a:t>math.__name</a:t>
            </a:r>
            <a:r>
              <a:rPr lang="en-US" altLang="en-US" sz="2800" dirty="0">
                <a:cs typeface="Times New Roman" panose="02020603050405020304" pitchFamily="18" charset="0"/>
              </a:rPr>
              <a:t>__  # returns  "math"</a:t>
            </a:r>
          </a:p>
          <a:p>
            <a:r>
              <a:rPr lang="en-US" altLang="en-US" dirty="0">
                <a:cs typeface="Times New Roman" panose="02020603050405020304" pitchFamily="18" charset="0"/>
              </a:rPr>
              <a:t>Modules can import other modules.  It is customary to place import statements at the beginning of </a:t>
            </a:r>
            <a:r>
              <a:rPr lang="en-US" altLang="en-US">
                <a:cs typeface="Times New Roman" panose="02020603050405020304" pitchFamily="18" charset="0"/>
              </a:rPr>
              <a:t>a module</a:t>
            </a:r>
            <a:endParaRPr lang="en-US" altLang="en-US" dirty="0">
              <a:cs typeface="Times New Roman" panose="02020603050405020304" pitchFamily="18" charset="0"/>
            </a:endParaRPr>
          </a:p>
        </p:txBody>
      </p:sp>
    </p:spTree>
    <p:extLst>
      <p:ext uri="{BB962C8B-B14F-4D97-AF65-F5344CB8AC3E}">
        <p14:creationId xmlns:p14="http://schemas.microsoft.com/office/powerpoint/2010/main" val="3668570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Python Modules</a:t>
            </a:r>
          </a:p>
        </p:txBody>
      </p:sp>
      <p:sp>
        <p:nvSpPr>
          <p:cNvPr id="3" name="Content Placeholder 2"/>
          <p:cNvSpPr>
            <a:spLocks noGrp="1"/>
          </p:cNvSpPr>
          <p:nvPr>
            <p:ph idx="1"/>
          </p:nvPr>
        </p:nvSpPr>
        <p:spPr>
          <a:xfrm>
            <a:off x="838200" y="1825624"/>
            <a:ext cx="10657114" cy="5032375"/>
          </a:xfrm>
        </p:spPr>
        <p:txBody>
          <a:bodyPr>
            <a:normAutofit lnSpcReduction="10000"/>
          </a:bodyPr>
          <a:lstStyle/>
          <a:p>
            <a:r>
              <a:rPr lang="en-US" altLang="en-US" dirty="0">
                <a:cs typeface="Times New Roman" panose="02020603050405020304" pitchFamily="18" charset="0"/>
              </a:rPr>
              <a:t>The import function does not enter the names of the functions defined in the module directly in the current symbol table. It only enters the module name there. Using the module name you can access the functions</a:t>
            </a:r>
          </a:p>
          <a:p>
            <a:r>
              <a:rPr lang="en-US" altLang="en-US" dirty="0">
                <a:cs typeface="Times New Roman" panose="02020603050405020304" pitchFamily="18" charset="0"/>
              </a:rPr>
              <a:t>Ex:   </a:t>
            </a:r>
            <a:r>
              <a:rPr lang="en-US" altLang="en-US" dirty="0"/>
              <a:t>import geometry				#Only geometry is imported</a:t>
            </a:r>
          </a:p>
          <a:p>
            <a:pPr marL="914400" lvl="2" indent="0">
              <a:buNone/>
            </a:pPr>
            <a:r>
              <a:rPr lang="en-US" altLang="en-US" sz="2800" dirty="0" err="1"/>
              <a:t>pt</a:t>
            </a:r>
            <a:r>
              <a:rPr lang="en-US" altLang="en-US" sz="2800" dirty="0"/>
              <a:t> = </a:t>
            </a:r>
            <a:r>
              <a:rPr lang="en-US" altLang="en-US" sz="2800" dirty="0" err="1"/>
              <a:t>geometry.Point</a:t>
            </a:r>
            <a:r>
              <a:rPr lang="en-US" altLang="en-US" sz="2800" dirty="0"/>
              <a:t>(10, 20)		#Use geometry to access</a:t>
            </a:r>
          </a:p>
          <a:p>
            <a:pPr marL="914400" lvl="2" indent="0">
              <a:buNone/>
            </a:pPr>
            <a:r>
              <a:rPr lang="en-US" altLang="en-US" sz="2800" dirty="0"/>
              <a:t>print(</a:t>
            </a:r>
            <a:r>
              <a:rPr lang="en-US" altLang="en-US" sz="2800" dirty="0" err="1"/>
              <a:t>pt</a:t>
            </a:r>
            <a:r>
              <a:rPr lang="en-US" altLang="en-US" sz="2800" dirty="0"/>
              <a:t>)					  functions within module</a:t>
            </a:r>
          </a:p>
          <a:p>
            <a:r>
              <a:rPr lang="en-US" altLang="en-US" dirty="0">
                <a:cs typeface="Times New Roman" panose="02020603050405020304" pitchFamily="18" charset="0"/>
              </a:rPr>
              <a:t>There is a variant to the import statement that imports function names from a module directly into the importing module’s symbol table</a:t>
            </a:r>
          </a:p>
          <a:p>
            <a:r>
              <a:rPr lang="en-US" altLang="en-US" dirty="0">
                <a:cs typeface="Times New Roman" panose="02020603050405020304" pitchFamily="18" charset="0"/>
              </a:rPr>
              <a:t>Ex: </a:t>
            </a:r>
            <a:r>
              <a:rPr lang="en-US" altLang="en-US" dirty="0">
                <a:latin typeface="Courier New" panose="02070309020205020404" pitchFamily="49" charset="0"/>
                <a:cs typeface="Courier New" panose="02070309020205020404" pitchFamily="49" charset="0"/>
              </a:rPr>
              <a:t>from geometry import Point</a:t>
            </a:r>
          </a:p>
          <a:p>
            <a:r>
              <a:rPr lang="en-US" altLang="en-US" dirty="0">
                <a:cs typeface="Times New Roman" panose="02020603050405020304" pitchFamily="18" charset="0"/>
              </a:rPr>
              <a:t>You could also use: </a:t>
            </a:r>
            <a:r>
              <a:rPr lang="en-US" altLang="en-US" dirty="0">
                <a:latin typeface="Courier New" panose="02070309020205020404" pitchFamily="49" charset="0"/>
                <a:cs typeface="Courier New" panose="02070309020205020404" pitchFamily="49" charset="0"/>
              </a:rPr>
              <a:t>from geometry import * </a:t>
            </a:r>
          </a:p>
          <a:p>
            <a:pPr lvl="1"/>
            <a:r>
              <a:rPr lang="en-US" altLang="en-US" dirty="0">
                <a:cs typeface="Times New Roman" panose="02020603050405020304" pitchFamily="18" charset="0"/>
              </a:rPr>
              <a:t>(not suggested since it is unknown what you are importing)</a:t>
            </a:r>
          </a:p>
        </p:txBody>
      </p:sp>
    </p:spTree>
    <p:extLst>
      <p:ext uri="{BB962C8B-B14F-4D97-AF65-F5344CB8AC3E}">
        <p14:creationId xmlns:p14="http://schemas.microsoft.com/office/powerpoint/2010/main" val="6601603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Python Modules</a:t>
            </a:r>
          </a:p>
        </p:txBody>
      </p:sp>
      <p:sp>
        <p:nvSpPr>
          <p:cNvPr id="3" name="Content Placeholder 2"/>
          <p:cNvSpPr>
            <a:spLocks noGrp="1"/>
          </p:cNvSpPr>
          <p:nvPr>
            <p:ph idx="1"/>
          </p:nvPr>
        </p:nvSpPr>
        <p:spPr>
          <a:xfrm>
            <a:off x="838200" y="1825624"/>
            <a:ext cx="10657114" cy="5032375"/>
          </a:xfrm>
        </p:spPr>
        <p:txBody>
          <a:bodyPr>
            <a:normAutofit/>
          </a:bodyPr>
          <a:lstStyle/>
          <a:p>
            <a:r>
              <a:rPr lang="en-US" altLang="en-US" dirty="0">
                <a:cs typeface="Times New Roman" panose="02020603050405020304" pitchFamily="18" charset="0"/>
              </a:rPr>
              <a:t>Modules can also contain executable statements that are intended to initialize the module.  They are executed only the first time the module name is encountered in an import statement.</a:t>
            </a:r>
          </a:p>
          <a:p>
            <a:r>
              <a:rPr lang="en-US" altLang="en-US" dirty="0">
                <a:cs typeface="Times New Roman" panose="02020603050405020304" pitchFamily="18" charset="0"/>
              </a:rPr>
              <a:t>You can run a Python module with the code: </a:t>
            </a:r>
          </a:p>
          <a:p>
            <a:pPr lvl="1"/>
            <a:r>
              <a:rPr lang="en-US" altLang="en-US" sz="2800" dirty="0">
                <a:cs typeface="Times New Roman" panose="02020603050405020304" pitchFamily="18" charset="0"/>
              </a:rPr>
              <a:t>Python geometry.py &lt;arguments&gt;</a:t>
            </a:r>
          </a:p>
          <a:p>
            <a:pPr lvl="1"/>
            <a:r>
              <a:rPr lang="en-US" altLang="en-US" sz="2800" dirty="0">
                <a:cs typeface="Times New Roman" panose="02020603050405020304" pitchFamily="18" charset="0"/>
              </a:rPr>
              <a:t>The code in the module will be executed, just as if you imported it, but with the __name__ set to "__main__".  </a:t>
            </a:r>
          </a:p>
        </p:txBody>
      </p:sp>
    </p:spTree>
    <p:extLst>
      <p:ext uri="{BB962C8B-B14F-4D97-AF65-F5344CB8AC3E}">
        <p14:creationId xmlns:p14="http://schemas.microsoft.com/office/powerpoint/2010/main" val="14751351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Python Modules</a:t>
            </a:r>
          </a:p>
        </p:txBody>
      </p:sp>
      <p:sp>
        <p:nvSpPr>
          <p:cNvPr id="3" name="Content Placeholder 2"/>
          <p:cNvSpPr>
            <a:spLocks noGrp="1"/>
          </p:cNvSpPr>
          <p:nvPr>
            <p:ph idx="1"/>
          </p:nvPr>
        </p:nvSpPr>
        <p:spPr>
          <a:xfrm>
            <a:off x="838200" y="1825624"/>
            <a:ext cx="10657114" cy="5032375"/>
          </a:xfrm>
        </p:spPr>
        <p:txBody>
          <a:bodyPr>
            <a:normAutofit/>
          </a:bodyPr>
          <a:lstStyle/>
          <a:p>
            <a:r>
              <a:rPr lang="en-US" altLang="en-US" dirty="0">
                <a:cs typeface="Times New Roman" panose="02020603050405020304" pitchFamily="18" charset="0"/>
              </a:rPr>
              <a:t>In a program that can be either run stand-alone or loaded as a library, the call to main at the bottom should be made conditional, e.g.</a:t>
            </a:r>
            <a:br>
              <a:rPr lang="en-US" altLang="en-US" dirty="0">
                <a:cs typeface="Times New Roman" panose="02020603050405020304" pitchFamily="18" charset="0"/>
              </a:rPr>
            </a:br>
            <a:r>
              <a:rPr lang="en-US" altLang="en-US" dirty="0">
                <a:latin typeface="Courier New" panose="02070309020205020404" pitchFamily="49" charset="0"/>
                <a:cs typeface="Courier New" panose="02070309020205020404" pitchFamily="49" charset="0"/>
              </a:rPr>
              <a:t>if __name__ == '__main__':</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main()</a:t>
            </a:r>
          </a:p>
          <a:p>
            <a:r>
              <a:rPr lang="en-US" altLang="en-US" dirty="0">
                <a:cs typeface="Times New Roman" panose="02020603050405020304" pitchFamily="18" charset="0"/>
              </a:rPr>
              <a:t>This means that </a:t>
            </a:r>
            <a:r>
              <a:rPr lang="en-US" altLang="en-US" sz="2800" dirty="0">
                <a:cs typeface="Times New Roman" panose="02020603050405020304" pitchFamily="18" charset="0"/>
              </a:rPr>
              <a:t>you can make the file usable as a script as well as an importable module because the code that parses the command line only runs if the module is executed as the "main" file</a:t>
            </a:r>
          </a:p>
        </p:txBody>
      </p:sp>
    </p:spTree>
    <p:extLst>
      <p:ext uri="{BB962C8B-B14F-4D97-AF65-F5344CB8AC3E}">
        <p14:creationId xmlns:p14="http://schemas.microsoft.com/office/powerpoint/2010/main" val="2564978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Python Demo</a:t>
            </a:r>
          </a:p>
        </p:txBody>
      </p:sp>
      <p:sp>
        <p:nvSpPr>
          <p:cNvPr id="3" name="Content Placeholder 2"/>
          <p:cNvSpPr>
            <a:spLocks noGrp="1"/>
          </p:cNvSpPr>
          <p:nvPr>
            <p:ph idx="1"/>
          </p:nvPr>
        </p:nvSpPr>
        <p:spPr>
          <a:xfrm>
            <a:off x="838200" y="1825624"/>
            <a:ext cx="10657114" cy="5032375"/>
          </a:xfrm>
        </p:spPr>
        <p:txBody>
          <a:bodyPr>
            <a:normAutofit/>
          </a:bodyPr>
          <a:lstStyle/>
          <a:p>
            <a:endParaRPr lang="en-US" altLang="en-US" sz="2800" dirty="0">
              <a:cs typeface="Times New Roman" panose="02020603050405020304" pitchFamily="18" charset="0"/>
            </a:endParaRPr>
          </a:p>
        </p:txBody>
      </p:sp>
    </p:spTree>
    <p:extLst>
      <p:ext uri="{BB962C8B-B14F-4D97-AF65-F5344CB8AC3E}">
        <p14:creationId xmlns:p14="http://schemas.microsoft.com/office/powerpoint/2010/main" val="5802083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49967</TotalTime>
  <Words>1779</Words>
  <Application>Microsoft Macintosh PowerPoint</Application>
  <PresentationFormat>Widescreen</PresentationFormat>
  <Paragraphs>336</Paragraphs>
  <Slides>34</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Courier New</vt:lpstr>
      <vt:lpstr>Times New Roman</vt:lpstr>
      <vt:lpstr>Office Theme</vt:lpstr>
      <vt:lpstr>CMSC 304</vt:lpstr>
      <vt:lpstr>Python</vt:lpstr>
      <vt:lpstr>Python Data Types</vt:lpstr>
      <vt:lpstr>Python Data Types</vt:lpstr>
      <vt:lpstr>Mutable vs. Immutable Objects</vt:lpstr>
      <vt:lpstr>Python Basics</vt:lpstr>
      <vt:lpstr>Dynamic Typing</vt:lpstr>
      <vt:lpstr>Python Assignment Statements</vt:lpstr>
      <vt:lpstr>Lists &amp; Tuples</vt:lpstr>
      <vt:lpstr>Lists &amp; Tuples</vt:lpstr>
      <vt:lpstr>Lists &amp; Tuples</vt:lpstr>
      <vt:lpstr>Lists &amp; Tuples</vt:lpstr>
      <vt:lpstr>Python Demo</vt:lpstr>
      <vt:lpstr>Python Basics</vt:lpstr>
      <vt:lpstr>Looping in Python</vt:lpstr>
      <vt:lpstr>Looping in Python</vt:lpstr>
      <vt:lpstr>Looping in Python</vt:lpstr>
      <vt:lpstr>Looping in Python</vt:lpstr>
      <vt:lpstr>Working Through Lists &amp; Tuples</vt:lpstr>
      <vt:lpstr>Working Through Lists &amp; Tuples</vt:lpstr>
      <vt:lpstr>Slice vs Range</vt:lpstr>
      <vt:lpstr>Working Through Lists &amp; Tuples, cont.</vt:lpstr>
      <vt:lpstr>Functions</vt:lpstr>
      <vt:lpstr>Python Demo</vt:lpstr>
      <vt:lpstr>Python Scoping</vt:lpstr>
      <vt:lpstr>Python Scoping</vt:lpstr>
      <vt:lpstr>List Comprehensions</vt:lpstr>
      <vt:lpstr>List Comprehensions</vt:lpstr>
      <vt:lpstr>List Comprehensions</vt:lpstr>
      <vt:lpstr>Python Modules</vt:lpstr>
      <vt:lpstr>Python Modules</vt:lpstr>
      <vt:lpstr>Python Modules</vt:lpstr>
      <vt:lpstr>Python Modules</vt:lpstr>
      <vt:lpstr>Python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CMSC 403</dc:title>
  <dc:creator>Microsoft Office User</dc:creator>
  <cp:lastModifiedBy>Microsoft Office User</cp:lastModifiedBy>
  <cp:revision>318</cp:revision>
  <cp:lastPrinted>2017-09-07T16:13:53Z</cp:lastPrinted>
  <dcterms:created xsi:type="dcterms:W3CDTF">2017-05-31T17:26:26Z</dcterms:created>
  <dcterms:modified xsi:type="dcterms:W3CDTF">2025-02-19T16:46:16Z</dcterms:modified>
</cp:coreProperties>
</file>