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349" r:id="rId3"/>
    <p:sldId id="390" r:id="rId4"/>
    <p:sldId id="391" r:id="rId5"/>
    <p:sldId id="392" r:id="rId6"/>
    <p:sldId id="393" r:id="rId7"/>
    <p:sldId id="394" r:id="rId8"/>
    <p:sldId id="395" r:id="rId9"/>
    <p:sldId id="405" r:id="rId10"/>
    <p:sldId id="396" r:id="rId11"/>
    <p:sldId id="406" r:id="rId12"/>
    <p:sldId id="403" r:id="rId13"/>
    <p:sldId id="404" r:id="rId14"/>
    <p:sldId id="362" r:id="rId15"/>
    <p:sldId id="363" r:id="rId16"/>
    <p:sldId id="397" r:id="rId17"/>
    <p:sldId id="398" r:id="rId18"/>
    <p:sldId id="400" r:id="rId19"/>
    <p:sldId id="401" r:id="rId20"/>
    <p:sldId id="402" r:id="rId21"/>
    <p:sldId id="399" r:id="rId22"/>
    <p:sldId id="364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10"/>
    <p:restoredTop sz="73768"/>
  </p:normalViewPr>
  <p:slideViewPr>
    <p:cSldViewPr snapToGrid="0" snapToObjects="1">
      <p:cViewPr varScale="1">
        <p:scale>
          <a:sx n="95" d="100"/>
          <a:sy n="95" d="100"/>
        </p:scale>
        <p:origin x="152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9C3FBE-CC6D-C84E-A32C-3E7139D0BEF1}" type="datetimeFigureOut">
              <a:rPr lang="en-US" smtClean="0"/>
              <a:t>8/19/24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AC0DA4-3FAE-DF4B-9554-5D7B5414A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66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Reuse, Modify, Maintain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4103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4649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584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7D23-1D1C-734C-9188-3D38F4DBA869}" type="datetimeFigureOut">
              <a:rPr lang="en-US" smtClean="0"/>
              <a:t>8/19/24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6966-79DA-234F-B9D6-D01F1009F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388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7D23-1D1C-734C-9188-3D38F4DBA869}" type="datetimeFigureOut">
              <a:rPr lang="en-US" smtClean="0"/>
              <a:t>8/19/24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6966-79DA-234F-B9D6-D01F1009F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4509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7D23-1D1C-734C-9188-3D38F4DBA869}" type="datetimeFigureOut">
              <a:rPr lang="en-US" smtClean="0"/>
              <a:t>8/19/24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6966-79DA-234F-B9D6-D01F1009F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2325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7D23-1D1C-734C-9188-3D38F4DBA869}" type="datetimeFigureOut">
              <a:rPr lang="en-US" smtClean="0"/>
              <a:t>8/19/24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6966-79DA-234F-B9D6-D01F1009F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4079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7D23-1D1C-734C-9188-3D38F4DBA869}" type="datetimeFigureOut">
              <a:rPr lang="en-US" smtClean="0"/>
              <a:t>8/19/24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6966-79DA-234F-B9D6-D01F1009F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03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7D23-1D1C-734C-9188-3D38F4DBA869}" type="datetimeFigureOut">
              <a:rPr lang="en-US" smtClean="0"/>
              <a:t>8/19/24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6966-79DA-234F-B9D6-D01F1009F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8309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7D23-1D1C-734C-9188-3D38F4DBA869}" type="datetimeFigureOut">
              <a:rPr lang="en-US" smtClean="0"/>
              <a:t>8/19/24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6966-79DA-234F-B9D6-D01F1009F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002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7D23-1D1C-734C-9188-3D38F4DBA869}" type="datetimeFigureOut">
              <a:rPr lang="en-US" smtClean="0"/>
              <a:t>8/19/24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6966-79DA-234F-B9D6-D01F1009F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11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7D23-1D1C-734C-9188-3D38F4DBA869}" type="datetimeFigureOut">
              <a:rPr lang="en-US" smtClean="0"/>
              <a:t>8/19/24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6966-79DA-234F-B9D6-D01F1009F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1579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7D23-1D1C-734C-9188-3D38F4DBA869}" type="datetimeFigureOut">
              <a:rPr lang="en-US" smtClean="0"/>
              <a:t>8/19/24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6966-79DA-234F-B9D6-D01F1009F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789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7D23-1D1C-734C-9188-3D38F4DBA869}" type="datetimeFigureOut">
              <a:rPr lang="en-US" smtClean="0"/>
              <a:t>8/19/24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6966-79DA-234F-B9D6-D01F1009F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5549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197D23-1D1C-734C-9188-3D38F4DBA869}" type="datetimeFigureOut">
              <a:rPr lang="en-US" smtClean="0"/>
              <a:t>8/19/24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726966-79DA-234F-B9D6-D01F1009F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447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CMSC 304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Object Oriented Design</a:t>
            </a:r>
          </a:p>
          <a:p>
            <a:r>
              <a:rPr lang="en-US"/>
              <a:t>Claire Sparks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718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Object-Oriented Programming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>
                <a:ea typeface="MS PGothic" charset="-128"/>
              </a:rPr>
              <a:t>The object-oriented concept began in the 1960s with the </a:t>
            </a:r>
            <a:r>
              <a:rPr lang="en-US" altLang="en-US" dirty="0" err="1">
                <a:ea typeface="MS PGothic" charset="-128"/>
              </a:rPr>
              <a:t>Simula</a:t>
            </a:r>
            <a:r>
              <a:rPr lang="en-US" altLang="en-US" dirty="0">
                <a:ea typeface="MS PGothic" charset="-128"/>
              </a:rPr>
              <a:t> project</a:t>
            </a:r>
          </a:p>
          <a:p>
            <a:r>
              <a:rPr lang="en-US" altLang="en-US" dirty="0">
                <a:ea typeface="MS PGothic" charset="-128"/>
              </a:rPr>
              <a:t>The goal was to incorporate into the language the notion of an object, which is similar to a real-world object</a:t>
            </a:r>
          </a:p>
          <a:p>
            <a:r>
              <a:rPr lang="en-US" altLang="en-US" sz="2800" dirty="0">
                <a:ea typeface="MS PGothic" charset="-128"/>
              </a:rPr>
              <a:t>Objects contain certain properties that control its ability to react to events in predefined ways.</a:t>
            </a:r>
          </a:p>
          <a:p>
            <a:r>
              <a:rPr lang="en-US" altLang="en-US" dirty="0">
                <a:ea typeface="MS PGothic" charset="-128"/>
              </a:rPr>
              <a:t>Programs consist of a set of objects, which can vary dynamically, and which execute by acting and reacting to each other in the same way that a real-world process proceeds by the interaction of real-world objects</a:t>
            </a:r>
            <a:endParaRPr lang="en-US" altLang="en-US" sz="2800" dirty="0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828072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Object-Oriented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>
                <a:ea typeface="MS PGothic" charset="-128"/>
              </a:rPr>
              <a:t>Object-oriented programming languages satisfy three important needs in software design:</a:t>
            </a:r>
          </a:p>
          <a:p>
            <a:pPr lvl="1"/>
            <a:r>
              <a:rPr lang="en-US" altLang="en-US" sz="2800" dirty="0">
                <a:ea typeface="MS PGothic" charset="-128"/>
              </a:rPr>
              <a:t>Need to reuse software components as much as possible</a:t>
            </a:r>
          </a:p>
          <a:p>
            <a:pPr lvl="1"/>
            <a:r>
              <a:rPr lang="en-US" altLang="en-US" sz="2800" dirty="0">
                <a:ea typeface="MS PGothic" charset="-128"/>
              </a:rPr>
              <a:t>Need to modify program behavior with minimal changes to existing code</a:t>
            </a:r>
          </a:p>
          <a:p>
            <a:pPr lvl="1"/>
            <a:r>
              <a:rPr lang="en-US" altLang="en-US" sz="2800" dirty="0">
                <a:ea typeface="MS PGothic" charset="-128"/>
              </a:rPr>
              <a:t>Need to maintain the independence of different components</a:t>
            </a:r>
          </a:p>
          <a:p>
            <a:r>
              <a:rPr lang="en-US" altLang="en-US" dirty="0">
                <a:ea typeface="MS PGothic" charset="-128"/>
              </a:rPr>
              <a:t>These needs are very visible in modern software design</a:t>
            </a:r>
          </a:p>
          <a:p>
            <a:pPr lvl="1"/>
            <a:r>
              <a:rPr lang="en-US" altLang="en-US" dirty="0">
                <a:ea typeface="MS PGothic" charset="-128"/>
              </a:rPr>
              <a:t>Integrating external libraries into a project is a fundamental aspect</a:t>
            </a:r>
          </a:p>
        </p:txBody>
      </p:sp>
    </p:spTree>
    <p:extLst>
      <p:ext uri="{BB962C8B-B14F-4D97-AF65-F5344CB8AC3E}">
        <p14:creationId xmlns:p14="http://schemas.microsoft.com/office/powerpoint/2010/main" val="22329423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Software Reuse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>
                <a:ea typeface="MS PGothic" charset="-128"/>
              </a:rPr>
              <a:t>Four basic ways a software component can be modified for reuse:</a:t>
            </a:r>
          </a:p>
          <a:p>
            <a:pPr lvl="1"/>
            <a:r>
              <a:rPr lang="en-US" altLang="en-US" sz="2800" dirty="0">
                <a:ea typeface="MS PGothic" charset="-128"/>
              </a:rPr>
              <a:t>Extension of the data or operations</a:t>
            </a:r>
          </a:p>
          <a:p>
            <a:pPr lvl="1"/>
            <a:r>
              <a:rPr lang="en-US" altLang="en-US" sz="2800" dirty="0">
                <a:ea typeface="MS PGothic" charset="-128"/>
              </a:rPr>
              <a:t>Redefinition of one or more of the operations</a:t>
            </a:r>
          </a:p>
          <a:p>
            <a:pPr lvl="1"/>
            <a:r>
              <a:rPr lang="en-US" altLang="en-US" sz="2800" dirty="0">
                <a:ea typeface="MS PGothic" charset="-128"/>
              </a:rPr>
              <a:t>Abstraction</a:t>
            </a:r>
          </a:p>
          <a:p>
            <a:pPr lvl="1"/>
            <a:r>
              <a:rPr lang="en-US" altLang="en-US" sz="2800" dirty="0">
                <a:ea typeface="MS PGothic" charset="-128"/>
              </a:rPr>
              <a:t>Polymorphism</a:t>
            </a:r>
          </a:p>
        </p:txBody>
      </p:sp>
    </p:spTree>
    <p:extLst>
      <p:ext uri="{BB962C8B-B14F-4D97-AF65-F5344CB8AC3E}">
        <p14:creationId xmlns:p14="http://schemas.microsoft.com/office/powerpoint/2010/main" val="22041669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Software Reuse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>
                <a:ea typeface="MS PGothic" charset="-128"/>
              </a:rPr>
              <a:t>Modified for Reuse by Extension of Data or Operations:</a:t>
            </a:r>
          </a:p>
          <a:p>
            <a:pPr lvl="1"/>
            <a:r>
              <a:rPr lang="en-US" altLang="en-US" sz="2800" dirty="0">
                <a:ea typeface="MS PGothic" charset="-128"/>
              </a:rPr>
              <a:t>Example: Adding new methods to a queue to allow elements to be removed from the rear and added to the front to create a double-ended queue or </a:t>
            </a:r>
            <a:r>
              <a:rPr lang="en-US" altLang="en-US" sz="2800" dirty="0" err="1">
                <a:ea typeface="MS PGothic" charset="-128"/>
              </a:rPr>
              <a:t>deque</a:t>
            </a:r>
            <a:r>
              <a:rPr lang="en-US" altLang="en-US" sz="2800" dirty="0">
                <a:ea typeface="MS PGothic" charset="-128"/>
              </a:rPr>
              <a:t> </a:t>
            </a:r>
          </a:p>
          <a:p>
            <a:pPr lvl="1"/>
            <a:r>
              <a:rPr lang="en-US" altLang="en-US" sz="2800" dirty="0">
                <a:ea typeface="MS PGothic" charset="-128"/>
              </a:rPr>
              <a:t>Example: A window defined on a computer screen that is specified by its four corners extended to display text becoming a text window</a:t>
            </a:r>
          </a:p>
        </p:txBody>
      </p:sp>
    </p:spTree>
    <p:extLst>
      <p:ext uri="{BB962C8B-B14F-4D97-AF65-F5344CB8AC3E}">
        <p14:creationId xmlns:p14="http://schemas.microsoft.com/office/powerpoint/2010/main" val="18057456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Software Reuse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>
                <a:ea typeface="MS PGothic" charset="-128"/>
              </a:rPr>
              <a:t>Modified for Reuse by Redefinition of one or more operations:</a:t>
            </a:r>
          </a:p>
          <a:p>
            <a:pPr lvl="1"/>
            <a:r>
              <a:rPr lang="en-US" altLang="en-US" sz="2800" dirty="0"/>
              <a:t>Example: If a square is obtained from a rectangle, an area or perimeter function may be redefined to account for the reduced data needed in the computation</a:t>
            </a:r>
          </a:p>
          <a:p>
            <a:pPr lvl="1"/>
            <a:r>
              <a:rPr lang="en-US" altLang="en-US" sz="2800" dirty="0">
                <a:ea typeface="MS PGothic" charset="-128"/>
              </a:rPr>
              <a:t>Example: A window extended to display text must redefine the display operation in order to display the text as well as the window itself</a:t>
            </a:r>
          </a:p>
        </p:txBody>
      </p:sp>
    </p:spTree>
    <p:extLst>
      <p:ext uri="{BB962C8B-B14F-4D97-AF65-F5344CB8AC3E}">
        <p14:creationId xmlns:p14="http://schemas.microsoft.com/office/powerpoint/2010/main" val="19854004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Software Reuse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>
                <a:ea typeface="MS PGothic" charset="-128"/>
              </a:rPr>
              <a:t>Modified for Reuse by Abstraction</a:t>
            </a:r>
            <a:r>
              <a:rPr lang="en-US" altLang="en-US" dirty="0"/>
              <a:t>, or collection of similar operations from two different components into a new component</a:t>
            </a:r>
            <a:r>
              <a:rPr lang="en-US" altLang="en-US" dirty="0">
                <a:ea typeface="MS PGothic" charset="-128"/>
              </a:rPr>
              <a:t>:</a:t>
            </a:r>
          </a:p>
          <a:p>
            <a:pPr lvl="1"/>
            <a:r>
              <a:rPr lang="en-US" altLang="en-US" sz="2800" dirty="0"/>
              <a:t>Example: A circle and rectangle objects can be combined into an abstract object called a figure, to contain the common features of both, such as position and movement</a:t>
            </a:r>
          </a:p>
        </p:txBody>
      </p:sp>
    </p:spTree>
    <p:extLst>
      <p:ext uri="{BB962C8B-B14F-4D97-AF65-F5344CB8AC3E}">
        <p14:creationId xmlns:p14="http://schemas.microsoft.com/office/powerpoint/2010/main" val="6859671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Software Reuse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4"/>
            <a:ext cx="10722429" cy="4918075"/>
          </a:xfrm>
        </p:spPr>
        <p:txBody>
          <a:bodyPr>
            <a:normAutofit/>
          </a:bodyPr>
          <a:lstStyle/>
          <a:p>
            <a:r>
              <a:rPr lang="en-US" altLang="en-US" dirty="0">
                <a:ea typeface="MS PGothic" charset="-128"/>
              </a:rPr>
              <a:t>Modified for Reuse by Polymorphism</a:t>
            </a:r>
            <a:r>
              <a:rPr lang="en-US" altLang="en-US" dirty="0"/>
              <a:t>, or the extension of the type of data that operations can apply to</a:t>
            </a:r>
            <a:r>
              <a:rPr lang="en-US" altLang="en-US" dirty="0">
                <a:ea typeface="MS PGothic" charset="-128"/>
              </a:rPr>
              <a:t>:</a:t>
            </a:r>
          </a:p>
          <a:p>
            <a:pPr lvl="1"/>
            <a:r>
              <a:rPr lang="en-US" altLang="en-US" sz="2800" dirty="0"/>
              <a:t>Example: Overloading</a:t>
            </a:r>
          </a:p>
          <a:p>
            <a:pPr lvl="2"/>
            <a:r>
              <a:rPr lang="en-US" altLang="en-US" sz="2800" dirty="0"/>
              <a:t>Extending the types that an operation applies to such as the </a:t>
            </a:r>
            <a:r>
              <a:rPr lang="en-US" altLang="en-US" sz="2800" dirty="0" err="1"/>
              <a:t>toString</a:t>
            </a:r>
            <a:r>
              <a:rPr lang="en-US" altLang="en-US" sz="2800" dirty="0"/>
              <a:t> method, that is applicable to any object as long as it has a textual representation</a:t>
            </a:r>
          </a:p>
          <a:p>
            <a:pPr lvl="2"/>
            <a:r>
              <a:rPr lang="en-US" altLang="en-US" sz="2800" dirty="0"/>
              <a:t>Example: add(</a:t>
            </a:r>
            <a:r>
              <a:rPr lang="en-US" altLang="en-US" sz="2800" dirty="0" err="1"/>
              <a:t>int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int</a:t>
            </a:r>
            <a:r>
              <a:rPr lang="en-US" altLang="en-US" sz="2800" dirty="0"/>
              <a:t>) or add(</a:t>
            </a:r>
            <a:r>
              <a:rPr lang="en-US" altLang="en-US" sz="2800" dirty="0" err="1"/>
              <a:t>int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int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int</a:t>
            </a:r>
            <a:r>
              <a:rPr lang="en-US" altLang="en-US" sz="2800" dirty="0"/>
              <a:t>) or add(double, double)</a:t>
            </a:r>
          </a:p>
        </p:txBody>
      </p:sp>
    </p:spTree>
    <p:extLst>
      <p:ext uri="{BB962C8B-B14F-4D97-AF65-F5344CB8AC3E}">
        <p14:creationId xmlns:p14="http://schemas.microsoft.com/office/powerpoint/2010/main" val="23751126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Software Reuse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4"/>
            <a:ext cx="11130644" cy="4918075"/>
          </a:xfrm>
        </p:spPr>
        <p:txBody>
          <a:bodyPr>
            <a:normAutofit lnSpcReduction="10000"/>
          </a:bodyPr>
          <a:lstStyle/>
          <a:p>
            <a:r>
              <a:rPr lang="en-US" altLang="en-US" dirty="0">
                <a:ea typeface="MS PGothic" charset="-128"/>
              </a:rPr>
              <a:t>Modified for Reuse by Polymorphism</a:t>
            </a:r>
            <a:r>
              <a:rPr lang="en-US" altLang="en-US" dirty="0"/>
              <a:t>, or the extension of the type of data that operations can apply to</a:t>
            </a:r>
            <a:r>
              <a:rPr lang="en-US" altLang="en-US" dirty="0">
                <a:ea typeface="MS PGothic" charset="-128"/>
              </a:rPr>
              <a:t>:</a:t>
            </a:r>
          </a:p>
          <a:p>
            <a:pPr lvl="1"/>
            <a:r>
              <a:rPr lang="en-US" altLang="en-US" sz="2800" dirty="0"/>
              <a:t>Example: Parameterized types</a:t>
            </a:r>
          </a:p>
          <a:p>
            <a:pPr lvl="2"/>
            <a:r>
              <a:rPr lang="en-US" altLang="en-US" sz="2800" dirty="0"/>
              <a:t>A generic type is a reference type that has one or more type parameters. These type parameters are later replaced by type arguments when the generic type is instantiated (or declared). The instantiation of a generic type with actual type arguments is called a parameterized type. </a:t>
            </a:r>
          </a:p>
          <a:p>
            <a:pPr marL="914400" lvl="2" indent="0">
              <a:buNone/>
            </a:pPr>
            <a:r>
              <a:rPr lang="en-US" altLang="en-US" sz="2400" dirty="0">
                <a:cs typeface="Courier New" panose="02070309020205020404" pitchFamily="49" charset="0"/>
              </a:rPr>
              <a:t>Ex: </a:t>
            </a: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interface Collection&lt;E&gt; {</a:t>
            </a:r>
          </a:p>
          <a:p>
            <a:pPr marL="914400" lvl="2" indent="0">
              <a:buNone/>
            </a:pP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public void add (E x); public </a:t>
            </a:r>
            <a:r>
              <a:rPr lang="en-US" alt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Interator</a:t>
            </a: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&lt;E&gt; iterator();}</a:t>
            </a:r>
          </a:p>
          <a:p>
            <a:pPr marL="914400" lvl="2" indent="0">
              <a:buNone/>
            </a:pP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Collection&lt;String&gt; </a:t>
            </a:r>
            <a:r>
              <a:rPr lang="en-US" alt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coll</a:t>
            </a: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new </a:t>
            </a:r>
            <a:r>
              <a:rPr lang="en-US" alt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LinkedList</a:t>
            </a: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&lt;String&gt;();</a:t>
            </a:r>
          </a:p>
          <a:p>
            <a:pPr lvl="2"/>
            <a:r>
              <a:rPr lang="en-US" altLang="en-US" sz="2800" dirty="0">
                <a:cs typeface="Courier New" panose="02070309020205020404" pitchFamily="49" charset="0"/>
              </a:rPr>
              <a:t>The declaration of Collection&lt;string&gt; denotes a parameterized type</a:t>
            </a:r>
          </a:p>
        </p:txBody>
      </p:sp>
    </p:spTree>
    <p:extLst>
      <p:ext uri="{BB962C8B-B14F-4D97-AF65-F5344CB8AC3E}">
        <p14:creationId xmlns:p14="http://schemas.microsoft.com/office/powerpoint/2010/main" val="18108508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Software Independence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Object-oriented languages have another goal:</a:t>
            </a:r>
          </a:p>
          <a:p>
            <a:pPr lvl="1"/>
            <a:r>
              <a:rPr lang="en-US" altLang="en-US" sz="2800" dirty="0"/>
              <a:t>Restricting access to internal details of software components</a:t>
            </a:r>
          </a:p>
          <a:p>
            <a:r>
              <a:rPr lang="en-US" altLang="en-US" dirty="0"/>
              <a:t>Mechanisms for restricting access to internal details have several names:</a:t>
            </a:r>
          </a:p>
          <a:p>
            <a:pPr lvl="1"/>
            <a:r>
              <a:rPr lang="en-US" altLang="en-US" sz="2800" dirty="0"/>
              <a:t>Encapsulation mechanisms</a:t>
            </a:r>
          </a:p>
          <a:p>
            <a:pPr lvl="1"/>
            <a:r>
              <a:rPr lang="en-US" altLang="en-US" sz="2800" dirty="0"/>
              <a:t>Information-hiding mechanisms</a:t>
            </a:r>
          </a:p>
        </p:txBody>
      </p:sp>
    </p:spTree>
    <p:extLst>
      <p:ext uri="{BB962C8B-B14F-4D97-AF65-F5344CB8AC3E}">
        <p14:creationId xmlns:p14="http://schemas.microsoft.com/office/powerpoint/2010/main" val="37246831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Software Independence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Object-oriented languages have another goal:</a:t>
            </a:r>
          </a:p>
          <a:p>
            <a:pPr lvl="1"/>
            <a:r>
              <a:rPr lang="en-US" altLang="en-US" sz="2800" dirty="0"/>
              <a:t>Restricting access to internal details of software components</a:t>
            </a:r>
          </a:p>
          <a:p>
            <a:r>
              <a:rPr lang="en-US" dirty="0"/>
              <a:t>Low coupling, high cohesion </a:t>
            </a:r>
          </a:p>
          <a:p>
            <a:r>
              <a:rPr lang="en-US" b="1" dirty="0"/>
              <a:t>Coupling: </a:t>
            </a:r>
            <a:r>
              <a:rPr lang="en-US" dirty="0"/>
              <a:t>how related or dependent two classes are toward each other</a:t>
            </a:r>
          </a:p>
          <a:p>
            <a:r>
              <a:rPr lang="en-US" b="1" dirty="0"/>
              <a:t>Cohesion:</a:t>
            </a:r>
            <a:r>
              <a:rPr lang="en-US" dirty="0"/>
              <a:t> what the class can do</a:t>
            </a:r>
          </a:p>
          <a:p>
            <a:pPr lvl="1"/>
            <a:r>
              <a:rPr lang="en-US" dirty="0"/>
              <a:t>Low cohesion: a class has a broad focus </a:t>
            </a:r>
          </a:p>
          <a:p>
            <a:pPr lvl="1"/>
            <a:r>
              <a:rPr lang="en-US" dirty="0"/>
              <a:t>High cohesion: a class has a narrow focus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11751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Classes &amp; 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84458"/>
          </a:xfrm>
        </p:spPr>
        <p:txBody>
          <a:bodyPr>
            <a:noAutofit/>
          </a:bodyPr>
          <a:lstStyle/>
          <a:p>
            <a:r>
              <a:rPr lang="en-US" altLang="en-US" dirty="0">
                <a:ea typeface="MS PGothic" charset="-128"/>
              </a:rPr>
              <a:t>An object has a unique identity, properties, and behavior. </a:t>
            </a:r>
          </a:p>
          <a:p>
            <a:r>
              <a:rPr lang="en-US" altLang="en-US" dirty="0">
                <a:ea typeface="MS PGothic" charset="-128"/>
              </a:rPr>
              <a:t>The properties are represented by data fields. The behavior is represented by methods.</a:t>
            </a:r>
          </a:p>
          <a:p>
            <a:r>
              <a:rPr lang="en-US" altLang="en-US" dirty="0">
                <a:ea typeface="MS PGothic" charset="-128"/>
              </a:rPr>
              <a:t>Objects of the same type are defined using a common class.</a:t>
            </a:r>
          </a:p>
          <a:p>
            <a:r>
              <a:rPr lang="en-US" altLang="en-US" dirty="0">
                <a:ea typeface="MS PGothic" charset="-128"/>
              </a:rPr>
              <a:t>A class provides a definition of the properties and behavior of a set of objects.</a:t>
            </a:r>
            <a:endParaRPr lang="en-US" altLang="en-US" sz="2800" dirty="0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376997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Classes &amp; 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84458"/>
          </a:xfrm>
        </p:spPr>
        <p:txBody>
          <a:bodyPr>
            <a:noAutofit/>
          </a:bodyPr>
          <a:lstStyle/>
          <a:p>
            <a:r>
              <a:rPr lang="en-US" altLang="en-US" dirty="0">
                <a:ea typeface="MS PGothic" charset="-128"/>
              </a:rPr>
              <a:t>Constructors are special methods that are invoked to create a new object</a:t>
            </a:r>
          </a:p>
          <a:p>
            <a:r>
              <a:rPr lang="en-US" altLang="en-US" sz="2800" dirty="0">
                <a:ea typeface="MS PGothic" charset="-128"/>
              </a:rPr>
              <a:t>Setters are methods that mutate or change the value of a data field</a:t>
            </a:r>
          </a:p>
          <a:p>
            <a:r>
              <a:rPr lang="en-US" altLang="en-US" dirty="0">
                <a:ea typeface="MS PGothic" charset="-128"/>
              </a:rPr>
              <a:t>Getters are method that access or return the value of a data field</a:t>
            </a:r>
          </a:p>
        </p:txBody>
      </p:sp>
    </p:spTree>
    <p:extLst>
      <p:ext uri="{BB962C8B-B14F-4D97-AF65-F5344CB8AC3E}">
        <p14:creationId xmlns:p14="http://schemas.microsoft.com/office/powerpoint/2010/main" val="37733637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Object-Oriented Programming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696199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Times New Roman" panose="02020603050405020304" pitchFamily="18" charset="0"/>
              </a:rPr>
              <a:t>The OO approach helps us to produce complex software that is more reliable and cost-effective.</a:t>
            </a:r>
          </a:p>
          <a:p>
            <a:r>
              <a:rPr lang="en-US" altLang="en-US" dirty="0">
                <a:cs typeface="Times New Roman" panose="02020603050405020304" pitchFamily="18" charset="0"/>
              </a:rPr>
              <a:t>OO is comprised of three principles:</a:t>
            </a:r>
          </a:p>
          <a:p>
            <a:pPr lvl="1"/>
            <a:r>
              <a:rPr lang="en-US" altLang="en-US" sz="2800" dirty="0"/>
              <a:t>Encapsulation</a:t>
            </a:r>
          </a:p>
          <a:p>
            <a:pPr lvl="1"/>
            <a:r>
              <a:rPr lang="en-US" altLang="en-US" sz="2800" dirty="0"/>
              <a:t>Inheritance</a:t>
            </a:r>
          </a:p>
          <a:p>
            <a:pPr lvl="1"/>
            <a:r>
              <a:rPr lang="en-US" altLang="en-US" sz="2800" dirty="0"/>
              <a:t>Polymorphism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dirty="0">
                <a:latin typeface="Times New Roman" charset="0"/>
              </a:rPr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3908687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Encapsulation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696199"/>
          </a:xfrm>
        </p:spPr>
        <p:txBody>
          <a:bodyPr>
            <a:normAutofit/>
          </a:bodyPr>
          <a:lstStyle/>
          <a:p>
            <a:r>
              <a:rPr lang="en-US" altLang="en-US" dirty="0">
                <a:ea typeface="MS PGothic" charset="-128"/>
              </a:rPr>
              <a:t>Packaging of data with a set of operations that can be performed on the data is called encapsulation.</a:t>
            </a:r>
          </a:p>
          <a:p>
            <a:r>
              <a:rPr lang="en-US" altLang="en-US" dirty="0">
                <a:ea typeface="MS PGothic" charset="-128"/>
              </a:rPr>
              <a:t>Encapsulation provides a convenient way to compose complex problems that corresponds to our intuitive view of how the world works.</a:t>
            </a:r>
          </a:p>
        </p:txBody>
      </p:sp>
    </p:spTree>
    <p:extLst>
      <p:ext uri="{BB962C8B-B14F-4D97-AF65-F5344CB8AC3E}">
        <p14:creationId xmlns:p14="http://schemas.microsoft.com/office/powerpoint/2010/main" val="7111432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Encapsulation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696199"/>
          </a:xfrm>
        </p:spPr>
        <p:txBody>
          <a:bodyPr>
            <a:normAutofit/>
          </a:bodyPr>
          <a:lstStyle/>
          <a:p>
            <a:r>
              <a:rPr lang="en-US" altLang="en-US" dirty="0">
                <a:ea typeface="MS PGothic" charset="-128"/>
              </a:rPr>
              <a:t>From a design standpoint, encapsulation separates the concerns of “what” vs. “how”. The implementation of an object is independent of its use.</a:t>
            </a:r>
          </a:p>
          <a:p>
            <a:r>
              <a:rPr lang="en-US" altLang="en-US" dirty="0">
                <a:ea typeface="MS PGothic" charset="-128"/>
              </a:rPr>
              <a:t>The implementation can change, but as long as the interface is preserved, the object will not break.</a:t>
            </a:r>
          </a:p>
          <a:p>
            <a:r>
              <a:rPr lang="en-US" altLang="en-US" dirty="0">
                <a:ea typeface="MS PGothic" charset="-128"/>
              </a:rPr>
              <a:t>Encapsulation allows us to isolate major design decisions, especially ones subject to change.</a:t>
            </a:r>
          </a:p>
        </p:txBody>
      </p:sp>
    </p:spTree>
    <p:extLst>
      <p:ext uri="{BB962C8B-B14F-4D97-AF65-F5344CB8AC3E}">
        <p14:creationId xmlns:p14="http://schemas.microsoft.com/office/powerpoint/2010/main" val="27223764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Encapsulation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696199"/>
          </a:xfrm>
        </p:spPr>
        <p:txBody>
          <a:bodyPr>
            <a:normAutofit/>
          </a:bodyPr>
          <a:lstStyle/>
          <a:p>
            <a:r>
              <a:rPr lang="en-US" altLang="en-US" dirty="0">
                <a:ea typeface="MS PGothic" charset="-128"/>
              </a:rPr>
              <a:t>Another advantage is that it promotes code reuse. It allows us to package up general components that can be used from one program to the next.</a:t>
            </a:r>
          </a:p>
          <a:p>
            <a:r>
              <a:rPr lang="en-US" altLang="en-US" dirty="0">
                <a:ea typeface="MS PGothic" charset="-128"/>
              </a:rPr>
              <a:t>Encapsulation alone makes a system object-based. To be object-oriented, we must also have the properties of polymorphism and inheritance.</a:t>
            </a:r>
          </a:p>
        </p:txBody>
      </p:sp>
    </p:spTree>
    <p:extLst>
      <p:ext uri="{BB962C8B-B14F-4D97-AF65-F5344CB8AC3E}">
        <p14:creationId xmlns:p14="http://schemas.microsoft.com/office/powerpoint/2010/main" val="28717270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Inheritance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84458"/>
          </a:xfrm>
        </p:spPr>
        <p:txBody>
          <a:bodyPr>
            <a:noAutofit/>
          </a:bodyPr>
          <a:lstStyle/>
          <a:p>
            <a:r>
              <a:rPr lang="en-US" altLang="en-US" dirty="0">
                <a:ea typeface="MS PGothic" charset="-128"/>
              </a:rPr>
              <a:t>The idea behind inheritance is that a new class can be defined to borrow behavior from another class.</a:t>
            </a:r>
          </a:p>
          <a:p>
            <a:r>
              <a:rPr lang="en-US" altLang="en-US" dirty="0">
                <a:ea typeface="MS PGothic" charset="-128"/>
              </a:rPr>
              <a:t>The new class (the one doing the borrowing) is called a subclass, and the other (the one being borrowed from) is called a superclass.</a:t>
            </a:r>
          </a:p>
        </p:txBody>
      </p:sp>
    </p:spTree>
    <p:extLst>
      <p:ext uri="{BB962C8B-B14F-4D97-AF65-F5344CB8AC3E}">
        <p14:creationId xmlns:p14="http://schemas.microsoft.com/office/powerpoint/2010/main" val="1937634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Inheritance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84458"/>
          </a:xfrm>
        </p:spPr>
        <p:txBody>
          <a:bodyPr>
            <a:noAutofit/>
          </a:bodyPr>
          <a:lstStyle/>
          <a:p>
            <a:r>
              <a:rPr lang="en-US" altLang="en-US" dirty="0">
                <a:ea typeface="MS PGothic" charset="-128"/>
              </a:rPr>
              <a:t>Example: Say we’re building an employee management system.</a:t>
            </a:r>
          </a:p>
          <a:p>
            <a:r>
              <a:rPr lang="en-US" altLang="en-US" dirty="0">
                <a:ea typeface="MS PGothic" charset="-128"/>
              </a:rPr>
              <a:t>We might have a class called Employee that contains general information common to all employees. There might be a method called </a:t>
            </a:r>
            <a:r>
              <a:rPr lang="en-US" altLang="en-US" dirty="0" err="1">
                <a:ea typeface="MS PGothic" charset="-128"/>
              </a:rPr>
              <a:t>homeAddress</a:t>
            </a:r>
            <a:r>
              <a:rPr lang="en-US" altLang="en-US" dirty="0">
                <a:ea typeface="MS PGothic" charset="-128"/>
              </a:rPr>
              <a:t> that returns an employee’s home address.</a:t>
            </a:r>
          </a:p>
          <a:p>
            <a:r>
              <a:rPr lang="en-US" altLang="en-US" dirty="0">
                <a:ea typeface="MS PGothic" charset="-128"/>
              </a:rPr>
              <a:t>Within the class of employees, we might distinguish between salaried and hourly employees with </a:t>
            </a:r>
            <a:r>
              <a:rPr lang="en-US" altLang="en-US" dirty="0" err="1">
                <a:ea typeface="MS PGothic" charset="-128"/>
              </a:rPr>
              <a:t>SalariedEmployee</a:t>
            </a:r>
            <a:r>
              <a:rPr lang="en-US" altLang="en-US" dirty="0">
                <a:ea typeface="MS PGothic" charset="-128"/>
              </a:rPr>
              <a:t> and </a:t>
            </a:r>
            <a:r>
              <a:rPr lang="en-US" altLang="en-US" dirty="0" err="1">
                <a:ea typeface="MS PGothic" charset="-128"/>
              </a:rPr>
              <a:t>HourlyEmployee</a:t>
            </a:r>
            <a:r>
              <a:rPr lang="en-US" altLang="en-US" dirty="0">
                <a:ea typeface="MS PGothic" charset="-128"/>
              </a:rPr>
              <a:t>, respectively.</a:t>
            </a:r>
          </a:p>
          <a:p>
            <a:r>
              <a:rPr lang="en-US" altLang="en-US" dirty="0">
                <a:ea typeface="MS PGothic" charset="-128"/>
              </a:rPr>
              <a:t>Each of these two classes would be a subclass of Employee, and would share the </a:t>
            </a:r>
            <a:r>
              <a:rPr lang="en-US" altLang="en-US" dirty="0" err="1">
                <a:ea typeface="MS PGothic" charset="-128"/>
              </a:rPr>
              <a:t>homeAddress</a:t>
            </a:r>
            <a:r>
              <a:rPr lang="en-US" altLang="en-US" dirty="0">
                <a:ea typeface="MS PGothic" charset="-128"/>
              </a:rPr>
              <a:t> method.</a:t>
            </a:r>
          </a:p>
          <a:p>
            <a:r>
              <a:rPr lang="en-US" altLang="en-US" dirty="0">
                <a:ea typeface="MS PGothic" charset="-128"/>
              </a:rPr>
              <a:t>Each subclass could have its own </a:t>
            </a:r>
            <a:r>
              <a:rPr lang="en-US" altLang="en-US" dirty="0" err="1">
                <a:ea typeface="MS PGothic" charset="-128"/>
              </a:rPr>
              <a:t>monthlyPay</a:t>
            </a:r>
            <a:r>
              <a:rPr lang="en-US" altLang="en-US" dirty="0">
                <a:ea typeface="MS PGothic" charset="-128"/>
              </a:rPr>
              <a:t> function, since pay is computed differently for each class of employee.</a:t>
            </a:r>
          </a:p>
        </p:txBody>
      </p:sp>
    </p:spTree>
    <p:extLst>
      <p:ext uri="{BB962C8B-B14F-4D97-AF65-F5344CB8AC3E}">
        <p14:creationId xmlns:p14="http://schemas.microsoft.com/office/powerpoint/2010/main" val="11132124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Inheritance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84458"/>
          </a:xfrm>
        </p:spPr>
        <p:txBody>
          <a:bodyPr>
            <a:noAutofit/>
          </a:bodyPr>
          <a:lstStyle/>
          <a:p>
            <a:r>
              <a:rPr lang="en-US" altLang="en-US" dirty="0">
                <a:ea typeface="MS PGothic" charset="-128"/>
              </a:rPr>
              <a:t>Inheritance has two benefits:</a:t>
            </a:r>
          </a:p>
          <a:p>
            <a:pPr lvl="1"/>
            <a:r>
              <a:rPr lang="en-US" altLang="en-US" sz="2800" dirty="0">
                <a:ea typeface="MS PGothic" charset="-128"/>
              </a:rPr>
              <a:t>We can structure the classes of a system to avoid duplication of operations, e.g. there is one </a:t>
            </a:r>
            <a:r>
              <a:rPr lang="en-US" altLang="en-US" sz="2800" dirty="0" err="1">
                <a:ea typeface="MS PGothic" charset="-128"/>
              </a:rPr>
              <a:t>homeAddress</a:t>
            </a:r>
            <a:r>
              <a:rPr lang="en-US" altLang="en-US" sz="2800" dirty="0">
                <a:ea typeface="MS PGothic" charset="-128"/>
              </a:rPr>
              <a:t> method for </a:t>
            </a:r>
            <a:r>
              <a:rPr lang="en-US" altLang="en-US" sz="2800" dirty="0" err="1">
                <a:ea typeface="MS PGothic" charset="-128"/>
              </a:rPr>
              <a:t>HourlyEmployee</a:t>
            </a:r>
            <a:r>
              <a:rPr lang="en-US" altLang="en-US" sz="2800" dirty="0">
                <a:ea typeface="MS PGothic" charset="-128"/>
              </a:rPr>
              <a:t> and </a:t>
            </a:r>
            <a:r>
              <a:rPr lang="en-US" altLang="en-US" sz="2800" dirty="0" err="1">
                <a:ea typeface="MS PGothic" charset="-128"/>
              </a:rPr>
              <a:t>SalariedEmployee</a:t>
            </a:r>
            <a:r>
              <a:rPr lang="en-US" altLang="en-US" sz="2800" dirty="0">
                <a:ea typeface="MS PGothic" charset="-128"/>
              </a:rPr>
              <a:t>.</a:t>
            </a:r>
          </a:p>
          <a:p>
            <a:pPr lvl="1"/>
            <a:r>
              <a:rPr lang="en-US" altLang="en-US" sz="2800" dirty="0">
                <a:ea typeface="MS PGothic" charset="-128"/>
              </a:rPr>
              <a:t>New classes can be based on existing classes, promoting code reuse.</a:t>
            </a:r>
          </a:p>
        </p:txBody>
      </p:sp>
    </p:spTree>
    <p:extLst>
      <p:ext uri="{BB962C8B-B14F-4D97-AF65-F5344CB8AC3E}">
        <p14:creationId xmlns:p14="http://schemas.microsoft.com/office/powerpoint/2010/main" val="4366558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Polymorphism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84458"/>
          </a:xfrm>
        </p:spPr>
        <p:txBody>
          <a:bodyPr>
            <a:noAutofit/>
          </a:bodyPr>
          <a:lstStyle/>
          <a:p>
            <a:r>
              <a:rPr lang="en-US" altLang="en-US" dirty="0">
                <a:ea typeface="MS PGothic" charset="-128"/>
              </a:rPr>
              <a:t>Literally, polymorphism means “many forms.”</a:t>
            </a:r>
          </a:p>
          <a:p>
            <a:r>
              <a:rPr lang="en-US" altLang="en-US" dirty="0">
                <a:ea typeface="MS PGothic" charset="-128"/>
              </a:rPr>
              <a:t>Polymorphism is the characteristic of allowing an entity such as a variable, function or object to have more than one form based on the different contexts in which it is used.</a:t>
            </a:r>
          </a:p>
          <a:p>
            <a:r>
              <a:rPr lang="en-US" altLang="en-US" dirty="0">
                <a:ea typeface="MS PGothic" charset="-128"/>
              </a:rPr>
              <a:t>When used in object-oriented literature, this refers to the fact that what an object does in response to a message (a method call) depends on the type or class of the object.</a:t>
            </a:r>
          </a:p>
          <a:p>
            <a:r>
              <a:rPr lang="en-US" altLang="en-US" dirty="0">
                <a:ea typeface="MS PGothic" charset="-128"/>
              </a:rPr>
              <a:t>Polymorphism gives object-oriented systems the flexibility for each object to perform an action just the way that it should be performed for that object.</a:t>
            </a:r>
          </a:p>
          <a:p>
            <a:endParaRPr lang="en-US" altLang="en-US" dirty="0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157805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Polymorphism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84458"/>
          </a:xfrm>
        </p:spPr>
        <p:txBody>
          <a:bodyPr>
            <a:noAutofit/>
          </a:bodyPr>
          <a:lstStyle/>
          <a:p>
            <a:r>
              <a:rPr lang="en-US" altLang="en-US" dirty="0">
                <a:ea typeface="MS PGothic" charset="-128"/>
              </a:rPr>
              <a:t>Example:</a:t>
            </a:r>
          </a:p>
          <a:p>
            <a:pPr marL="457200" lvl="1" indent="0">
              <a:buNone/>
            </a:pPr>
            <a:r>
              <a:rPr lang="en-US" altLang="en-US" sz="2800" dirty="0">
                <a:latin typeface="Courier New" panose="02070309020205020404" pitchFamily="49" charset="0"/>
                <a:ea typeface="MS PGothic" charset="-128"/>
                <a:cs typeface="Courier New" panose="02070309020205020404" pitchFamily="49" charset="0"/>
              </a:rPr>
              <a:t>public class Animal {</a:t>
            </a:r>
          </a:p>
          <a:p>
            <a:pPr marL="457200" lvl="1" indent="0">
              <a:buNone/>
            </a:pPr>
            <a:r>
              <a:rPr lang="en-US" altLang="en-US" sz="2800" dirty="0">
                <a:latin typeface="Courier New" panose="02070309020205020404" pitchFamily="49" charset="0"/>
                <a:ea typeface="MS PGothic" charset="-128"/>
                <a:cs typeface="Courier New" panose="02070309020205020404" pitchFamily="49" charset="0"/>
              </a:rPr>
              <a:t>  public void sound(){ </a:t>
            </a:r>
          </a:p>
          <a:p>
            <a:pPr marL="457200" lvl="1" indent="0">
              <a:buNone/>
            </a:pPr>
            <a:r>
              <a:rPr lang="en-US" altLang="en-US" sz="2800" dirty="0">
                <a:latin typeface="Courier New" panose="02070309020205020404" pitchFamily="49" charset="0"/>
                <a:ea typeface="MS PGothic" charset="-128"/>
                <a:cs typeface="Courier New" panose="02070309020205020404" pitchFamily="49" charset="0"/>
              </a:rPr>
              <a:t>		</a:t>
            </a:r>
            <a:r>
              <a:rPr lang="en-US" altLang="en-US" sz="2800" dirty="0" err="1">
                <a:latin typeface="Courier New" panose="02070309020205020404" pitchFamily="49" charset="0"/>
                <a:ea typeface="MS PGothic" charset="-128"/>
                <a:cs typeface="Courier New" panose="02070309020205020404" pitchFamily="49" charset="0"/>
              </a:rPr>
              <a:t>System.out.println</a:t>
            </a:r>
            <a:r>
              <a:rPr lang="en-US" altLang="en-US" sz="2800" dirty="0">
                <a:latin typeface="Courier New" panose="02070309020205020404" pitchFamily="49" charset="0"/>
                <a:ea typeface="MS PGothic" charset="-128"/>
                <a:cs typeface="Courier New" panose="02070309020205020404" pitchFamily="49" charset="0"/>
              </a:rPr>
              <a:t>(“Sound”);}}</a:t>
            </a:r>
          </a:p>
          <a:p>
            <a:pPr marL="457200" lvl="1" indent="0">
              <a:buNone/>
            </a:pPr>
            <a:r>
              <a:rPr lang="en-US" altLang="en-US" sz="2800" dirty="0">
                <a:latin typeface="Courier New" panose="02070309020205020404" pitchFamily="49" charset="0"/>
                <a:ea typeface="MS PGothic" charset="-128"/>
                <a:cs typeface="Courier New" panose="02070309020205020404" pitchFamily="49" charset="0"/>
              </a:rPr>
              <a:t>Class Cat extends Animal {</a:t>
            </a:r>
          </a:p>
          <a:p>
            <a:pPr marL="457200" lvl="1" indent="0">
              <a:buNone/>
            </a:pPr>
            <a:r>
              <a:rPr lang="en-US" altLang="en-US" sz="2800" dirty="0">
                <a:latin typeface="Courier New" panose="02070309020205020404" pitchFamily="49" charset="0"/>
                <a:ea typeface="MS PGothic" charset="-128"/>
                <a:cs typeface="Courier New" panose="02070309020205020404" pitchFamily="49" charset="0"/>
              </a:rPr>
              <a:t>  @override</a:t>
            </a:r>
          </a:p>
          <a:p>
            <a:pPr marL="457200" lvl="1" indent="0">
              <a:buNone/>
            </a:pPr>
            <a:r>
              <a:rPr lang="en-US" altLang="en-US" sz="2800" dirty="0">
                <a:latin typeface="Courier New" panose="02070309020205020404" pitchFamily="49" charset="0"/>
                <a:ea typeface="MS PGothic" charset="-128"/>
                <a:cs typeface="Courier New" panose="02070309020205020404" pitchFamily="49" charset="0"/>
              </a:rPr>
              <a:t>  public void sound() { </a:t>
            </a:r>
          </a:p>
          <a:p>
            <a:pPr marL="457200" lvl="1" indent="0">
              <a:buNone/>
            </a:pPr>
            <a:r>
              <a:rPr lang="en-US" altLang="en-US" sz="2800" dirty="0">
                <a:latin typeface="Courier New" panose="02070309020205020404" pitchFamily="49" charset="0"/>
                <a:ea typeface="MS PGothic" charset="-128"/>
                <a:cs typeface="Courier New" panose="02070309020205020404" pitchFamily="49" charset="0"/>
              </a:rPr>
              <a:t>		</a:t>
            </a:r>
            <a:r>
              <a:rPr lang="en-US" altLang="en-US" sz="2800" dirty="0" err="1">
                <a:latin typeface="Courier New" panose="02070309020205020404" pitchFamily="49" charset="0"/>
                <a:ea typeface="MS PGothic" charset="-128"/>
                <a:cs typeface="Courier New" panose="02070309020205020404" pitchFamily="49" charset="0"/>
              </a:rPr>
              <a:t>System.out.println</a:t>
            </a:r>
            <a:r>
              <a:rPr lang="en-US" altLang="en-US" sz="2800" dirty="0">
                <a:latin typeface="Courier New" panose="02070309020205020404" pitchFamily="49" charset="0"/>
                <a:ea typeface="MS PGothic" charset="-128"/>
                <a:cs typeface="Courier New" panose="02070309020205020404" pitchFamily="49" charset="0"/>
              </a:rPr>
              <a:t>(“Meow”);}}</a:t>
            </a:r>
          </a:p>
          <a:p>
            <a:pPr marL="457200" lvl="1" indent="0">
              <a:buNone/>
            </a:pPr>
            <a:r>
              <a:rPr lang="en-US" altLang="en-US" sz="2800" dirty="0">
                <a:latin typeface="Courier New" panose="02070309020205020404" pitchFamily="49" charset="0"/>
                <a:ea typeface="MS PGothic" charset="-128"/>
                <a:cs typeface="Courier New" panose="02070309020205020404" pitchFamily="49" charset="0"/>
              </a:rPr>
              <a:t>public static void main (String </a:t>
            </a:r>
            <a:r>
              <a:rPr lang="en-US" altLang="en-US" sz="2800" dirty="0" err="1">
                <a:latin typeface="Courier New" panose="02070309020205020404" pitchFamily="49" charset="0"/>
                <a:ea typeface="MS PGothic" charset="-128"/>
                <a:cs typeface="Courier New" panose="02070309020205020404" pitchFamily="49" charset="0"/>
              </a:rPr>
              <a:t>args</a:t>
            </a:r>
            <a:r>
              <a:rPr lang="en-US" altLang="en-US" sz="2800" dirty="0">
                <a:latin typeface="Courier New" panose="02070309020205020404" pitchFamily="49" charset="0"/>
                <a:ea typeface="MS PGothic" charset="-128"/>
                <a:cs typeface="Courier New" panose="02070309020205020404" pitchFamily="49" charset="0"/>
              </a:rPr>
              <a:t>[]){</a:t>
            </a:r>
          </a:p>
          <a:p>
            <a:pPr marL="457200" lvl="1" indent="0">
              <a:buNone/>
            </a:pPr>
            <a:r>
              <a:rPr lang="en-US" altLang="en-US" sz="2800" dirty="0">
                <a:latin typeface="Courier New" panose="02070309020205020404" pitchFamily="49" charset="0"/>
                <a:ea typeface="MS PGothic" charset="-128"/>
                <a:cs typeface="Courier New" panose="02070309020205020404" pitchFamily="49" charset="0"/>
              </a:rPr>
              <a:t>	Animal </a:t>
            </a:r>
            <a:r>
              <a:rPr lang="en-US" altLang="en-US" sz="2800" dirty="0" err="1">
                <a:latin typeface="Courier New" panose="02070309020205020404" pitchFamily="49" charset="0"/>
                <a:ea typeface="MS PGothic" charset="-128"/>
                <a:cs typeface="Courier New" panose="02070309020205020404" pitchFamily="49" charset="0"/>
              </a:rPr>
              <a:t>obj</a:t>
            </a:r>
            <a:r>
              <a:rPr lang="en-US" altLang="en-US" sz="2800" dirty="0">
                <a:latin typeface="Courier New" panose="02070309020205020404" pitchFamily="49" charset="0"/>
                <a:ea typeface="MS PGothic" charset="-128"/>
                <a:cs typeface="Courier New" panose="02070309020205020404" pitchFamily="49" charset="0"/>
              </a:rPr>
              <a:t> = new Cat();</a:t>
            </a:r>
          </a:p>
          <a:p>
            <a:pPr marL="457200" lvl="1" indent="0">
              <a:buNone/>
            </a:pPr>
            <a:r>
              <a:rPr lang="en-US" altLang="en-US" sz="2800" dirty="0">
                <a:latin typeface="Courier New" panose="02070309020205020404" pitchFamily="49" charset="0"/>
                <a:ea typeface="MS PGothic" charset="-128"/>
                <a:cs typeface="Courier New" panose="02070309020205020404" pitchFamily="49" charset="0"/>
              </a:rPr>
              <a:t>	</a:t>
            </a:r>
            <a:r>
              <a:rPr lang="en-US" altLang="en-US" sz="2800" dirty="0" err="1">
                <a:latin typeface="Courier New" panose="02070309020205020404" pitchFamily="49" charset="0"/>
                <a:ea typeface="MS PGothic" charset="-128"/>
                <a:cs typeface="Courier New" panose="02070309020205020404" pitchFamily="49" charset="0"/>
              </a:rPr>
              <a:t>obj.sound</a:t>
            </a:r>
            <a:r>
              <a:rPr lang="en-US" altLang="en-US" sz="2800" dirty="0">
                <a:latin typeface="Courier New" panose="02070309020205020404" pitchFamily="49" charset="0"/>
                <a:ea typeface="MS PGothic" charset="-128"/>
                <a:cs typeface="Courier New" panose="02070309020205020404" pitchFamily="49" charset="0"/>
              </a:rPr>
              <a:t>(); }}  // prints Meow</a:t>
            </a:r>
          </a:p>
          <a:p>
            <a:pPr marL="457200" lvl="1" indent="0">
              <a:buNone/>
            </a:pPr>
            <a:endParaRPr lang="en-US" altLang="en-US" sz="2800" dirty="0">
              <a:latin typeface="Courier New" panose="02070309020205020404" pitchFamily="49" charset="0"/>
              <a:ea typeface="MS PGothic" charset="-128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22267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48216</TotalTime>
  <Words>1263</Words>
  <Application>Microsoft Macintosh PowerPoint</Application>
  <PresentationFormat>Widescreen</PresentationFormat>
  <Paragraphs>119</Paragraphs>
  <Slides>22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MS PGothic</vt:lpstr>
      <vt:lpstr>Arial</vt:lpstr>
      <vt:lpstr>Calibri</vt:lpstr>
      <vt:lpstr>Calibri Light</vt:lpstr>
      <vt:lpstr>Courier New</vt:lpstr>
      <vt:lpstr>Times New Roman</vt:lpstr>
      <vt:lpstr>Office Theme</vt:lpstr>
      <vt:lpstr>CMSC 304</vt:lpstr>
      <vt:lpstr>Object-Oriented Programming History</vt:lpstr>
      <vt:lpstr>Object-Oriented Programming</vt:lpstr>
      <vt:lpstr>Software Reuse</vt:lpstr>
      <vt:lpstr>Software Reuse</vt:lpstr>
      <vt:lpstr>Software Reuse</vt:lpstr>
      <vt:lpstr>Software Reuse</vt:lpstr>
      <vt:lpstr>Software Reuse</vt:lpstr>
      <vt:lpstr>Software Reuse</vt:lpstr>
      <vt:lpstr>Software Independence</vt:lpstr>
      <vt:lpstr>Software Independence</vt:lpstr>
      <vt:lpstr>Classes &amp; Objects</vt:lpstr>
      <vt:lpstr>Classes &amp; Objects</vt:lpstr>
      <vt:lpstr>Object-Oriented Programming Concepts</vt:lpstr>
      <vt:lpstr>Encapsulation</vt:lpstr>
      <vt:lpstr>Encapsulation</vt:lpstr>
      <vt:lpstr>Encapsulation</vt:lpstr>
      <vt:lpstr>Inheritance</vt:lpstr>
      <vt:lpstr>Inheritance</vt:lpstr>
      <vt:lpstr>Inheritance</vt:lpstr>
      <vt:lpstr>Polymorphism</vt:lpstr>
      <vt:lpstr>Polymorphism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CMSC 403</dc:title>
  <dc:creator>Microsoft Office User</dc:creator>
  <cp:lastModifiedBy>Microsoft Office User</cp:lastModifiedBy>
  <cp:revision>220</cp:revision>
  <cp:lastPrinted>2017-09-07T16:13:53Z</cp:lastPrinted>
  <dcterms:created xsi:type="dcterms:W3CDTF">2017-05-31T17:26:26Z</dcterms:created>
  <dcterms:modified xsi:type="dcterms:W3CDTF">2024-08-19T23:30:44Z</dcterms:modified>
</cp:coreProperties>
</file>