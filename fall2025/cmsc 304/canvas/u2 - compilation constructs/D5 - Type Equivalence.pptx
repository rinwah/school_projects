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30"/>
  </p:notesMasterIdLst>
  <p:sldIdLst>
    <p:sldId id="257" r:id="rId2"/>
    <p:sldId id="648" r:id="rId3"/>
    <p:sldId id="649" r:id="rId4"/>
    <p:sldId id="650" r:id="rId5"/>
    <p:sldId id="651" r:id="rId6"/>
    <p:sldId id="652" r:id="rId7"/>
    <p:sldId id="653" r:id="rId8"/>
    <p:sldId id="654" r:id="rId9"/>
    <p:sldId id="655" r:id="rId10"/>
    <p:sldId id="656" r:id="rId11"/>
    <p:sldId id="657" r:id="rId12"/>
    <p:sldId id="658" r:id="rId13"/>
    <p:sldId id="661" r:id="rId14"/>
    <p:sldId id="662" r:id="rId15"/>
    <p:sldId id="267" r:id="rId16"/>
    <p:sldId id="663" r:id="rId17"/>
    <p:sldId id="664" r:id="rId18"/>
    <p:sldId id="665" r:id="rId19"/>
    <p:sldId id="666" r:id="rId20"/>
    <p:sldId id="667" r:id="rId21"/>
    <p:sldId id="672" r:id="rId22"/>
    <p:sldId id="671" r:id="rId23"/>
    <p:sldId id="670" r:id="rId24"/>
    <p:sldId id="669" r:id="rId25"/>
    <p:sldId id="668" r:id="rId26"/>
    <p:sldId id="270" r:id="rId27"/>
    <p:sldId id="271" r:id="rId28"/>
    <p:sldId id="2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7"/>
    <p:restoredTop sz="72703"/>
  </p:normalViewPr>
  <p:slideViewPr>
    <p:cSldViewPr snapToGrid="0" snapToObjects="1">
      <p:cViewPr varScale="1">
        <p:scale>
          <a:sx n="93" d="100"/>
          <a:sy n="93" d="100"/>
        </p:scale>
        <p:origin x="17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93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63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again, why does this matter? Well imagine source code analysis looking for the behavior of malicious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15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24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</a:t>
            </a:r>
            <a:r>
              <a:rPr lang="en-US" baseline="0" dirty="0"/>
              <a:t> scoping output has to do with the output types of the print statements</a:t>
            </a:r>
          </a:p>
          <a:p>
            <a:r>
              <a:rPr lang="en-US" baseline="0" dirty="0"/>
              <a:t>Why is it problematic? *Next slide*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0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</a:t>
            </a:r>
            <a:r>
              <a:rPr lang="en-US" baseline="0" dirty="0"/>
              <a:t> Perl supports both dynamic and static scoping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5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5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9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Type Equivalence</a:t>
            </a:r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146459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Type equivalence</a:t>
            </a:r>
            <a:r>
              <a:rPr lang="en-US" altLang="en-US" dirty="0"/>
              <a:t>: when are two types the same?</a:t>
            </a:r>
          </a:p>
          <a:p>
            <a:r>
              <a:rPr lang="en-US" altLang="en-US" dirty="0"/>
              <a:t>One way: Can compare the sets of values as sets</a:t>
            </a:r>
          </a:p>
          <a:p>
            <a:pPr lvl="1"/>
            <a:r>
              <a:rPr lang="en-US" altLang="en-US" sz="2800" dirty="0"/>
              <a:t>They are the same if they contain the same values</a:t>
            </a:r>
          </a:p>
          <a:p>
            <a:r>
              <a:rPr lang="en-US" altLang="en-US" b="1" dirty="0"/>
              <a:t>Structural equivalence</a:t>
            </a:r>
            <a:r>
              <a:rPr lang="en-US" altLang="en-US" dirty="0"/>
              <a:t>: two data types are the same if they have the same structure</a:t>
            </a:r>
          </a:p>
          <a:p>
            <a:pPr lvl="1"/>
            <a:r>
              <a:rPr lang="en-US" altLang="en-US" sz="2800" dirty="0"/>
              <a:t>Built in the same way using the same type constructors from the same composite types</a:t>
            </a:r>
          </a:p>
          <a:p>
            <a:pPr lvl="1"/>
            <a:r>
              <a:rPr lang="en-US" altLang="en-US" sz="2800" dirty="0"/>
              <a:t>This is one of the principal forms of type equivalence in programming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8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Structural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2315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Example: </a:t>
            </a:r>
          </a:p>
          <a:p>
            <a:pPr lvl="1"/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Rec1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Rec2</a:t>
            </a:r>
            <a:r>
              <a:rPr lang="en-US" altLang="en-US" sz="2800" dirty="0"/>
              <a:t> are structurally equivalent </a:t>
            </a:r>
          </a:p>
          <a:p>
            <a:pPr lvl="1"/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Rec1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Rec3</a:t>
            </a:r>
            <a:r>
              <a:rPr lang="en-US" altLang="en-US" sz="2800" dirty="0"/>
              <a:t> are not structurally equivalent (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sz="2800" dirty="0"/>
              <a:t> and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800" dirty="0"/>
              <a:t> fields are reversed)</a:t>
            </a:r>
          </a:p>
          <a:p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965" y="1104405"/>
            <a:ext cx="2749334" cy="2176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253" y="2999879"/>
            <a:ext cx="2710392" cy="3791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130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Structural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Structural equivalence is relatively easy to implement</a:t>
            </a:r>
            <a:endParaRPr lang="en-US" altLang="en-US" strike="sngStrike" dirty="0"/>
          </a:p>
          <a:p>
            <a:pPr lvl="1"/>
            <a:r>
              <a:rPr lang="en-US" altLang="en-US" sz="2800" dirty="0"/>
              <a:t>Provides all the information needed to perform error checking and storage allocation</a:t>
            </a:r>
          </a:p>
          <a:p>
            <a:r>
              <a:rPr lang="en-US" altLang="en-US" dirty="0"/>
              <a:t>To check structural equivalence, a translator may represent types as trees and check equivalence recursively on subtrees</a:t>
            </a:r>
          </a:p>
          <a:p>
            <a:r>
              <a:rPr lang="en-US" altLang="en-US" dirty="0"/>
              <a:t>Questions still arise over how much information is included in a type under the application of a type constructor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0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Structural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Example: are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altLang="en-US" dirty="0"/>
              <a:t> and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altLang="en-US" dirty="0"/>
              <a:t> structurally equivalent?</a:t>
            </a:r>
          </a:p>
          <a:p>
            <a:endParaRPr lang="en-US" altLang="en-US" dirty="0"/>
          </a:p>
          <a:p>
            <a:endParaRPr lang="en-US" altLang="en-US" dirty="0"/>
          </a:p>
          <a:p>
            <a:pPr lvl="1"/>
            <a:r>
              <a:rPr lang="en-US" altLang="en-US" sz="2800" dirty="0"/>
              <a:t>Yes, if size of the index set is not part of an array type</a:t>
            </a:r>
          </a:p>
          <a:p>
            <a:pPr lvl="1"/>
            <a:r>
              <a:rPr lang="en-US" altLang="en-US" sz="2800" dirty="0"/>
              <a:t>Otherwise, no</a:t>
            </a:r>
          </a:p>
          <a:p>
            <a:r>
              <a:rPr lang="en-US" altLang="en-US" dirty="0"/>
              <a:t>Similar question arises regarding member names of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977" y="2286000"/>
            <a:ext cx="4052048" cy="8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715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Structural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pPr>
              <a:spcBef>
                <a:spcPct val="20000"/>
              </a:spcBef>
            </a:pPr>
            <a:r>
              <a:rPr lang="en-US" altLang="en-US" dirty="0">
                <a:solidFill>
                  <a:srgbClr val="222222"/>
                </a:solidFill>
              </a:rPr>
              <a:t>Example: Are these two structures structurally equivalent?</a:t>
            </a:r>
          </a:p>
          <a:p>
            <a:pPr>
              <a:spcBef>
                <a:spcPct val="20000"/>
              </a:spcBef>
            </a:pPr>
            <a:endParaRPr lang="en-US" altLang="en-US" dirty="0">
              <a:solidFill>
                <a:srgbClr val="222222"/>
              </a:solidFill>
            </a:endParaRPr>
          </a:p>
          <a:p>
            <a:pPr>
              <a:spcBef>
                <a:spcPct val="20000"/>
              </a:spcBef>
            </a:pPr>
            <a:endParaRPr lang="en-US" altLang="en-US" dirty="0">
              <a:solidFill>
                <a:srgbClr val="222222"/>
              </a:solidFill>
            </a:endParaRPr>
          </a:p>
          <a:p>
            <a:pPr marL="0" indent="0">
              <a:spcBef>
                <a:spcPct val="20000"/>
              </a:spcBef>
              <a:buNone/>
            </a:pPr>
            <a:br>
              <a:rPr lang="en-US" altLang="en-US" dirty="0">
                <a:solidFill>
                  <a:srgbClr val="222222"/>
                </a:solidFill>
              </a:rPr>
            </a:br>
            <a:endParaRPr lang="en-US" altLang="en-US" dirty="0">
              <a:solidFill>
                <a:srgbClr val="222222"/>
              </a:solidFill>
            </a:endParaRPr>
          </a:p>
          <a:p>
            <a:pPr lvl="1">
              <a:spcBef>
                <a:spcPct val="20000"/>
              </a:spcBef>
            </a:pPr>
            <a:r>
              <a:rPr lang="en-US" altLang="en-US" sz="2800" dirty="0">
                <a:solidFill>
                  <a:srgbClr val="222222"/>
                </a:solidFill>
              </a:rPr>
              <a:t>If structures are considered to be just Cartesian products, then yes</a:t>
            </a:r>
          </a:p>
          <a:p>
            <a:pPr lvl="1">
              <a:spcBef>
                <a:spcPct val="20000"/>
              </a:spcBef>
            </a:pPr>
            <a:r>
              <a:rPr lang="en-US" altLang="en-US" sz="2800" dirty="0">
                <a:solidFill>
                  <a:srgbClr val="222222"/>
                </a:solidFill>
              </a:rPr>
              <a:t>However, they are typically not considered equivalent, because variables of different structures would have to use different names to access member data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2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7" y="2460377"/>
            <a:ext cx="223361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787" y="2398465"/>
            <a:ext cx="2133600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929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Structural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Type names </a:t>
            </a:r>
            <a:r>
              <a:rPr lang="en-US" altLang="en-US" dirty="0"/>
              <a:t>in declarations may or may not be given explicitly</a:t>
            </a:r>
          </a:p>
          <a:p>
            <a:pPr lvl="1"/>
            <a:r>
              <a:rPr lang="en-US" altLang="en-US" sz="2800" dirty="0"/>
              <a:t>In C, variable declarations can use </a:t>
            </a:r>
            <a:r>
              <a:rPr lang="en-US" altLang="en-US" sz="2800" b="1" dirty="0"/>
              <a:t>anonymous types</a:t>
            </a:r>
          </a:p>
          <a:p>
            <a:pPr lvl="1"/>
            <a:r>
              <a:rPr lang="en-US" altLang="en-US" sz="2800" dirty="0"/>
              <a:t>Names can also be given right in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structs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unions</a:t>
            </a:r>
            <a:r>
              <a:rPr lang="en-US" altLang="en-US" sz="2800" dirty="0"/>
              <a:t>, or by using a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/>
              <a:t>Structural equivalence when type names are present can be done by simply replacing each name by its associated type expression in its declaration</a:t>
            </a:r>
            <a:endParaRPr lang="en-US" altLang="en-US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40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Structural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2315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Example: in C code</a:t>
            </a:r>
          </a:p>
          <a:p>
            <a:pPr lvl="1"/>
            <a:r>
              <a:rPr lang="en-US" altLang="en-US" sz="2800" dirty="0"/>
              <a:t>Variable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800" dirty="0"/>
              <a:t> has two type names: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2800" dirty="0"/>
              <a:t>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RecA</a:t>
            </a:r>
            <a:r>
              <a:rPr lang="en-US" altLang="en-US" sz="2800" dirty="0"/>
              <a:t> and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RecA</a:t>
            </a:r>
            <a:r>
              <a:rPr lang="en-US" altLang="en-US" sz="2800" dirty="0"/>
              <a:t> (given by the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2800" dirty="0"/>
              <a:t>)</a:t>
            </a:r>
          </a:p>
          <a:p>
            <a:pPr lvl="1"/>
            <a:r>
              <a:rPr lang="en-US" altLang="en-US" sz="2800" dirty="0"/>
              <a:t>Variable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800" dirty="0"/>
              <a:t> has only the name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RecB</a:t>
            </a:r>
            <a:r>
              <a:rPr lang="en-US" altLang="en-US" sz="2800" dirty="0"/>
              <a:t> (the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2800" dirty="0"/>
              <a:t> name was left blank)</a:t>
            </a:r>
          </a:p>
          <a:p>
            <a:pPr lvl="1"/>
            <a:r>
              <a:rPr lang="en-US" altLang="en-US" sz="2800" dirty="0"/>
              <a:t>Variable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800" dirty="0"/>
              <a:t> has no type name at all (only an internal name not usable by the programmer)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289" y="887503"/>
            <a:ext cx="4030015" cy="5953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6228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Name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Name equivalence</a:t>
            </a:r>
            <a:r>
              <a:rPr lang="en-US" altLang="en-US" dirty="0"/>
              <a:t>: two types are the same only if they have the same name</a:t>
            </a:r>
          </a:p>
          <a:p>
            <a:pPr lvl="1"/>
            <a:r>
              <a:rPr lang="en-US" altLang="en-US" sz="2800" dirty="0"/>
              <a:t>Easier to implement than structural equivalence, as long as every type has an explicit name</a:t>
            </a:r>
          </a:p>
          <a:p>
            <a:pPr lvl="1"/>
            <a:r>
              <a:rPr lang="en-US" altLang="en-US" sz="2800" dirty="0"/>
              <a:t>Two types are equivalent only if they are the same name</a:t>
            </a:r>
          </a:p>
          <a:p>
            <a:pPr lvl="1"/>
            <a:r>
              <a:rPr lang="en-US" altLang="en-US" sz="2800" dirty="0"/>
              <a:t>Two variables are type equivalent only if their declarations use exactly the same type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8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Name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2315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Example: in C code:</a:t>
            </a:r>
          </a:p>
          <a:p>
            <a:pPr lvl="1"/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800" dirty="0"/>
              <a:t>,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en-US" sz="2800" dirty="0"/>
              <a:t> are structurally equivalent</a:t>
            </a:r>
          </a:p>
          <a:p>
            <a:pPr lvl="1"/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800" dirty="0"/>
              <a:t> are name equivalent, and not name equivalent to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800" dirty="0"/>
              <a:t> or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  <a:p>
            <a:pPr lvl="1"/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en-US" sz="2800" dirty="0"/>
              <a:t> are not name equivalent to any other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1473737"/>
            <a:ext cx="4176750" cy="4886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7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Ada implements a very pure form of name equivalence</a:t>
            </a:r>
          </a:p>
          <a:p>
            <a:pPr lvl="1"/>
            <a:r>
              <a:rPr lang="en-US" altLang="en-US" sz="2800" dirty="0"/>
              <a:t>Requires type names in variable and function declarations in virtually all cases (array is only exception)</a:t>
            </a:r>
          </a:p>
          <a:p>
            <a:r>
              <a:rPr lang="en-US" altLang="en-US" dirty="0"/>
              <a:t>C uses a form of type equivalence that falls between name and structural equivalence:</a:t>
            </a:r>
          </a:p>
          <a:p>
            <a:pPr lvl="1"/>
            <a:r>
              <a:rPr lang="en-US" altLang="en-US" sz="2800" dirty="0"/>
              <a:t>Name equivalence for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structs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unions</a:t>
            </a:r>
          </a:p>
          <a:p>
            <a:pPr lvl="1"/>
            <a:r>
              <a:rPr lang="en-US" altLang="en-US" sz="2800" dirty="0"/>
              <a:t>Structural equivalence for everything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5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Java’s approach is simple:</a:t>
            </a:r>
          </a:p>
          <a:p>
            <a:pPr lvl="1"/>
            <a:r>
              <a:rPr lang="en-US" altLang="en-US" sz="2800" dirty="0"/>
              <a:t>It has no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typedefs</a:t>
            </a: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en-US" altLang="en-US" sz="2800" dirty="0"/>
              <a:t> declarations implicitly create new type names, and name equivalence is used for these types</a:t>
            </a:r>
          </a:p>
          <a:p>
            <a:pPr lvl="1"/>
            <a:r>
              <a:rPr lang="en-US" altLang="en-US" sz="2800" dirty="0"/>
              <a:t>Arrays use structural equivalence, with special rules for establishing base type equivalence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28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4688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One More Thing…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94FEAF-1F2A-EA46-B99A-DEAB3CC20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59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If symbol table is managed dynamically (during execution), declarations will be processed as they are encountered along an execution path</a:t>
            </a:r>
          </a:p>
          <a:p>
            <a:pPr lvl="1"/>
            <a:r>
              <a:rPr lang="en-US" altLang="en-US" sz="2800" dirty="0"/>
              <a:t>This is called </a:t>
            </a:r>
            <a:r>
              <a:rPr lang="en-US" altLang="en-US" sz="2800" b="1" dirty="0"/>
              <a:t>dynamic scoping</a:t>
            </a:r>
          </a:p>
          <a:p>
            <a:r>
              <a:rPr lang="en-US" altLang="en-US" dirty="0"/>
              <a:t>In a language with dynamic scoping, an interpreter must initialize and maintain a symbol table at run time</a:t>
            </a:r>
          </a:p>
          <a:p>
            <a:endParaRPr lang="en-US" altLang="en-US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03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9098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4" y="731210"/>
            <a:ext cx="8998529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DBDD13-6BA6-1C47-8600-72B3D3458D77}"/>
              </a:ext>
            </a:extLst>
          </p:cNvPr>
          <p:cNvSpPr txBox="1"/>
          <p:nvPr/>
        </p:nvSpPr>
        <p:spPr>
          <a:xfrm>
            <a:off x="4738750" y="731210"/>
            <a:ext cx="30752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NOTE: for dynamic scoping to work, all global identifiers must be bound to their global attributes at the start of execution</a:t>
            </a:r>
          </a:p>
        </p:txBody>
      </p:sp>
    </p:spTree>
    <p:extLst>
      <p:ext uri="{BB962C8B-B14F-4D97-AF65-F5344CB8AC3E}">
        <p14:creationId xmlns:p14="http://schemas.microsoft.com/office/powerpoint/2010/main" val="2767141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5" y="731210"/>
            <a:ext cx="8998527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330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5" y="731210"/>
            <a:ext cx="8998527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99CBC6-55E5-2C4D-A586-6659ADB8EF2F}"/>
              </a:ext>
            </a:extLst>
          </p:cNvPr>
          <p:cNvSpPr txBox="1"/>
          <p:nvPr/>
        </p:nvSpPr>
        <p:spPr>
          <a:xfrm>
            <a:off x="4397829" y="3536349"/>
            <a:ext cx="24928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NOTE: each call to q may have different symbol table on entry depending on the execution path.</a:t>
            </a:r>
          </a:p>
        </p:txBody>
      </p:sp>
    </p:spTree>
    <p:extLst>
      <p:ext uri="{BB962C8B-B14F-4D97-AF65-F5344CB8AC3E}">
        <p14:creationId xmlns:p14="http://schemas.microsoft.com/office/powerpoint/2010/main" val="1597733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5" y="731210"/>
            <a:ext cx="8998527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1435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5" y="731210"/>
            <a:ext cx="8998527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1227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5" y="731210"/>
            <a:ext cx="8998527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0442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5" y="731210"/>
            <a:ext cx="8998527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108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5" y="731210"/>
            <a:ext cx="8998527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4640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254" y="731210"/>
            <a:ext cx="8998529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399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1" t="2698" r="19278" b="6530"/>
          <a:stretch/>
        </p:blipFill>
        <p:spPr bwMode="auto">
          <a:xfrm>
            <a:off x="8409709" y="731210"/>
            <a:ext cx="3560618" cy="599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2622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289471" cy="4351338"/>
          </a:xfrm>
        </p:spPr>
        <p:txBody>
          <a:bodyPr>
            <a:noAutofit/>
          </a:bodyPr>
          <a:lstStyle/>
          <a:p>
            <a:r>
              <a:rPr lang="en-US" altLang="en-US" dirty="0"/>
              <a:t>Dynamic scoping will affect the meaning of the program and produce different output</a:t>
            </a:r>
          </a:p>
          <a:p>
            <a:r>
              <a:rPr lang="en-US" altLang="en-US" dirty="0"/>
              <a:t>Output using static scoping: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Output using dynamic scoping: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Dynamic scope can be problematic, </a:t>
            </a:r>
            <a:br>
              <a:rPr lang="en-US" altLang="en-US" dirty="0"/>
            </a:br>
            <a:r>
              <a:rPr lang="en-US" altLang="en-US" dirty="0"/>
              <a:t>which is why few languages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286" y="3231696"/>
            <a:ext cx="558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311" y="4720317"/>
            <a:ext cx="6746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687" y="4620988"/>
            <a:ext cx="1291278" cy="1257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086" y="4697188"/>
            <a:ext cx="1257297" cy="985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402" y="704733"/>
            <a:ext cx="3304159" cy="5958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535383" y="2691094"/>
            <a:ext cx="24928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The nonlocal references to y and x inside p and q can change depending on the execution path.</a:t>
            </a:r>
          </a:p>
        </p:txBody>
      </p:sp>
    </p:spTree>
    <p:extLst>
      <p:ext uri="{BB962C8B-B14F-4D97-AF65-F5344CB8AC3E}">
        <p14:creationId xmlns:p14="http://schemas.microsoft.com/office/powerpoint/2010/main" val="3253922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Problems with dynamic scoping:</a:t>
            </a:r>
          </a:p>
          <a:p>
            <a:pPr lvl="1"/>
            <a:r>
              <a:rPr lang="en-US" altLang="en-US" sz="2800" dirty="0"/>
              <a:t>The declaration of a nonlocal name cannot be determined by simply reading the program: the program must be executed to know the execution path</a:t>
            </a:r>
          </a:p>
          <a:p>
            <a:pPr lvl="1"/>
            <a:r>
              <a:rPr lang="en-US" altLang="en-US" sz="2800" dirty="0"/>
              <a:t>Since nonlocal variable references cannot be predicted prior to execution, neither can their data types</a:t>
            </a:r>
          </a:p>
          <a:p>
            <a:r>
              <a:rPr lang="en-US" altLang="en-US" dirty="0"/>
              <a:t>Dynamic scoping is a possible option for highly dynamic, interpreted languages when programs are not expected to be extremely large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24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Runtime environment is simpler with dynamic scoping in an interpreter</a:t>
            </a:r>
          </a:p>
          <a:p>
            <a:pPr lvl="1">
              <a:defRPr/>
            </a:pPr>
            <a:r>
              <a:rPr lang="en-US" sz="2800" dirty="0">
                <a:ea typeface="ＭＳ Ｐゴシック" charset="0"/>
              </a:rPr>
              <a:t>APL, </a:t>
            </a:r>
            <a:r>
              <a:rPr lang="en-US" sz="2800" dirty="0" err="1">
                <a:ea typeface="ＭＳ Ｐゴシック" charset="0"/>
              </a:rPr>
              <a:t>Snobol</a:t>
            </a:r>
            <a:r>
              <a:rPr lang="en-US" sz="2800" dirty="0">
                <a:ea typeface="ＭＳ Ｐゴシック" charset="0"/>
              </a:rPr>
              <a:t>, Perl, and early dialects of Lisp were dynamically scoped</a:t>
            </a:r>
          </a:p>
          <a:p>
            <a:pPr lvl="1">
              <a:defRPr/>
            </a:pPr>
            <a:r>
              <a:rPr lang="en-US" sz="2800" dirty="0">
                <a:ea typeface="ＭＳ Ｐゴシック" charset="0"/>
              </a:rPr>
              <a:t>Python and Common Lisp use static scoping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06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65316EAB-7D9D-F44C-9359-5EAF5ACFF67A}" vid="{A314C093-9F88-C04E-9797-11A80E266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890</TotalTime>
  <Words>837</Words>
  <Application>Microsoft Macintosh PowerPoint</Application>
  <PresentationFormat>Widescreen</PresentationFormat>
  <Paragraphs>100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ＭＳ Ｐゴシック</vt:lpstr>
      <vt:lpstr>Arial</vt:lpstr>
      <vt:lpstr>Calibri</vt:lpstr>
      <vt:lpstr>Calibri Light</vt:lpstr>
      <vt:lpstr>Courier New</vt:lpstr>
      <vt:lpstr>Office Theme</vt:lpstr>
      <vt:lpstr>CMSC 304</vt:lpstr>
      <vt:lpstr>Type Equivalence</vt:lpstr>
      <vt:lpstr>Structural Equivalence</vt:lpstr>
      <vt:lpstr>Structural Equivalence</vt:lpstr>
      <vt:lpstr>Structural Equivalence</vt:lpstr>
      <vt:lpstr>Structural Equivalence</vt:lpstr>
      <vt:lpstr>Structural Equivalence</vt:lpstr>
      <vt:lpstr>Structural Equivalence</vt:lpstr>
      <vt:lpstr>Name Equivalence</vt:lpstr>
      <vt:lpstr>Name Equivalence</vt:lpstr>
      <vt:lpstr>Type Equivalence</vt:lpstr>
      <vt:lpstr>Type Equivalence</vt:lpstr>
      <vt:lpstr>One More Thing…</vt:lpstr>
      <vt:lpstr>Dynamic Scoping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 Scoping</vt:lpstr>
      <vt:lpstr>Dynamic Scoping</vt:lpstr>
      <vt:lpstr>Dynamic Scoping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163</cp:revision>
  <dcterms:created xsi:type="dcterms:W3CDTF">2020-08-26T15:53:50Z</dcterms:created>
  <dcterms:modified xsi:type="dcterms:W3CDTF">2025-01-11T00:46:14Z</dcterms:modified>
</cp:coreProperties>
</file>