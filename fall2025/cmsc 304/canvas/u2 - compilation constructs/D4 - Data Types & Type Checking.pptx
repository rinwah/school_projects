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1"/>
  </p:sldMasterIdLst>
  <p:notesMasterIdLst>
    <p:notesMasterId r:id="rId32"/>
  </p:notesMasterIdLst>
  <p:sldIdLst>
    <p:sldId id="257" r:id="rId2"/>
    <p:sldId id="672" r:id="rId3"/>
    <p:sldId id="406" r:id="rId4"/>
    <p:sldId id="451" r:id="rId5"/>
    <p:sldId id="669" r:id="rId6"/>
    <p:sldId id="643" r:id="rId7"/>
    <p:sldId id="644" r:id="rId8"/>
    <p:sldId id="645" r:id="rId9"/>
    <p:sldId id="670" r:id="rId10"/>
    <p:sldId id="481" r:id="rId11"/>
    <p:sldId id="671" r:id="rId12"/>
    <p:sldId id="647" r:id="rId13"/>
    <p:sldId id="634" r:id="rId14"/>
    <p:sldId id="646" r:id="rId15"/>
    <p:sldId id="642" r:id="rId16"/>
    <p:sldId id="454" r:id="rId17"/>
    <p:sldId id="640" r:id="rId18"/>
    <p:sldId id="635" r:id="rId19"/>
    <p:sldId id="502" r:id="rId20"/>
    <p:sldId id="449" r:id="rId21"/>
    <p:sldId id="450" r:id="rId22"/>
    <p:sldId id="639" r:id="rId23"/>
    <p:sldId id="637" r:id="rId24"/>
    <p:sldId id="509" r:id="rId25"/>
    <p:sldId id="510" r:id="rId26"/>
    <p:sldId id="511" r:id="rId27"/>
    <p:sldId id="666" r:id="rId28"/>
    <p:sldId id="667" r:id="rId29"/>
    <p:sldId id="668" r:id="rId30"/>
    <p:sldId id="51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77"/>
    <p:restoredTop sz="72703"/>
  </p:normalViewPr>
  <p:slideViewPr>
    <p:cSldViewPr snapToGrid="0" snapToObjects="1">
      <p:cViewPr varScale="1">
        <p:scale>
          <a:sx n="93" d="100"/>
          <a:sy n="93" d="100"/>
        </p:scale>
        <p:origin x="17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3FBE-CC6D-C84E-A32C-3E7139D0BEF1}" type="datetimeFigureOut">
              <a:rPr lang="en-US" smtClean="0"/>
              <a:t>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C0DA4-3FAE-DF4B-9554-5D7B5414A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93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15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41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Taking different approaches to analyze data types from. These definitions are retrofitted.</a:t>
            </a:r>
          </a:p>
          <a:p>
            <a:r>
              <a:rPr lang="en-US" dirty="0"/>
              <a:t>These lenses come second.</a:t>
            </a:r>
          </a:p>
          <a:p>
            <a:r>
              <a:rPr lang="en-US" dirty="0"/>
              <a:t>This is exactly like the language paradigms, remember that they came after as labels designed by academics,</a:t>
            </a:r>
          </a:p>
          <a:p>
            <a:r>
              <a:rPr lang="en-US" dirty="0"/>
              <a:t>so there is overlap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31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1972… old school language (12 types of integers, 3 types of floating point)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ACC1F-EB48-DD42-B1BD-78CF89909D9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96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 Boolean and char is an integral number!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ACC1F-EB48-DD42-B1BD-78CF89909D9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80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Similar, but even small changes have large impacts!</a:t>
            </a:r>
          </a:p>
          <a:p>
            <a:r>
              <a:rPr lang="en-US" dirty="0"/>
              <a:t>Booleans no longer double dip</a:t>
            </a:r>
          </a:p>
          <a:p>
            <a:endParaRPr lang="en-US" dirty="0"/>
          </a:p>
          <a:p>
            <a:r>
              <a:rPr lang="en-US" dirty="0"/>
              <a:t>in c function can return a double dip, e.g. truthiness vs. numeric result.</a:t>
            </a:r>
          </a:p>
          <a:p>
            <a:r>
              <a:rPr lang="en-US" dirty="0"/>
              <a:t>Could be beneficial  in that you have a double return for one value</a:t>
            </a:r>
          </a:p>
          <a:p>
            <a:endParaRPr lang="en-US" dirty="0"/>
          </a:p>
          <a:p>
            <a:r>
              <a:rPr lang="en-US" dirty="0"/>
              <a:t>Assignment operator in both C and Java actually return something, but doesn't come up very much.</a:t>
            </a:r>
          </a:p>
          <a:p>
            <a:r>
              <a:rPr lang="en-US" dirty="0"/>
              <a:t>Java compile error, C it's perfectly fine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ACC1F-EB48-DD42-B1BD-78CF89909D9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26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these built in data types are objects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Contrast this with Java’s messy Primitive vs Reference type nonsense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07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Same principles for types, but can have wildly different outcomes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ACC1F-EB48-DD42-B1BD-78CF89909D9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34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take this for granted instead of like a guardrail/seatbelts. Seatbelts weren't standard in cars till 1968!!!</a:t>
            </a:r>
          </a:p>
          <a:p>
            <a:r>
              <a:rPr lang="en-US" dirty="0"/>
              <a:t>don't need to state how to interpret bits nor what context.</a:t>
            </a:r>
          </a:p>
          <a:p>
            <a:r>
              <a:rPr lang="en-US" dirty="0"/>
              <a:t>Late 50's early 60s, we didn’t have this luxury.</a:t>
            </a:r>
          </a:p>
          <a:p>
            <a:r>
              <a:rPr lang="en-US" dirty="0"/>
              <a:t>BCPL, no data types, you'd specify how to treat specific variables at time of operation.</a:t>
            </a:r>
          </a:p>
          <a:p>
            <a:r>
              <a:rPr lang="en-US" dirty="0"/>
              <a:t>Huge lack of security!</a:t>
            </a:r>
          </a:p>
          <a:p>
            <a:r>
              <a:rPr lang="en-US" dirty="0"/>
              <a:t>increases readability.</a:t>
            </a:r>
          </a:p>
          <a:p>
            <a:r>
              <a:rPr lang="en-US" dirty="0"/>
              <a:t>Implicit typing exists. Python crashes, BCPL just interprets it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17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90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90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Smalltalk, Perl, Ruby, Python, and Self and Lisp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708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018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65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426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961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968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fortran</a:t>
            </a:r>
            <a:r>
              <a:rPr lang="en-US" dirty="0"/>
              <a:t> letters </a:t>
            </a:r>
            <a:r>
              <a:rPr lang="en-US" dirty="0" err="1"/>
              <a:t>i,j,k,l</a:t>
            </a:r>
            <a:r>
              <a:rPr lang="en-US" dirty="0"/>
              <a:t>, and m are implicitly integers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ACC1F-EB48-DD42-B1BD-78CF89909D9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343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800" dirty="0">
                <a:ea typeface="MS PGothic" charset="-128"/>
              </a:rPr>
              <a:t>Orthogonal design allows language constructs to be combined in any meaningful way with no unexpected restrictions or behaviors arising as a result of the </a:t>
            </a:r>
            <a:r>
              <a:rPr lang="en-US" altLang="en-US" sz="2800" b="1" dirty="0">
                <a:ea typeface="MS PGothic" charset="-128"/>
              </a:rPr>
              <a:t>interaction of the constructs</a:t>
            </a:r>
          </a:p>
          <a:p>
            <a:pPr lvl="2"/>
            <a:endParaRPr lang="en-US" altLang="en-US" sz="2800" dirty="0">
              <a:ea typeface="MS PGothic" charset="-128"/>
            </a:endParaRPr>
          </a:p>
          <a:p>
            <a:pPr lvl="2"/>
            <a:r>
              <a:rPr lang="en-US" altLang="en-US" sz="2800" dirty="0">
                <a:ea typeface="MS PGothic" charset="-128"/>
              </a:rPr>
              <a:t>Constructs can be combined in any meaningful way, with no unexpected restrictions or behaviors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Constructs should behave the same when used in different contexts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804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Ambiguous means compile error in </a:t>
            </a:r>
            <a:r>
              <a:rPr lang="en-US"/>
              <a:t>this context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495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Casting is converting data, the interpretation of the underlying bits.</a:t>
            </a:r>
          </a:p>
          <a:p>
            <a:r>
              <a:rPr lang="en-US" dirty="0"/>
              <a:t>For structured types, could be allowable, a lot of languages don't. So you need some structural equivalence. A cast can't simply just work.</a:t>
            </a:r>
          </a:p>
          <a:p>
            <a:r>
              <a:rPr lang="en-US" dirty="0"/>
              <a:t>They are very uncommon.</a:t>
            </a:r>
          </a:p>
          <a:p>
            <a:endParaRPr lang="en-US" dirty="0"/>
          </a:p>
          <a:p>
            <a:r>
              <a:rPr lang="en-US" dirty="0"/>
              <a:t>Object oriented is different, because we're just casting "references" not the actual bits. Java will crash if the cast doesn't 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ACC1F-EB48-DD42-B1BD-78CF89909D9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460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ACC1F-EB48-DD42-B1BD-78CF89909D9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79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ACC1F-EB48-DD42-B1BD-78CF89909D9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746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 we aren't re-interpreting data, we are creating new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ACC1F-EB48-DD42-B1BD-78CF89909D9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98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3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3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8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22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9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56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9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7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2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8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0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7D23-1D1C-734C-9188-3D38F4DBA869}" type="datetimeFigureOut">
              <a:rPr lang="en-US" smtClean="0"/>
              <a:t>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4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CP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304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Types &amp; Type Checking</a:t>
            </a:r>
          </a:p>
          <a:p>
            <a:r>
              <a:rPr lang="en-US" dirty="0"/>
              <a:t>Claire Sparks</a:t>
            </a:r>
          </a:p>
        </p:txBody>
      </p:sp>
    </p:spTree>
    <p:extLst>
      <p:ext uri="{BB962C8B-B14F-4D97-AF65-F5344CB8AC3E}">
        <p14:creationId xmlns:p14="http://schemas.microsoft.com/office/powerpoint/2010/main" val="1464593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Types Introduction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x-none" dirty="0"/>
              <a:t>Every program uses data, either explicitly or implicitly, to arrive at a result</a:t>
            </a:r>
          </a:p>
          <a:p>
            <a:r>
              <a:rPr lang="en-US" altLang="x-none" dirty="0"/>
              <a:t>Data in its most primitive form is simply a collection of bits</a:t>
            </a:r>
          </a:p>
          <a:p>
            <a:r>
              <a:rPr lang="en-US" altLang="x-none" dirty="0"/>
              <a:t>Hardware can interpret bits in several different ways: </a:t>
            </a:r>
          </a:p>
          <a:p>
            <a:pPr lvl="1"/>
            <a:r>
              <a:rPr lang="en-US" altLang="x-none" dirty="0"/>
              <a:t>instructions, addresses, characters, integer and floating-point numbers</a:t>
            </a:r>
          </a:p>
          <a:p>
            <a:r>
              <a:rPr lang="en-US" altLang="x-none" dirty="0"/>
              <a:t>The bits themselves, however, are untyped: the hardware makes no attempt to keep track of which interpretations correspond to which locations in memory</a:t>
            </a:r>
          </a:p>
          <a:p>
            <a:r>
              <a:rPr lang="en-US" altLang="x-none" dirty="0"/>
              <a:t>This does not provide the kinds of abstraction necessary for large programs</a:t>
            </a:r>
          </a:p>
          <a:p>
            <a:pPr marL="0" indent="0">
              <a:buFontTx/>
              <a:buNone/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endParaRPr lang="en-US" dirty="0">
              <a:ea typeface="ＭＳ Ｐゴシック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4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Types Introduction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x-none" dirty="0"/>
              <a:t>Most programming languages include a notion of type for several reasons: </a:t>
            </a:r>
          </a:p>
          <a:p>
            <a:pPr lvl="1"/>
            <a:r>
              <a:rPr lang="en-US" altLang="x-none" dirty="0"/>
              <a:t>Types provide implicit context for many operations, so that the programmer does not have to specify that context explicitly</a:t>
            </a:r>
          </a:p>
          <a:p>
            <a:pPr lvl="2"/>
            <a:r>
              <a:rPr lang="en-US" altLang="x-none" dirty="0"/>
              <a:t>For example, In C, the expression a + b will use integer addition or floating-point addition </a:t>
            </a:r>
          </a:p>
          <a:p>
            <a:pPr lvl="1"/>
            <a:r>
              <a:rPr lang="en-US" altLang="x-none" dirty="0"/>
              <a:t>Types limit the set of operations that may be performed in a semantically valid program</a:t>
            </a:r>
          </a:p>
          <a:p>
            <a:pPr lvl="2"/>
            <a:r>
              <a:rPr lang="en-US" altLang="x-none" dirty="0"/>
              <a:t>For example, prevent the addition a character and an array</a:t>
            </a:r>
          </a:p>
          <a:p>
            <a:pPr lvl="1"/>
            <a:r>
              <a:rPr lang="en-US" altLang="x-none" dirty="0"/>
              <a:t>Explicitly specified types often make a program easier to read and understand</a:t>
            </a:r>
          </a:p>
          <a:p>
            <a:pPr lvl="1"/>
            <a:r>
              <a:rPr lang="en-US" altLang="x-none" dirty="0"/>
              <a:t>If types are known at translation time they can be used to drive important performance optimizations</a:t>
            </a:r>
            <a:endParaRPr lang="en-US" dirty="0">
              <a:ea typeface="ＭＳ Ｐゴシック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737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 Nomenclature in Sample Languages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x-none" dirty="0"/>
              <a:t>High-level languages almost always associate values with type, to provide contextual information and for error checking</a:t>
            </a:r>
          </a:p>
          <a:p>
            <a:r>
              <a:rPr lang="en-US" altLang="en-US" dirty="0"/>
              <a:t>A type name represents the possible values that a variable of that type can hold and the way those values are represented internally</a:t>
            </a:r>
          </a:p>
          <a:p>
            <a:r>
              <a:rPr lang="en-US" altLang="en-US" dirty="0"/>
              <a:t>Various language definitions use different and confusing terminology to define similar things</a:t>
            </a:r>
          </a:p>
          <a:p>
            <a:r>
              <a:rPr lang="en-US" altLang="en-US" dirty="0"/>
              <a:t>What follows is a brief description of the type differences among four languages: C, Java, Python, and Ada</a:t>
            </a:r>
          </a:p>
          <a:p>
            <a:pPr marL="0" indent="0">
              <a:buNone/>
            </a:pPr>
            <a:endParaRPr lang="en-US" altLang="x-none" dirty="0"/>
          </a:p>
          <a:p>
            <a:endParaRPr lang="en-US" altLang="x-none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997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C has two categories of data types:</a:t>
            </a:r>
          </a:p>
          <a:p>
            <a:pPr lvl="1"/>
            <a:r>
              <a:rPr lang="en-US" altLang="en-US" dirty="0"/>
              <a:t>Basic types</a:t>
            </a:r>
          </a:p>
          <a:p>
            <a:pPr lvl="2"/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US" altLang="en-US" sz="2400" dirty="0"/>
          </a:p>
          <a:p>
            <a:pPr lvl="2"/>
            <a:r>
              <a:rPr lang="en-US" altLang="en-US" sz="2400" dirty="0"/>
              <a:t>Numeric types:</a:t>
            </a:r>
          </a:p>
          <a:p>
            <a:pPr lvl="3"/>
            <a:r>
              <a:rPr lang="en-US" altLang="en-US" sz="2200" dirty="0"/>
              <a:t>Integers</a:t>
            </a:r>
            <a:r>
              <a:rPr lang="en-US" altLang="en-US" sz="2200" b="1" dirty="0"/>
              <a:t> </a:t>
            </a:r>
            <a:r>
              <a:rPr lang="en-US" altLang="en-US" sz="2200" dirty="0"/>
              <a:t>(12 possible kinds)</a:t>
            </a:r>
          </a:p>
          <a:p>
            <a:pPr lvl="4"/>
            <a:r>
              <a:rPr lang="en-US" altLang="en-US" sz="2000" dirty="0"/>
              <a:t>Integer types can be signed or unsigned</a:t>
            </a:r>
          </a:p>
          <a:p>
            <a:pPr lvl="3"/>
            <a:r>
              <a:rPr lang="en-US" altLang="en-US" sz="2400" dirty="0"/>
              <a:t>Real numbers (3 possible kinds)</a:t>
            </a:r>
          </a:p>
          <a:p>
            <a:pPr lvl="2"/>
            <a:r>
              <a:rPr lang="en-US" altLang="en-US" sz="2400" dirty="0"/>
              <a:t>No Boolean type! </a:t>
            </a:r>
          </a:p>
          <a:p>
            <a:pPr lvl="3"/>
            <a:r>
              <a:rPr lang="en-US" altLang="en-US" sz="2200" dirty="0"/>
              <a:t>In C, 0 represents false and all other numeric values represent true </a:t>
            </a:r>
          </a:p>
          <a:p>
            <a:pPr lvl="1"/>
            <a:r>
              <a:rPr lang="en-US" altLang="en-US" dirty="0"/>
              <a:t>Derived types</a:t>
            </a:r>
          </a:p>
          <a:p>
            <a:pPr lvl="2"/>
            <a:r>
              <a:rPr lang="en-US" altLang="en-US" sz="2200" dirty="0"/>
              <a:t>Combine existing types into a new data type</a:t>
            </a:r>
          </a:p>
          <a:p>
            <a:pPr lvl="3"/>
            <a:r>
              <a:rPr lang="en-US" altLang="en-US" sz="2000" dirty="0"/>
              <a:t>i.e. they are </a:t>
            </a:r>
            <a:r>
              <a:rPr lang="en-US" altLang="en-US" sz="2000" i="1" dirty="0"/>
              <a:t>derived</a:t>
            </a:r>
            <a:r>
              <a:rPr lang="en-US" altLang="en-US" sz="2000" dirty="0"/>
              <a:t> from other data types </a:t>
            </a:r>
          </a:p>
          <a:p>
            <a:pPr lvl="3"/>
            <a:r>
              <a:rPr lang="en-US" altLang="en-US" sz="2000" dirty="0"/>
              <a:t>Also referred to as compound data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136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257" y="365125"/>
            <a:ext cx="7448390" cy="6332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9697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b="1" dirty="0"/>
              <a:t>Primitive types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sz="2800" dirty="0"/>
              <a:t>Boolean (not numeric)</a:t>
            </a:r>
          </a:p>
          <a:p>
            <a:pPr lvl="1"/>
            <a:r>
              <a:rPr lang="en-US" altLang="en-US" sz="2800" dirty="0"/>
              <a:t>Numeric:</a:t>
            </a:r>
          </a:p>
          <a:p>
            <a:pPr lvl="2"/>
            <a:r>
              <a:rPr lang="en-US" altLang="en-US" sz="2800" dirty="0"/>
              <a:t>Integral</a:t>
            </a:r>
          </a:p>
          <a:p>
            <a:pPr lvl="2"/>
            <a:r>
              <a:rPr lang="en-US" altLang="en-US" sz="2800" dirty="0"/>
              <a:t>Floating point</a:t>
            </a:r>
          </a:p>
          <a:p>
            <a:r>
              <a:rPr lang="en-US" altLang="en-US" b="1" dirty="0"/>
              <a:t>Reference types</a:t>
            </a:r>
            <a:r>
              <a:rPr lang="en-US" altLang="en-US" dirty="0"/>
              <a:t>: constructed using type constructors</a:t>
            </a:r>
          </a:p>
          <a:p>
            <a:pPr lvl="1"/>
            <a:r>
              <a:rPr lang="en-US" altLang="en-US" sz="2800" dirty="0"/>
              <a:t>Array</a:t>
            </a:r>
          </a:p>
          <a:p>
            <a:pPr lvl="1"/>
            <a:r>
              <a:rPr lang="en-US" altLang="en-US" sz="2800" dirty="0"/>
              <a:t>Class </a:t>
            </a:r>
          </a:p>
          <a:p>
            <a:pPr lvl="1"/>
            <a:r>
              <a:rPr lang="en-US" altLang="en-US" sz="2800" dirty="0"/>
              <a:t>Interface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961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670" y="365125"/>
            <a:ext cx="8121227" cy="6393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387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 vs.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1677" y="1473737"/>
            <a:ext cx="4984505" cy="3924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DF350-CD96-4B2F-A060-9B80C6885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6" y="1473737"/>
            <a:ext cx="5537984" cy="470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8973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Python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5534466" cy="5032375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All data types are objects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Python has several built-in data types: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None</a:t>
            </a:r>
          </a:p>
          <a:p>
            <a:pPr lvl="1"/>
            <a:r>
              <a:rPr lang="en-US" altLang="en-US" dirty="0">
                <a:cs typeface="Times New Roman" panose="02020603050405020304" pitchFamily="18" charset="0"/>
              </a:rPr>
              <a:t>Python equivalent of null</a:t>
            </a:r>
          </a:p>
          <a:p>
            <a:r>
              <a:rPr lang="en-US" dirty="0"/>
              <a:t>Numeric types: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: Integers; non-limited length </a:t>
            </a:r>
          </a:p>
          <a:p>
            <a:pPr lvl="1"/>
            <a:r>
              <a:rPr lang="en-US" dirty="0"/>
              <a:t>bool: True / False</a:t>
            </a:r>
          </a:p>
          <a:p>
            <a:pPr lvl="1"/>
            <a:r>
              <a:rPr lang="en-US" dirty="0"/>
              <a:t>float: Floating-Point numbers, equivalent to Java doubles</a:t>
            </a:r>
          </a:p>
          <a:p>
            <a:pPr lvl="1"/>
            <a:r>
              <a:rPr lang="en-US" dirty="0"/>
              <a:t>complex: Complex numbers</a:t>
            </a:r>
          </a:p>
          <a:p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121F1A-C76A-C345-AE37-6EB8BD4B3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375" y="365125"/>
            <a:ext cx="4629443" cy="654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12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Ada has a rich set of types</a:t>
            </a:r>
          </a:p>
          <a:p>
            <a:pPr lvl="1"/>
            <a:r>
              <a:rPr lang="en-US" altLang="en-US" sz="2800" b="1" dirty="0"/>
              <a:t>Scalar types</a:t>
            </a:r>
          </a:p>
          <a:p>
            <a:pPr lvl="1"/>
            <a:r>
              <a:rPr lang="en-US" altLang="en-US" sz="2800" b="1" dirty="0"/>
              <a:t>Discrete types</a:t>
            </a:r>
          </a:p>
          <a:p>
            <a:pPr lvl="1"/>
            <a:r>
              <a:rPr lang="en-US" altLang="en-US" sz="2800" b="1" dirty="0"/>
              <a:t>Numeric types </a:t>
            </a:r>
            <a:r>
              <a:rPr lang="en-US" altLang="en-US" sz="2800" dirty="0"/>
              <a:t>include </a:t>
            </a:r>
            <a:r>
              <a:rPr lang="en-US" altLang="en-US" sz="2800" b="1" dirty="0"/>
              <a:t>real</a:t>
            </a:r>
            <a:r>
              <a:rPr lang="en-US" altLang="en-US" sz="2800" dirty="0"/>
              <a:t> and </a:t>
            </a:r>
            <a:r>
              <a:rPr lang="en-US" altLang="en-US" sz="2800" b="1" dirty="0"/>
              <a:t>integer</a:t>
            </a:r>
            <a:r>
              <a:rPr lang="en-US" altLang="en-US" sz="2800" dirty="0"/>
              <a:t> types</a:t>
            </a:r>
          </a:p>
          <a:p>
            <a:pPr lvl="1"/>
            <a:r>
              <a:rPr lang="en-US" altLang="en-US" sz="2800" dirty="0"/>
              <a:t>Pointer types are called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access</a:t>
            </a:r>
            <a:r>
              <a:rPr lang="en-US" altLang="en-US" sz="2800" dirty="0"/>
              <a:t> types</a:t>
            </a:r>
          </a:p>
          <a:p>
            <a:pPr lvl="1"/>
            <a:r>
              <a:rPr lang="en-US" altLang="en-US" sz="2800" dirty="0"/>
              <a:t>Array and record types are called </a:t>
            </a:r>
            <a:r>
              <a:rPr lang="en-US" altLang="en-US" sz="2800" b="1" dirty="0"/>
              <a:t>composite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255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055" y="1104710"/>
            <a:ext cx="9148178" cy="5618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0553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b="1" dirty="0"/>
              <a:t>Type checking: </a:t>
            </a:r>
            <a:r>
              <a:rPr lang="en-US" altLang="en-US" dirty="0"/>
              <a:t>the process by which a translator verifies and enforces that data types are being used correctly</a:t>
            </a:r>
          </a:p>
          <a:p>
            <a:pPr lvl="1"/>
            <a:r>
              <a:rPr lang="en-US" altLang="en-US" dirty="0"/>
              <a:t>For example: if a function call requires a single argument of type </a:t>
            </a:r>
            <a:r>
              <a:rPr lang="en-US" altLang="en-US" dirty="0" err="1"/>
              <a:t>int</a:t>
            </a:r>
            <a:r>
              <a:rPr lang="en-US" altLang="en-US" dirty="0"/>
              <a:t>, type checking confirms the given value is actually an integer value</a:t>
            </a:r>
          </a:p>
          <a:p>
            <a:pPr lvl="1"/>
            <a:r>
              <a:rPr lang="en-US" altLang="en-US" dirty="0"/>
              <a:t>Type checking is done by the translator during scope analysis</a:t>
            </a:r>
          </a:p>
          <a:p>
            <a:r>
              <a:rPr lang="en-US" altLang="en-US" dirty="0"/>
              <a:t>Vital for preventing inaccurate results during program execution</a:t>
            </a:r>
          </a:p>
          <a:p>
            <a:r>
              <a:rPr lang="en-US" altLang="en-US" dirty="0"/>
              <a:t>What happens if types aren’t checked? </a:t>
            </a:r>
          </a:p>
          <a:p>
            <a:pPr lvl="1"/>
            <a:r>
              <a:rPr lang="en-US" altLang="en-US" dirty="0"/>
              <a:t>Computer must assume that data it’s given is always the correct type of data</a:t>
            </a:r>
          </a:p>
          <a:p>
            <a:pPr lvl="1"/>
            <a:r>
              <a:rPr lang="en-US" altLang="en-US" dirty="0"/>
              <a:t>If it isn’t, the computer will incorrectly interpret the data (!!!)</a:t>
            </a:r>
          </a:p>
          <a:p>
            <a:pPr lvl="1"/>
            <a:r>
              <a:rPr lang="en-US" altLang="en-US" dirty="0"/>
              <a:t>Super unsafe! Can cause pseudo-random errors which are hard to debug</a:t>
            </a:r>
          </a:p>
          <a:p>
            <a:pPr lvl="1"/>
            <a:r>
              <a:rPr lang="en-US" altLang="en-US" dirty="0"/>
              <a:t>The </a:t>
            </a:r>
            <a:r>
              <a:rPr lang="en-US" altLang="en-US" dirty="0">
                <a:hlinkClick r:id="rId3"/>
              </a:rPr>
              <a:t>BCPL</a:t>
            </a:r>
            <a:r>
              <a:rPr lang="en-US" altLang="en-US" dirty="0"/>
              <a:t> language has no type checking at all</a:t>
            </a:r>
          </a:p>
          <a:p>
            <a:r>
              <a:rPr lang="en-US" altLang="en-US" dirty="0"/>
              <a:t>All modern languages have some form of type checking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45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Two types of type checking:</a:t>
            </a:r>
          </a:p>
          <a:p>
            <a:pPr lvl="1"/>
            <a:r>
              <a:rPr lang="en-US" altLang="en-US" b="1" dirty="0"/>
              <a:t>Static</a:t>
            </a:r>
            <a:r>
              <a:rPr lang="en-US" altLang="en-US" dirty="0"/>
              <a:t>: types are determined from the text of the program and checked by the translator</a:t>
            </a:r>
          </a:p>
          <a:p>
            <a:pPr lvl="1"/>
            <a:r>
              <a:rPr lang="en-US" altLang="en-US" b="1" dirty="0"/>
              <a:t>Dynamic</a:t>
            </a:r>
            <a:r>
              <a:rPr lang="en-US" altLang="en-US" dirty="0"/>
              <a:t>: type information is maintained and checked at runtime</a:t>
            </a:r>
          </a:p>
          <a:p>
            <a:r>
              <a:rPr lang="en-US" altLang="en-US" dirty="0"/>
              <a:t>We can think of type checking as a safety feature</a:t>
            </a:r>
          </a:p>
          <a:p>
            <a:r>
              <a:rPr lang="en-US" altLang="en-US" dirty="0"/>
              <a:t>In a statically typed language, type errors can be caught before runtime</a:t>
            </a:r>
          </a:p>
          <a:p>
            <a:pPr lvl="1"/>
            <a:r>
              <a:rPr lang="en-US" altLang="en-US" dirty="0"/>
              <a:t>Type errors are reported as compilation error messages that prevent execution</a:t>
            </a:r>
          </a:p>
          <a:p>
            <a:pPr lvl="1"/>
            <a:r>
              <a:rPr lang="en-US" altLang="en-US" dirty="0"/>
              <a:t>Traditionally requires programmer to specify the type of data in each variable</a:t>
            </a:r>
          </a:p>
          <a:p>
            <a:pPr lvl="1"/>
            <a:r>
              <a:rPr lang="en-US" altLang="en-US" dirty="0"/>
              <a:t>Java is a statically typed language</a:t>
            </a:r>
          </a:p>
          <a:p>
            <a:pPr lvl="2"/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438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In a dynamically typed language, type errors are caught at runtime</a:t>
            </a:r>
          </a:p>
          <a:p>
            <a:pPr lvl="1"/>
            <a:r>
              <a:rPr lang="en-US" altLang="en-US" dirty="0"/>
              <a:t>No types in variable declarations and no explicit type names</a:t>
            </a:r>
          </a:p>
          <a:p>
            <a:pPr lvl="1"/>
            <a:r>
              <a:rPr lang="en-US" altLang="en-US" dirty="0"/>
              <a:t>Objects themselves are the only constructs with type information</a:t>
            </a:r>
          </a:p>
          <a:p>
            <a:pPr lvl="1"/>
            <a:r>
              <a:rPr lang="en-US" altLang="en-US" dirty="0"/>
              <a:t>Type errors cause program termination</a:t>
            </a:r>
          </a:p>
          <a:p>
            <a:pPr lvl="2"/>
            <a:r>
              <a:rPr lang="en-US" altLang="en-US" dirty="0"/>
              <a:t>Type checking at runtime is throwing an exception rather than attempting the operation</a:t>
            </a:r>
          </a:p>
          <a:p>
            <a:pPr lvl="1"/>
            <a:r>
              <a:rPr lang="en-US" altLang="en-US" dirty="0"/>
              <a:t>Python is a dynamically typed language</a:t>
            </a:r>
          </a:p>
          <a:p>
            <a:r>
              <a:rPr lang="en-US" altLang="en-US" dirty="0"/>
              <a:t>To preform type checking a translator applies a type equivalence algorithm to all expressions and statements</a:t>
            </a:r>
          </a:p>
          <a:p>
            <a:pPr lvl="1"/>
            <a:r>
              <a:rPr lang="en-US" altLang="en-US" dirty="0"/>
              <a:t>May vary type of equivalence algorithm to suit the context</a:t>
            </a:r>
          </a:p>
          <a:p>
            <a:pPr lvl="1"/>
            <a:r>
              <a:rPr lang="en-US" altLang="en-US" dirty="0"/>
              <a:t>We’ll circle back to type equivalence algorithms in a 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997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 Checking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b="1" dirty="0"/>
              <a:t>Strongly typed</a:t>
            </a:r>
            <a:r>
              <a:rPr lang="en-US" altLang="en-US" dirty="0"/>
              <a:t>: a language that specifies a statically applied type system that guarantees all data-corrupting errors will be detected at the earliest possible point</a:t>
            </a:r>
          </a:p>
          <a:p>
            <a:pPr lvl="1"/>
            <a:r>
              <a:rPr lang="en-US" altLang="en-US" sz="2800" dirty="0"/>
              <a:t>Most errors are detected at translation time</a:t>
            </a:r>
          </a:p>
          <a:p>
            <a:pPr lvl="1"/>
            <a:r>
              <a:rPr lang="en-US" altLang="en-US" sz="2800" dirty="0"/>
              <a:t>All unsafe programs are rejected</a:t>
            </a:r>
          </a:p>
          <a:p>
            <a:pPr lvl="2"/>
            <a:r>
              <a:rPr lang="en-US" altLang="en-US" sz="2400" dirty="0"/>
              <a:t>Either at translation time or before executing data-corrupting actions</a:t>
            </a:r>
          </a:p>
          <a:p>
            <a:pPr lvl="2"/>
            <a:r>
              <a:rPr lang="en-US" altLang="en-US" sz="2400" b="1" dirty="0"/>
              <a:t>Unsafe programs</a:t>
            </a:r>
            <a:r>
              <a:rPr lang="en-US" altLang="en-US" sz="2400" dirty="0"/>
              <a:t>: programs with data-corrupting errors</a:t>
            </a:r>
          </a:p>
          <a:p>
            <a:pPr lvl="1"/>
            <a:r>
              <a:rPr lang="en-US" altLang="en-US" sz="2800" dirty="0"/>
              <a:t>Can also reject safe programs due to strict type rules</a:t>
            </a:r>
          </a:p>
          <a:p>
            <a:r>
              <a:rPr lang="en-US" altLang="en-US" b="1" dirty="0"/>
              <a:t>Weakly-typed language</a:t>
            </a:r>
            <a:r>
              <a:rPr lang="en-US" altLang="en-US" dirty="0"/>
              <a:t>: one that has type system loopholes that may allow unsafe programs</a:t>
            </a:r>
          </a:p>
          <a:p>
            <a:pPr marL="0" indent="0">
              <a:buNone/>
            </a:pPr>
            <a:endParaRPr lang="en-US" altLang="en-US" sz="3200" dirty="0"/>
          </a:p>
          <a:p>
            <a:pPr>
              <a:defRPr/>
            </a:pPr>
            <a:endParaRPr lang="en-US" dirty="0">
              <a:ea typeface="ＭＳ Ｐゴシック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4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Type Checking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>
                <a:ea typeface="ＭＳ Ｐゴシック" charset="0"/>
              </a:rPr>
              <a:t>Static and dynamic typing are discrete categories with clear differentiation between the two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Strong and weak typing are two ends of a spectrum with poor differentiation 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C is statically typed because </a:t>
            </a:r>
            <a:r>
              <a:rPr lang="en-US" altLang="en-US" dirty="0"/>
              <a:t>types are determined from the text of the program and checked by the compiler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But a programmer can subvert this type system with ease 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By making all data types void pointers for example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Would we classify C as a strongly typed or a weakly typed language?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Trying to assert a language is strongly or weakly typed in absolute terms is a bad (yet common) idea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623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In a statically typed language, type errors can be caught before runtime</a:t>
            </a:r>
          </a:p>
          <a:p>
            <a:pPr lvl="1"/>
            <a:r>
              <a:rPr lang="en-US" altLang="en-US" sz="2800" dirty="0"/>
              <a:t>Type errors are reported as compilation error messages that prevent execution</a:t>
            </a:r>
          </a:p>
          <a:p>
            <a:r>
              <a:rPr lang="en-US" altLang="en-US" dirty="0"/>
              <a:t>A language definition may not specify whether dynamic or static typing is used</a:t>
            </a:r>
          </a:p>
          <a:p>
            <a:r>
              <a:rPr lang="en-US" altLang="en-US" dirty="0"/>
              <a:t>C compilers apply static type checking during translation, but C is not very strongly typed since many inconsistencies do not cause compilation errors</a:t>
            </a:r>
          </a:p>
          <a:p>
            <a:r>
              <a:rPr lang="en-US" altLang="en-US" dirty="0"/>
              <a:t>C++ adds stronger type checking, but mainly in the form of compiler warnings rather than errors, which do not prevent execution</a:t>
            </a:r>
          </a:p>
          <a:p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629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Ada is an overall strongly typed language</a:t>
            </a:r>
          </a:p>
          <a:p>
            <a:r>
              <a:rPr lang="en-US" altLang="en-US" dirty="0"/>
              <a:t>All type errors cause compilation error messages</a:t>
            </a:r>
          </a:p>
          <a:p>
            <a:pPr lvl="1"/>
            <a:r>
              <a:rPr lang="en-US" altLang="en-US" dirty="0"/>
              <a:t>Certain errors, like range errors in array subscripting, cannot be caught prior to execution</a:t>
            </a:r>
          </a:p>
          <a:p>
            <a:pPr lvl="1"/>
            <a:r>
              <a:rPr lang="en-US" altLang="en-US" dirty="0"/>
              <a:t>Such errors cause exceptions that will cause program termination if not handled by the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039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x-none" dirty="0"/>
              <a:t>Reasons to have some form of static type-checking:</a:t>
            </a:r>
          </a:p>
          <a:p>
            <a:pPr lvl="1"/>
            <a:r>
              <a:rPr lang="en-US" altLang="x-none" sz="2800" b="1" dirty="0"/>
              <a:t>Execution efficiency</a:t>
            </a:r>
            <a:r>
              <a:rPr lang="en-US" altLang="x-none" sz="2800" dirty="0"/>
              <a:t>: allows compilers to allocate memory efficiently</a:t>
            </a:r>
          </a:p>
          <a:p>
            <a:pPr lvl="1"/>
            <a:r>
              <a:rPr lang="en-US" altLang="x-none" sz="2800" b="1" dirty="0"/>
              <a:t>Translation efficiency</a:t>
            </a:r>
            <a:r>
              <a:rPr lang="en-US" altLang="x-none" sz="2800" dirty="0"/>
              <a:t>: static types allow the compiler to reduce the amount of code to be compiled</a:t>
            </a:r>
          </a:p>
          <a:p>
            <a:pPr lvl="1"/>
            <a:r>
              <a:rPr lang="en-US" altLang="x-none" sz="2800" b="1" dirty="0" err="1"/>
              <a:t>Writability</a:t>
            </a:r>
            <a:r>
              <a:rPr lang="en-US" altLang="x-none" sz="2800" dirty="0"/>
              <a:t>: allows many common programming errors to be caught early</a:t>
            </a:r>
          </a:p>
          <a:p>
            <a:pPr lvl="1"/>
            <a:r>
              <a:rPr lang="en-US" altLang="x-none" sz="2800" b="1" dirty="0"/>
              <a:t>Security</a:t>
            </a:r>
            <a:r>
              <a:rPr lang="en-US" altLang="x-none" sz="2800" dirty="0"/>
              <a:t> and </a:t>
            </a:r>
            <a:r>
              <a:rPr lang="en-US" altLang="x-none" sz="2800" b="1" dirty="0"/>
              <a:t>reliability</a:t>
            </a:r>
            <a:r>
              <a:rPr lang="en-US" altLang="x-none" sz="2800" dirty="0"/>
              <a:t>: reduces the number of execution errors</a:t>
            </a:r>
          </a:p>
          <a:p>
            <a:pPr>
              <a:defRPr/>
            </a:pPr>
            <a:endParaRPr lang="en-US" dirty="0">
              <a:ea typeface="ＭＳ Ｐゴシック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869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x-none" dirty="0"/>
              <a:t>Reasons to have some form of static type-checking, cont.:</a:t>
            </a:r>
          </a:p>
          <a:p>
            <a:pPr lvl="1"/>
            <a:r>
              <a:rPr lang="en-US" altLang="x-none" sz="2800" b="1" dirty="0"/>
              <a:t>Readability</a:t>
            </a:r>
            <a:r>
              <a:rPr lang="en-US" altLang="x-none" sz="2800" dirty="0"/>
              <a:t>: explicit types help to document data design</a:t>
            </a:r>
          </a:p>
          <a:p>
            <a:pPr lvl="1"/>
            <a:r>
              <a:rPr lang="en-US" altLang="x-none" sz="2800" b="1" dirty="0"/>
              <a:t>Remove ambiguities</a:t>
            </a:r>
            <a:r>
              <a:rPr lang="en-US" altLang="x-none" sz="2800" dirty="0"/>
              <a:t>: explicit types can be used to resolve overloading</a:t>
            </a:r>
          </a:p>
          <a:p>
            <a:pPr lvl="1"/>
            <a:r>
              <a:rPr lang="en-US" altLang="x-none" sz="2800" b="1" dirty="0"/>
              <a:t>Design tool</a:t>
            </a:r>
            <a:r>
              <a:rPr lang="en-US" altLang="x-none" sz="2800" dirty="0"/>
              <a:t>: explicit types highlight design errors and show up as translation-time errors</a:t>
            </a:r>
          </a:p>
          <a:p>
            <a:pPr lvl="1"/>
            <a:r>
              <a:rPr lang="en-US" altLang="x-none" sz="2800" b="1" dirty="0"/>
              <a:t>Interface consistency </a:t>
            </a:r>
            <a:r>
              <a:rPr lang="en-US" altLang="x-none" sz="2800" dirty="0"/>
              <a:t>and </a:t>
            </a:r>
            <a:r>
              <a:rPr lang="en-US" altLang="x-none" sz="2800" b="1" dirty="0"/>
              <a:t>correctness</a:t>
            </a:r>
            <a:r>
              <a:rPr lang="en-US" altLang="x-none" sz="2800" dirty="0"/>
              <a:t>: explicit data types help in verification of large programs</a:t>
            </a:r>
          </a:p>
          <a:p>
            <a:pPr>
              <a:defRPr/>
            </a:pPr>
            <a:endParaRPr lang="en-US" dirty="0">
              <a:ea typeface="ＭＳ Ｐゴシック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629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Implicit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b="1" dirty="0"/>
              <a:t>Implicit types</a:t>
            </a:r>
            <a:r>
              <a:rPr lang="en-US" altLang="en-US" dirty="0"/>
              <a:t>: types that are not explicitly given in a declaration</a:t>
            </a:r>
          </a:p>
          <a:p>
            <a:pPr lvl="1"/>
            <a:r>
              <a:rPr lang="en-US" altLang="en-US" sz="2800" dirty="0"/>
              <a:t>The type must be inferred by the translator, either from context information or from standard rules</a:t>
            </a:r>
          </a:p>
          <a:p>
            <a:r>
              <a:rPr lang="en-US" altLang="en-US" dirty="0"/>
              <a:t>In C, variables are implicitly integers if no type is given, and functions implicitly return an integer value if no return type is given</a:t>
            </a:r>
          </a:p>
          <a:p>
            <a:pPr lvl="1"/>
            <a:r>
              <a:rPr lang="en-US" altLang="en-US" sz="2800" dirty="0"/>
              <a:t>x; // implicitly an </a:t>
            </a:r>
            <a:r>
              <a:rPr lang="en-US" altLang="en-US" sz="2800" dirty="0" err="1"/>
              <a:t>int</a:t>
            </a:r>
            <a:endParaRPr lang="en-US" altLang="en-US" sz="2800" dirty="0"/>
          </a:p>
          <a:p>
            <a:r>
              <a:rPr lang="en-US" altLang="en-US" dirty="0"/>
              <a:t>Literals are the major example of implicitly typed 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06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Type Inference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b="1" dirty="0"/>
              <a:t>Type inference</a:t>
            </a:r>
            <a:r>
              <a:rPr lang="en-US" altLang="en-US" dirty="0"/>
              <a:t>: types of expressions are inferred from the types of their subexpressions</a:t>
            </a:r>
          </a:p>
          <a:p>
            <a:pPr lvl="1"/>
            <a:r>
              <a:rPr lang="en-US" altLang="en-US" sz="2800" dirty="0"/>
              <a:t>Is an essential part of type checking</a:t>
            </a:r>
          </a:p>
          <a:p>
            <a:r>
              <a:rPr lang="en-US" altLang="en-US" dirty="0"/>
              <a:t>Type-checking rules and type inference rules are often intermingled</a:t>
            </a:r>
          </a:p>
          <a:p>
            <a:pPr lvl="1"/>
            <a:r>
              <a:rPr lang="en-US" altLang="en-US" sz="2800" dirty="0"/>
              <a:t>They also have a close interaction with the type equivalence algorithm</a:t>
            </a:r>
          </a:p>
          <a:p>
            <a:r>
              <a:rPr lang="en-US" altLang="en-US" dirty="0"/>
              <a:t>Type inference and type checking rules are one of the most complex parts of programming languages</a:t>
            </a:r>
          </a:p>
          <a:p>
            <a:r>
              <a:rPr lang="en-US" altLang="en-US" dirty="0"/>
              <a:t>Hard to avoid nonorthogonalities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174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b="1" dirty="0"/>
              <a:t>Type conversion</a:t>
            </a:r>
            <a:r>
              <a:rPr lang="en-US" altLang="en-US" dirty="0"/>
              <a:t>: converting from one type to another </a:t>
            </a:r>
          </a:p>
          <a:p>
            <a:pPr lvl="1"/>
            <a:r>
              <a:rPr lang="en-US" altLang="en-US" sz="2800" dirty="0"/>
              <a:t>Can be built into the type system to happen automatically</a:t>
            </a:r>
          </a:p>
          <a:p>
            <a:r>
              <a:rPr lang="en-US" altLang="en-US" b="1" dirty="0"/>
              <a:t>Implicit conversion </a:t>
            </a:r>
            <a:r>
              <a:rPr lang="en-US" altLang="en-US" dirty="0"/>
              <a:t>(or </a:t>
            </a:r>
            <a:r>
              <a:rPr lang="en-US" altLang="en-US" b="1" dirty="0"/>
              <a:t>coercion</a:t>
            </a:r>
            <a:r>
              <a:rPr lang="en-US" altLang="en-US" dirty="0"/>
              <a:t>): inserted by the translator</a:t>
            </a:r>
          </a:p>
          <a:p>
            <a:pPr lvl="1"/>
            <a:r>
              <a:rPr lang="en-US" altLang="en-US" dirty="0"/>
              <a:t>i.e. in Java:</a:t>
            </a: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 + 5.7 </a:t>
            </a:r>
          </a:p>
          <a:p>
            <a:pPr lvl="1"/>
            <a:r>
              <a:rPr lang="en-US" altLang="en-US" dirty="0"/>
              <a:t>Where 3 is implicitly converted to a double</a:t>
            </a:r>
          </a:p>
          <a:p>
            <a:r>
              <a:rPr lang="en-US" altLang="en-US" b="1" dirty="0"/>
              <a:t>Widening conversion</a:t>
            </a:r>
            <a:r>
              <a:rPr lang="en-US" altLang="en-US" dirty="0"/>
              <a:t>: target data type can hold all of the converted data without loss of data</a:t>
            </a:r>
          </a:p>
          <a:p>
            <a:r>
              <a:rPr lang="en-US" altLang="en-US" b="1" dirty="0"/>
              <a:t>Narrowing conversion</a:t>
            </a:r>
            <a:r>
              <a:rPr lang="en-US" altLang="en-US" dirty="0"/>
              <a:t>: conversion may involve a loss of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582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Implicit conversion:</a:t>
            </a:r>
          </a:p>
          <a:p>
            <a:pPr lvl="1"/>
            <a:r>
              <a:rPr lang="en-US" altLang="en-US" sz="2800" dirty="0"/>
              <a:t>Can weaken type checking so that errors may not be caught</a:t>
            </a:r>
          </a:p>
          <a:p>
            <a:pPr lvl="1"/>
            <a:r>
              <a:rPr lang="en-US" altLang="en-US" sz="2800" dirty="0"/>
              <a:t>Can cause unexpected behavior if the conversion is done in a different way than the programmer expects</a:t>
            </a:r>
          </a:p>
          <a:p>
            <a:r>
              <a:rPr lang="en-US" altLang="en-US" b="1" dirty="0"/>
              <a:t>Explicit conversion</a:t>
            </a:r>
            <a:r>
              <a:rPr lang="en-US" altLang="en-US" dirty="0"/>
              <a:t>: conversion directives are written into the code</a:t>
            </a:r>
          </a:p>
          <a:p>
            <a:pPr lvl="1"/>
            <a:r>
              <a:rPr lang="en-US" altLang="en-US" sz="2800" dirty="0"/>
              <a:t>Conversions are documented in the code</a:t>
            </a:r>
          </a:p>
          <a:p>
            <a:pPr lvl="1"/>
            <a:r>
              <a:rPr lang="en-US" altLang="en-US" sz="2800" dirty="0"/>
              <a:t>Less likelihood of unexpected behavior</a:t>
            </a:r>
          </a:p>
          <a:p>
            <a:pPr lvl="1"/>
            <a:r>
              <a:rPr lang="en-US" altLang="en-US" sz="2800" dirty="0"/>
              <a:t>Makes it easier for the translator to resolve overloading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729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Example In C++:</a:t>
            </a:r>
          </a:p>
          <a:p>
            <a:endParaRPr lang="en-US" altLang="en-US" dirty="0"/>
          </a:p>
          <a:p>
            <a:pPr marL="457200" lvl="1" indent="0">
              <a:buNone/>
            </a:pPr>
            <a:endParaRPr lang="en-US" altLang="en-US" dirty="0"/>
          </a:p>
          <a:p>
            <a:pPr marL="457200" lvl="1" indent="0">
              <a:buNone/>
            </a:pPr>
            <a:br>
              <a:rPr lang="en-US" altLang="en-US" sz="1200" dirty="0"/>
            </a:br>
            <a:endParaRPr lang="en-US" altLang="en-US" sz="1200" dirty="0"/>
          </a:p>
          <a:p>
            <a:pPr lvl="1"/>
            <a:r>
              <a:rPr lang="en-US" altLang="en-US" sz="2800" dirty="0"/>
              <a:t>Ambiguous, because of the possible implicit conversions from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800" dirty="0"/>
              <a:t> to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altLang="en-US" sz="2800" dirty="0"/>
              <a:t> on either first or second parameter</a:t>
            </a:r>
          </a:p>
          <a:p>
            <a:r>
              <a:rPr lang="en-US" altLang="en-US" dirty="0"/>
              <a:t>Java only permits widening implicit conversions for arithmetic types</a:t>
            </a:r>
          </a:p>
          <a:p>
            <a:r>
              <a:rPr lang="en-US" altLang="en-US" dirty="0"/>
              <a:t>C++ emits warning messages for narrowing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2286000"/>
            <a:ext cx="43783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63" y="3048000"/>
            <a:ext cx="141763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0156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>
                <a:cs typeface="Courier New" panose="02070309020205020404" pitchFamily="49" charset="0"/>
              </a:rPr>
              <a:t>When preforming type conversion, is the underlying binary data </a:t>
            </a:r>
            <a:r>
              <a:rPr lang="en-US" altLang="en-US" b="1" i="1" dirty="0">
                <a:cs typeface="Courier New" panose="02070309020205020404" pitchFamily="49" charset="0"/>
              </a:rPr>
              <a:t>converted</a:t>
            </a:r>
            <a:r>
              <a:rPr lang="en-US" altLang="en-US" dirty="0">
                <a:cs typeface="Courier New" panose="02070309020205020404" pitchFamily="49" charset="0"/>
              </a:rPr>
              <a:t> from one data type into another? Or is that data merely reinterpreted as another data type?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This is a vital distinction to make </a:t>
            </a:r>
          </a:p>
          <a:p>
            <a:r>
              <a:rPr lang="en-US" altLang="en-US" dirty="0">
                <a:cs typeface="Courier New" panose="02070309020205020404" pitchFamily="49" charset="0"/>
              </a:rPr>
              <a:t>For this course, we will define </a:t>
            </a:r>
            <a:r>
              <a:rPr lang="en-US" altLang="en-US" b="1" dirty="0">
                <a:cs typeface="Courier New" panose="02070309020205020404" pitchFamily="49" charset="0"/>
              </a:rPr>
              <a:t>type conversion</a:t>
            </a:r>
            <a:r>
              <a:rPr lang="en-US" altLang="en-US" dirty="0">
                <a:cs typeface="Courier New" panose="02070309020205020404" pitchFamily="49" charset="0"/>
              </a:rPr>
              <a:t> as: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Converting the underlying data from one data type into another</a:t>
            </a:r>
          </a:p>
          <a:p>
            <a:r>
              <a:rPr lang="en-US" altLang="en-US" dirty="0">
                <a:cs typeface="Courier New" panose="02070309020205020404" pitchFamily="49" charset="0"/>
              </a:rPr>
              <a:t>We will define </a:t>
            </a:r>
            <a:r>
              <a:rPr lang="en-US" altLang="en-US" b="1" dirty="0">
                <a:cs typeface="Courier New" panose="02070309020205020404" pitchFamily="49" charset="0"/>
              </a:rPr>
              <a:t>casting</a:t>
            </a:r>
            <a:r>
              <a:rPr lang="en-US" altLang="en-US" dirty="0">
                <a:cs typeface="Courier New" panose="02070309020205020404" pitchFamily="49" charset="0"/>
              </a:rPr>
              <a:t> as: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Reinterpreting the underlying data as another data type without modifying the underlying bits</a:t>
            </a:r>
          </a:p>
          <a:p>
            <a:r>
              <a:rPr lang="en-US" altLang="en-US" dirty="0">
                <a:cs typeface="Courier New" panose="02070309020205020404" pitchFamily="49" charset="0"/>
              </a:rPr>
              <a:t>Please note in common usage the definition of these terms are much more muddled 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We'll use these explicit and distinct definitions to reduce ambiguity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3644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>
                <a:cs typeface="Courier New" panose="02070309020205020404" pitchFamily="49" charset="0"/>
              </a:rPr>
              <a:t>Casts are most commonly used in object-oriented languages to allow flexibility in the typing system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Casting a variable of type superclass to type subclass reinterprets the object referenced by superclass variable as an object of type subclass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If the underlying object is of type subclass, re-interpreting it’s bits does not cause any errors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If it’s not, re-interpreting the objects bits as that of another object causes a runtime error </a:t>
            </a:r>
            <a:endParaRPr lang="en-US" altLang="en-US" dirty="0"/>
          </a:p>
          <a:p>
            <a:r>
              <a:rPr lang="en-US" altLang="en-US" dirty="0"/>
              <a:t>A similar use of casts is casting pointers</a:t>
            </a:r>
          </a:p>
          <a:p>
            <a:pPr lvl="1"/>
            <a:r>
              <a:rPr lang="en-US" altLang="en-US" dirty="0"/>
              <a:t>As a pointer is just a location in memory, the data type associated with a pointer variable refers to the type of the data pointed to, not the pointer itself</a:t>
            </a:r>
          </a:p>
          <a:p>
            <a:pPr lvl="2"/>
            <a:r>
              <a:rPr lang="en-US" altLang="en-US" dirty="0"/>
              <a:t>The pointer always stores a hexadecimal number, i.e. a memory address</a:t>
            </a:r>
          </a:p>
          <a:p>
            <a:pPr lvl="1"/>
            <a:r>
              <a:rPr lang="en-US" altLang="en-US" dirty="0"/>
              <a:t>Casting pointers allows flexibility in the typing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844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Casting as we have defined it is used exclusively to increase the flexibility of a languages typing system</a:t>
            </a:r>
          </a:p>
          <a:p>
            <a:r>
              <a:rPr lang="en-US" altLang="en-US" dirty="0"/>
              <a:t>It does this by allowing a variable of type X to be interpreted as type Y</a:t>
            </a:r>
          </a:p>
          <a:p>
            <a:pPr lvl="1"/>
            <a:r>
              <a:rPr lang="en-US" altLang="en-US" dirty="0"/>
              <a:t>If the underlying data can’t be interpreted in this way, the cast fails and the program crashes </a:t>
            </a:r>
          </a:p>
          <a:p>
            <a:r>
              <a:rPr lang="en-US" altLang="en-US" dirty="0"/>
              <a:t>But what about a dynamically typed language where variables are not associated with data types?</a:t>
            </a:r>
          </a:p>
          <a:p>
            <a:r>
              <a:rPr lang="en-US" altLang="en-US" dirty="0"/>
              <a:t>Casting (as we have defined it) has no purpose in a dynamically typed language</a:t>
            </a:r>
          </a:p>
          <a:p>
            <a:pPr lvl="1"/>
            <a:r>
              <a:rPr lang="en-US" altLang="en-US" dirty="0"/>
              <a:t>The restrictions casting subverts aren’t present in a dynamically typed language at all!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5827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To complicate matters, some languages use the syntax and terminology of casting to describe converting between arithmetic types</a:t>
            </a:r>
          </a:p>
          <a:p>
            <a:pPr lvl="1"/>
            <a:r>
              <a:rPr lang="en-US" altLang="en-US" dirty="0"/>
              <a:t>Historical reasons for this, including typing systems which define several different integer types which are identical outside of their size (i.e. C) </a:t>
            </a:r>
          </a:p>
          <a:p>
            <a:pPr lvl="1"/>
            <a:r>
              <a:rPr lang="en-US" altLang="en-US" dirty="0"/>
              <a:t>For our purposes, we will consider transforming one arithmetic type into another as a type conversion, regardless of the syntax / terminology used</a:t>
            </a:r>
          </a:p>
          <a:p>
            <a:r>
              <a:rPr lang="en-US" altLang="en-US" dirty="0"/>
              <a:t>Otherwise, the most common approach to perform type conversions is to use predefined or library functions</a:t>
            </a:r>
          </a:p>
          <a:p>
            <a:pPr lvl="1"/>
            <a:r>
              <a:rPr lang="en-US" altLang="en-US" dirty="0"/>
              <a:t>Ada uses </a:t>
            </a:r>
            <a:r>
              <a:rPr lang="en-US" altLang="en-US" b="1" dirty="0"/>
              <a:t>attribute functions </a:t>
            </a:r>
            <a:r>
              <a:rPr lang="en-US" altLang="en-US" dirty="0"/>
              <a:t>to allow conversions between characters and their ASCII values</a:t>
            </a:r>
          </a:p>
          <a:p>
            <a:pPr lvl="1"/>
            <a:r>
              <a:rPr lang="en-US" altLang="en-US" dirty="0"/>
              <a:t>Java contains functions like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altLang="en-US" dirty="0"/>
              <a:t> to convert from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/>
              <a:t> to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/>
              <a:t> 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parseInt</a:t>
            </a:r>
            <a:r>
              <a:rPr lang="en-US" altLang="en-US" dirty="0"/>
              <a:t> to convert from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en-US" dirty="0"/>
              <a:t> to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416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65316EAB-7D9D-F44C-9359-5EAF5ACFF67A}" vid="{A314C093-9F88-C04E-9797-11A80E266C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879</TotalTime>
  <Words>2389</Words>
  <Application>Microsoft Macintosh PowerPoint</Application>
  <PresentationFormat>Widescreen</PresentationFormat>
  <Paragraphs>269</Paragraphs>
  <Slides>30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ＭＳ Ｐゴシック</vt:lpstr>
      <vt:lpstr>ＭＳ Ｐゴシック</vt:lpstr>
      <vt:lpstr>Arial</vt:lpstr>
      <vt:lpstr>Calibri</vt:lpstr>
      <vt:lpstr>Calibri Light</vt:lpstr>
      <vt:lpstr>Courier New</vt:lpstr>
      <vt:lpstr>Times New Roman</vt:lpstr>
      <vt:lpstr>Office Theme</vt:lpstr>
      <vt:lpstr>CMSC 304</vt:lpstr>
      <vt:lpstr>Data Types Introduction</vt:lpstr>
      <vt:lpstr>Data Types Introduction</vt:lpstr>
      <vt:lpstr>Type Nomenclature in Sample Languages</vt:lpstr>
      <vt:lpstr>C</vt:lpstr>
      <vt:lpstr>C</vt:lpstr>
      <vt:lpstr>Java</vt:lpstr>
      <vt:lpstr>Java</vt:lpstr>
      <vt:lpstr>C vs. Java</vt:lpstr>
      <vt:lpstr>Python Data Types</vt:lpstr>
      <vt:lpstr>Ada</vt:lpstr>
      <vt:lpstr>Ada</vt:lpstr>
      <vt:lpstr>Type Checking</vt:lpstr>
      <vt:lpstr>Type Checking</vt:lpstr>
      <vt:lpstr>Type Checking</vt:lpstr>
      <vt:lpstr>Type Checking</vt:lpstr>
      <vt:lpstr>Type Checking</vt:lpstr>
      <vt:lpstr>Type Checking</vt:lpstr>
      <vt:lpstr>Type Checking</vt:lpstr>
      <vt:lpstr>Type Checking</vt:lpstr>
      <vt:lpstr>Type Checking</vt:lpstr>
      <vt:lpstr>Implicit Types</vt:lpstr>
      <vt:lpstr>Type Inference</vt:lpstr>
      <vt:lpstr>Type Conversion</vt:lpstr>
      <vt:lpstr>Type Conversion</vt:lpstr>
      <vt:lpstr>Type Conversion</vt:lpstr>
      <vt:lpstr>Type Conversion</vt:lpstr>
      <vt:lpstr>Casting</vt:lpstr>
      <vt:lpstr>Casting</vt:lpstr>
      <vt:lpstr>Type Conversion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160</cp:revision>
  <dcterms:created xsi:type="dcterms:W3CDTF">2020-08-26T15:53:50Z</dcterms:created>
  <dcterms:modified xsi:type="dcterms:W3CDTF">2025-01-05T22:53:56Z</dcterms:modified>
</cp:coreProperties>
</file>