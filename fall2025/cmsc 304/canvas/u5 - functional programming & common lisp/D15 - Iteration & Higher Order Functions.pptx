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3" r:id="rId1"/>
  </p:sldMasterIdLst>
  <p:notesMasterIdLst>
    <p:notesMasterId r:id="rId32"/>
  </p:notesMasterIdLst>
  <p:sldIdLst>
    <p:sldId id="273" r:id="rId2"/>
    <p:sldId id="257" r:id="rId3"/>
    <p:sldId id="258" r:id="rId4"/>
    <p:sldId id="259" r:id="rId5"/>
    <p:sldId id="440" r:id="rId6"/>
    <p:sldId id="260" r:id="rId7"/>
    <p:sldId id="442" r:id="rId8"/>
    <p:sldId id="261" r:id="rId9"/>
    <p:sldId id="441" r:id="rId10"/>
    <p:sldId id="264" r:id="rId11"/>
    <p:sldId id="263" r:id="rId12"/>
    <p:sldId id="266" r:id="rId13"/>
    <p:sldId id="267" r:id="rId14"/>
    <p:sldId id="270" r:id="rId15"/>
    <p:sldId id="277" r:id="rId16"/>
    <p:sldId id="438" r:id="rId17"/>
    <p:sldId id="439" r:id="rId18"/>
    <p:sldId id="434" r:id="rId19"/>
    <p:sldId id="435" r:id="rId20"/>
    <p:sldId id="436" r:id="rId21"/>
    <p:sldId id="437" r:id="rId22"/>
    <p:sldId id="358" r:id="rId23"/>
    <p:sldId id="377" r:id="rId24"/>
    <p:sldId id="359" r:id="rId25"/>
    <p:sldId id="360" r:id="rId26"/>
    <p:sldId id="361" r:id="rId27"/>
    <p:sldId id="379" r:id="rId28"/>
    <p:sldId id="362" r:id="rId29"/>
    <p:sldId id="428" r:id="rId30"/>
    <p:sldId id="443"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111"/>
    <p:restoredTop sz="84124"/>
  </p:normalViewPr>
  <p:slideViewPr>
    <p:cSldViewPr snapToGrid="0" snapToObjects="1">
      <p:cViewPr varScale="1">
        <p:scale>
          <a:sx n="130" d="100"/>
          <a:sy n="130" d="100"/>
        </p:scale>
        <p:origin x="1520" y="184"/>
      </p:cViewPr>
      <p:guideLst/>
    </p:cSldViewPr>
  </p:slideViewPr>
  <p:notesTextViewPr>
    <p:cViewPr>
      <p:scale>
        <a:sx n="1" d="1"/>
        <a:sy n="1" d="1"/>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9C3FBE-CC6D-C84E-A32C-3E7139D0BEF1}" type="datetimeFigureOut">
              <a:rPr lang="en-US" smtClean="0"/>
              <a:t>3/17/25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AC0DA4-3FAE-DF4B-9554-5D7B5414A6C1}" type="slidenum">
              <a:rPr lang="en-US" smtClean="0"/>
              <a:t>‹#›</a:t>
            </a:fld>
            <a:endParaRPr lang="en-US"/>
          </a:p>
        </p:txBody>
      </p:sp>
    </p:spTree>
    <p:extLst>
      <p:ext uri="{BB962C8B-B14F-4D97-AF65-F5344CB8AC3E}">
        <p14:creationId xmlns:p14="http://schemas.microsoft.com/office/powerpoint/2010/main" val="338566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A change in the value of a variable that persists beyond the local scope</a:t>
            </a:r>
            <a:endParaRPr lang="en-US" b="1" dirty="0"/>
          </a:p>
          <a:p>
            <a:endParaRPr lang="en-US" dirty="0"/>
          </a:p>
        </p:txBody>
      </p:sp>
      <p:sp>
        <p:nvSpPr>
          <p:cNvPr id="4" name="Slide Number Placeholder 3"/>
          <p:cNvSpPr>
            <a:spLocks noGrp="1"/>
          </p:cNvSpPr>
          <p:nvPr>
            <p:ph type="sldNum" sz="quarter" idx="10"/>
          </p:nvPr>
        </p:nvSpPr>
        <p:spPr/>
        <p:txBody>
          <a:bodyPr/>
          <a:lstStyle/>
          <a:p>
            <a:fld id="{BCAC0DA4-3FAE-DF4B-9554-5D7B5414A6C1}" type="slidenum">
              <a:rPr lang="en-US" smtClean="0"/>
              <a:t>2</a:t>
            </a:fld>
            <a:endParaRPr lang="en-US"/>
          </a:p>
        </p:txBody>
      </p:sp>
    </p:spTree>
    <p:extLst>
      <p:ext uri="{BB962C8B-B14F-4D97-AF65-F5344CB8AC3E}">
        <p14:creationId xmlns:p14="http://schemas.microsoft.com/office/powerpoint/2010/main" val="14297401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AC0DA4-3FAE-DF4B-9554-5D7B5414A6C1}" type="slidenum">
              <a:rPr lang="en-US" smtClean="0"/>
              <a:t>3</a:t>
            </a:fld>
            <a:endParaRPr lang="en-US"/>
          </a:p>
        </p:txBody>
      </p:sp>
    </p:spTree>
    <p:extLst>
      <p:ext uri="{BB962C8B-B14F-4D97-AF65-F5344CB8AC3E}">
        <p14:creationId xmlns:p14="http://schemas.microsoft.com/office/powerpoint/2010/main" val="5297582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AC0DA4-3FAE-DF4B-9554-5D7B5414A6C1}" type="slidenum">
              <a:rPr lang="en-US" smtClean="0"/>
              <a:t>4</a:t>
            </a:fld>
            <a:endParaRPr lang="en-US"/>
          </a:p>
        </p:txBody>
      </p:sp>
    </p:spTree>
    <p:extLst>
      <p:ext uri="{BB962C8B-B14F-4D97-AF65-F5344CB8AC3E}">
        <p14:creationId xmlns:p14="http://schemas.microsoft.com/office/powerpoint/2010/main" val="42309512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It’s able to do this because: </a:t>
            </a:r>
          </a:p>
          <a:p>
            <a:r>
              <a:rPr lang="en-US" dirty="0"/>
              <a:t>	When</a:t>
            </a:r>
            <a:r>
              <a:rPr lang="en-US" baseline="0" dirty="0"/>
              <a:t> the recursive call is at the end of the function, we know there is no other operations for the current function to execute, so we don’t need to worry about coming back to it. This is the reason we can replace the machine code with a jump instruction and not a call instruction. </a:t>
            </a:r>
            <a:br>
              <a:rPr lang="en-US" baseline="0" dirty="0"/>
            </a:br>
            <a:r>
              <a:rPr lang="en-US" baseline="0" dirty="0"/>
              <a:t>	This brings with it another advantage. Because tail recursive calls can only occur when we’re done executing the calling function, we can remove the calling function from the call stack. This optimization can not be done if the recursive call is done anywhere else in the function as the calling function may have more code to execute. </a:t>
            </a:r>
            <a:br>
              <a:rPr lang="en-US" baseline="0" dirty="0"/>
            </a:br>
            <a:endParaRPr lang="en-US" baseline="0" dirty="0"/>
          </a:p>
          <a:p>
            <a:r>
              <a:rPr lang="en-US" baseline="0" dirty="0"/>
              <a:t>	So not only does tail recursion solve the efficiency issue normally encountered with recursion, but it solves the constantly growing stack issue as well. Meaning that a tail recursive function can not cause a stack overflow  </a:t>
            </a:r>
            <a:endParaRPr lang="en-US" dirty="0"/>
          </a:p>
        </p:txBody>
      </p:sp>
      <p:sp>
        <p:nvSpPr>
          <p:cNvPr id="4" name="Slide Number Placeholder 3"/>
          <p:cNvSpPr>
            <a:spLocks noGrp="1"/>
          </p:cNvSpPr>
          <p:nvPr>
            <p:ph type="sldNum" sz="quarter" idx="10"/>
          </p:nvPr>
        </p:nvSpPr>
        <p:spPr/>
        <p:txBody>
          <a:bodyPr/>
          <a:lstStyle/>
          <a:p>
            <a:fld id="{BCAC0DA4-3FAE-DF4B-9554-5D7B5414A6C1}" type="slidenum">
              <a:rPr lang="en-US" smtClean="0"/>
              <a:t>5</a:t>
            </a:fld>
            <a:endParaRPr lang="en-US"/>
          </a:p>
        </p:txBody>
      </p:sp>
    </p:spTree>
    <p:extLst>
      <p:ext uri="{BB962C8B-B14F-4D97-AF65-F5344CB8AC3E}">
        <p14:creationId xmlns:p14="http://schemas.microsoft.com/office/powerpoint/2010/main" val="319443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it’s not.</a:t>
            </a:r>
            <a:r>
              <a:rPr lang="en-US" baseline="0" dirty="0"/>
              <a:t> Explain on next slide  </a:t>
            </a:r>
            <a:endParaRPr lang="en-US" dirty="0"/>
          </a:p>
        </p:txBody>
      </p:sp>
      <p:sp>
        <p:nvSpPr>
          <p:cNvPr id="4" name="Slide Number Placeholder 3"/>
          <p:cNvSpPr>
            <a:spLocks noGrp="1"/>
          </p:cNvSpPr>
          <p:nvPr>
            <p:ph type="sldNum" sz="quarter" idx="10"/>
          </p:nvPr>
        </p:nvSpPr>
        <p:spPr/>
        <p:txBody>
          <a:bodyPr/>
          <a:lstStyle/>
          <a:p>
            <a:fld id="{BCAC0DA4-3FAE-DF4B-9554-5D7B5414A6C1}" type="slidenum">
              <a:rPr lang="en-US" smtClean="0"/>
              <a:t>6</a:t>
            </a:fld>
            <a:endParaRPr lang="en-US"/>
          </a:p>
        </p:txBody>
      </p:sp>
    </p:spTree>
    <p:extLst>
      <p:ext uri="{BB962C8B-B14F-4D97-AF65-F5344CB8AC3E}">
        <p14:creationId xmlns:p14="http://schemas.microsoft.com/office/powerpoint/2010/main" val="29302699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1"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BCAC0DA4-3FAE-DF4B-9554-5D7B5414A6C1}" type="slidenum">
              <a:rPr lang="en-US" smtClean="0"/>
              <a:t>13</a:t>
            </a:fld>
            <a:endParaRPr lang="en-US"/>
          </a:p>
        </p:txBody>
      </p:sp>
    </p:spTree>
    <p:extLst>
      <p:ext uri="{BB962C8B-B14F-4D97-AF65-F5344CB8AC3E}">
        <p14:creationId xmlns:p14="http://schemas.microsoft.com/office/powerpoint/2010/main" val="27373809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CAC0DA4-3FAE-DF4B-9554-5D7B5414A6C1}" type="slidenum">
              <a:rPr lang="en-US" smtClean="0"/>
              <a:t>14</a:t>
            </a:fld>
            <a:endParaRPr lang="en-US"/>
          </a:p>
        </p:txBody>
      </p:sp>
    </p:spTree>
    <p:extLst>
      <p:ext uri="{BB962C8B-B14F-4D97-AF65-F5344CB8AC3E}">
        <p14:creationId xmlns:p14="http://schemas.microsoft.com/office/powerpoint/2010/main" val="783855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;break</a:t>
            </a:r>
          </a:p>
          <a:p>
            <a:r>
              <a:rPr lang="en-US" dirty="0"/>
              <a:t>;</a:t>
            </a:r>
            <a:r>
              <a:rPr lang="en-US" dirty="0" err="1"/>
              <a:t>backtrace</a:t>
            </a:r>
            <a:endParaRPr lang="en-US" dirty="0"/>
          </a:p>
        </p:txBody>
      </p:sp>
      <p:sp>
        <p:nvSpPr>
          <p:cNvPr id="4" name="Slide Number Placeholder 3"/>
          <p:cNvSpPr>
            <a:spLocks noGrp="1"/>
          </p:cNvSpPr>
          <p:nvPr>
            <p:ph type="sldNum" sz="quarter" idx="5"/>
          </p:nvPr>
        </p:nvSpPr>
        <p:spPr/>
        <p:txBody>
          <a:bodyPr/>
          <a:lstStyle/>
          <a:p>
            <a:fld id="{BCAC0DA4-3FAE-DF4B-9554-5D7B5414A6C1}" type="slidenum">
              <a:rPr lang="en-US" smtClean="0"/>
              <a:t>15</a:t>
            </a:fld>
            <a:endParaRPr lang="en-US"/>
          </a:p>
        </p:txBody>
      </p:sp>
    </p:spTree>
    <p:extLst>
      <p:ext uri="{BB962C8B-B14F-4D97-AF65-F5344CB8AC3E}">
        <p14:creationId xmlns:p14="http://schemas.microsoft.com/office/powerpoint/2010/main" val="30128657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But before we can talk about Higher Order Functions, we need to lay some groundwork </a:t>
            </a:r>
          </a:p>
        </p:txBody>
      </p:sp>
      <p:sp>
        <p:nvSpPr>
          <p:cNvPr id="4" name="Slide Number Placeholder 3"/>
          <p:cNvSpPr>
            <a:spLocks noGrp="1"/>
          </p:cNvSpPr>
          <p:nvPr>
            <p:ph type="sldNum" sz="quarter" idx="5"/>
          </p:nvPr>
        </p:nvSpPr>
        <p:spPr/>
        <p:txBody>
          <a:bodyPr/>
          <a:lstStyle/>
          <a:p>
            <a:fld id="{BCAC0DA4-3FAE-DF4B-9554-5D7B5414A6C1}" type="slidenum">
              <a:rPr lang="en-US" smtClean="0"/>
              <a:t>17</a:t>
            </a:fld>
            <a:endParaRPr lang="en-US"/>
          </a:p>
        </p:txBody>
      </p:sp>
    </p:spTree>
    <p:extLst>
      <p:ext uri="{BB962C8B-B14F-4D97-AF65-F5344CB8AC3E}">
        <p14:creationId xmlns:p14="http://schemas.microsoft.com/office/powerpoint/2010/main" val="26064247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parse-integer is</a:t>
            </a:r>
            <a:r>
              <a:rPr lang="en-US" baseline="0" dirty="0"/>
              <a:t> defined in the language </a:t>
            </a:r>
            <a:endParaRPr lang="en-US" dirty="0"/>
          </a:p>
        </p:txBody>
      </p:sp>
      <p:sp>
        <p:nvSpPr>
          <p:cNvPr id="4" name="Slide Number Placeholder 3"/>
          <p:cNvSpPr>
            <a:spLocks noGrp="1"/>
          </p:cNvSpPr>
          <p:nvPr>
            <p:ph type="sldNum" sz="quarter" idx="10"/>
          </p:nvPr>
        </p:nvSpPr>
        <p:spPr/>
        <p:txBody>
          <a:bodyPr/>
          <a:lstStyle/>
          <a:p>
            <a:fld id="{BCAC0DA4-3FAE-DF4B-9554-5D7B5414A6C1}" type="slidenum">
              <a:rPr lang="en-US" smtClean="0"/>
              <a:t>25</a:t>
            </a:fld>
            <a:endParaRPr lang="en-US"/>
          </a:p>
        </p:txBody>
      </p:sp>
    </p:spTree>
    <p:extLst>
      <p:ext uri="{BB962C8B-B14F-4D97-AF65-F5344CB8AC3E}">
        <p14:creationId xmlns:p14="http://schemas.microsoft.com/office/powerpoint/2010/main" val="19419729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NEED TO DO THIS!!! </a:t>
            </a:r>
            <a:r>
              <a:rPr lang="en-US"/>
              <a:t>COVERS STUFF YOU NEED FOR THE ASSIGNMENT!!!</a:t>
            </a:r>
          </a:p>
        </p:txBody>
      </p:sp>
      <p:sp>
        <p:nvSpPr>
          <p:cNvPr id="4" name="Slide Number Placeholder 3"/>
          <p:cNvSpPr>
            <a:spLocks noGrp="1"/>
          </p:cNvSpPr>
          <p:nvPr>
            <p:ph type="sldNum" sz="quarter" idx="5"/>
          </p:nvPr>
        </p:nvSpPr>
        <p:spPr/>
        <p:txBody>
          <a:bodyPr/>
          <a:lstStyle/>
          <a:p>
            <a:fld id="{BCAC0DA4-3FAE-DF4B-9554-5D7B5414A6C1}" type="slidenum">
              <a:rPr lang="en-US" smtClean="0"/>
              <a:t>29</a:t>
            </a:fld>
            <a:endParaRPr lang="en-US"/>
          </a:p>
        </p:txBody>
      </p:sp>
    </p:spTree>
    <p:extLst>
      <p:ext uri="{BB962C8B-B14F-4D97-AF65-F5344CB8AC3E}">
        <p14:creationId xmlns:p14="http://schemas.microsoft.com/office/powerpoint/2010/main" val="10824827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solidFill>
                  <a:srgbClr val="0070C0"/>
                </a:solidFill>
              </a:defRPr>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C197D23-1D1C-734C-9188-3D38F4DBA869}" type="datetimeFigureOut">
              <a:rPr lang="en-US" smtClean="0"/>
              <a:t>3/17/25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5726966-79DA-234F-B9D6-D01F1009FBDE}" type="slidenum">
              <a:rPr lang="en-US" smtClean="0"/>
              <a:t>‹#›</a:t>
            </a:fld>
            <a:endParaRPr lang="en-US"/>
          </a:p>
        </p:txBody>
      </p:sp>
    </p:spTree>
    <p:extLst>
      <p:ext uri="{BB962C8B-B14F-4D97-AF65-F5344CB8AC3E}">
        <p14:creationId xmlns:p14="http://schemas.microsoft.com/office/powerpoint/2010/main" val="25319327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70C0"/>
                </a:solidFill>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C197D23-1D1C-734C-9188-3D38F4DBA869}" type="datetimeFigureOut">
              <a:rPr lang="en-US" smtClean="0"/>
              <a:t>3/17/25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5726966-79DA-234F-B9D6-D01F1009FBDE}" type="slidenum">
              <a:rPr lang="en-US" smtClean="0"/>
              <a:t>‹#›</a:t>
            </a:fld>
            <a:endParaRPr lang="en-US"/>
          </a:p>
        </p:txBody>
      </p:sp>
    </p:spTree>
    <p:extLst>
      <p:ext uri="{BB962C8B-B14F-4D97-AF65-F5344CB8AC3E}">
        <p14:creationId xmlns:p14="http://schemas.microsoft.com/office/powerpoint/2010/main" val="24954312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AC197D23-1D1C-734C-9188-3D38F4DBA869}" type="datetimeFigureOut">
              <a:rPr lang="en-US" smtClean="0"/>
              <a:t>3/17/25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5726966-79DA-234F-B9D6-D01F1009FBDE}" type="slidenum">
              <a:rPr lang="en-US" smtClean="0"/>
              <a:t>‹#›</a:t>
            </a:fld>
            <a:endParaRPr lang="en-US"/>
          </a:p>
        </p:txBody>
      </p:sp>
    </p:spTree>
    <p:extLst>
      <p:ext uri="{BB962C8B-B14F-4D97-AF65-F5344CB8AC3E}">
        <p14:creationId xmlns:p14="http://schemas.microsoft.com/office/powerpoint/2010/main" val="22584872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C197D23-1D1C-734C-9188-3D38F4DBA869}" type="datetimeFigureOut">
              <a:rPr lang="en-US" smtClean="0"/>
              <a:t>3/17/25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5726966-79DA-234F-B9D6-D01F1009FBDE}" type="slidenum">
              <a:rPr lang="en-US" smtClean="0"/>
              <a:t>‹#›</a:t>
            </a:fld>
            <a:endParaRPr lang="en-US"/>
          </a:p>
        </p:txBody>
      </p:sp>
    </p:spTree>
    <p:extLst>
      <p:ext uri="{BB962C8B-B14F-4D97-AF65-F5344CB8AC3E}">
        <p14:creationId xmlns:p14="http://schemas.microsoft.com/office/powerpoint/2010/main" val="34450225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C197D23-1D1C-734C-9188-3D38F4DBA869}" type="datetimeFigureOut">
              <a:rPr lang="en-US" smtClean="0"/>
              <a:t>3/17/25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5726966-79DA-234F-B9D6-D01F1009FBDE}" type="slidenum">
              <a:rPr lang="en-US" smtClean="0"/>
              <a:t>‹#›</a:t>
            </a:fld>
            <a:endParaRPr lang="en-US"/>
          </a:p>
        </p:txBody>
      </p:sp>
    </p:spTree>
    <p:extLst>
      <p:ext uri="{BB962C8B-B14F-4D97-AF65-F5344CB8AC3E}">
        <p14:creationId xmlns:p14="http://schemas.microsoft.com/office/powerpoint/2010/main" val="41204969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C197D23-1D1C-734C-9188-3D38F4DBA869}" type="datetimeFigureOut">
              <a:rPr lang="en-US" smtClean="0"/>
              <a:t>3/17/25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5726966-79DA-234F-B9D6-D01F1009FBDE}" type="slidenum">
              <a:rPr lang="en-US" smtClean="0"/>
              <a:t>‹#›</a:t>
            </a:fld>
            <a:endParaRPr lang="en-US"/>
          </a:p>
        </p:txBody>
      </p:sp>
    </p:spTree>
    <p:extLst>
      <p:ext uri="{BB962C8B-B14F-4D97-AF65-F5344CB8AC3E}">
        <p14:creationId xmlns:p14="http://schemas.microsoft.com/office/powerpoint/2010/main" val="16797568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C197D23-1D1C-734C-9188-3D38F4DBA869}" type="datetimeFigureOut">
              <a:rPr lang="en-US" smtClean="0"/>
              <a:t>3/17/25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5726966-79DA-234F-B9D6-D01F1009FBDE}" type="slidenum">
              <a:rPr lang="en-US" smtClean="0"/>
              <a:t>‹#›</a:t>
            </a:fld>
            <a:endParaRPr lang="en-US"/>
          </a:p>
        </p:txBody>
      </p:sp>
    </p:spTree>
    <p:extLst>
      <p:ext uri="{BB962C8B-B14F-4D97-AF65-F5344CB8AC3E}">
        <p14:creationId xmlns:p14="http://schemas.microsoft.com/office/powerpoint/2010/main" val="7614902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C197D23-1D1C-734C-9188-3D38F4DBA869}" type="datetimeFigureOut">
              <a:rPr lang="en-US" smtClean="0"/>
              <a:t>3/17/25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5726966-79DA-234F-B9D6-D01F1009FBDE}" type="slidenum">
              <a:rPr lang="en-US" smtClean="0"/>
              <a:t>‹#›</a:t>
            </a:fld>
            <a:endParaRPr lang="en-US"/>
          </a:p>
        </p:txBody>
      </p:sp>
    </p:spTree>
    <p:extLst>
      <p:ext uri="{BB962C8B-B14F-4D97-AF65-F5344CB8AC3E}">
        <p14:creationId xmlns:p14="http://schemas.microsoft.com/office/powerpoint/2010/main" val="1047974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C197D23-1D1C-734C-9188-3D38F4DBA869}" type="datetimeFigureOut">
              <a:rPr lang="en-US" smtClean="0"/>
              <a:t>3/17/25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5726966-79DA-234F-B9D6-D01F1009FBDE}" type="slidenum">
              <a:rPr lang="en-US" smtClean="0"/>
              <a:t>‹#›</a:t>
            </a:fld>
            <a:endParaRPr lang="en-US"/>
          </a:p>
        </p:txBody>
      </p:sp>
    </p:spTree>
    <p:extLst>
      <p:ext uri="{BB962C8B-B14F-4D97-AF65-F5344CB8AC3E}">
        <p14:creationId xmlns:p14="http://schemas.microsoft.com/office/powerpoint/2010/main" val="42297271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C197D23-1D1C-734C-9188-3D38F4DBA869}" type="datetimeFigureOut">
              <a:rPr lang="en-US" smtClean="0"/>
              <a:t>3/17/25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5726966-79DA-234F-B9D6-D01F1009FBDE}" type="slidenum">
              <a:rPr lang="en-US" smtClean="0"/>
              <a:t>‹#›</a:t>
            </a:fld>
            <a:endParaRPr lang="en-US"/>
          </a:p>
        </p:txBody>
      </p:sp>
    </p:spTree>
    <p:extLst>
      <p:ext uri="{BB962C8B-B14F-4D97-AF65-F5344CB8AC3E}">
        <p14:creationId xmlns:p14="http://schemas.microsoft.com/office/powerpoint/2010/main" val="13703888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C197D23-1D1C-734C-9188-3D38F4DBA869}" type="datetimeFigureOut">
              <a:rPr lang="en-US" smtClean="0"/>
              <a:t>3/17/25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5726966-79DA-234F-B9D6-D01F1009FBDE}" type="slidenum">
              <a:rPr lang="en-US" smtClean="0"/>
              <a:t>‹#›</a:t>
            </a:fld>
            <a:endParaRPr lang="en-US"/>
          </a:p>
        </p:txBody>
      </p:sp>
    </p:spTree>
    <p:extLst>
      <p:ext uri="{BB962C8B-B14F-4D97-AF65-F5344CB8AC3E}">
        <p14:creationId xmlns:p14="http://schemas.microsoft.com/office/powerpoint/2010/main" val="16361067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C197D23-1D1C-734C-9188-3D38F4DBA869}" type="datetimeFigureOut">
              <a:rPr lang="en-US" smtClean="0"/>
              <a:t>3/17/25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5726966-79DA-234F-B9D6-D01F1009FBDE}" type="slidenum">
              <a:rPr lang="en-US" smtClean="0"/>
              <a:t>‹#›</a:t>
            </a:fld>
            <a:endParaRPr lang="en-US"/>
          </a:p>
        </p:txBody>
      </p:sp>
    </p:spTree>
    <p:extLst>
      <p:ext uri="{BB962C8B-B14F-4D97-AF65-F5344CB8AC3E}">
        <p14:creationId xmlns:p14="http://schemas.microsoft.com/office/powerpoint/2010/main" val="1598549748"/>
      </p:ext>
    </p:extLst>
  </p:cSld>
  <p:clrMap bg1="lt1" tx1="dk1" bg2="lt2" tx2="dk2" accent1="accent1" accent2="accent2" accent3="accent3" accent4="accent4" accent5="accent5" accent6="accent6" hlink="hlink" folHlink="folHlink"/>
  <p:sldLayoutIdLst>
    <p:sldLayoutId id="2147483704" r:id="rId1"/>
    <p:sldLayoutId id="2147483705" r:id="rId2"/>
    <p:sldLayoutId id="2147483706" r:id="rId3"/>
    <p:sldLayoutId id="2147483707" r:id="rId4"/>
    <p:sldLayoutId id="2147483708" r:id="rId5"/>
    <p:sldLayoutId id="2147483709" r:id="rId6"/>
    <p:sldLayoutId id="2147483710" r:id="rId7"/>
    <p:sldLayoutId id="2147483711" r:id="rId8"/>
    <p:sldLayoutId id="2147483712" r:id="rId9"/>
    <p:sldLayoutId id="2147483713" r:id="rId10"/>
    <p:sldLayoutId id="2147483714" r:id="rId11"/>
  </p:sldLayoutIdLst>
  <p:txStyles>
    <p:titleStyle>
      <a:lvl1pPr algn="l" defTabSz="914400" rtl="0" eaLnBrk="1" latinLnBrk="0" hangingPunct="1">
        <a:lnSpc>
          <a:spcPct val="90000"/>
        </a:lnSpc>
        <a:spcBef>
          <a:spcPct val="0"/>
        </a:spcBef>
        <a:buNone/>
        <a:defRPr sz="4400" kern="1200">
          <a:solidFill>
            <a:srgbClr val="0070C0"/>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solidFill>
                  <a:srgbClr val="0070C0"/>
                </a:solidFill>
              </a:rPr>
              <a:t>CMSC 304</a:t>
            </a:r>
          </a:p>
        </p:txBody>
      </p:sp>
      <p:sp>
        <p:nvSpPr>
          <p:cNvPr id="3" name="Subtitle 2"/>
          <p:cNvSpPr>
            <a:spLocks noGrp="1"/>
          </p:cNvSpPr>
          <p:nvPr>
            <p:ph type="subTitle" idx="1"/>
          </p:nvPr>
        </p:nvSpPr>
        <p:spPr/>
        <p:txBody>
          <a:bodyPr/>
          <a:lstStyle/>
          <a:p>
            <a:r>
              <a:rPr lang="en-US" dirty="0"/>
              <a:t>Iteration &amp; Higher Order Functions</a:t>
            </a:r>
          </a:p>
          <a:p>
            <a:r>
              <a:rPr lang="en-US"/>
              <a:t>Claire Sparks</a:t>
            </a:r>
            <a:endParaRPr lang="en-US" dirty="0"/>
          </a:p>
        </p:txBody>
      </p:sp>
    </p:spTree>
    <p:extLst>
      <p:ext uri="{BB962C8B-B14F-4D97-AF65-F5344CB8AC3E}">
        <p14:creationId xmlns:p14="http://schemas.microsoft.com/office/powerpoint/2010/main" val="40191389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70C0"/>
                </a:solidFill>
              </a:rPr>
              <a:t>Common Lisp </a:t>
            </a:r>
            <a:r>
              <a:rPr lang="mr-IN" b="1" dirty="0">
                <a:solidFill>
                  <a:srgbClr val="0070C0"/>
                </a:solidFill>
              </a:rPr>
              <a:t>–</a:t>
            </a:r>
            <a:r>
              <a:rPr lang="en-US" b="1" dirty="0">
                <a:solidFill>
                  <a:srgbClr val="0070C0"/>
                </a:solidFill>
              </a:rPr>
              <a:t> Iteration </a:t>
            </a:r>
          </a:p>
        </p:txBody>
      </p:sp>
      <p:sp>
        <p:nvSpPr>
          <p:cNvPr id="3" name="Content Placeholder 2"/>
          <p:cNvSpPr>
            <a:spLocks noGrp="1"/>
          </p:cNvSpPr>
          <p:nvPr>
            <p:ph idx="1"/>
          </p:nvPr>
        </p:nvSpPr>
        <p:spPr/>
        <p:txBody>
          <a:bodyPr>
            <a:normAutofit/>
          </a:bodyPr>
          <a:lstStyle/>
          <a:p>
            <a:pPr>
              <a:defRPr/>
            </a:pPr>
            <a:r>
              <a:rPr lang="en-US" dirty="0">
                <a:latin typeface="Calibri" charset="0"/>
                <a:ea typeface="Calibri" charset="0"/>
                <a:cs typeface="Calibri" charset="0"/>
              </a:rPr>
              <a:t>Because Common Lisp is a functional language, it lacks side effects</a:t>
            </a:r>
          </a:p>
          <a:p>
            <a:pPr>
              <a:defRPr/>
            </a:pPr>
            <a:r>
              <a:rPr lang="en-US" dirty="0">
                <a:latin typeface="Calibri" charset="0"/>
                <a:ea typeface="Calibri" charset="0"/>
                <a:cs typeface="Calibri" charset="0"/>
              </a:rPr>
              <a:t>As a result, we cannot increment and decrement variables as we can in imperative languages</a:t>
            </a:r>
          </a:p>
          <a:p>
            <a:pPr>
              <a:defRPr/>
            </a:pPr>
            <a:r>
              <a:rPr lang="en-US" dirty="0">
                <a:latin typeface="Calibri" charset="0"/>
                <a:ea typeface="Calibri" charset="0"/>
                <a:cs typeface="Calibri" charset="0"/>
              </a:rPr>
              <a:t>Nor can we use </a:t>
            </a:r>
            <a:r>
              <a:rPr lang="en-US" dirty="0" err="1">
                <a:latin typeface="Calibri" charset="0"/>
                <a:ea typeface="Calibri" charset="0"/>
                <a:cs typeface="Calibri" charset="0"/>
              </a:rPr>
              <a:t>boolean</a:t>
            </a:r>
            <a:r>
              <a:rPr lang="en-US" dirty="0">
                <a:latin typeface="Calibri" charset="0"/>
                <a:ea typeface="Calibri" charset="0"/>
                <a:cs typeface="Calibri" charset="0"/>
              </a:rPr>
              <a:t> variables as flags </a:t>
            </a:r>
          </a:p>
          <a:p>
            <a:pPr>
              <a:defRPr/>
            </a:pPr>
            <a:r>
              <a:rPr lang="en-US" dirty="0">
                <a:latin typeface="Calibri" charset="0"/>
                <a:ea typeface="Calibri" charset="0"/>
                <a:cs typeface="Calibri" charset="0"/>
              </a:rPr>
              <a:t>Without these constructs, we cannot implement the while or for loops fundamental to imperative languages </a:t>
            </a:r>
          </a:p>
          <a:p>
            <a:pPr>
              <a:defRPr/>
            </a:pPr>
            <a:r>
              <a:rPr lang="en-US" dirty="0">
                <a:latin typeface="Calibri" charset="0"/>
                <a:ea typeface="Calibri" charset="0"/>
                <a:cs typeface="Calibri" charset="0"/>
              </a:rPr>
              <a:t>So how do we iterate in Common Lisp? </a:t>
            </a:r>
          </a:p>
        </p:txBody>
      </p:sp>
      <p:sp>
        <p:nvSpPr>
          <p:cNvPr id="5" name="TextBox 4"/>
          <p:cNvSpPr txBox="1"/>
          <p:nvPr/>
        </p:nvSpPr>
        <p:spPr>
          <a:xfrm>
            <a:off x="10580914" y="1104405"/>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11628010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70C0"/>
                </a:solidFill>
              </a:rPr>
              <a:t>Recursion</a:t>
            </a:r>
          </a:p>
        </p:txBody>
      </p:sp>
      <p:sp>
        <p:nvSpPr>
          <p:cNvPr id="3" name="Content Placeholder 2"/>
          <p:cNvSpPr>
            <a:spLocks noGrp="1"/>
          </p:cNvSpPr>
          <p:nvPr>
            <p:ph idx="1"/>
          </p:nvPr>
        </p:nvSpPr>
        <p:spPr/>
        <p:txBody>
          <a:bodyPr>
            <a:noAutofit/>
          </a:bodyPr>
          <a:lstStyle/>
          <a:p>
            <a:pPr>
              <a:defRPr/>
            </a:pPr>
            <a:r>
              <a:rPr lang="en-US" dirty="0"/>
              <a:t>Common Lisp relies on recursion (!) to perform loops and other repetitive operations</a:t>
            </a:r>
          </a:p>
          <a:p>
            <a:pPr lvl="1">
              <a:defRPr/>
            </a:pPr>
            <a:r>
              <a:rPr lang="en-US" sz="2800" dirty="0"/>
              <a:t>To apply repeated operations to a list we “</a:t>
            </a:r>
            <a:r>
              <a:rPr lang="en-US" sz="2800" dirty="0" err="1"/>
              <a:t>cdr</a:t>
            </a:r>
            <a:r>
              <a:rPr lang="en-US" sz="2800" dirty="0"/>
              <a:t> down and cons up”:</a:t>
            </a:r>
          </a:p>
          <a:p>
            <a:pPr lvl="2">
              <a:defRPr/>
            </a:pPr>
            <a:r>
              <a:rPr lang="en-US" sz="2400" dirty="0"/>
              <a:t>Apply the operation recursively to the tail of a list and then use the </a:t>
            </a:r>
            <a:r>
              <a:rPr lang="en-US" sz="2400" dirty="0">
                <a:latin typeface="Courier New" pitchFamily="49" charset="0"/>
                <a:cs typeface="Courier New" pitchFamily="49" charset="0"/>
              </a:rPr>
              <a:t>cons</a:t>
            </a:r>
            <a:r>
              <a:rPr lang="en-US" sz="2400" dirty="0"/>
              <a:t> operator to construct a new list with the current result</a:t>
            </a:r>
          </a:p>
          <a:p>
            <a:pPr>
              <a:defRPr/>
            </a:pPr>
            <a:r>
              <a:rPr lang="en-US" dirty="0"/>
              <a:t>Example:</a:t>
            </a:r>
          </a:p>
          <a:p>
            <a:pPr marL="0" indent="0">
              <a:buNone/>
            </a:pPr>
            <a:r>
              <a:rPr lang="en-US" sz="2400" dirty="0">
                <a:latin typeface="Courier New" charset="0"/>
                <a:ea typeface="Courier New" charset="0"/>
                <a:cs typeface="Courier New" charset="0"/>
              </a:rPr>
              <a:t>(</a:t>
            </a:r>
            <a:r>
              <a:rPr lang="en-US" sz="2400" dirty="0" err="1">
                <a:latin typeface="Courier New" charset="0"/>
                <a:ea typeface="Courier New" charset="0"/>
                <a:cs typeface="Courier New" charset="0"/>
              </a:rPr>
              <a:t>defun</a:t>
            </a:r>
            <a:r>
              <a:rPr lang="en-US" sz="2400" dirty="0">
                <a:latin typeface="Courier New" charset="0"/>
                <a:ea typeface="Courier New" charset="0"/>
                <a:cs typeface="Courier New" charset="0"/>
              </a:rPr>
              <a:t> square-list (L)</a:t>
            </a:r>
          </a:p>
          <a:p>
            <a:pPr marL="0" indent="0">
              <a:buNone/>
            </a:pPr>
            <a:r>
              <a:rPr lang="en-US" sz="2400" dirty="0">
                <a:latin typeface="Courier New" charset="0"/>
                <a:ea typeface="Courier New" charset="0"/>
                <a:cs typeface="Courier New" charset="0"/>
              </a:rPr>
              <a:t>  (if (null L) </a:t>
            </a:r>
          </a:p>
          <a:p>
            <a:pPr marL="0" indent="0">
              <a:buNone/>
            </a:pPr>
            <a:r>
              <a:rPr lang="en-US" sz="2400" dirty="0">
                <a:latin typeface="Courier New" charset="0"/>
                <a:ea typeface="Courier New" charset="0"/>
                <a:cs typeface="Courier New" charset="0"/>
              </a:rPr>
              <a:t>	nil</a:t>
            </a:r>
          </a:p>
          <a:p>
            <a:pPr marL="0" indent="0">
              <a:buNone/>
            </a:pPr>
            <a:r>
              <a:rPr lang="mr-IN" sz="2400" dirty="0">
                <a:latin typeface="Courier New" charset="0"/>
                <a:ea typeface="Courier New" charset="0"/>
                <a:cs typeface="Courier New" charset="0"/>
              </a:rPr>
              <a:t>    (</a:t>
            </a:r>
            <a:r>
              <a:rPr lang="mr-IN" sz="2400" dirty="0" err="1">
                <a:latin typeface="Courier New" charset="0"/>
                <a:ea typeface="Courier New" charset="0"/>
                <a:cs typeface="Courier New" charset="0"/>
              </a:rPr>
              <a:t>cons</a:t>
            </a:r>
            <a:r>
              <a:rPr lang="mr-IN" sz="2400" dirty="0">
                <a:latin typeface="Courier New" charset="0"/>
                <a:ea typeface="Courier New" charset="0"/>
                <a:cs typeface="Courier New" charset="0"/>
              </a:rPr>
              <a:t> (* (</a:t>
            </a:r>
            <a:r>
              <a:rPr lang="mr-IN" sz="2400" dirty="0" err="1">
                <a:latin typeface="Courier New" charset="0"/>
                <a:ea typeface="Courier New" charset="0"/>
                <a:cs typeface="Courier New" charset="0"/>
              </a:rPr>
              <a:t>car</a:t>
            </a:r>
            <a:r>
              <a:rPr lang="mr-IN" sz="2400" dirty="0">
                <a:latin typeface="Courier New" charset="0"/>
                <a:ea typeface="Courier New" charset="0"/>
                <a:cs typeface="Courier New" charset="0"/>
              </a:rPr>
              <a:t> L) (</a:t>
            </a:r>
            <a:r>
              <a:rPr lang="mr-IN" sz="2400" dirty="0" err="1">
                <a:latin typeface="Courier New" charset="0"/>
                <a:ea typeface="Courier New" charset="0"/>
                <a:cs typeface="Courier New" charset="0"/>
              </a:rPr>
              <a:t>car</a:t>
            </a:r>
            <a:r>
              <a:rPr lang="mr-IN" sz="2400" dirty="0">
                <a:latin typeface="Courier New" charset="0"/>
                <a:ea typeface="Courier New" charset="0"/>
                <a:cs typeface="Courier New" charset="0"/>
              </a:rPr>
              <a:t> L)) (</a:t>
            </a:r>
            <a:r>
              <a:rPr lang="mr-IN" sz="2400" dirty="0" err="1">
                <a:latin typeface="Courier New" charset="0"/>
                <a:ea typeface="Courier New" charset="0"/>
                <a:cs typeface="Courier New" charset="0"/>
              </a:rPr>
              <a:t>square-list</a:t>
            </a:r>
            <a:r>
              <a:rPr lang="mr-IN" sz="2400" dirty="0">
                <a:latin typeface="Courier New" charset="0"/>
                <a:ea typeface="Courier New" charset="0"/>
                <a:cs typeface="Courier New" charset="0"/>
              </a:rPr>
              <a:t>(</a:t>
            </a:r>
            <a:r>
              <a:rPr lang="mr-IN" sz="2400" dirty="0" err="1">
                <a:latin typeface="Courier New" charset="0"/>
                <a:ea typeface="Courier New" charset="0"/>
                <a:cs typeface="Courier New" charset="0"/>
              </a:rPr>
              <a:t>cdr</a:t>
            </a:r>
            <a:r>
              <a:rPr lang="mr-IN" sz="2400" dirty="0">
                <a:latin typeface="Courier New" charset="0"/>
                <a:ea typeface="Courier New" charset="0"/>
                <a:cs typeface="Courier New" charset="0"/>
              </a:rPr>
              <a:t> L)))</a:t>
            </a:r>
          </a:p>
          <a:p>
            <a:pPr marL="0" indent="0">
              <a:buNone/>
            </a:pPr>
            <a:r>
              <a:rPr lang="mr-IN" sz="2400" dirty="0">
                <a:latin typeface="Courier New" charset="0"/>
                <a:ea typeface="Courier New" charset="0"/>
                <a:cs typeface="Courier New" charset="0"/>
              </a:rPr>
              <a:t>  ))</a:t>
            </a:r>
          </a:p>
        </p:txBody>
      </p:sp>
      <p:sp>
        <p:nvSpPr>
          <p:cNvPr id="5" name="TextBox 4"/>
          <p:cNvSpPr txBox="1"/>
          <p:nvPr/>
        </p:nvSpPr>
        <p:spPr>
          <a:xfrm>
            <a:off x="10580914" y="1104405"/>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5505978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70C0"/>
                </a:solidFill>
              </a:rPr>
              <a:t>Recursion</a:t>
            </a:r>
          </a:p>
        </p:txBody>
      </p:sp>
      <p:sp>
        <p:nvSpPr>
          <p:cNvPr id="3" name="Content Placeholder 2"/>
          <p:cNvSpPr>
            <a:spLocks noGrp="1"/>
          </p:cNvSpPr>
          <p:nvPr>
            <p:ph idx="1"/>
          </p:nvPr>
        </p:nvSpPr>
        <p:spPr/>
        <p:txBody>
          <a:bodyPr>
            <a:noAutofit/>
          </a:bodyPr>
          <a:lstStyle/>
          <a:p>
            <a:r>
              <a:rPr lang="en-US" altLang="en-US" dirty="0">
                <a:ea typeface="MS PGothic" charset="-128"/>
              </a:rPr>
              <a:t>In imperative languages loops are always preferable to recursion because of the runtime overhead for function calls</a:t>
            </a:r>
          </a:p>
          <a:p>
            <a:pPr lvl="1"/>
            <a:r>
              <a:rPr lang="en-US" altLang="en-US" dirty="0">
                <a:ea typeface="MS PGothic" charset="-128"/>
              </a:rPr>
              <a:t>Each recursive call requires its own stack frame on the call stack </a:t>
            </a:r>
          </a:p>
          <a:p>
            <a:pPr lvl="1"/>
            <a:r>
              <a:rPr lang="en-US" altLang="en-US" dirty="0">
                <a:ea typeface="MS PGothic" charset="-128"/>
              </a:rPr>
              <a:t>So if a recursive function calls itself nine times, that’s ten stack frames which must be created and stored </a:t>
            </a:r>
          </a:p>
          <a:p>
            <a:pPr lvl="1"/>
            <a:r>
              <a:rPr lang="en-US" altLang="en-US" dirty="0">
                <a:ea typeface="MS PGothic" charset="-128"/>
              </a:rPr>
              <a:t>Memory usage grows at O(n), thus only so many iterations can be done before there is no more free memory</a:t>
            </a:r>
          </a:p>
          <a:p>
            <a:pPr lvl="2"/>
            <a:r>
              <a:rPr lang="en-US" altLang="en-US" dirty="0">
                <a:ea typeface="MS PGothic" charset="-128"/>
              </a:rPr>
              <a:t>Causes a stack overflow error </a:t>
            </a:r>
          </a:p>
          <a:p>
            <a:pPr lvl="1"/>
            <a:r>
              <a:rPr lang="en-US" altLang="en-US" dirty="0">
                <a:ea typeface="MS PGothic" charset="-128"/>
              </a:rPr>
              <a:t>Relatively slow, creating new stack frames takes dozens of CPU instructions</a:t>
            </a:r>
          </a:p>
          <a:p>
            <a:pPr lvl="2"/>
            <a:r>
              <a:rPr lang="en-US" altLang="en-US" dirty="0">
                <a:ea typeface="MS PGothic" charset="-128"/>
              </a:rPr>
              <a:t>Where a loop only needs a single CPU instructions (a JMP of some kind)</a:t>
            </a:r>
          </a:p>
          <a:p>
            <a:r>
              <a:rPr lang="en-US" altLang="en-US" dirty="0">
                <a:ea typeface="MS PGothic" charset="-128"/>
              </a:rPr>
              <a:t>How do we address these issues if we’re forced to use recursion?</a:t>
            </a:r>
          </a:p>
          <a:p>
            <a:endParaRPr lang="en-US" altLang="en-US" dirty="0">
              <a:ea typeface="MS PGothic" charset="-128"/>
            </a:endParaRPr>
          </a:p>
          <a:p>
            <a:endParaRPr lang="en-US" altLang="en-US" dirty="0">
              <a:ea typeface="MS PGothic" charset="-128"/>
            </a:endParaRPr>
          </a:p>
        </p:txBody>
      </p:sp>
      <p:sp>
        <p:nvSpPr>
          <p:cNvPr id="5" name="TextBox 4"/>
          <p:cNvSpPr txBox="1"/>
          <p:nvPr/>
        </p:nvSpPr>
        <p:spPr>
          <a:xfrm>
            <a:off x="10580914" y="1104405"/>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4427694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70C0"/>
                </a:solidFill>
              </a:rPr>
              <a:t>Tail Recursion</a:t>
            </a:r>
          </a:p>
        </p:txBody>
      </p:sp>
      <p:sp>
        <p:nvSpPr>
          <p:cNvPr id="3" name="Content Placeholder 2"/>
          <p:cNvSpPr>
            <a:spLocks noGrp="1"/>
          </p:cNvSpPr>
          <p:nvPr>
            <p:ph idx="1"/>
          </p:nvPr>
        </p:nvSpPr>
        <p:spPr/>
        <p:txBody>
          <a:bodyPr>
            <a:noAutofit/>
          </a:bodyPr>
          <a:lstStyle/>
          <a:p>
            <a:r>
              <a:rPr lang="en-US" altLang="en-US" b="1" dirty="0">
                <a:ea typeface="MS PGothic" charset="-128"/>
              </a:rPr>
              <a:t>Tail recursive</a:t>
            </a:r>
            <a:r>
              <a:rPr lang="en-US" altLang="en-US" dirty="0">
                <a:ea typeface="MS PGothic" charset="-128"/>
              </a:rPr>
              <a:t>: when the recursive step is the last step in a function</a:t>
            </a:r>
          </a:p>
          <a:p>
            <a:pPr lvl="1"/>
            <a:r>
              <a:rPr lang="en-US" altLang="en-US" sz="2800" dirty="0">
                <a:ea typeface="MS PGothic" charset="-128"/>
              </a:rPr>
              <a:t>Common Lisp translates this to machine code that executes as a loop!</a:t>
            </a:r>
          </a:p>
          <a:p>
            <a:pPr lvl="2"/>
            <a:r>
              <a:rPr lang="en-US" altLang="en-US" sz="2400" dirty="0">
                <a:ea typeface="MS PGothic" charset="-128"/>
              </a:rPr>
              <a:t>No additional overhead for function calls other than the top-level call</a:t>
            </a:r>
          </a:p>
          <a:p>
            <a:pPr lvl="2"/>
            <a:r>
              <a:rPr lang="en-US" altLang="en-US" sz="2400" dirty="0">
                <a:ea typeface="MS PGothic" charset="-128"/>
              </a:rPr>
              <a:t>i.e. recursive calls don’t require their own stack frame</a:t>
            </a:r>
          </a:p>
          <a:p>
            <a:pPr lvl="1"/>
            <a:r>
              <a:rPr lang="en-US" altLang="en-US" sz="2800" dirty="0">
                <a:ea typeface="MS PGothic" charset="-128"/>
              </a:rPr>
              <a:t>Eliminates the performance hit of recursion</a:t>
            </a:r>
          </a:p>
        </p:txBody>
      </p:sp>
      <p:sp>
        <p:nvSpPr>
          <p:cNvPr id="5" name="TextBox 4"/>
          <p:cNvSpPr txBox="1"/>
          <p:nvPr/>
        </p:nvSpPr>
        <p:spPr>
          <a:xfrm>
            <a:off x="10580914" y="1104405"/>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16055910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70C0"/>
                </a:solidFill>
              </a:rPr>
              <a:t>Tail Recursion</a:t>
            </a:r>
          </a:p>
        </p:txBody>
      </p:sp>
      <p:sp>
        <p:nvSpPr>
          <p:cNvPr id="3" name="Content Placeholder 2"/>
          <p:cNvSpPr>
            <a:spLocks noGrp="1"/>
          </p:cNvSpPr>
          <p:nvPr>
            <p:ph idx="1"/>
          </p:nvPr>
        </p:nvSpPr>
        <p:spPr/>
        <p:txBody>
          <a:bodyPr>
            <a:noAutofit/>
          </a:bodyPr>
          <a:lstStyle/>
          <a:p>
            <a:pPr marL="342900" lvl="1" indent="-342900">
              <a:buFontTx/>
              <a:buChar char="•"/>
              <a:defRPr/>
            </a:pPr>
            <a:r>
              <a:rPr lang="en-US" altLang="en-US" sz="2800" b="1" dirty="0"/>
              <a:t>Tail recursive</a:t>
            </a:r>
            <a:r>
              <a:rPr lang="en-US" altLang="en-US" sz="2800" dirty="0"/>
              <a:t>: when the recursive step is the last step in any function</a:t>
            </a:r>
          </a:p>
          <a:p>
            <a:pPr marL="342900" lvl="1" indent="-342900">
              <a:buFontTx/>
              <a:buChar char="•"/>
              <a:defRPr/>
            </a:pPr>
            <a:r>
              <a:rPr lang="en-US" sz="2800" dirty="0"/>
              <a:t>Is this function tail recursive?</a:t>
            </a:r>
          </a:p>
          <a:p>
            <a:pPr marL="0" indent="0">
              <a:buNone/>
            </a:pPr>
            <a:r>
              <a:rPr lang="en-US" dirty="0">
                <a:latin typeface="Courier New" charset="0"/>
                <a:ea typeface="Courier New" charset="0"/>
                <a:cs typeface="Courier New" charset="0"/>
              </a:rPr>
              <a:t>(</a:t>
            </a:r>
            <a:r>
              <a:rPr lang="en-US" dirty="0" err="1">
                <a:latin typeface="Courier New" charset="0"/>
                <a:ea typeface="Courier New" charset="0"/>
                <a:cs typeface="Courier New" charset="0"/>
              </a:rPr>
              <a:t>defun</a:t>
            </a:r>
            <a:r>
              <a:rPr lang="en-US" dirty="0">
                <a:latin typeface="Courier New" charset="0"/>
                <a:ea typeface="Courier New" charset="0"/>
                <a:cs typeface="Courier New" charset="0"/>
              </a:rPr>
              <a:t> factorial (n)</a:t>
            </a:r>
          </a:p>
          <a:p>
            <a:pPr marL="0" indent="0">
              <a:buNone/>
            </a:pPr>
            <a:r>
              <a:rPr lang="mr-IN" dirty="0">
                <a:latin typeface="Courier New" charset="0"/>
                <a:ea typeface="Courier New" charset="0"/>
                <a:cs typeface="Courier New" charset="0"/>
              </a:rPr>
              <a:t>  (</a:t>
            </a:r>
            <a:r>
              <a:rPr lang="mr-IN" dirty="0" err="1">
                <a:latin typeface="Courier New" charset="0"/>
                <a:ea typeface="Courier New" charset="0"/>
                <a:cs typeface="Courier New" charset="0"/>
              </a:rPr>
              <a:t>if</a:t>
            </a:r>
            <a:r>
              <a:rPr lang="mr-IN" dirty="0">
                <a:latin typeface="Courier New" charset="0"/>
                <a:ea typeface="Courier New" charset="0"/>
                <a:cs typeface="Courier New" charset="0"/>
              </a:rPr>
              <a:t> (= </a:t>
            </a:r>
            <a:r>
              <a:rPr lang="mr-IN" dirty="0" err="1">
                <a:latin typeface="Courier New" charset="0"/>
                <a:ea typeface="Courier New" charset="0"/>
                <a:cs typeface="Courier New" charset="0"/>
              </a:rPr>
              <a:t>n</a:t>
            </a:r>
            <a:r>
              <a:rPr lang="mr-IN" dirty="0">
                <a:latin typeface="Courier New" charset="0"/>
                <a:ea typeface="Courier New" charset="0"/>
                <a:cs typeface="Courier New" charset="0"/>
              </a:rPr>
              <a:t> 0)</a:t>
            </a:r>
          </a:p>
          <a:p>
            <a:pPr marL="0" indent="0">
              <a:buNone/>
            </a:pPr>
            <a:r>
              <a:rPr lang="mr-IN" dirty="0">
                <a:latin typeface="Courier New" charset="0"/>
                <a:ea typeface="Courier New" charset="0"/>
                <a:cs typeface="Courier New" charset="0"/>
              </a:rPr>
              <a:t>    1</a:t>
            </a:r>
          </a:p>
          <a:p>
            <a:pPr marL="0" indent="0">
              <a:buNone/>
            </a:pPr>
            <a:r>
              <a:rPr lang="mr-IN" dirty="0">
                <a:latin typeface="Courier New" charset="0"/>
                <a:ea typeface="Courier New" charset="0"/>
                <a:cs typeface="Courier New" charset="0"/>
              </a:rPr>
              <a:t>    (* </a:t>
            </a:r>
            <a:r>
              <a:rPr lang="mr-IN" dirty="0" err="1">
                <a:latin typeface="Courier New" charset="0"/>
                <a:ea typeface="Courier New" charset="0"/>
                <a:cs typeface="Courier New" charset="0"/>
              </a:rPr>
              <a:t>n</a:t>
            </a:r>
            <a:r>
              <a:rPr lang="mr-IN" dirty="0">
                <a:latin typeface="Courier New" charset="0"/>
                <a:ea typeface="Courier New" charset="0"/>
                <a:cs typeface="Courier New" charset="0"/>
              </a:rPr>
              <a:t> (</a:t>
            </a:r>
            <a:r>
              <a:rPr lang="mr-IN" dirty="0" err="1">
                <a:latin typeface="Courier New" charset="0"/>
                <a:ea typeface="Courier New" charset="0"/>
                <a:cs typeface="Courier New" charset="0"/>
              </a:rPr>
              <a:t>factorial</a:t>
            </a:r>
            <a:r>
              <a:rPr lang="mr-IN" dirty="0">
                <a:latin typeface="Courier New" charset="0"/>
                <a:ea typeface="Courier New" charset="0"/>
                <a:cs typeface="Courier New" charset="0"/>
              </a:rPr>
              <a:t>(- </a:t>
            </a:r>
            <a:r>
              <a:rPr lang="mr-IN" dirty="0" err="1">
                <a:latin typeface="Courier New" charset="0"/>
                <a:ea typeface="Courier New" charset="0"/>
                <a:cs typeface="Courier New" charset="0"/>
              </a:rPr>
              <a:t>n</a:t>
            </a:r>
            <a:r>
              <a:rPr lang="mr-IN" dirty="0">
                <a:latin typeface="Courier New" charset="0"/>
                <a:ea typeface="Courier New" charset="0"/>
                <a:cs typeface="Courier New" charset="0"/>
              </a:rPr>
              <a:t> 1))</a:t>
            </a:r>
            <a:r>
              <a:rPr lang="en-US" dirty="0">
                <a:latin typeface="Courier New" charset="0"/>
                <a:ea typeface="Courier New" charset="0"/>
                <a:cs typeface="Courier New" charset="0"/>
              </a:rPr>
              <a:t>)</a:t>
            </a:r>
            <a:endParaRPr lang="mr-IN" dirty="0">
              <a:latin typeface="Courier New" charset="0"/>
              <a:ea typeface="Courier New" charset="0"/>
              <a:cs typeface="Courier New" charset="0"/>
            </a:endParaRPr>
          </a:p>
          <a:p>
            <a:pPr marL="0" indent="0">
              <a:buNone/>
            </a:pPr>
            <a:r>
              <a:rPr lang="mr-IN" dirty="0">
                <a:latin typeface="Courier New" charset="0"/>
                <a:ea typeface="Courier New" charset="0"/>
                <a:cs typeface="Courier New" charset="0"/>
              </a:rPr>
              <a:t>  )</a:t>
            </a:r>
            <a:endParaRPr lang="en-US" dirty="0">
              <a:latin typeface="Courier New" charset="0"/>
              <a:ea typeface="Courier New" charset="0"/>
              <a:cs typeface="Courier New" charset="0"/>
            </a:endParaRPr>
          </a:p>
          <a:p>
            <a:pPr marL="0" indent="0">
              <a:buNone/>
            </a:pPr>
            <a:r>
              <a:rPr lang="en-US" dirty="0">
                <a:latin typeface="Courier New" charset="0"/>
                <a:ea typeface="Courier New" charset="0"/>
                <a:cs typeface="Courier New" charset="0"/>
              </a:rPr>
              <a:t>)</a:t>
            </a:r>
            <a:endParaRPr lang="mr-IN" dirty="0">
              <a:latin typeface="Courier New" charset="0"/>
              <a:ea typeface="Courier New" charset="0"/>
              <a:cs typeface="Courier New" charset="0"/>
            </a:endParaRPr>
          </a:p>
          <a:p>
            <a:pPr marL="0" indent="0">
              <a:buNone/>
            </a:pPr>
            <a:r>
              <a:rPr lang="pt-BR" sz="2800" dirty="0">
                <a:latin typeface="Courier New" charset="0"/>
                <a:ea typeface="Courier New" charset="0"/>
                <a:cs typeface="Courier New" charset="0"/>
              </a:rPr>
              <a:t>(</a:t>
            </a:r>
            <a:r>
              <a:rPr lang="pt-BR" sz="2800" dirty="0" err="1">
                <a:latin typeface="Courier New" charset="0"/>
                <a:ea typeface="Courier New" charset="0"/>
                <a:cs typeface="Courier New" charset="0"/>
              </a:rPr>
              <a:t>factorial</a:t>
            </a:r>
            <a:r>
              <a:rPr lang="pt-BR" sz="2800" dirty="0">
                <a:latin typeface="Courier New" charset="0"/>
                <a:ea typeface="Courier New" charset="0"/>
                <a:cs typeface="Courier New" charset="0"/>
              </a:rPr>
              <a:t> 6) 			; </a:t>
            </a:r>
            <a:r>
              <a:rPr lang="pt-BR" sz="2800" dirty="0" err="1">
                <a:latin typeface="Courier New" charset="0"/>
                <a:ea typeface="Courier New" charset="0"/>
                <a:cs typeface="Courier New" charset="0"/>
              </a:rPr>
              <a:t>prints</a:t>
            </a:r>
            <a:r>
              <a:rPr lang="pt-BR" sz="2800" dirty="0">
                <a:latin typeface="Courier New" charset="0"/>
                <a:ea typeface="Courier New" charset="0"/>
                <a:cs typeface="Courier New" charset="0"/>
              </a:rPr>
              <a:t> 720</a:t>
            </a:r>
            <a:endParaRPr lang="en-US" sz="2800" dirty="0">
              <a:latin typeface="Courier New" charset="0"/>
              <a:ea typeface="Courier New" charset="0"/>
              <a:cs typeface="Courier New" charset="0"/>
            </a:endParaRPr>
          </a:p>
        </p:txBody>
      </p:sp>
      <p:sp>
        <p:nvSpPr>
          <p:cNvPr id="5" name="TextBox 4"/>
          <p:cNvSpPr txBox="1"/>
          <p:nvPr/>
        </p:nvSpPr>
        <p:spPr>
          <a:xfrm>
            <a:off x="10580914" y="1104405"/>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11482914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70C0"/>
                </a:solidFill>
              </a:rPr>
              <a:t>Tail Recursion</a:t>
            </a:r>
          </a:p>
        </p:txBody>
      </p:sp>
      <p:sp>
        <p:nvSpPr>
          <p:cNvPr id="3" name="Content Placeholder 2"/>
          <p:cNvSpPr>
            <a:spLocks noGrp="1"/>
          </p:cNvSpPr>
          <p:nvPr>
            <p:ph sz="half" idx="1"/>
          </p:nvPr>
        </p:nvSpPr>
        <p:spPr>
          <a:xfrm>
            <a:off x="0" y="1822450"/>
            <a:ext cx="5408340" cy="4351338"/>
          </a:xfrm>
        </p:spPr>
        <p:txBody>
          <a:bodyPr>
            <a:noAutofit/>
          </a:bodyPr>
          <a:lstStyle/>
          <a:p>
            <a:pPr lvl="1">
              <a:defRPr/>
            </a:pPr>
            <a:r>
              <a:rPr lang="en-US" altLang="en-US" sz="2800" dirty="0"/>
              <a:t>It’s not tail recursive because the recursive call is not the last operation the function executes</a:t>
            </a:r>
          </a:p>
          <a:p>
            <a:pPr lvl="1">
              <a:defRPr/>
            </a:pPr>
            <a:r>
              <a:rPr lang="en-US" altLang="en-US" sz="2800" dirty="0"/>
              <a:t>After each recursive call, the value returned by the recursive call must be multiplied by </a:t>
            </a:r>
            <a:r>
              <a:rPr lang="en-US" altLang="en-US" sz="2800" dirty="0">
                <a:latin typeface="Courier New" panose="02070309020205020404" pitchFamily="49" charset="0"/>
              </a:rPr>
              <a:t>n</a:t>
            </a:r>
          </a:p>
          <a:p>
            <a:pPr lvl="2">
              <a:defRPr/>
            </a:pPr>
            <a:r>
              <a:rPr lang="en-US" altLang="en-US" sz="2400" dirty="0"/>
              <a:t>(the argument to the previous call)</a:t>
            </a:r>
          </a:p>
          <a:p>
            <a:pPr marL="341313" lvl="1" indent="0">
              <a:buNone/>
              <a:defRPr/>
            </a:pPr>
            <a:endParaRPr lang="en-US" sz="2800" dirty="0"/>
          </a:p>
        </p:txBody>
      </p:sp>
      <p:sp>
        <p:nvSpPr>
          <p:cNvPr id="4" name="Content Placeholder 3">
            <a:extLst>
              <a:ext uri="{FF2B5EF4-FFF2-40B4-BE49-F238E27FC236}">
                <a16:creationId xmlns:a16="http://schemas.microsoft.com/office/drawing/2014/main" id="{5B69C9B3-E1B1-3047-B656-346F3757EC0E}"/>
              </a:ext>
            </a:extLst>
          </p:cNvPr>
          <p:cNvSpPr>
            <a:spLocks noGrp="1"/>
          </p:cNvSpPr>
          <p:nvPr>
            <p:ph sz="half" idx="2"/>
          </p:nvPr>
        </p:nvSpPr>
        <p:spPr>
          <a:xfrm>
            <a:off x="5408340" y="1822450"/>
            <a:ext cx="5945459" cy="4351338"/>
          </a:xfrm>
        </p:spPr>
        <p:txBody>
          <a:bodyPr>
            <a:noAutofit/>
          </a:bodyPr>
          <a:lstStyle/>
          <a:p>
            <a:pPr marL="0" indent="0">
              <a:buNone/>
            </a:pPr>
            <a:r>
              <a:rPr lang="en-US" dirty="0">
                <a:latin typeface="Courier New" charset="0"/>
                <a:ea typeface="Courier New" charset="0"/>
                <a:cs typeface="Courier New" charset="0"/>
              </a:rPr>
              <a:t>;not tail recursive</a:t>
            </a:r>
          </a:p>
          <a:p>
            <a:pPr marL="0" indent="0">
              <a:buNone/>
            </a:pPr>
            <a:r>
              <a:rPr lang="en-US" dirty="0">
                <a:latin typeface="Courier New" charset="0"/>
                <a:ea typeface="Courier New" charset="0"/>
                <a:cs typeface="Courier New" charset="0"/>
              </a:rPr>
              <a:t>(</a:t>
            </a:r>
            <a:r>
              <a:rPr lang="en-US" dirty="0" err="1">
                <a:latin typeface="Courier New" charset="0"/>
                <a:ea typeface="Courier New" charset="0"/>
                <a:cs typeface="Courier New" charset="0"/>
              </a:rPr>
              <a:t>defun</a:t>
            </a:r>
            <a:r>
              <a:rPr lang="en-US" dirty="0">
                <a:latin typeface="Courier New" charset="0"/>
                <a:ea typeface="Courier New" charset="0"/>
                <a:cs typeface="Courier New" charset="0"/>
              </a:rPr>
              <a:t> factorial (n) </a:t>
            </a:r>
          </a:p>
          <a:p>
            <a:pPr marL="0" indent="0">
              <a:buNone/>
            </a:pPr>
            <a:r>
              <a:rPr lang="en-US" dirty="0">
                <a:latin typeface="Courier New" charset="0"/>
                <a:ea typeface="Courier New" charset="0"/>
                <a:cs typeface="Courier New" charset="0"/>
              </a:rPr>
              <a:t>  </a:t>
            </a:r>
            <a:r>
              <a:rPr lang="mr-IN" dirty="0">
                <a:latin typeface="Courier New" charset="0"/>
                <a:ea typeface="Courier New" charset="0"/>
                <a:cs typeface="Courier New" charset="0"/>
              </a:rPr>
              <a:t>(</a:t>
            </a:r>
            <a:r>
              <a:rPr lang="mr-IN" dirty="0" err="1">
                <a:latin typeface="Courier New" charset="0"/>
                <a:ea typeface="Courier New" charset="0"/>
                <a:cs typeface="Courier New" charset="0"/>
              </a:rPr>
              <a:t>if</a:t>
            </a:r>
            <a:r>
              <a:rPr lang="mr-IN" dirty="0">
                <a:latin typeface="Courier New" charset="0"/>
                <a:ea typeface="Courier New" charset="0"/>
                <a:cs typeface="Courier New" charset="0"/>
              </a:rPr>
              <a:t> (= </a:t>
            </a:r>
            <a:r>
              <a:rPr lang="mr-IN" dirty="0" err="1">
                <a:latin typeface="Courier New" charset="0"/>
                <a:ea typeface="Courier New" charset="0"/>
                <a:cs typeface="Courier New" charset="0"/>
              </a:rPr>
              <a:t>n</a:t>
            </a:r>
            <a:r>
              <a:rPr lang="mr-IN" dirty="0">
                <a:latin typeface="Courier New" charset="0"/>
                <a:ea typeface="Courier New" charset="0"/>
                <a:cs typeface="Courier New" charset="0"/>
              </a:rPr>
              <a:t> 0)</a:t>
            </a:r>
          </a:p>
          <a:p>
            <a:pPr marL="0" indent="0">
              <a:buNone/>
            </a:pPr>
            <a:r>
              <a:rPr lang="mr-IN" dirty="0">
                <a:latin typeface="Courier New" charset="0"/>
                <a:ea typeface="Courier New" charset="0"/>
                <a:cs typeface="Courier New" charset="0"/>
              </a:rPr>
              <a:t>    1</a:t>
            </a:r>
          </a:p>
          <a:p>
            <a:pPr marL="0" indent="0">
              <a:buNone/>
            </a:pPr>
            <a:r>
              <a:rPr lang="mr-IN" dirty="0">
                <a:latin typeface="Courier New" charset="0"/>
                <a:ea typeface="Courier New" charset="0"/>
                <a:cs typeface="Courier New" charset="0"/>
              </a:rPr>
              <a:t>    (* </a:t>
            </a:r>
            <a:r>
              <a:rPr lang="mr-IN" dirty="0" err="1">
                <a:latin typeface="Courier New" charset="0"/>
                <a:ea typeface="Courier New" charset="0"/>
                <a:cs typeface="Courier New" charset="0"/>
              </a:rPr>
              <a:t>n</a:t>
            </a:r>
            <a:r>
              <a:rPr lang="mr-IN" dirty="0">
                <a:latin typeface="Courier New" charset="0"/>
                <a:ea typeface="Courier New" charset="0"/>
                <a:cs typeface="Courier New" charset="0"/>
              </a:rPr>
              <a:t> (</a:t>
            </a:r>
            <a:r>
              <a:rPr lang="mr-IN" dirty="0" err="1">
                <a:latin typeface="Courier New" charset="0"/>
                <a:ea typeface="Courier New" charset="0"/>
                <a:cs typeface="Courier New" charset="0"/>
              </a:rPr>
              <a:t>factorial</a:t>
            </a:r>
            <a:r>
              <a:rPr lang="mr-IN" dirty="0">
                <a:latin typeface="Courier New" charset="0"/>
                <a:ea typeface="Courier New" charset="0"/>
                <a:cs typeface="Courier New" charset="0"/>
              </a:rPr>
              <a:t>(- </a:t>
            </a:r>
            <a:r>
              <a:rPr lang="mr-IN" dirty="0" err="1">
                <a:latin typeface="Courier New" charset="0"/>
                <a:ea typeface="Courier New" charset="0"/>
                <a:cs typeface="Courier New" charset="0"/>
              </a:rPr>
              <a:t>n</a:t>
            </a:r>
            <a:r>
              <a:rPr lang="mr-IN" dirty="0">
                <a:latin typeface="Courier New" charset="0"/>
                <a:ea typeface="Courier New" charset="0"/>
                <a:cs typeface="Courier New" charset="0"/>
              </a:rPr>
              <a:t> 1))</a:t>
            </a:r>
            <a:endParaRPr lang="en-US" dirty="0">
              <a:latin typeface="Courier New" charset="0"/>
              <a:ea typeface="Courier New" charset="0"/>
              <a:cs typeface="Courier New" charset="0"/>
            </a:endParaRPr>
          </a:p>
          <a:p>
            <a:pPr marL="0" indent="0">
              <a:buNone/>
            </a:pPr>
            <a:r>
              <a:rPr lang="en-US" dirty="0">
                <a:latin typeface="Courier New" charset="0"/>
                <a:ea typeface="Courier New" charset="0"/>
                <a:cs typeface="Courier New" charset="0"/>
              </a:rPr>
              <a:t>   </a:t>
            </a:r>
            <a:r>
              <a:rPr lang="mr-IN" dirty="0">
                <a:latin typeface="Courier New" charset="0"/>
                <a:ea typeface="Courier New" charset="0"/>
                <a:cs typeface="Courier New" charset="0"/>
              </a:rPr>
              <a:t>)</a:t>
            </a:r>
            <a:endParaRPr lang="en-US" dirty="0">
              <a:latin typeface="Courier New" charset="0"/>
              <a:ea typeface="Courier New" charset="0"/>
              <a:cs typeface="Courier New" charset="0"/>
            </a:endParaRPr>
          </a:p>
          <a:p>
            <a:pPr marL="0" indent="0">
              <a:buNone/>
            </a:pPr>
            <a:r>
              <a:rPr lang="en-US" dirty="0">
                <a:latin typeface="Courier New" charset="0"/>
                <a:ea typeface="Courier New" charset="0"/>
                <a:cs typeface="Courier New" charset="0"/>
              </a:rPr>
              <a:t>)</a:t>
            </a:r>
            <a:endParaRPr lang="mr-IN" dirty="0">
              <a:latin typeface="Courier New" charset="0"/>
              <a:ea typeface="Courier New" charset="0"/>
              <a:cs typeface="Courier New" charset="0"/>
            </a:endParaRPr>
          </a:p>
          <a:p>
            <a:pPr marL="0" indent="0">
              <a:buNone/>
            </a:pPr>
            <a:r>
              <a:rPr lang="pt-BR" dirty="0">
                <a:latin typeface="Courier New" charset="0"/>
                <a:ea typeface="Courier New" charset="0"/>
                <a:cs typeface="Courier New" charset="0"/>
              </a:rPr>
              <a:t>(</a:t>
            </a:r>
            <a:r>
              <a:rPr lang="pt-BR" dirty="0" err="1">
                <a:latin typeface="Courier New" charset="0"/>
                <a:ea typeface="Courier New" charset="0"/>
                <a:cs typeface="Courier New" charset="0"/>
              </a:rPr>
              <a:t>factorial</a:t>
            </a:r>
            <a:r>
              <a:rPr lang="pt-BR" dirty="0">
                <a:latin typeface="Courier New" charset="0"/>
                <a:ea typeface="Courier New" charset="0"/>
                <a:cs typeface="Courier New" charset="0"/>
              </a:rPr>
              <a:t> 6)   ;</a:t>
            </a:r>
            <a:r>
              <a:rPr lang="pt-BR" dirty="0" err="1">
                <a:latin typeface="Courier New" charset="0"/>
                <a:ea typeface="Courier New" charset="0"/>
                <a:cs typeface="Courier New" charset="0"/>
              </a:rPr>
              <a:t>prints</a:t>
            </a:r>
            <a:r>
              <a:rPr lang="pt-BR" dirty="0">
                <a:latin typeface="Courier New" charset="0"/>
                <a:ea typeface="Courier New" charset="0"/>
                <a:cs typeface="Courier New" charset="0"/>
              </a:rPr>
              <a:t> 720</a:t>
            </a:r>
            <a:endParaRPr lang="en-US" dirty="0">
              <a:latin typeface="Courier New" charset="0"/>
              <a:ea typeface="Courier New" charset="0"/>
              <a:cs typeface="Courier New" charset="0"/>
            </a:endParaRPr>
          </a:p>
          <a:p>
            <a:pPr marL="341313" lvl="1" indent="0">
              <a:buNone/>
              <a:defRPr/>
            </a:pPr>
            <a:endParaRPr lang="en-US" sz="2800" dirty="0"/>
          </a:p>
          <a:p>
            <a:pPr lvl="1">
              <a:defRPr/>
            </a:pPr>
            <a:endParaRPr lang="en-US" altLang="en-US" sz="2800" dirty="0"/>
          </a:p>
          <a:p>
            <a:pPr marL="0" indent="0">
              <a:buNone/>
            </a:pPr>
            <a:endParaRPr lang="en-US" dirty="0"/>
          </a:p>
        </p:txBody>
      </p:sp>
      <p:sp>
        <p:nvSpPr>
          <p:cNvPr id="5" name="TextBox 4"/>
          <p:cNvSpPr txBox="1"/>
          <p:nvPr/>
        </p:nvSpPr>
        <p:spPr>
          <a:xfrm>
            <a:off x="10580914" y="1104405"/>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32569598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70C0"/>
                </a:solidFill>
              </a:rPr>
              <a:t>Tail Recursion</a:t>
            </a:r>
          </a:p>
        </p:txBody>
      </p:sp>
      <p:sp>
        <p:nvSpPr>
          <p:cNvPr id="3" name="Content Placeholder 2"/>
          <p:cNvSpPr>
            <a:spLocks noGrp="1"/>
          </p:cNvSpPr>
          <p:nvPr>
            <p:ph sz="half" idx="1"/>
          </p:nvPr>
        </p:nvSpPr>
        <p:spPr>
          <a:xfrm>
            <a:off x="0" y="1822450"/>
            <a:ext cx="5408340" cy="4351338"/>
          </a:xfrm>
        </p:spPr>
        <p:txBody>
          <a:bodyPr>
            <a:noAutofit/>
          </a:bodyPr>
          <a:lstStyle/>
          <a:p>
            <a:pPr lvl="1">
              <a:defRPr/>
            </a:pPr>
            <a:r>
              <a:rPr lang="en-US" altLang="en-US" sz="2800" dirty="0"/>
              <a:t>Requires the call stack to retain the value of argument n for each call as the recursion unwinds</a:t>
            </a:r>
          </a:p>
          <a:p>
            <a:pPr lvl="2">
              <a:defRPr/>
            </a:pPr>
            <a:r>
              <a:rPr lang="en-US" sz="2400" dirty="0"/>
              <a:t>i.e. 6*(5*(4*(3*(2*(1)))))</a:t>
            </a:r>
            <a:endParaRPr lang="en-US" altLang="en-US" sz="2400" dirty="0"/>
          </a:p>
          <a:p>
            <a:pPr lvl="1">
              <a:defRPr/>
            </a:pPr>
            <a:r>
              <a:rPr lang="en-US" altLang="en-US" sz="2800" dirty="0"/>
              <a:t>Entails a linear growth of memory and a substantial performance hit</a:t>
            </a:r>
          </a:p>
          <a:p>
            <a:pPr lvl="1">
              <a:defRPr/>
            </a:pPr>
            <a:r>
              <a:rPr lang="en-US" altLang="en-US" sz="2800" dirty="0"/>
              <a:t>Could we make this tail recursive?</a:t>
            </a:r>
          </a:p>
          <a:p>
            <a:pPr lvl="1">
              <a:defRPr/>
            </a:pPr>
            <a:endParaRPr lang="en-US" altLang="en-US" sz="2800" dirty="0"/>
          </a:p>
          <a:p>
            <a:pPr marL="341313" lvl="1" indent="0">
              <a:buNone/>
              <a:defRPr/>
            </a:pPr>
            <a:endParaRPr lang="en-US" sz="2800" dirty="0"/>
          </a:p>
        </p:txBody>
      </p:sp>
      <p:sp>
        <p:nvSpPr>
          <p:cNvPr id="4" name="Content Placeholder 3">
            <a:extLst>
              <a:ext uri="{FF2B5EF4-FFF2-40B4-BE49-F238E27FC236}">
                <a16:creationId xmlns:a16="http://schemas.microsoft.com/office/drawing/2014/main" id="{5B69C9B3-E1B1-3047-B656-346F3757EC0E}"/>
              </a:ext>
            </a:extLst>
          </p:cNvPr>
          <p:cNvSpPr>
            <a:spLocks noGrp="1"/>
          </p:cNvSpPr>
          <p:nvPr>
            <p:ph sz="half" idx="2"/>
          </p:nvPr>
        </p:nvSpPr>
        <p:spPr>
          <a:xfrm>
            <a:off x="5408340" y="1822450"/>
            <a:ext cx="5945459" cy="4351338"/>
          </a:xfrm>
        </p:spPr>
        <p:txBody>
          <a:bodyPr>
            <a:noAutofit/>
          </a:bodyPr>
          <a:lstStyle/>
          <a:p>
            <a:pPr marL="0" indent="0">
              <a:buNone/>
            </a:pPr>
            <a:r>
              <a:rPr lang="en-US" dirty="0">
                <a:latin typeface="Courier New" charset="0"/>
                <a:ea typeface="Courier New" charset="0"/>
                <a:cs typeface="Courier New" charset="0"/>
              </a:rPr>
              <a:t>;not tail recursive</a:t>
            </a:r>
          </a:p>
          <a:p>
            <a:pPr marL="0" indent="0">
              <a:buNone/>
            </a:pPr>
            <a:r>
              <a:rPr lang="en-US" dirty="0">
                <a:latin typeface="Courier New" charset="0"/>
                <a:ea typeface="Courier New" charset="0"/>
                <a:cs typeface="Courier New" charset="0"/>
              </a:rPr>
              <a:t>(</a:t>
            </a:r>
            <a:r>
              <a:rPr lang="en-US" dirty="0" err="1">
                <a:latin typeface="Courier New" charset="0"/>
                <a:ea typeface="Courier New" charset="0"/>
                <a:cs typeface="Courier New" charset="0"/>
              </a:rPr>
              <a:t>defun</a:t>
            </a:r>
            <a:r>
              <a:rPr lang="en-US" dirty="0">
                <a:latin typeface="Courier New" charset="0"/>
                <a:ea typeface="Courier New" charset="0"/>
                <a:cs typeface="Courier New" charset="0"/>
              </a:rPr>
              <a:t> factorial (n) </a:t>
            </a:r>
          </a:p>
          <a:p>
            <a:pPr marL="0" indent="0">
              <a:buNone/>
            </a:pPr>
            <a:r>
              <a:rPr lang="en-US" dirty="0">
                <a:latin typeface="Courier New" charset="0"/>
                <a:ea typeface="Courier New" charset="0"/>
                <a:cs typeface="Courier New" charset="0"/>
              </a:rPr>
              <a:t>  </a:t>
            </a:r>
            <a:r>
              <a:rPr lang="mr-IN" dirty="0">
                <a:latin typeface="Courier New" charset="0"/>
                <a:ea typeface="Courier New" charset="0"/>
                <a:cs typeface="Courier New" charset="0"/>
              </a:rPr>
              <a:t>(</a:t>
            </a:r>
            <a:r>
              <a:rPr lang="mr-IN" dirty="0" err="1">
                <a:latin typeface="Courier New" charset="0"/>
                <a:ea typeface="Courier New" charset="0"/>
                <a:cs typeface="Courier New" charset="0"/>
              </a:rPr>
              <a:t>if</a:t>
            </a:r>
            <a:r>
              <a:rPr lang="mr-IN" dirty="0">
                <a:latin typeface="Courier New" charset="0"/>
                <a:ea typeface="Courier New" charset="0"/>
                <a:cs typeface="Courier New" charset="0"/>
              </a:rPr>
              <a:t> (= </a:t>
            </a:r>
            <a:r>
              <a:rPr lang="mr-IN" dirty="0" err="1">
                <a:latin typeface="Courier New" charset="0"/>
                <a:ea typeface="Courier New" charset="0"/>
                <a:cs typeface="Courier New" charset="0"/>
              </a:rPr>
              <a:t>n</a:t>
            </a:r>
            <a:r>
              <a:rPr lang="mr-IN" dirty="0">
                <a:latin typeface="Courier New" charset="0"/>
                <a:ea typeface="Courier New" charset="0"/>
                <a:cs typeface="Courier New" charset="0"/>
              </a:rPr>
              <a:t> 0)</a:t>
            </a:r>
          </a:p>
          <a:p>
            <a:pPr marL="0" indent="0">
              <a:buNone/>
            </a:pPr>
            <a:r>
              <a:rPr lang="mr-IN" dirty="0">
                <a:latin typeface="Courier New" charset="0"/>
                <a:ea typeface="Courier New" charset="0"/>
                <a:cs typeface="Courier New" charset="0"/>
              </a:rPr>
              <a:t>    1</a:t>
            </a:r>
          </a:p>
          <a:p>
            <a:pPr marL="0" indent="0">
              <a:buNone/>
            </a:pPr>
            <a:r>
              <a:rPr lang="mr-IN" dirty="0">
                <a:latin typeface="Courier New" charset="0"/>
                <a:ea typeface="Courier New" charset="0"/>
                <a:cs typeface="Courier New" charset="0"/>
              </a:rPr>
              <a:t>    (* </a:t>
            </a:r>
            <a:r>
              <a:rPr lang="mr-IN" dirty="0" err="1">
                <a:latin typeface="Courier New" charset="0"/>
                <a:ea typeface="Courier New" charset="0"/>
                <a:cs typeface="Courier New" charset="0"/>
              </a:rPr>
              <a:t>n</a:t>
            </a:r>
            <a:r>
              <a:rPr lang="mr-IN" dirty="0">
                <a:latin typeface="Courier New" charset="0"/>
                <a:ea typeface="Courier New" charset="0"/>
                <a:cs typeface="Courier New" charset="0"/>
              </a:rPr>
              <a:t> (</a:t>
            </a:r>
            <a:r>
              <a:rPr lang="mr-IN" dirty="0" err="1">
                <a:latin typeface="Courier New" charset="0"/>
                <a:ea typeface="Courier New" charset="0"/>
                <a:cs typeface="Courier New" charset="0"/>
              </a:rPr>
              <a:t>factorial</a:t>
            </a:r>
            <a:r>
              <a:rPr lang="mr-IN" dirty="0">
                <a:latin typeface="Courier New" charset="0"/>
                <a:ea typeface="Courier New" charset="0"/>
                <a:cs typeface="Courier New" charset="0"/>
              </a:rPr>
              <a:t>(- </a:t>
            </a:r>
            <a:r>
              <a:rPr lang="mr-IN" dirty="0" err="1">
                <a:latin typeface="Courier New" charset="0"/>
                <a:ea typeface="Courier New" charset="0"/>
                <a:cs typeface="Courier New" charset="0"/>
              </a:rPr>
              <a:t>n</a:t>
            </a:r>
            <a:r>
              <a:rPr lang="mr-IN" dirty="0">
                <a:latin typeface="Courier New" charset="0"/>
                <a:ea typeface="Courier New" charset="0"/>
                <a:cs typeface="Courier New" charset="0"/>
              </a:rPr>
              <a:t> 1))</a:t>
            </a:r>
            <a:endParaRPr lang="en-US" dirty="0">
              <a:latin typeface="Courier New" charset="0"/>
              <a:ea typeface="Courier New" charset="0"/>
              <a:cs typeface="Courier New" charset="0"/>
            </a:endParaRPr>
          </a:p>
          <a:p>
            <a:pPr marL="0" indent="0">
              <a:buNone/>
            </a:pPr>
            <a:r>
              <a:rPr lang="en-US" dirty="0">
                <a:latin typeface="Courier New" charset="0"/>
                <a:ea typeface="Courier New" charset="0"/>
                <a:cs typeface="Courier New" charset="0"/>
              </a:rPr>
              <a:t>   </a:t>
            </a:r>
            <a:r>
              <a:rPr lang="mr-IN" dirty="0">
                <a:latin typeface="Courier New" charset="0"/>
                <a:ea typeface="Courier New" charset="0"/>
                <a:cs typeface="Courier New" charset="0"/>
              </a:rPr>
              <a:t>)</a:t>
            </a:r>
            <a:endParaRPr lang="en-US" dirty="0">
              <a:latin typeface="Courier New" charset="0"/>
              <a:ea typeface="Courier New" charset="0"/>
              <a:cs typeface="Courier New" charset="0"/>
            </a:endParaRPr>
          </a:p>
          <a:p>
            <a:pPr marL="0" indent="0">
              <a:buNone/>
            </a:pPr>
            <a:r>
              <a:rPr lang="en-US" dirty="0">
                <a:latin typeface="Courier New" charset="0"/>
                <a:ea typeface="Courier New" charset="0"/>
                <a:cs typeface="Courier New" charset="0"/>
              </a:rPr>
              <a:t>)</a:t>
            </a:r>
            <a:endParaRPr lang="mr-IN" dirty="0">
              <a:latin typeface="Courier New" charset="0"/>
              <a:ea typeface="Courier New" charset="0"/>
              <a:cs typeface="Courier New" charset="0"/>
            </a:endParaRPr>
          </a:p>
          <a:p>
            <a:pPr marL="0" indent="0">
              <a:buNone/>
            </a:pPr>
            <a:r>
              <a:rPr lang="pt-BR" dirty="0">
                <a:latin typeface="Courier New" charset="0"/>
                <a:ea typeface="Courier New" charset="0"/>
                <a:cs typeface="Courier New" charset="0"/>
              </a:rPr>
              <a:t>(</a:t>
            </a:r>
            <a:r>
              <a:rPr lang="pt-BR" dirty="0" err="1">
                <a:latin typeface="Courier New" charset="0"/>
                <a:ea typeface="Courier New" charset="0"/>
                <a:cs typeface="Courier New" charset="0"/>
              </a:rPr>
              <a:t>factorial</a:t>
            </a:r>
            <a:r>
              <a:rPr lang="pt-BR" dirty="0">
                <a:latin typeface="Courier New" charset="0"/>
                <a:ea typeface="Courier New" charset="0"/>
                <a:cs typeface="Courier New" charset="0"/>
              </a:rPr>
              <a:t> 6)   ;</a:t>
            </a:r>
            <a:r>
              <a:rPr lang="pt-BR" dirty="0" err="1">
                <a:latin typeface="Courier New" charset="0"/>
                <a:ea typeface="Courier New" charset="0"/>
                <a:cs typeface="Courier New" charset="0"/>
              </a:rPr>
              <a:t>prints</a:t>
            </a:r>
            <a:r>
              <a:rPr lang="pt-BR" dirty="0">
                <a:latin typeface="Courier New" charset="0"/>
                <a:ea typeface="Courier New" charset="0"/>
                <a:cs typeface="Courier New" charset="0"/>
              </a:rPr>
              <a:t> 720</a:t>
            </a:r>
            <a:endParaRPr lang="en-US" dirty="0">
              <a:latin typeface="Courier New" charset="0"/>
              <a:ea typeface="Courier New" charset="0"/>
              <a:cs typeface="Courier New" charset="0"/>
            </a:endParaRPr>
          </a:p>
          <a:p>
            <a:pPr marL="341313" lvl="1" indent="0">
              <a:buNone/>
              <a:defRPr/>
            </a:pPr>
            <a:endParaRPr lang="en-US" sz="2800" dirty="0"/>
          </a:p>
          <a:p>
            <a:pPr lvl="1">
              <a:defRPr/>
            </a:pPr>
            <a:endParaRPr lang="en-US" altLang="en-US" sz="2800" dirty="0"/>
          </a:p>
          <a:p>
            <a:pPr marL="0" indent="0">
              <a:buNone/>
            </a:pPr>
            <a:endParaRPr lang="en-US" dirty="0"/>
          </a:p>
        </p:txBody>
      </p:sp>
      <p:sp>
        <p:nvSpPr>
          <p:cNvPr id="5" name="TextBox 4"/>
          <p:cNvSpPr txBox="1"/>
          <p:nvPr/>
        </p:nvSpPr>
        <p:spPr>
          <a:xfrm>
            <a:off x="10580914" y="1104405"/>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14477517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70C0"/>
                </a:solidFill>
              </a:rPr>
              <a:t>Tail Recursion</a:t>
            </a:r>
          </a:p>
        </p:txBody>
      </p:sp>
      <p:sp>
        <p:nvSpPr>
          <p:cNvPr id="3" name="Content Placeholder 2"/>
          <p:cNvSpPr>
            <a:spLocks noGrp="1"/>
          </p:cNvSpPr>
          <p:nvPr>
            <p:ph idx="1"/>
          </p:nvPr>
        </p:nvSpPr>
        <p:spPr/>
        <p:txBody>
          <a:bodyPr>
            <a:noAutofit/>
          </a:bodyPr>
          <a:lstStyle/>
          <a:p>
            <a:pPr marL="0" indent="0">
              <a:buNone/>
            </a:pPr>
            <a:r>
              <a:rPr lang="en-US" sz="2400" dirty="0">
                <a:latin typeface="Courier New" charset="0"/>
                <a:ea typeface="Courier New" charset="0"/>
                <a:cs typeface="Courier New" charset="0"/>
              </a:rPr>
              <a:t>(</a:t>
            </a:r>
            <a:r>
              <a:rPr lang="en-US" sz="2400" dirty="0" err="1">
                <a:latin typeface="Courier New" charset="0"/>
                <a:ea typeface="Courier New" charset="0"/>
                <a:cs typeface="Courier New" charset="0"/>
              </a:rPr>
              <a:t>defun</a:t>
            </a:r>
            <a:r>
              <a:rPr lang="en-US" sz="2400" dirty="0">
                <a:latin typeface="Courier New" charset="0"/>
                <a:ea typeface="Courier New" charset="0"/>
                <a:cs typeface="Courier New" charset="0"/>
              </a:rPr>
              <a:t> </a:t>
            </a:r>
            <a:r>
              <a:rPr lang="en-US" sz="2400" dirty="0" err="1">
                <a:latin typeface="Courier New" charset="0"/>
                <a:ea typeface="Courier New" charset="0"/>
                <a:cs typeface="Courier New" charset="0"/>
              </a:rPr>
              <a:t>factorialTail</a:t>
            </a:r>
            <a:r>
              <a:rPr lang="en-US" sz="2400" dirty="0">
                <a:latin typeface="Courier New" charset="0"/>
                <a:ea typeface="Courier New" charset="0"/>
                <a:cs typeface="Courier New" charset="0"/>
              </a:rPr>
              <a:t> (n &amp;optional (result 1))</a:t>
            </a:r>
          </a:p>
          <a:p>
            <a:pPr marL="0" indent="0">
              <a:buNone/>
            </a:pPr>
            <a:r>
              <a:rPr lang="mr-IN" sz="2400" dirty="0">
                <a:latin typeface="Courier New" charset="0"/>
                <a:ea typeface="Courier New" charset="0"/>
                <a:cs typeface="Courier New" charset="0"/>
              </a:rPr>
              <a:t>  </a:t>
            </a:r>
            <a:r>
              <a:rPr lang="en-US" sz="2400" dirty="0">
                <a:latin typeface="Courier New" charset="0"/>
                <a:ea typeface="Courier New" charset="0"/>
                <a:cs typeface="Courier New" charset="0"/>
              </a:rPr>
              <a:t> </a:t>
            </a:r>
            <a:r>
              <a:rPr lang="mr-IN" sz="2400" dirty="0">
                <a:latin typeface="Courier New" charset="0"/>
                <a:ea typeface="Courier New" charset="0"/>
                <a:cs typeface="Courier New" charset="0"/>
              </a:rPr>
              <a:t>(</a:t>
            </a:r>
            <a:r>
              <a:rPr lang="mr-IN" sz="2400" dirty="0" err="1">
                <a:latin typeface="Courier New" charset="0"/>
                <a:ea typeface="Courier New" charset="0"/>
                <a:cs typeface="Courier New" charset="0"/>
              </a:rPr>
              <a:t>if</a:t>
            </a:r>
            <a:r>
              <a:rPr lang="mr-IN" sz="2400" dirty="0">
                <a:latin typeface="Courier New" charset="0"/>
                <a:ea typeface="Courier New" charset="0"/>
                <a:cs typeface="Courier New" charset="0"/>
              </a:rPr>
              <a:t> (= </a:t>
            </a:r>
            <a:r>
              <a:rPr lang="mr-IN" sz="2400" dirty="0" err="1">
                <a:latin typeface="Courier New" charset="0"/>
                <a:ea typeface="Courier New" charset="0"/>
                <a:cs typeface="Courier New" charset="0"/>
              </a:rPr>
              <a:t>n</a:t>
            </a:r>
            <a:r>
              <a:rPr lang="mr-IN" sz="2400" dirty="0">
                <a:latin typeface="Courier New" charset="0"/>
                <a:ea typeface="Courier New" charset="0"/>
                <a:cs typeface="Courier New" charset="0"/>
              </a:rPr>
              <a:t> 1)</a:t>
            </a:r>
            <a:r>
              <a:rPr lang="en-US" sz="2400" dirty="0">
                <a:latin typeface="Courier New" charset="0"/>
                <a:ea typeface="Courier New" charset="0"/>
                <a:cs typeface="Courier New" charset="0"/>
              </a:rPr>
              <a:t>  </a:t>
            </a:r>
          </a:p>
          <a:p>
            <a:pPr marL="0" indent="0">
              <a:buNone/>
            </a:pPr>
            <a:r>
              <a:rPr lang="en-US" sz="2400" dirty="0">
                <a:latin typeface="Courier New" charset="0"/>
                <a:ea typeface="Courier New" charset="0"/>
                <a:cs typeface="Courier New" charset="0"/>
              </a:rPr>
              <a:t>      result</a:t>
            </a:r>
          </a:p>
          <a:p>
            <a:pPr marL="0" indent="0">
              <a:buNone/>
            </a:pPr>
            <a:r>
              <a:rPr lang="en-US" sz="2400" dirty="0">
                <a:latin typeface="Courier New" charset="0"/>
                <a:ea typeface="Courier New" charset="0"/>
                <a:cs typeface="Courier New" charset="0"/>
              </a:rPr>
              <a:t>     (</a:t>
            </a:r>
            <a:r>
              <a:rPr lang="en-US" sz="2400" dirty="0" err="1">
                <a:latin typeface="Courier New" charset="0"/>
                <a:ea typeface="Courier New" charset="0"/>
                <a:cs typeface="Courier New" charset="0"/>
              </a:rPr>
              <a:t>factorialTail</a:t>
            </a:r>
            <a:r>
              <a:rPr lang="en-US" sz="2400" dirty="0">
                <a:latin typeface="Courier New" charset="0"/>
                <a:ea typeface="Courier New" charset="0"/>
                <a:cs typeface="Courier New" charset="0"/>
              </a:rPr>
              <a:t> (- n 1) (* n result))</a:t>
            </a:r>
            <a:r>
              <a:rPr lang="mr-IN" sz="2400" dirty="0">
                <a:latin typeface="Courier New" charset="0"/>
                <a:ea typeface="Courier New" charset="0"/>
                <a:cs typeface="Courier New" charset="0"/>
              </a:rPr>
              <a:t>))</a:t>
            </a:r>
            <a:endParaRPr lang="en-US" sz="2400" dirty="0">
              <a:latin typeface="Courier New" charset="0"/>
              <a:ea typeface="Courier New" charset="0"/>
              <a:cs typeface="Courier New" charset="0"/>
            </a:endParaRPr>
          </a:p>
          <a:p>
            <a:pPr marL="0" lvl="1" indent="0">
              <a:spcBef>
                <a:spcPts val="1000"/>
              </a:spcBef>
              <a:buNone/>
              <a:defRPr/>
            </a:pPr>
            <a:r>
              <a:rPr lang="en-US" altLang="en-US" dirty="0">
                <a:latin typeface="Courier New" panose="02070309020205020404" pitchFamily="49" charset="0"/>
                <a:cs typeface="Courier New" panose="02070309020205020404" pitchFamily="49" charset="0"/>
              </a:rPr>
              <a:t> </a:t>
            </a:r>
            <a:r>
              <a:rPr lang="pt-BR" dirty="0">
                <a:latin typeface="Courier New" pitchFamily="49" charset="0"/>
                <a:ea typeface="ＭＳ Ｐゴシック" charset="0"/>
                <a:cs typeface="Courier New" pitchFamily="49" charset="0"/>
              </a:rPr>
              <a:t>(</a:t>
            </a:r>
            <a:r>
              <a:rPr lang="pt-BR">
                <a:latin typeface="Courier New" pitchFamily="49" charset="0"/>
                <a:ea typeface="ＭＳ Ｐゴシック" charset="0"/>
                <a:cs typeface="Courier New" pitchFamily="49" charset="0"/>
              </a:rPr>
              <a:t>factorialTail </a:t>
            </a:r>
            <a:r>
              <a:rPr lang="pt-BR" dirty="0">
                <a:latin typeface="Courier New" pitchFamily="49" charset="0"/>
                <a:ea typeface="ＭＳ Ｐゴシック" charset="0"/>
                <a:cs typeface="Courier New" pitchFamily="49" charset="0"/>
              </a:rPr>
              <a:t>6) 	</a:t>
            </a:r>
            <a:r>
              <a:rPr lang="pt-BR" dirty="0">
                <a:latin typeface="Courier New" charset="0"/>
                <a:ea typeface="Courier New" charset="0"/>
                <a:cs typeface="Courier New" charset="0"/>
              </a:rPr>
              <a:t>; </a:t>
            </a:r>
            <a:r>
              <a:rPr lang="pt-BR" dirty="0" err="1">
                <a:latin typeface="Courier New" charset="0"/>
                <a:ea typeface="Courier New" charset="0"/>
                <a:cs typeface="Courier New" charset="0"/>
              </a:rPr>
              <a:t>prints</a:t>
            </a:r>
            <a:r>
              <a:rPr lang="pt-BR" dirty="0">
                <a:latin typeface="Courier New" charset="0"/>
                <a:ea typeface="Courier New" charset="0"/>
                <a:cs typeface="Courier New" charset="0"/>
              </a:rPr>
              <a:t> 720</a:t>
            </a:r>
            <a:endParaRPr lang="en-US" altLang="en-US" dirty="0">
              <a:latin typeface="Courier New" charset="0"/>
              <a:ea typeface="Courier New" charset="0"/>
              <a:cs typeface="Courier New" charset="0"/>
            </a:endParaRPr>
          </a:p>
          <a:p>
            <a:pPr>
              <a:defRPr/>
            </a:pPr>
            <a:r>
              <a:rPr lang="en-US" altLang="en-US" sz="2400" dirty="0"/>
              <a:t>All the work of computing values is done </a:t>
            </a:r>
            <a:r>
              <a:rPr lang="en-US" altLang="en-US" sz="2400" i="1" dirty="0"/>
              <a:t>before</a:t>
            </a:r>
            <a:r>
              <a:rPr lang="en-US" altLang="en-US" sz="2400" dirty="0"/>
              <a:t> each recursive call</a:t>
            </a:r>
          </a:p>
          <a:p>
            <a:pPr lvl="1">
              <a:defRPr/>
            </a:pPr>
            <a:r>
              <a:rPr lang="en-US" altLang="en-US" sz="2000" dirty="0"/>
              <a:t>The recursive call is the last step in the function</a:t>
            </a:r>
          </a:p>
          <a:p>
            <a:pPr>
              <a:defRPr/>
            </a:pPr>
            <a:r>
              <a:rPr lang="en-US" altLang="en-US" sz="2400" dirty="0"/>
              <a:t>Because no work remains to be done after the recursive call, no runtime stack is necessary to remember arguments of previous calls!</a:t>
            </a:r>
          </a:p>
          <a:p>
            <a:pPr>
              <a:defRPr/>
            </a:pPr>
            <a:r>
              <a:rPr lang="en-US" altLang="en-US" sz="2400" dirty="0"/>
              <a:t>The optional result parameter is used to accumulate intermediate products through the recursive calls</a:t>
            </a:r>
          </a:p>
          <a:p>
            <a:pPr lvl="1">
              <a:defRPr/>
            </a:pPr>
            <a:r>
              <a:rPr lang="en-US" altLang="en-US" sz="2000" i="1" u="sng" dirty="0"/>
              <a:t>Using an optional parameter as an accumulator is the cornerstone of tail recursion!!</a:t>
            </a:r>
          </a:p>
        </p:txBody>
      </p:sp>
      <p:sp>
        <p:nvSpPr>
          <p:cNvPr id="5" name="TextBox 4"/>
          <p:cNvSpPr txBox="1"/>
          <p:nvPr/>
        </p:nvSpPr>
        <p:spPr>
          <a:xfrm>
            <a:off x="10580914" y="1104405"/>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3066597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70C0"/>
                </a:solidFill>
              </a:rPr>
              <a:t>Tail Recursion</a:t>
            </a:r>
          </a:p>
        </p:txBody>
      </p:sp>
      <p:sp>
        <p:nvSpPr>
          <p:cNvPr id="4" name="Content Placeholder 3">
            <a:extLst>
              <a:ext uri="{FF2B5EF4-FFF2-40B4-BE49-F238E27FC236}">
                <a16:creationId xmlns:a16="http://schemas.microsoft.com/office/drawing/2014/main" id="{53EA6C48-99B2-BC40-B05E-B7F968533311}"/>
              </a:ext>
            </a:extLst>
          </p:cNvPr>
          <p:cNvSpPr>
            <a:spLocks noGrp="1"/>
          </p:cNvSpPr>
          <p:nvPr>
            <p:ph idx="1"/>
          </p:nvPr>
        </p:nvSpPr>
        <p:spPr/>
        <p:txBody>
          <a:bodyPr>
            <a:noAutofit/>
          </a:bodyPr>
          <a:lstStyle/>
          <a:p>
            <a:pPr marL="0" indent="0">
              <a:buNone/>
            </a:pPr>
            <a:r>
              <a:rPr lang="en-US" sz="2400" dirty="0">
                <a:latin typeface="Courier New" charset="0"/>
                <a:ea typeface="Courier New" charset="0"/>
                <a:cs typeface="Courier New" charset="0"/>
              </a:rPr>
              <a:t>(</a:t>
            </a:r>
            <a:r>
              <a:rPr lang="en-US" sz="2400" dirty="0" err="1">
                <a:latin typeface="Courier New" charset="0"/>
                <a:ea typeface="Courier New" charset="0"/>
                <a:cs typeface="Courier New" charset="0"/>
              </a:rPr>
              <a:t>defun</a:t>
            </a:r>
            <a:r>
              <a:rPr lang="en-US" sz="2400" dirty="0">
                <a:latin typeface="Courier New" charset="0"/>
                <a:ea typeface="Courier New" charset="0"/>
                <a:cs typeface="Courier New" charset="0"/>
              </a:rPr>
              <a:t> </a:t>
            </a:r>
            <a:r>
              <a:rPr lang="en-US" sz="2400" dirty="0" err="1">
                <a:latin typeface="Courier New" charset="0"/>
                <a:ea typeface="Courier New" charset="0"/>
                <a:cs typeface="Courier New" charset="0"/>
              </a:rPr>
              <a:t>factorialTail</a:t>
            </a:r>
            <a:r>
              <a:rPr lang="en-US" sz="2400" dirty="0">
                <a:latin typeface="Courier New" charset="0"/>
                <a:ea typeface="Courier New" charset="0"/>
                <a:cs typeface="Courier New" charset="0"/>
              </a:rPr>
              <a:t> (n &amp;optional (result 1))</a:t>
            </a:r>
          </a:p>
          <a:p>
            <a:pPr marL="0" indent="0">
              <a:buNone/>
            </a:pPr>
            <a:r>
              <a:rPr lang="mr-IN" sz="2400" dirty="0">
                <a:latin typeface="Courier New" charset="0"/>
                <a:ea typeface="Courier New" charset="0"/>
                <a:cs typeface="Courier New" charset="0"/>
              </a:rPr>
              <a:t>  (</a:t>
            </a:r>
            <a:r>
              <a:rPr lang="mr-IN" sz="2400" dirty="0" err="1">
                <a:latin typeface="Courier New" charset="0"/>
                <a:ea typeface="Courier New" charset="0"/>
                <a:cs typeface="Courier New" charset="0"/>
              </a:rPr>
              <a:t>if</a:t>
            </a:r>
            <a:r>
              <a:rPr lang="mr-IN" sz="2400" dirty="0">
                <a:latin typeface="Courier New" charset="0"/>
                <a:ea typeface="Courier New" charset="0"/>
                <a:cs typeface="Courier New" charset="0"/>
              </a:rPr>
              <a:t> (= </a:t>
            </a:r>
            <a:r>
              <a:rPr lang="mr-IN" sz="2400" dirty="0" err="1">
                <a:latin typeface="Courier New" charset="0"/>
                <a:ea typeface="Courier New" charset="0"/>
                <a:cs typeface="Courier New" charset="0"/>
              </a:rPr>
              <a:t>n</a:t>
            </a:r>
            <a:r>
              <a:rPr lang="mr-IN" sz="2400" dirty="0">
                <a:latin typeface="Courier New" charset="0"/>
                <a:ea typeface="Courier New" charset="0"/>
                <a:cs typeface="Courier New" charset="0"/>
              </a:rPr>
              <a:t> 1)</a:t>
            </a:r>
            <a:r>
              <a:rPr lang="en-US" sz="2400" dirty="0">
                <a:latin typeface="Courier New" charset="0"/>
                <a:ea typeface="Courier New" charset="0"/>
                <a:cs typeface="Courier New" charset="0"/>
              </a:rPr>
              <a:t>  </a:t>
            </a:r>
          </a:p>
          <a:p>
            <a:pPr marL="0" indent="0">
              <a:buNone/>
            </a:pPr>
            <a:r>
              <a:rPr lang="en-US" sz="2400" dirty="0">
                <a:latin typeface="Courier New" charset="0"/>
                <a:ea typeface="Courier New" charset="0"/>
                <a:cs typeface="Courier New" charset="0"/>
              </a:rPr>
              <a:t>    result</a:t>
            </a:r>
          </a:p>
          <a:p>
            <a:pPr marL="0" indent="0">
              <a:buNone/>
            </a:pPr>
            <a:r>
              <a:rPr lang="en-US" sz="2400" dirty="0">
                <a:latin typeface="Courier New" charset="0"/>
                <a:ea typeface="Courier New" charset="0"/>
                <a:cs typeface="Courier New" charset="0"/>
              </a:rPr>
              <a:t>    (</a:t>
            </a:r>
            <a:r>
              <a:rPr lang="en-US" sz="2400" dirty="0" err="1">
                <a:latin typeface="Courier New" charset="0"/>
                <a:ea typeface="Courier New" charset="0"/>
                <a:cs typeface="Courier New" charset="0"/>
              </a:rPr>
              <a:t>factorialTail</a:t>
            </a:r>
            <a:r>
              <a:rPr lang="en-US" sz="2400" dirty="0">
                <a:latin typeface="Courier New" charset="0"/>
                <a:ea typeface="Courier New" charset="0"/>
                <a:cs typeface="Courier New" charset="0"/>
              </a:rPr>
              <a:t> (- n 1) (* n result))</a:t>
            </a:r>
          </a:p>
          <a:p>
            <a:pPr marL="0" indent="0">
              <a:buNone/>
            </a:pPr>
            <a:r>
              <a:rPr lang="en-US" sz="2400" dirty="0">
                <a:latin typeface="Courier New" charset="0"/>
                <a:ea typeface="Courier New" charset="0"/>
                <a:cs typeface="Courier New" charset="0"/>
              </a:rPr>
              <a:t>  </a:t>
            </a:r>
            <a:r>
              <a:rPr lang="mr-IN" sz="2400" dirty="0">
                <a:latin typeface="Courier New" charset="0"/>
                <a:ea typeface="Courier New" charset="0"/>
                <a:cs typeface="Courier New" charset="0"/>
              </a:rPr>
              <a:t>)</a:t>
            </a:r>
            <a:endParaRPr lang="en-US" sz="2400" dirty="0">
              <a:latin typeface="Courier New" charset="0"/>
              <a:ea typeface="Courier New" charset="0"/>
              <a:cs typeface="Courier New" charset="0"/>
            </a:endParaRPr>
          </a:p>
          <a:p>
            <a:pPr marL="0" indent="0">
              <a:buNone/>
            </a:pPr>
            <a:r>
              <a:rPr lang="mr-IN" sz="2400" dirty="0">
                <a:latin typeface="Courier New" charset="0"/>
                <a:ea typeface="Courier New" charset="0"/>
                <a:cs typeface="Courier New" charset="0"/>
              </a:rPr>
              <a:t>)</a:t>
            </a:r>
            <a:endParaRPr lang="en-US" sz="2400" dirty="0">
              <a:latin typeface="Courier New" panose="02070309020205020404" pitchFamily="49" charset="0"/>
              <a:ea typeface="ＭＳ Ｐゴシック" charset="0"/>
              <a:cs typeface="Courier New" panose="02070309020205020404" pitchFamily="49" charset="0"/>
            </a:endParaRPr>
          </a:p>
          <a:p>
            <a:pPr marL="0" lvl="1" indent="0">
              <a:spcBef>
                <a:spcPts val="1000"/>
              </a:spcBef>
              <a:buNone/>
              <a:defRPr/>
            </a:pPr>
            <a:r>
              <a:rPr lang="pt-BR" dirty="0">
                <a:latin typeface="Courier New" pitchFamily="49" charset="0"/>
                <a:ea typeface="ＭＳ Ｐゴシック" charset="0"/>
                <a:cs typeface="Courier New" pitchFamily="49" charset="0"/>
              </a:rPr>
              <a:t>(</a:t>
            </a:r>
            <a:r>
              <a:rPr lang="pt-BR" dirty="0" err="1">
                <a:latin typeface="Courier New" pitchFamily="49" charset="0"/>
                <a:ea typeface="ＭＳ Ｐゴシック" charset="0"/>
                <a:cs typeface="Courier New" pitchFamily="49" charset="0"/>
              </a:rPr>
              <a:t>factorial</a:t>
            </a:r>
            <a:r>
              <a:rPr lang="pt-BR" dirty="0">
                <a:latin typeface="Courier New" pitchFamily="49" charset="0"/>
                <a:ea typeface="ＭＳ Ｐゴシック" charset="0"/>
                <a:cs typeface="Courier New" pitchFamily="49" charset="0"/>
              </a:rPr>
              <a:t> 6) 			</a:t>
            </a:r>
            <a:r>
              <a:rPr lang="pt-BR" dirty="0">
                <a:latin typeface="Courier New" charset="0"/>
                <a:ea typeface="Courier New" charset="0"/>
                <a:cs typeface="Courier New" charset="0"/>
              </a:rPr>
              <a:t>; </a:t>
            </a:r>
            <a:r>
              <a:rPr lang="pt-BR" dirty="0" err="1">
                <a:latin typeface="Courier New" charset="0"/>
                <a:ea typeface="Courier New" charset="0"/>
                <a:cs typeface="Courier New" charset="0"/>
              </a:rPr>
              <a:t>prints</a:t>
            </a:r>
            <a:r>
              <a:rPr lang="pt-BR" dirty="0">
                <a:latin typeface="Courier New" charset="0"/>
                <a:ea typeface="Courier New" charset="0"/>
                <a:cs typeface="Courier New" charset="0"/>
              </a:rPr>
              <a:t> 720</a:t>
            </a:r>
            <a:endParaRPr lang="en-US" altLang="en-US" dirty="0">
              <a:latin typeface="Courier New" charset="0"/>
              <a:ea typeface="Courier New" charset="0"/>
              <a:cs typeface="Courier New" charset="0"/>
            </a:endParaRPr>
          </a:p>
          <a:p>
            <a:endParaRPr lang="en-US" dirty="0"/>
          </a:p>
        </p:txBody>
      </p:sp>
      <p:sp>
        <p:nvSpPr>
          <p:cNvPr id="5" name="TextBox 4"/>
          <p:cNvSpPr txBox="1"/>
          <p:nvPr/>
        </p:nvSpPr>
        <p:spPr>
          <a:xfrm>
            <a:off x="10580914" y="1104405"/>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10235770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70C0"/>
                </a:solidFill>
              </a:rPr>
              <a:t>Tail Recursion</a:t>
            </a:r>
          </a:p>
        </p:txBody>
      </p:sp>
      <p:sp>
        <p:nvSpPr>
          <p:cNvPr id="3" name="Content Placeholder 2"/>
          <p:cNvSpPr>
            <a:spLocks noGrp="1"/>
          </p:cNvSpPr>
          <p:nvPr>
            <p:ph idx="1"/>
          </p:nvPr>
        </p:nvSpPr>
        <p:spPr>
          <a:xfrm>
            <a:off x="838200" y="5145179"/>
            <a:ext cx="10515600" cy="1447927"/>
          </a:xfrm>
        </p:spPr>
        <p:txBody>
          <a:bodyPr>
            <a:noAutofit/>
          </a:bodyPr>
          <a:lstStyle/>
          <a:p>
            <a:pPr>
              <a:defRPr/>
            </a:pPr>
            <a:r>
              <a:rPr lang="en-US"/>
              <a:t>5*4*3*2*1</a:t>
            </a:r>
            <a:endParaRPr lang="en-US" dirty="0"/>
          </a:p>
          <a:p>
            <a:pPr lvl="1">
              <a:defRPr/>
            </a:pPr>
            <a:r>
              <a:rPr lang="en-US" sz="2800" dirty="0"/>
              <a:t>Not 5*(4*(3*(2*(1))))</a:t>
            </a:r>
          </a:p>
          <a:p>
            <a:pPr lvl="1">
              <a:defRPr/>
            </a:pPr>
            <a:r>
              <a:rPr lang="en-US" sz="2800" dirty="0"/>
              <a:t>But (((1*5)*4)*3)*2)</a:t>
            </a:r>
          </a:p>
        </p:txBody>
      </p:sp>
      <p:sp>
        <p:nvSpPr>
          <p:cNvPr id="5" name="TextBox 4"/>
          <p:cNvSpPr txBox="1"/>
          <p:nvPr/>
        </p:nvSpPr>
        <p:spPr>
          <a:xfrm>
            <a:off x="10580914" y="1104405"/>
            <a:ext cx="184731" cy="369332"/>
          </a:xfrm>
          <a:prstGeom prst="rect">
            <a:avLst/>
          </a:prstGeom>
          <a:noFill/>
        </p:spPr>
        <p:txBody>
          <a:bodyPr wrap="none" rtlCol="0">
            <a:spAutoFit/>
          </a:bodyPr>
          <a:lstStyle/>
          <a:p>
            <a:endParaRPr lang="en-US" dirty="0"/>
          </a:p>
        </p:txBody>
      </p:sp>
      <p:sp>
        <p:nvSpPr>
          <p:cNvPr id="7" name="Content Placeholder 2"/>
          <p:cNvSpPr txBox="1">
            <a:spLocks/>
          </p:cNvSpPr>
          <p:nvPr/>
        </p:nvSpPr>
        <p:spPr>
          <a:xfrm>
            <a:off x="990600" y="1978025"/>
            <a:ext cx="5263896" cy="291096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341313" lvl="1" indent="0">
              <a:buFontTx/>
              <a:buNone/>
              <a:defRPr/>
            </a:pPr>
            <a:endParaRPr lang="en-US" dirty="0"/>
          </a:p>
          <a:p>
            <a:pPr marL="341313" lvl="1" indent="0">
              <a:buFontTx/>
              <a:buNone/>
              <a:defRPr/>
            </a:pPr>
            <a:endParaRPr lang="en-US" dirty="0"/>
          </a:p>
          <a:p>
            <a:pPr marL="341313" lvl="1" indent="0">
              <a:buFontTx/>
              <a:buNone/>
              <a:defRPr/>
            </a:pPr>
            <a:endParaRPr lang="en-US" dirty="0"/>
          </a:p>
          <a:p>
            <a:pPr marL="341313" lvl="1" indent="0">
              <a:buFontTx/>
              <a:buNone/>
              <a:defRPr/>
            </a:pPr>
            <a:endParaRPr lang="en-US" dirty="0"/>
          </a:p>
          <a:p>
            <a:pPr marL="341313" lvl="1" indent="0">
              <a:buFontTx/>
              <a:buNone/>
              <a:defRPr/>
            </a:pPr>
            <a:endParaRPr lang="en-US" dirty="0"/>
          </a:p>
          <a:p>
            <a:pPr marL="341313" lvl="1" indent="0">
              <a:buFontTx/>
              <a:buNone/>
              <a:defRPr/>
            </a:pPr>
            <a:endParaRPr lang="en-US" dirty="0"/>
          </a:p>
          <a:p>
            <a:pPr marL="341313" lvl="1" indent="0">
              <a:buFontTx/>
              <a:buNone/>
              <a:defRPr/>
            </a:pPr>
            <a:endParaRPr lang="en-US" dirty="0"/>
          </a:p>
          <a:p>
            <a:pPr marL="341313" lvl="1" indent="0">
              <a:buFontTx/>
              <a:buNone/>
              <a:defRPr/>
            </a:pPr>
            <a:endParaRPr lang="en-US" dirty="0"/>
          </a:p>
        </p:txBody>
      </p:sp>
      <p:sp>
        <p:nvSpPr>
          <p:cNvPr id="8" name="Content Placeholder 2"/>
          <p:cNvSpPr txBox="1">
            <a:spLocks/>
          </p:cNvSpPr>
          <p:nvPr/>
        </p:nvSpPr>
        <p:spPr>
          <a:xfrm>
            <a:off x="810877" y="2099274"/>
            <a:ext cx="5263896" cy="291096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en-US" sz="2400" dirty="0">
                <a:latin typeface="Courier New" charset="0"/>
                <a:ea typeface="Courier New" charset="0"/>
                <a:cs typeface="Courier New" charset="0"/>
              </a:rPr>
              <a:t>;not tail recursive</a:t>
            </a:r>
          </a:p>
          <a:p>
            <a:pPr marL="0" indent="0">
              <a:buNone/>
            </a:pPr>
            <a:r>
              <a:rPr lang="en-US" sz="2400" dirty="0">
                <a:latin typeface="Courier New" charset="0"/>
                <a:ea typeface="Courier New" charset="0"/>
                <a:cs typeface="Courier New" charset="0"/>
              </a:rPr>
              <a:t>(</a:t>
            </a:r>
            <a:r>
              <a:rPr lang="en-US" sz="2400" dirty="0" err="1">
                <a:latin typeface="Courier New" charset="0"/>
                <a:ea typeface="Courier New" charset="0"/>
                <a:cs typeface="Courier New" charset="0"/>
              </a:rPr>
              <a:t>defun</a:t>
            </a:r>
            <a:r>
              <a:rPr lang="en-US" sz="2400" dirty="0">
                <a:latin typeface="Courier New" charset="0"/>
                <a:ea typeface="Courier New" charset="0"/>
                <a:cs typeface="Courier New" charset="0"/>
              </a:rPr>
              <a:t> factorial (n)</a:t>
            </a:r>
          </a:p>
          <a:p>
            <a:pPr marL="0" indent="0">
              <a:buNone/>
            </a:pPr>
            <a:r>
              <a:rPr lang="mr-IN" sz="2400" dirty="0">
                <a:latin typeface="Courier New" charset="0"/>
                <a:ea typeface="Courier New" charset="0"/>
                <a:cs typeface="Courier New" charset="0"/>
              </a:rPr>
              <a:t>  (</a:t>
            </a:r>
            <a:r>
              <a:rPr lang="mr-IN" sz="2400" dirty="0" err="1">
                <a:latin typeface="Courier New" charset="0"/>
                <a:ea typeface="Courier New" charset="0"/>
                <a:cs typeface="Courier New" charset="0"/>
              </a:rPr>
              <a:t>if</a:t>
            </a:r>
            <a:r>
              <a:rPr lang="mr-IN" sz="2400" dirty="0">
                <a:latin typeface="Courier New" charset="0"/>
                <a:ea typeface="Courier New" charset="0"/>
                <a:cs typeface="Courier New" charset="0"/>
              </a:rPr>
              <a:t> (= </a:t>
            </a:r>
            <a:r>
              <a:rPr lang="mr-IN" sz="2400" dirty="0" err="1">
                <a:latin typeface="Courier New" charset="0"/>
                <a:ea typeface="Courier New" charset="0"/>
                <a:cs typeface="Courier New" charset="0"/>
              </a:rPr>
              <a:t>n</a:t>
            </a:r>
            <a:r>
              <a:rPr lang="mr-IN" sz="2400" dirty="0">
                <a:latin typeface="Courier New" charset="0"/>
                <a:ea typeface="Courier New" charset="0"/>
                <a:cs typeface="Courier New" charset="0"/>
              </a:rPr>
              <a:t> 0)</a:t>
            </a:r>
          </a:p>
          <a:p>
            <a:pPr marL="0" indent="0">
              <a:buNone/>
            </a:pPr>
            <a:r>
              <a:rPr lang="mr-IN" sz="2400" dirty="0">
                <a:latin typeface="Courier New" charset="0"/>
                <a:ea typeface="Courier New" charset="0"/>
                <a:cs typeface="Courier New" charset="0"/>
              </a:rPr>
              <a:t>    1</a:t>
            </a:r>
          </a:p>
          <a:p>
            <a:pPr marL="0" indent="0">
              <a:buNone/>
            </a:pPr>
            <a:r>
              <a:rPr lang="mr-IN" sz="2400" dirty="0">
                <a:latin typeface="Courier New" charset="0"/>
                <a:ea typeface="Courier New" charset="0"/>
                <a:cs typeface="Courier New" charset="0"/>
              </a:rPr>
              <a:t>    (* </a:t>
            </a:r>
            <a:r>
              <a:rPr lang="mr-IN" sz="2400" dirty="0" err="1">
                <a:latin typeface="Courier New" charset="0"/>
                <a:ea typeface="Courier New" charset="0"/>
                <a:cs typeface="Courier New" charset="0"/>
              </a:rPr>
              <a:t>n</a:t>
            </a:r>
            <a:r>
              <a:rPr lang="mr-IN" sz="2400" dirty="0">
                <a:latin typeface="Courier New" charset="0"/>
                <a:ea typeface="Courier New" charset="0"/>
                <a:cs typeface="Courier New" charset="0"/>
              </a:rPr>
              <a:t> (</a:t>
            </a:r>
            <a:r>
              <a:rPr lang="mr-IN" sz="2400" dirty="0" err="1">
                <a:latin typeface="Courier New" charset="0"/>
                <a:ea typeface="Courier New" charset="0"/>
                <a:cs typeface="Courier New" charset="0"/>
              </a:rPr>
              <a:t>factorial</a:t>
            </a:r>
            <a:r>
              <a:rPr lang="mr-IN" sz="2400" dirty="0">
                <a:latin typeface="Courier New" charset="0"/>
                <a:ea typeface="Courier New" charset="0"/>
                <a:cs typeface="Courier New" charset="0"/>
              </a:rPr>
              <a:t>(- </a:t>
            </a:r>
            <a:r>
              <a:rPr lang="mr-IN" sz="2400" dirty="0" err="1">
                <a:latin typeface="Courier New" charset="0"/>
                <a:ea typeface="Courier New" charset="0"/>
                <a:cs typeface="Courier New" charset="0"/>
              </a:rPr>
              <a:t>n</a:t>
            </a:r>
            <a:r>
              <a:rPr lang="mr-IN" sz="2400" dirty="0">
                <a:latin typeface="Courier New" charset="0"/>
                <a:ea typeface="Courier New" charset="0"/>
                <a:cs typeface="Courier New" charset="0"/>
              </a:rPr>
              <a:t> 1))</a:t>
            </a:r>
            <a:endParaRPr lang="en-US" sz="2400" dirty="0">
              <a:latin typeface="Courier New" charset="0"/>
              <a:ea typeface="Courier New" charset="0"/>
              <a:cs typeface="Courier New" charset="0"/>
            </a:endParaRPr>
          </a:p>
          <a:p>
            <a:pPr marL="0" indent="0">
              <a:buNone/>
            </a:pPr>
            <a:r>
              <a:rPr lang="en-US" sz="2400" dirty="0">
                <a:latin typeface="Courier New" charset="0"/>
                <a:ea typeface="Courier New" charset="0"/>
                <a:cs typeface="Courier New" charset="0"/>
              </a:rPr>
              <a:t>  </a:t>
            </a:r>
            <a:r>
              <a:rPr lang="mr-IN" sz="2400" dirty="0">
                <a:latin typeface="Courier New" charset="0"/>
                <a:ea typeface="Courier New" charset="0"/>
                <a:cs typeface="Courier New" charset="0"/>
              </a:rPr>
              <a:t>)</a:t>
            </a:r>
            <a:endParaRPr lang="en-US" sz="2400" dirty="0">
              <a:latin typeface="Courier New" charset="0"/>
              <a:ea typeface="Courier New" charset="0"/>
              <a:cs typeface="Courier New" charset="0"/>
            </a:endParaRPr>
          </a:p>
          <a:p>
            <a:pPr marL="0" indent="0">
              <a:buNone/>
            </a:pPr>
            <a:r>
              <a:rPr lang="en-US" sz="2400" dirty="0">
                <a:latin typeface="Courier New" charset="0"/>
                <a:ea typeface="Courier New" charset="0"/>
                <a:cs typeface="Courier New" charset="0"/>
              </a:rPr>
              <a:t>)</a:t>
            </a:r>
            <a:endParaRPr lang="mr-IN" sz="2400" dirty="0">
              <a:latin typeface="Courier New" charset="0"/>
              <a:ea typeface="Courier New" charset="0"/>
              <a:cs typeface="Courier New" charset="0"/>
            </a:endParaRPr>
          </a:p>
          <a:p>
            <a:pPr marL="341313" lvl="1" indent="0">
              <a:buFontTx/>
              <a:buNone/>
              <a:defRPr/>
            </a:pPr>
            <a:endParaRPr lang="en-US" dirty="0"/>
          </a:p>
          <a:p>
            <a:pPr marL="341313" lvl="1" indent="0">
              <a:buFontTx/>
              <a:buNone/>
              <a:defRPr/>
            </a:pPr>
            <a:endParaRPr lang="en-US" dirty="0"/>
          </a:p>
          <a:p>
            <a:pPr marL="341313" lvl="1" indent="0">
              <a:buFontTx/>
              <a:buNone/>
              <a:defRPr/>
            </a:pPr>
            <a:endParaRPr lang="en-US" dirty="0"/>
          </a:p>
          <a:p>
            <a:pPr marL="341313" lvl="1" indent="0">
              <a:buFontTx/>
              <a:buNone/>
              <a:defRPr/>
            </a:pPr>
            <a:endParaRPr lang="en-US" dirty="0"/>
          </a:p>
          <a:p>
            <a:pPr marL="341313" lvl="1" indent="0">
              <a:buFontTx/>
              <a:buNone/>
              <a:defRPr/>
            </a:pPr>
            <a:endParaRPr lang="en-US" dirty="0"/>
          </a:p>
          <a:p>
            <a:pPr marL="341313" lvl="1" indent="0">
              <a:buFontTx/>
              <a:buNone/>
              <a:defRPr/>
            </a:pPr>
            <a:endParaRPr lang="en-US" dirty="0"/>
          </a:p>
        </p:txBody>
      </p:sp>
      <p:sp>
        <p:nvSpPr>
          <p:cNvPr id="9" name="Content Placeholder 2"/>
          <p:cNvSpPr txBox="1">
            <a:spLocks/>
          </p:cNvSpPr>
          <p:nvPr/>
        </p:nvSpPr>
        <p:spPr>
          <a:xfrm>
            <a:off x="6074772" y="2099275"/>
            <a:ext cx="6117227" cy="291096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en-US" sz="2400" dirty="0">
                <a:latin typeface="Courier New" charset="0"/>
                <a:ea typeface="Courier New" charset="0"/>
                <a:cs typeface="Courier New" charset="0"/>
              </a:rPr>
              <a:t>;tail recursive</a:t>
            </a:r>
          </a:p>
          <a:p>
            <a:pPr marL="0" indent="0">
              <a:buNone/>
            </a:pPr>
            <a:r>
              <a:rPr lang="en-US" sz="2400" dirty="0">
                <a:latin typeface="Courier New" charset="0"/>
                <a:ea typeface="Courier New" charset="0"/>
                <a:cs typeface="Courier New" charset="0"/>
              </a:rPr>
              <a:t>(</a:t>
            </a:r>
            <a:r>
              <a:rPr lang="en-US" sz="2400" dirty="0" err="1">
                <a:latin typeface="Courier New" charset="0"/>
                <a:ea typeface="Courier New" charset="0"/>
                <a:cs typeface="Courier New" charset="0"/>
              </a:rPr>
              <a:t>defun</a:t>
            </a:r>
            <a:r>
              <a:rPr lang="en-US" sz="2400" dirty="0">
                <a:latin typeface="Courier New" charset="0"/>
                <a:ea typeface="Courier New" charset="0"/>
                <a:cs typeface="Courier New" charset="0"/>
              </a:rPr>
              <a:t> </a:t>
            </a:r>
            <a:r>
              <a:rPr lang="en-US" sz="2400" dirty="0" err="1">
                <a:latin typeface="Courier New" charset="0"/>
                <a:ea typeface="Courier New" charset="0"/>
                <a:cs typeface="Courier New" charset="0"/>
              </a:rPr>
              <a:t>factorialTail</a:t>
            </a:r>
            <a:r>
              <a:rPr lang="en-US" sz="2400" dirty="0">
                <a:latin typeface="Courier New" charset="0"/>
                <a:ea typeface="Courier New" charset="0"/>
                <a:cs typeface="Courier New" charset="0"/>
              </a:rPr>
              <a:t> </a:t>
            </a:r>
          </a:p>
          <a:p>
            <a:pPr marL="0" indent="0">
              <a:buNone/>
            </a:pPr>
            <a:r>
              <a:rPr lang="en-US" sz="2400" dirty="0">
                <a:latin typeface="Courier New" charset="0"/>
                <a:ea typeface="Courier New" charset="0"/>
                <a:cs typeface="Courier New" charset="0"/>
              </a:rPr>
              <a:t> (n &amp;optional (result 1))</a:t>
            </a:r>
          </a:p>
          <a:p>
            <a:pPr marL="0" indent="0">
              <a:buNone/>
            </a:pPr>
            <a:r>
              <a:rPr lang="mr-IN" sz="2400" dirty="0">
                <a:latin typeface="Courier New" charset="0"/>
                <a:ea typeface="Courier New" charset="0"/>
                <a:cs typeface="Courier New" charset="0"/>
              </a:rPr>
              <a:t>  </a:t>
            </a:r>
            <a:r>
              <a:rPr lang="en-US" sz="2400" dirty="0">
                <a:latin typeface="Courier New" charset="0"/>
                <a:ea typeface="Courier New" charset="0"/>
                <a:cs typeface="Courier New" charset="0"/>
              </a:rPr>
              <a:t> </a:t>
            </a:r>
            <a:r>
              <a:rPr lang="mr-IN" sz="2400" dirty="0">
                <a:latin typeface="Courier New" charset="0"/>
                <a:ea typeface="Courier New" charset="0"/>
                <a:cs typeface="Courier New" charset="0"/>
              </a:rPr>
              <a:t>(</a:t>
            </a:r>
            <a:r>
              <a:rPr lang="mr-IN" sz="2400" dirty="0" err="1">
                <a:latin typeface="Courier New" charset="0"/>
                <a:ea typeface="Courier New" charset="0"/>
                <a:cs typeface="Courier New" charset="0"/>
              </a:rPr>
              <a:t>if</a:t>
            </a:r>
            <a:r>
              <a:rPr lang="mr-IN" sz="2400" dirty="0">
                <a:latin typeface="Courier New" charset="0"/>
                <a:ea typeface="Courier New" charset="0"/>
                <a:cs typeface="Courier New" charset="0"/>
              </a:rPr>
              <a:t> (= </a:t>
            </a:r>
            <a:r>
              <a:rPr lang="mr-IN" sz="2400" dirty="0" err="1">
                <a:latin typeface="Courier New" charset="0"/>
                <a:ea typeface="Courier New" charset="0"/>
                <a:cs typeface="Courier New" charset="0"/>
              </a:rPr>
              <a:t>n</a:t>
            </a:r>
            <a:r>
              <a:rPr lang="mr-IN" sz="2400" dirty="0">
                <a:latin typeface="Courier New" charset="0"/>
                <a:ea typeface="Courier New" charset="0"/>
                <a:cs typeface="Courier New" charset="0"/>
              </a:rPr>
              <a:t> 1)</a:t>
            </a:r>
          </a:p>
          <a:p>
            <a:pPr marL="0" indent="0">
              <a:buNone/>
            </a:pPr>
            <a:r>
              <a:rPr lang="en-US" sz="2400" dirty="0">
                <a:latin typeface="Courier New" charset="0"/>
                <a:ea typeface="Courier New" charset="0"/>
                <a:cs typeface="Courier New" charset="0"/>
              </a:rPr>
              <a:t>     result</a:t>
            </a:r>
          </a:p>
          <a:p>
            <a:pPr marL="0" indent="0">
              <a:buNone/>
            </a:pPr>
            <a:r>
              <a:rPr lang="en-US" sz="2400" dirty="0">
                <a:latin typeface="Courier New" charset="0"/>
                <a:ea typeface="Courier New" charset="0"/>
                <a:cs typeface="Courier New" charset="0"/>
              </a:rPr>
              <a:t>     (</a:t>
            </a:r>
            <a:r>
              <a:rPr lang="en-US" sz="2400" dirty="0" err="1">
                <a:latin typeface="Courier New" charset="0"/>
                <a:ea typeface="Courier New" charset="0"/>
                <a:cs typeface="Courier New" charset="0"/>
              </a:rPr>
              <a:t>factorialTail</a:t>
            </a:r>
            <a:r>
              <a:rPr lang="en-US" sz="2400" dirty="0">
                <a:latin typeface="Courier New" charset="0"/>
                <a:ea typeface="Courier New" charset="0"/>
                <a:cs typeface="Courier New" charset="0"/>
              </a:rPr>
              <a:t> (- n 1) </a:t>
            </a:r>
          </a:p>
          <a:p>
            <a:pPr marL="0" indent="0">
              <a:buNone/>
            </a:pPr>
            <a:r>
              <a:rPr lang="en-US" sz="2400" dirty="0">
                <a:latin typeface="Courier New" charset="0"/>
                <a:ea typeface="Courier New" charset="0"/>
                <a:cs typeface="Courier New" charset="0"/>
              </a:rPr>
              <a:t>      (* n result))</a:t>
            </a:r>
          </a:p>
          <a:p>
            <a:pPr marL="0" indent="0">
              <a:buNone/>
            </a:pPr>
            <a:r>
              <a:rPr lang="mr-IN" sz="2400" dirty="0">
                <a:latin typeface="Courier New" charset="0"/>
                <a:ea typeface="Courier New" charset="0"/>
                <a:cs typeface="Courier New" charset="0"/>
              </a:rPr>
              <a:t>   )</a:t>
            </a:r>
          </a:p>
          <a:p>
            <a:pPr marL="0" indent="0">
              <a:buNone/>
            </a:pPr>
            <a:r>
              <a:rPr lang="mr-IN" sz="2400" dirty="0">
                <a:latin typeface="Courier New" charset="0"/>
                <a:ea typeface="Courier New" charset="0"/>
                <a:cs typeface="Courier New" charset="0"/>
              </a:rPr>
              <a:t>)</a:t>
            </a:r>
            <a:endParaRPr lang="en-US" sz="2400" dirty="0">
              <a:latin typeface="Courier New" charset="0"/>
              <a:ea typeface="Courier New" charset="0"/>
              <a:cs typeface="Courier New" charset="0"/>
            </a:endParaRPr>
          </a:p>
          <a:p>
            <a:pPr marL="341313" lvl="1" indent="0">
              <a:buNone/>
              <a:defRPr/>
            </a:pPr>
            <a:endParaRPr lang="en-US" dirty="0">
              <a:latin typeface="Courier New" charset="0"/>
              <a:ea typeface="Courier New" charset="0"/>
              <a:cs typeface="Courier New" charset="0"/>
            </a:endParaRPr>
          </a:p>
          <a:p>
            <a:pPr marL="341313" lvl="1" indent="0">
              <a:buNone/>
              <a:defRPr/>
            </a:pPr>
            <a:endParaRPr lang="en-US" dirty="0">
              <a:latin typeface="Courier New" charset="0"/>
              <a:ea typeface="Courier New" charset="0"/>
              <a:cs typeface="Courier New" charset="0"/>
            </a:endParaRPr>
          </a:p>
          <a:p>
            <a:pPr marL="341313" lvl="1" indent="0">
              <a:buNone/>
              <a:defRPr/>
            </a:pPr>
            <a:endParaRPr lang="en-US" dirty="0">
              <a:latin typeface="Courier New" charset="0"/>
              <a:ea typeface="Courier New" charset="0"/>
              <a:cs typeface="Courier New" charset="0"/>
            </a:endParaRPr>
          </a:p>
          <a:p>
            <a:pPr marL="341313" lvl="1" indent="0">
              <a:buNone/>
              <a:defRPr/>
            </a:pPr>
            <a:endParaRPr lang="en-US" dirty="0">
              <a:latin typeface="Courier New" charset="0"/>
              <a:ea typeface="Courier New" charset="0"/>
              <a:cs typeface="Courier New" charset="0"/>
            </a:endParaRPr>
          </a:p>
          <a:p>
            <a:pPr marL="341313" lvl="1" indent="0">
              <a:buNone/>
              <a:defRPr/>
            </a:pPr>
            <a:endParaRPr lang="en-US" dirty="0">
              <a:latin typeface="Courier New" charset="0"/>
              <a:ea typeface="Courier New" charset="0"/>
              <a:cs typeface="Courier New" charset="0"/>
            </a:endParaRPr>
          </a:p>
          <a:p>
            <a:pPr marL="341313" lvl="1" indent="0">
              <a:buNone/>
              <a:defRPr/>
            </a:pPr>
            <a:endParaRPr lang="en-US" dirty="0">
              <a:latin typeface="Courier New" charset="0"/>
              <a:ea typeface="Courier New" charset="0"/>
              <a:cs typeface="Courier New" charset="0"/>
            </a:endParaRPr>
          </a:p>
        </p:txBody>
      </p:sp>
    </p:spTree>
    <p:extLst>
      <p:ext uri="{BB962C8B-B14F-4D97-AF65-F5344CB8AC3E}">
        <p14:creationId xmlns:p14="http://schemas.microsoft.com/office/powerpoint/2010/main" val="36728915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70C0"/>
                </a:solidFill>
              </a:rPr>
              <a:t>Common Lisp – </a:t>
            </a:r>
            <a:r>
              <a:rPr lang="en-US" b="1" dirty="0"/>
              <a:t>Iteration</a:t>
            </a:r>
            <a:endParaRPr lang="en-US" b="1" dirty="0">
              <a:solidFill>
                <a:srgbClr val="0070C0"/>
              </a:solidFill>
            </a:endParaRPr>
          </a:p>
        </p:txBody>
      </p:sp>
      <p:sp>
        <p:nvSpPr>
          <p:cNvPr id="3" name="Content Placeholder 2"/>
          <p:cNvSpPr>
            <a:spLocks noGrp="1"/>
          </p:cNvSpPr>
          <p:nvPr>
            <p:ph idx="1"/>
          </p:nvPr>
        </p:nvSpPr>
        <p:spPr/>
        <p:txBody>
          <a:bodyPr>
            <a:normAutofit/>
          </a:bodyPr>
          <a:lstStyle/>
          <a:p>
            <a:r>
              <a:rPr lang="en-US" altLang="en-US" dirty="0">
                <a:ea typeface="MS PGothic" charset="-128"/>
              </a:rPr>
              <a:t>Sum all numbers in a list: </a:t>
            </a:r>
          </a:p>
          <a:p>
            <a:pPr marL="457200" lvl="1" indent="0">
              <a:buNone/>
            </a:pPr>
            <a:r>
              <a:rPr lang="en-US" sz="2800" dirty="0">
                <a:latin typeface="Courier New" charset="0"/>
                <a:ea typeface="Courier New" charset="0"/>
                <a:cs typeface="Courier New" charset="0"/>
              </a:rPr>
              <a:t>(</a:t>
            </a:r>
            <a:r>
              <a:rPr lang="en-US" sz="2800" dirty="0" err="1">
                <a:latin typeface="Courier New" charset="0"/>
                <a:ea typeface="Courier New" charset="0"/>
                <a:cs typeface="Courier New" charset="0"/>
              </a:rPr>
              <a:t>defun</a:t>
            </a:r>
            <a:r>
              <a:rPr lang="en-US" sz="2800" dirty="0">
                <a:latin typeface="Courier New" charset="0"/>
                <a:ea typeface="Courier New" charset="0"/>
                <a:cs typeface="Courier New" charset="0"/>
              </a:rPr>
              <a:t> </a:t>
            </a:r>
            <a:r>
              <a:rPr lang="en-US" sz="2800" dirty="0" err="1">
                <a:latin typeface="Courier New" charset="0"/>
                <a:ea typeface="Courier New" charset="0"/>
                <a:cs typeface="Courier New" charset="0"/>
              </a:rPr>
              <a:t>addList</a:t>
            </a:r>
            <a:r>
              <a:rPr lang="en-US" sz="2800" dirty="0">
                <a:latin typeface="Courier New" charset="0"/>
                <a:ea typeface="Courier New" charset="0"/>
                <a:cs typeface="Courier New" charset="0"/>
              </a:rPr>
              <a:t> (</a:t>
            </a:r>
            <a:r>
              <a:rPr lang="en-US" sz="2800" dirty="0" err="1">
                <a:latin typeface="Courier New" charset="0"/>
                <a:ea typeface="Courier New" charset="0"/>
                <a:cs typeface="Courier New" charset="0"/>
              </a:rPr>
              <a:t>inlist</a:t>
            </a:r>
            <a:r>
              <a:rPr lang="en-US" sz="2800" dirty="0">
                <a:latin typeface="Courier New" charset="0"/>
                <a:ea typeface="Courier New" charset="0"/>
                <a:cs typeface="Courier New" charset="0"/>
              </a:rPr>
              <a:t>)</a:t>
            </a:r>
          </a:p>
          <a:p>
            <a:pPr marL="457200" lvl="1" indent="0">
              <a:buNone/>
            </a:pPr>
            <a:r>
              <a:rPr lang="en-US" sz="2800" dirty="0">
                <a:latin typeface="Courier New" charset="0"/>
                <a:ea typeface="Courier New" charset="0"/>
                <a:cs typeface="Courier New" charset="0"/>
              </a:rPr>
              <a:t>  (if (null </a:t>
            </a:r>
            <a:r>
              <a:rPr lang="en-US" sz="2800" dirty="0" err="1">
                <a:latin typeface="Courier New" charset="0"/>
                <a:ea typeface="Courier New" charset="0"/>
                <a:cs typeface="Courier New" charset="0"/>
              </a:rPr>
              <a:t>inlist</a:t>
            </a:r>
            <a:r>
              <a:rPr lang="en-US" sz="2800" dirty="0">
                <a:latin typeface="Courier New" charset="0"/>
                <a:ea typeface="Courier New" charset="0"/>
                <a:cs typeface="Courier New" charset="0"/>
              </a:rPr>
              <a:t>)</a:t>
            </a:r>
          </a:p>
          <a:p>
            <a:pPr marL="457200" lvl="1" indent="0">
              <a:buNone/>
            </a:pPr>
            <a:r>
              <a:rPr lang="mr-IN" sz="2800" dirty="0">
                <a:latin typeface="Courier New" charset="0"/>
                <a:ea typeface="Courier New" charset="0"/>
                <a:cs typeface="Courier New" charset="0"/>
              </a:rPr>
              <a:t>  </a:t>
            </a:r>
            <a:r>
              <a:rPr lang="en-US" sz="2800" dirty="0">
                <a:latin typeface="Courier New" charset="0"/>
                <a:ea typeface="Courier New" charset="0"/>
                <a:cs typeface="Courier New" charset="0"/>
              </a:rPr>
              <a:t>  </a:t>
            </a:r>
            <a:r>
              <a:rPr lang="mr-IN" sz="2800" dirty="0">
                <a:latin typeface="Courier New" charset="0"/>
                <a:ea typeface="Courier New" charset="0"/>
                <a:cs typeface="Courier New" charset="0"/>
              </a:rPr>
              <a:t>0</a:t>
            </a:r>
          </a:p>
          <a:p>
            <a:pPr marL="457200" lvl="1" indent="0">
              <a:buNone/>
            </a:pPr>
            <a:r>
              <a:rPr lang="en-US" sz="2800" dirty="0">
                <a:latin typeface="Courier New" charset="0"/>
                <a:ea typeface="Courier New" charset="0"/>
                <a:cs typeface="Courier New" charset="0"/>
              </a:rPr>
              <a:t>    (+ (car </a:t>
            </a:r>
            <a:r>
              <a:rPr lang="en-US" sz="2800" dirty="0" err="1">
                <a:latin typeface="Courier New" charset="0"/>
                <a:ea typeface="Courier New" charset="0"/>
                <a:cs typeface="Courier New" charset="0"/>
              </a:rPr>
              <a:t>inlist</a:t>
            </a:r>
            <a:r>
              <a:rPr lang="en-US" sz="2800" dirty="0">
                <a:latin typeface="Courier New" charset="0"/>
                <a:ea typeface="Courier New" charset="0"/>
                <a:cs typeface="Courier New" charset="0"/>
              </a:rPr>
              <a:t>) (</a:t>
            </a:r>
            <a:r>
              <a:rPr lang="en-US" sz="2800" dirty="0" err="1">
                <a:latin typeface="Courier New" charset="0"/>
                <a:ea typeface="Courier New" charset="0"/>
                <a:cs typeface="Courier New" charset="0"/>
              </a:rPr>
              <a:t>addList</a:t>
            </a:r>
            <a:r>
              <a:rPr lang="en-US" sz="2800" dirty="0">
                <a:latin typeface="Courier New" charset="0"/>
                <a:ea typeface="Courier New" charset="0"/>
                <a:cs typeface="Courier New" charset="0"/>
              </a:rPr>
              <a:t> (</a:t>
            </a:r>
            <a:r>
              <a:rPr lang="en-US" sz="2800" dirty="0" err="1">
                <a:latin typeface="Courier New" charset="0"/>
                <a:ea typeface="Courier New" charset="0"/>
                <a:cs typeface="Courier New" charset="0"/>
              </a:rPr>
              <a:t>cdr</a:t>
            </a:r>
            <a:r>
              <a:rPr lang="en-US" sz="2800" dirty="0">
                <a:latin typeface="Courier New" charset="0"/>
                <a:ea typeface="Courier New" charset="0"/>
                <a:cs typeface="Courier New" charset="0"/>
              </a:rPr>
              <a:t> </a:t>
            </a:r>
            <a:r>
              <a:rPr lang="en-US" sz="2800" dirty="0" err="1">
                <a:latin typeface="Courier New" charset="0"/>
                <a:ea typeface="Courier New" charset="0"/>
                <a:cs typeface="Courier New" charset="0"/>
              </a:rPr>
              <a:t>inlist</a:t>
            </a:r>
            <a:r>
              <a:rPr lang="en-US" sz="2800" dirty="0">
                <a:latin typeface="Courier New" charset="0"/>
                <a:ea typeface="Courier New" charset="0"/>
                <a:cs typeface="Courier New" charset="0"/>
              </a:rPr>
              <a:t>)))</a:t>
            </a:r>
          </a:p>
          <a:p>
            <a:pPr marL="457200" lvl="1" indent="0">
              <a:buNone/>
            </a:pPr>
            <a:r>
              <a:rPr lang="mr-IN" sz="2800" dirty="0">
                <a:latin typeface="Courier New" charset="0"/>
                <a:ea typeface="Courier New" charset="0"/>
                <a:cs typeface="Courier New" charset="0"/>
              </a:rPr>
              <a:t>  )</a:t>
            </a:r>
          </a:p>
          <a:p>
            <a:pPr marL="457200" lvl="1" indent="0">
              <a:buNone/>
            </a:pPr>
            <a:r>
              <a:rPr lang="mr-IN" sz="2800" dirty="0">
                <a:latin typeface="Courier New" charset="0"/>
                <a:ea typeface="Courier New" charset="0"/>
                <a:cs typeface="Courier New" charset="0"/>
              </a:rPr>
              <a:t>)</a:t>
            </a:r>
            <a:endParaRPr lang="en-US" sz="2800" dirty="0">
              <a:latin typeface="Courier New" charset="0"/>
              <a:ea typeface="Courier New" charset="0"/>
              <a:cs typeface="Courier New" charset="0"/>
            </a:endParaRPr>
          </a:p>
          <a:p>
            <a:pPr marL="457200" lvl="1" indent="0">
              <a:buFontTx/>
              <a:buNone/>
              <a:defRPr/>
            </a:pPr>
            <a:r>
              <a:rPr lang="en-US" sz="2800" dirty="0">
                <a:latin typeface="Courier New" charset="0"/>
                <a:ea typeface="Courier New" charset="0"/>
                <a:cs typeface="Courier New" charset="0"/>
              </a:rPr>
              <a:t>(</a:t>
            </a:r>
            <a:r>
              <a:rPr lang="en-US" sz="2800" dirty="0" err="1">
                <a:latin typeface="Courier New" charset="0"/>
                <a:ea typeface="Courier New" charset="0"/>
                <a:cs typeface="Courier New" charset="0"/>
              </a:rPr>
              <a:t>addList</a:t>
            </a:r>
            <a:r>
              <a:rPr lang="en-US" sz="2800" dirty="0">
                <a:latin typeface="Courier New" charset="0"/>
                <a:ea typeface="Courier New" charset="0"/>
                <a:cs typeface="Courier New" charset="0"/>
              </a:rPr>
              <a:t> '(1 2 3 5 6 7))   ; prints 24</a:t>
            </a:r>
          </a:p>
        </p:txBody>
      </p:sp>
    </p:spTree>
    <p:extLst>
      <p:ext uri="{BB962C8B-B14F-4D97-AF65-F5344CB8AC3E}">
        <p14:creationId xmlns:p14="http://schemas.microsoft.com/office/powerpoint/2010/main" val="17054476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70C0"/>
                </a:solidFill>
              </a:rPr>
              <a:t>Common Lisp – </a:t>
            </a:r>
            <a:r>
              <a:rPr lang="en-US" b="1" dirty="0"/>
              <a:t>Iteration</a:t>
            </a:r>
            <a:endParaRPr lang="en-US" b="1" dirty="0">
              <a:solidFill>
                <a:srgbClr val="0070C0"/>
              </a:solidFill>
            </a:endParaRPr>
          </a:p>
        </p:txBody>
      </p:sp>
      <p:sp>
        <p:nvSpPr>
          <p:cNvPr id="3" name="Content Placeholder 2"/>
          <p:cNvSpPr>
            <a:spLocks noGrp="1"/>
          </p:cNvSpPr>
          <p:nvPr>
            <p:ph idx="1"/>
          </p:nvPr>
        </p:nvSpPr>
        <p:spPr>
          <a:xfrm>
            <a:off x="838200" y="1861250"/>
            <a:ext cx="10515600" cy="4682053"/>
          </a:xfrm>
        </p:spPr>
        <p:txBody>
          <a:bodyPr>
            <a:normAutofit/>
          </a:bodyPr>
          <a:lstStyle/>
          <a:p>
            <a:r>
              <a:rPr lang="en-US" altLang="en-US" dirty="0">
                <a:cs typeface="Courier New" pitchFamily="49" charset="0"/>
              </a:rPr>
              <a:t>Get the length of a list:								</a:t>
            </a:r>
          </a:p>
          <a:p>
            <a:pPr marL="457200" lvl="1" indent="0">
              <a:buNone/>
            </a:pPr>
            <a:r>
              <a:rPr lang="en-US" sz="2800" dirty="0">
                <a:latin typeface="Courier New" charset="0"/>
                <a:ea typeface="Courier New" charset="0"/>
                <a:cs typeface="Courier New" charset="0"/>
              </a:rPr>
              <a:t>(</a:t>
            </a:r>
            <a:r>
              <a:rPr lang="en-US" sz="2800" dirty="0" err="1">
                <a:latin typeface="Courier New" charset="0"/>
                <a:ea typeface="Courier New" charset="0"/>
                <a:cs typeface="Courier New" charset="0"/>
              </a:rPr>
              <a:t>defun</a:t>
            </a:r>
            <a:r>
              <a:rPr lang="en-US" sz="2800" dirty="0">
                <a:latin typeface="Courier New" charset="0"/>
                <a:ea typeface="Courier New" charset="0"/>
                <a:cs typeface="Courier New" charset="0"/>
              </a:rPr>
              <a:t> </a:t>
            </a:r>
            <a:r>
              <a:rPr lang="en-US" sz="2800" dirty="0" err="1">
                <a:latin typeface="Courier New" charset="0"/>
                <a:ea typeface="Courier New" charset="0"/>
                <a:cs typeface="Courier New" charset="0"/>
              </a:rPr>
              <a:t>myListLength</a:t>
            </a:r>
            <a:r>
              <a:rPr lang="en-US" sz="2800" dirty="0">
                <a:latin typeface="Courier New" charset="0"/>
                <a:ea typeface="Courier New" charset="0"/>
                <a:cs typeface="Courier New" charset="0"/>
              </a:rPr>
              <a:t> (</a:t>
            </a:r>
            <a:r>
              <a:rPr lang="en-US" sz="2800" dirty="0" err="1">
                <a:latin typeface="Courier New" charset="0"/>
                <a:ea typeface="Courier New" charset="0"/>
                <a:cs typeface="Courier New" charset="0"/>
              </a:rPr>
              <a:t>inlist</a:t>
            </a:r>
            <a:r>
              <a:rPr lang="en-US" sz="2800" dirty="0">
                <a:latin typeface="Courier New" charset="0"/>
                <a:ea typeface="Courier New" charset="0"/>
                <a:cs typeface="Courier New" charset="0"/>
              </a:rPr>
              <a:t>)</a:t>
            </a:r>
          </a:p>
          <a:p>
            <a:pPr marL="457200" lvl="1" indent="0">
              <a:buNone/>
            </a:pPr>
            <a:r>
              <a:rPr lang="en-US" sz="2800" dirty="0">
                <a:latin typeface="Courier New" charset="0"/>
                <a:ea typeface="Courier New" charset="0"/>
                <a:cs typeface="Courier New" charset="0"/>
              </a:rPr>
              <a:t>  (if (null </a:t>
            </a:r>
            <a:r>
              <a:rPr lang="en-US" sz="2800" dirty="0" err="1">
                <a:latin typeface="Courier New" charset="0"/>
                <a:ea typeface="Courier New" charset="0"/>
                <a:cs typeface="Courier New" charset="0"/>
              </a:rPr>
              <a:t>inlist</a:t>
            </a:r>
            <a:r>
              <a:rPr lang="en-US" sz="2800" dirty="0">
                <a:latin typeface="Courier New" charset="0"/>
                <a:ea typeface="Courier New" charset="0"/>
                <a:cs typeface="Courier New" charset="0"/>
              </a:rPr>
              <a:t>)</a:t>
            </a:r>
          </a:p>
          <a:p>
            <a:pPr marL="457200" lvl="1" indent="0">
              <a:buNone/>
            </a:pPr>
            <a:r>
              <a:rPr lang="mr-IN" sz="2800" dirty="0">
                <a:latin typeface="Courier New" charset="0"/>
                <a:ea typeface="Courier New" charset="0"/>
                <a:cs typeface="Courier New" charset="0"/>
              </a:rPr>
              <a:t>    0</a:t>
            </a:r>
          </a:p>
          <a:p>
            <a:pPr marL="457200" lvl="1" indent="0">
              <a:buNone/>
            </a:pPr>
            <a:r>
              <a:rPr lang="en-US" sz="2800" dirty="0">
                <a:latin typeface="Courier New" charset="0"/>
                <a:ea typeface="Courier New" charset="0"/>
                <a:cs typeface="Courier New" charset="0"/>
              </a:rPr>
              <a:t>    (+ 1 (</a:t>
            </a:r>
            <a:r>
              <a:rPr lang="en-US" sz="2800" dirty="0" err="1">
                <a:latin typeface="Courier New" charset="0"/>
                <a:ea typeface="Courier New" charset="0"/>
                <a:cs typeface="Courier New" charset="0"/>
              </a:rPr>
              <a:t>myListLength</a:t>
            </a:r>
            <a:r>
              <a:rPr lang="en-US" sz="2800" dirty="0">
                <a:latin typeface="Courier New" charset="0"/>
                <a:ea typeface="Courier New" charset="0"/>
                <a:cs typeface="Courier New" charset="0"/>
              </a:rPr>
              <a:t> (</a:t>
            </a:r>
            <a:r>
              <a:rPr lang="en-US" sz="2800" dirty="0" err="1">
                <a:latin typeface="Courier New" charset="0"/>
                <a:ea typeface="Courier New" charset="0"/>
                <a:cs typeface="Courier New" charset="0"/>
              </a:rPr>
              <a:t>cdr</a:t>
            </a:r>
            <a:r>
              <a:rPr lang="en-US" sz="2800" dirty="0">
                <a:latin typeface="Courier New" charset="0"/>
                <a:ea typeface="Courier New" charset="0"/>
                <a:cs typeface="Courier New" charset="0"/>
              </a:rPr>
              <a:t> </a:t>
            </a:r>
            <a:r>
              <a:rPr lang="en-US" sz="2800" dirty="0" err="1">
                <a:latin typeface="Courier New" charset="0"/>
                <a:ea typeface="Courier New" charset="0"/>
                <a:cs typeface="Courier New" charset="0"/>
              </a:rPr>
              <a:t>inlist</a:t>
            </a:r>
            <a:r>
              <a:rPr lang="en-US" sz="2800" dirty="0">
                <a:latin typeface="Courier New" charset="0"/>
                <a:ea typeface="Courier New" charset="0"/>
                <a:cs typeface="Courier New" charset="0"/>
              </a:rPr>
              <a:t>)))</a:t>
            </a:r>
          </a:p>
          <a:p>
            <a:pPr marL="457200" lvl="1" indent="0">
              <a:buNone/>
            </a:pPr>
            <a:r>
              <a:rPr lang="mr-IN" sz="2800" dirty="0">
                <a:latin typeface="Courier New" charset="0"/>
                <a:ea typeface="Courier New" charset="0"/>
                <a:cs typeface="Courier New" charset="0"/>
              </a:rPr>
              <a:t>  )</a:t>
            </a:r>
          </a:p>
          <a:p>
            <a:pPr marL="457200" lvl="1" indent="0">
              <a:buNone/>
            </a:pPr>
            <a:r>
              <a:rPr lang="mr-IN" sz="2800" dirty="0">
                <a:latin typeface="Courier New" charset="0"/>
                <a:ea typeface="Courier New" charset="0"/>
                <a:cs typeface="Courier New" charset="0"/>
              </a:rPr>
              <a:t>)</a:t>
            </a:r>
            <a:endParaRPr lang="en-US" sz="2800" dirty="0">
              <a:latin typeface="Courier New" charset="0"/>
              <a:ea typeface="Courier New" charset="0"/>
              <a:cs typeface="Courier New" charset="0"/>
            </a:endParaRPr>
          </a:p>
          <a:p>
            <a:pPr marL="457200" lvl="1" indent="0">
              <a:buFontTx/>
              <a:buNone/>
              <a:defRPr/>
            </a:pPr>
            <a:r>
              <a:rPr lang="en-US" sz="2800" dirty="0">
                <a:latin typeface="Courier New" charset="0"/>
                <a:ea typeface="Courier New" charset="0"/>
                <a:cs typeface="Courier New" charset="0"/>
              </a:rPr>
              <a:t>(</a:t>
            </a:r>
            <a:r>
              <a:rPr lang="en-US" sz="2800" dirty="0" err="1">
                <a:latin typeface="Courier New" charset="0"/>
                <a:ea typeface="Courier New" charset="0"/>
                <a:cs typeface="Courier New" charset="0"/>
              </a:rPr>
              <a:t>myListLength</a:t>
            </a:r>
            <a:r>
              <a:rPr lang="en-US" sz="2800" dirty="0">
                <a:latin typeface="Courier New" charset="0"/>
                <a:ea typeface="Courier New" charset="0"/>
                <a:cs typeface="Courier New" charset="0"/>
              </a:rPr>
              <a:t> '(1 2 3 5 6 7))   ; prints 6</a:t>
            </a:r>
          </a:p>
          <a:p>
            <a:pPr marL="228600" lvl="1">
              <a:spcBef>
                <a:spcPts val="1000"/>
              </a:spcBef>
            </a:pPr>
            <a:endParaRPr lang="en-US" altLang="en-US" sz="2800" dirty="0">
              <a:ea typeface="MS PGothic" charset="-128"/>
            </a:endParaRPr>
          </a:p>
        </p:txBody>
      </p:sp>
    </p:spTree>
    <p:extLst>
      <p:ext uri="{BB962C8B-B14F-4D97-AF65-F5344CB8AC3E}">
        <p14:creationId xmlns:p14="http://schemas.microsoft.com/office/powerpoint/2010/main" val="4631495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Common Lisp – Iteration</a:t>
            </a:r>
            <a:endParaRPr lang="en-US" b="1" dirty="0">
              <a:solidFill>
                <a:srgbClr val="0070C0"/>
              </a:solidFill>
            </a:endParaRPr>
          </a:p>
        </p:txBody>
      </p:sp>
      <p:sp>
        <p:nvSpPr>
          <p:cNvPr id="3" name="Content Placeholder 2"/>
          <p:cNvSpPr>
            <a:spLocks noGrp="1"/>
          </p:cNvSpPr>
          <p:nvPr>
            <p:ph idx="1"/>
          </p:nvPr>
        </p:nvSpPr>
        <p:spPr/>
        <p:txBody>
          <a:bodyPr>
            <a:normAutofit fontScale="92500" lnSpcReduction="10000"/>
          </a:bodyPr>
          <a:lstStyle/>
          <a:p>
            <a:r>
              <a:rPr lang="en-US" altLang="en-US" dirty="0">
                <a:ea typeface="MS PGothic" charset="-128"/>
              </a:rPr>
              <a:t>How would you write the following code to raise a number to a power in Common Lisp?  Can it be tail recursive? </a:t>
            </a:r>
          </a:p>
          <a:p>
            <a:pPr marL="0" indent="0">
              <a:buNone/>
            </a:pPr>
            <a:r>
              <a:rPr lang="en-US" altLang="en-US" dirty="0">
                <a:ea typeface="MS PGothic" charset="-128"/>
              </a:rPr>
              <a:t>	</a:t>
            </a:r>
            <a:r>
              <a:rPr lang="en-US" altLang="en-US" dirty="0">
                <a:latin typeface="Courier New" charset="0"/>
                <a:ea typeface="Courier New" charset="0"/>
                <a:cs typeface="Courier New" charset="0"/>
              </a:rPr>
              <a:t>double power (double a, </a:t>
            </a:r>
            <a:r>
              <a:rPr lang="en-US" altLang="en-US" dirty="0" err="1">
                <a:latin typeface="Courier New" charset="0"/>
                <a:ea typeface="Courier New" charset="0"/>
                <a:cs typeface="Courier New" charset="0"/>
              </a:rPr>
              <a:t>int</a:t>
            </a:r>
            <a:r>
              <a:rPr lang="en-US" altLang="en-US" dirty="0">
                <a:latin typeface="Courier New" charset="0"/>
                <a:ea typeface="Courier New" charset="0"/>
                <a:cs typeface="Courier New" charset="0"/>
              </a:rPr>
              <a:t> b) {</a:t>
            </a:r>
          </a:p>
          <a:p>
            <a:pPr marL="0" indent="0">
              <a:buNone/>
            </a:pPr>
            <a:r>
              <a:rPr lang="en-US" altLang="en-US" dirty="0">
                <a:latin typeface="Courier New" charset="0"/>
                <a:ea typeface="Courier New" charset="0"/>
                <a:cs typeface="Courier New" charset="0"/>
              </a:rPr>
              <a:t>		</a:t>
            </a:r>
            <a:r>
              <a:rPr lang="en-US" altLang="en-US" dirty="0" err="1">
                <a:latin typeface="Courier New" charset="0"/>
                <a:ea typeface="Courier New" charset="0"/>
                <a:cs typeface="Courier New" charset="0"/>
              </a:rPr>
              <a:t>int</a:t>
            </a:r>
            <a:r>
              <a:rPr lang="en-US" altLang="en-US" dirty="0">
                <a:latin typeface="Courier New" charset="0"/>
                <a:ea typeface="Courier New" charset="0"/>
                <a:cs typeface="Courier New" charset="0"/>
              </a:rPr>
              <a:t> </a:t>
            </a:r>
            <a:r>
              <a:rPr lang="en-US" altLang="en-US" dirty="0" err="1">
                <a:latin typeface="Courier New" charset="0"/>
                <a:ea typeface="Courier New" charset="0"/>
                <a:cs typeface="Courier New" charset="0"/>
              </a:rPr>
              <a:t>i</a:t>
            </a:r>
            <a:r>
              <a:rPr lang="en-US" altLang="en-US" dirty="0">
                <a:latin typeface="Courier New" charset="0"/>
                <a:ea typeface="Courier New" charset="0"/>
                <a:cs typeface="Courier New" charset="0"/>
              </a:rPr>
              <a:t>;</a:t>
            </a:r>
          </a:p>
          <a:p>
            <a:pPr marL="0" indent="0">
              <a:buNone/>
            </a:pPr>
            <a:r>
              <a:rPr lang="en-US" altLang="en-US" dirty="0">
                <a:latin typeface="Courier New" charset="0"/>
                <a:ea typeface="Courier New" charset="0"/>
                <a:cs typeface="Courier New" charset="0"/>
              </a:rPr>
              <a:t>		double temp = 1.0;</a:t>
            </a:r>
          </a:p>
          <a:p>
            <a:pPr marL="0" indent="0">
              <a:buNone/>
            </a:pPr>
            <a:r>
              <a:rPr lang="en-US" altLang="en-US" dirty="0">
                <a:latin typeface="Courier New" charset="0"/>
                <a:ea typeface="Courier New" charset="0"/>
                <a:cs typeface="Courier New" charset="0"/>
              </a:rPr>
              <a:t>		for (</a:t>
            </a:r>
            <a:r>
              <a:rPr lang="en-US" altLang="en-US" dirty="0" err="1">
                <a:latin typeface="Courier New" charset="0"/>
                <a:ea typeface="Courier New" charset="0"/>
                <a:cs typeface="Courier New" charset="0"/>
              </a:rPr>
              <a:t>i</a:t>
            </a:r>
            <a:r>
              <a:rPr lang="en-US" altLang="en-US" dirty="0">
                <a:latin typeface="Courier New" charset="0"/>
                <a:ea typeface="Courier New" charset="0"/>
                <a:cs typeface="Courier New" charset="0"/>
              </a:rPr>
              <a:t> = 1; </a:t>
            </a:r>
            <a:r>
              <a:rPr lang="en-US" altLang="en-US" dirty="0" err="1">
                <a:latin typeface="Courier New" charset="0"/>
                <a:ea typeface="Courier New" charset="0"/>
                <a:cs typeface="Courier New" charset="0"/>
              </a:rPr>
              <a:t>i</a:t>
            </a:r>
            <a:r>
              <a:rPr lang="en-US" altLang="en-US" dirty="0">
                <a:latin typeface="Courier New" charset="0"/>
                <a:ea typeface="Courier New" charset="0"/>
                <a:cs typeface="Courier New" charset="0"/>
              </a:rPr>
              <a:t> &lt;= b; </a:t>
            </a:r>
            <a:r>
              <a:rPr lang="en-US" altLang="en-US" dirty="0" err="1">
                <a:latin typeface="Courier New" charset="0"/>
                <a:ea typeface="Courier New" charset="0"/>
                <a:cs typeface="Courier New" charset="0"/>
              </a:rPr>
              <a:t>i</a:t>
            </a:r>
            <a:r>
              <a:rPr lang="en-US" altLang="en-US" dirty="0">
                <a:latin typeface="Courier New" charset="0"/>
                <a:ea typeface="Courier New" charset="0"/>
                <a:cs typeface="Courier New" charset="0"/>
              </a:rPr>
              <a:t>++){ </a:t>
            </a:r>
          </a:p>
          <a:p>
            <a:pPr marL="0" indent="0">
              <a:buNone/>
            </a:pPr>
            <a:r>
              <a:rPr lang="en-US" altLang="en-US" dirty="0">
                <a:latin typeface="Courier New" charset="0"/>
                <a:ea typeface="Courier New" charset="0"/>
                <a:cs typeface="Courier New" charset="0"/>
              </a:rPr>
              <a:t>			temp *=a;</a:t>
            </a:r>
            <a:br>
              <a:rPr lang="en-US" altLang="en-US" dirty="0">
                <a:latin typeface="Courier New" charset="0"/>
                <a:ea typeface="Courier New" charset="0"/>
                <a:cs typeface="Courier New" charset="0"/>
              </a:rPr>
            </a:br>
            <a:r>
              <a:rPr lang="en-US" altLang="en-US" dirty="0">
                <a:latin typeface="Courier New" charset="0"/>
                <a:ea typeface="Courier New" charset="0"/>
                <a:cs typeface="Courier New" charset="0"/>
              </a:rPr>
              <a:t>		}</a:t>
            </a:r>
          </a:p>
          <a:p>
            <a:pPr marL="0" indent="0">
              <a:buNone/>
            </a:pPr>
            <a:r>
              <a:rPr lang="en-US" altLang="en-US" dirty="0">
                <a:latin typeface="Courier New" charset="0"/>
                <a:ea typeface="Courier New" charset="0"/>
                <a:cs typeface="Courier New" charset="0"/>
              </a:rPr>
              <a:t>		return temp;</a:t>
            </a:r>
          </a:p>
          <a:p>
            <a:pPr marL="0" indent="0">
              <a:buNone/>
            </a:pPr>
            <a:r>
              <a:rPr lang="en-US" altLang="en-US" dirty="0">
                <a:latin typeface="Courier New" charset="0"/>
                <a:ea typeface="Courier New" charset="0"/>
                <a:cs typeface="Courier New" charset="0"/>
              </a:rPr>
              <a:t>	}</a:t>
            </a:r>
          </a:p>
        </p:txBody>
      </p:sp>
    </p:spTree>
    <p:extLst>
      <p:ext uri="{BB962C8B-B14F-4D97-AF65-F5344CB8AC3E}">
        <p14:creationId xmlns:p14="http://schemas.microsoft.com/office/powerpoint/2010/main" val="39748275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70C0"/>
                </a:solidFill>
              </a:rPr>
              <a:t>Demo</a:t>
            </a:r>
          </a:p>
        </p:txBody>
      </p:sp>
      <p:sp>
        <p:nvSpPr>
          <p:cNvPr id="3" name="Content Placeholder 2"/>
          <p:cNvSpPr>
            <a:spLocks noGrp="1"/>
          </p:cNvSpPr>
          <p:nvPr>
            <p:ph idx="1"/>
          </p:nvPr>
        </p:nvSpPr>
        <p:spPr/>
        <p:txBody>
          <a:bodyPr>
            <a:noAutofit/>
          </a:bodyPr>
          <a:lstStyle/>
          <a:p>
            <a:pPr>
              <a:defRPr/>
            </a:pPr>
            <a:r>
              <a:rPr lang="en-US" dirty="0">
                <a:ea typeface="ＭＳ Ｐゴシック" charset="0"/>
              </a:rPr>
              <a:t>Let’s make those functions tail recursive</a:t>
            </a:r>
          </a:p>
        </p:txBody>
      </p:sp>
      <p:sp>
        <p:nvSpPr>
          <p:cNvPr id="5" name="TextBox 4"/>
          <p:cNvSpPr txBox="1"/>
          <p:nvPr/>
        </p:nvSpPr>
        <p:spPr>
          <a:xfrm>
            <a:off x="10580914" y="1104405"/>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31520747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2DF0B95B-F77E-E64F-BBCC-C99D93305ED3}"/>
              </a:ext>
            </a:extLst>
          </p:cNvPr>
          <p:cNvPicPr>
            <a:picLocks noChangeAspect="1"/>
          </p:cNvPicPr>
          <p:nvPr/>
        </p:nvPicPr>
        <p:blipFill>
          <a:blip r:embed="rId2"/>
          <a:stretch>
            <a:fillRect/>
          </a:stretch>
        </p:blipFill>
        <p:spPr>
          <a:xfrm>
            <a:off x="3474720" y="137160"/>
            <a:ext cx="5486400" cy="6535972"/>
          </a:xfrm>
          <a:prstGeom prst="rect">
            <a:avLst/>
          </a:prstGeom>
        </p:spPr>
      </p:pic>
    </p:spTree>
    <p:extLst>
      <p:ext uri="{BB962C8B-B14F-4D97-AF65-F5344CB8AC3E}">
        <p14:creationId xmlns:p14="http://schemas.microsoft.com/office/powerpoint/2010/main" val="28147996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70C0"/>
                </a:solidFill>
              </a:rPr>
              <a:t>Functions in Common Lisp</a:t>
            </a:r>
          </a:p>
        </p:txBody>
      </p:sp>
      <p:sp>
        <p:nvSpPr>
          <p:cNvPr id="3" name="Content Placeholder 2"/>
          <p:cNvSpPr>
            <a:spLocks noGrp="1"/>
          </p:cNvSpPr>
          <p:nvPr>
            <p:ph idx="1"/>
          </p:nvPr>
        </p:nvSpPr>
        <p:spPr/>
        <p:txBody>
          <a:bodyPr>
            <a:noAutofit/>
          </a:bodyPr>
          <a:lstStyle/>
          <a:p>
            <a:pPr>
              <a:defRPr/>
            </a:pPr>
            <a:r>
              <a:rPr lang="en-US" dirty="0"/>
              <a:t>In functional programming, functions are </a:t>
            </a:r>
            <a:r>
              <a:rPr lang="en-US" b="1" u="sng" dirty="0"/>
              <a:t>first-class</a:t>
            </a:r>
            <a:r>
              <a:rPr lang="en-US" b="1" dirty="0"/>
              <a:t> data values</a:t>
            </a:r>
          </a:p>
          <a:p>
            <a:pPr>
              <a:defRPr/>
            </a:pPr>
            <a:r>
              <a:rPr lang="en-US" b="1" dirty="0"/>
              <a:t>Functions are treated as any other value (are first-class citizens)</a:t>
            </a:r>
          </a:p>
          <a:p>
            <a:pPr lvl="1">
              <a:defRPr/>
            </a:pPr>
            <a:r>
              <a:rPr lang="en-US" sz="2800" dirty="0">
                <a:ea typeface="ＭＳ Ｐゴシック" charset="0"/>
              </a:rPr>
              <a:t>Functions can be computed by other functions</a:t>
            </a:r>
          </a:p>
          <a:p>
            <a:pPr lvl="1">
              <a:defRPr/>
            </a:pPr>
            <a:r>
              <a:rPr lang="en-US" sz="2800" dirty="0">
                <a:ea typeface="ＭＳ Ｐゴシック" charset="0"/>
              </a:rPr>
              <a:t>Functions can be parameters to other functions</a:t>
            </a:r>
          </a:p>
          <a:p>
            <a:pPr>
              <a:defRPr/>
            </a:pPr>
            <a:r>
              <a:rPr lang="en-US" dirty="0">
                <a:ea typeface="ＭＳ Ｐゴシック" charset="0"/>
              </a:rPr>
              <a:t>Functions that take other functions as parameters and functions that return functions as values are called </a:t>
            </a:r>
            <a:r>
              <a:rPr lang="en-US" b="1" dirty="0">
                <a:ea typeface="ＭＳ Ｐゴシック" charset="0"/>
              </a:rPr>
              <a:t>higher-order functions</a:t>
            </a:r>
          </a:p>
          <a:p>
            <a:pPr>
              <a:defRPr/>
            </a:pPr>
            <a:endParaRPr lang="en-US" b="1" dirty="0">
              <a:ea typeface="ＭＳ Ｐゴシック" charset="0"/>
            </a:endParaRPr>
          </a:p>
          <a:p>
            <a:pPr>
              <a:defRPr/>
            </a:pPr>
            <a:endParaRPr lang="en-US" dirty="0">
              <a:ea typeface="ＭＳ Ｐゴシック" charset="0"/>
            </a:endParaRPr>
          </a:p>
        </p:txBody>
      </p:sp>
      <p:sp>
        <p:nvSpPr>
          <p:cNvPr id="5" name="TextBox 4"/>
          <p:cNvSpPr txBox="1"/>
          <p:nvPr/>
        </p:nvSpPr>
        <p:spPr>
          <a:xfrm>
            <a:off x="10580914" y="1104405"/>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13769038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70C0"/>
                </a:solidFill>
              </a:rPr>
              <a:t>Common Lisp - Defining Functions</a:t>
            </a:r>
          </a:p>
        </p:txBody>
      </p:sp>
      <p:sp>
        <p:nvSpPr>
          <p:cNvPr id="3" name="Content Placeholder 2"/>
          <p:cNvSpPr>
            <a:spLocks noGrp="1"/>
          </p:cNvSpPr>
          <p:nvPr>
            <p:ph idx="1"/>
          </p:nvPr>
        </p:nvSpPr>
        <p:spPr>
          <a:xfrm>
            <a:off x="838200" y="1825625"/>
            <a:ext cx="10515600" cy="4800806"/>
          </a:xfrm>
        </p:spPr>
        <p:txBody>
          <a:bodyPr>
            <a:noAutofit/>
          </a:bodyPr>
          <a:lstStyle/>
          <a:p>
            <a:pPr>
              <a:defRPr/>
            </a:pPr>
            <a:r>
              <a:rPr lang="en-US" dirty="0">
                <a:latin typeface="Courier New" charset="0"/>
                <a:ea typeface="Courier New" charset="0"/>
                <a:cs typeface="Courier New" charset="0"/>
              </a:rPr>
              <a:t>lambda</a:t>
            </a:r>
          </a:p>
          <a:p>
            <a:pPr lvl="1">
              <a:defRPr/>
            </a:pPr>
            <a:r>
              <a:rPr lang="en-US" sz="2800" dirty="0">
                <a:ea typeface="ＭＳ Ｐゴシック" charset="0"/>
              </a:rPr>
              <a:t>Provides ability to make an anonymous function</a:t>
            </a:r>
          </a:p>
          <a:p>
            <a:pPr lvl="1">
              <a:defRPr/>
            </a:pPr>
            <a:r>
              <a:rPr lang="en-US" sz="2800" dirty="0">
                <a:ea typeface="ＭＳ Ｐゴシック" charset="0"/>
              </a:rPr>
              <a:t>In common lisp, an anonymous function is a function without a name</a:t>
            </a:r>
          </a:p>
          <a:p>
            <a:pPr lvl="1">
              <a:defRPr/>
            </a:pPr>
            <a:r>
              <a:rPr lang="en-US" sz="2800" dirty="0">
                <a:latin typeface="Calibri" charset="0"/>
                <a:ea typeface="Calibri" charset="0"/>
                <a:cs typeface="Calibri" charset="0"/>
              </a:rPr>
              <a:t>(</a:t>
            </a:r>
            <a:r>
              <a:rPr lang="en-US" sz="2800" dirty="0">
                <a:latin typeface="Courier New" charset="0"/>
                <a:ea typeface="Courier New" charset="0"/>
                <a:cs typeface="Courier New" charset="0"/>
              </a:rPr>
              <a:t>lambda</a:t>
            </a:r>
            <a:r>
              <a:rPr lang="en-US" sz="2800" dirty="0">
                <a:latin typeface="Calibri" charset="0"/>
                <a:ea typeface="Calibri" charset="0"/>
                <a:cs typeface="Calibri" charset="0"/>
              </a:rPr>
              <a:t> (parameters) (body))</a:t>
            </a:r>
          </a:p>
          <a:p>
            <a:pPr lvl="1">
              <a:defRPr/>
            </a:pPr>
            <a:endParaRPr lang="en-US" sz="2800" dirty="0">
              <a:latin typeface="Calibri" charset="0"/>
              <a:ea typeface="Calibri" charset="0"/>
              <a:cs typeface="Calibri" charset="0"/>
            </a:endParaRPr>
          </a:p>
          <a:p>
            <a:pPr marL="457200" lvl="1" indent="0">
              <a:buNone/>
              <a:defRPr/>
            </a:pPr>
            <a:r>
              <a:rPr lang="en-US" dirty="0">
                <a:latin typeface="Courier New" charset="0"/>
                <a:ea typeface="Courier New" charset="0"/>
                <a:cs typeface="Courier New" charset="0"/>
              </a:rPr>
              <a:t>(lambda (x) (print (concatenate 'string "Hello " x)))</a:t>
            </a:r>
          </a:p>
          <a:p>
            <a:pPr lvl="1">
              <a:defRPr/>
            </a:pPr>
            <a:endParaRPr lang="en-US" sz="2800" dirty="0">
              <a:ea typeface="ＭＳ Ｐゴシック" charset="0"/>
            </a:endParaRPr>
          </a:p>
          <a:p>
            <a:pPr lvl="1">
              <a:defRPr/>
            </a:pPr>
            <a:r>
              <a:rPr lang="en-US" sz="2800" dirty="0">
                <a:ea typeface="ＭＳ Ｐゴシック" charset="0"/>
              </a:rPr>
              <a:t>Because the created function is not bound to a function name, the function itself is returned as data</a:t>
            </a:r>
          </a:p>
        </p:txBody>
      </p:sp>
      <p:sp>
        <p:nvSpPr>
          <p:cNvPr id="5" name="TextBox 4"/>
          <p:cNvSpPr txBox="1"/>
          <p:nvPr/>
        </p:nvSpPr>
        <p:spPr>
          <a:xfrm>
            <a:off x="10580914" y="1104405"/>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3712141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70C0"/>
                </a:solidFill>
              </a:rPr>
              <a:t>Common Lisp - Anonymous Functions</a:t>
            </a:r>
          </a:p>
        </p:txBody>
      </p:sp>
      <p:sp>
        <p:nvSpPr>
          <p:cNvPr id="3" name="Content Placeholder 2"/>
          <p:cNvSpPr>
            <a:spLocks noGrp="1"/>
          </p:cNvSpPr>
          <p:nvPr>
            <p:ph idx="1"/>
          </p:nvPr>
        </p:nvSpPr>
        <p:spPr>
          <a:xfrm>
            <a:off x="838200" y="1825625"/>
            <a:ext cx="10515600" cy="4800806"/>
          </a:xfrm>
        </p:spPr>
        <p:txBody>
          <a:bodyPr>
            <a:noAutofit/>
          </a:bodyPr>
          <a:lstStyle/>
          <a:p>
            <a:pPr>
              <a:defRPr/>
            </a:pPr>
            <a:r>
              <a:rPr lang="en-US" dirty="0" err="1">
                <a:latin typeface="Courier New" charset="0"/>
                <a:ea typeface="Courier New" charset="0"/>
                <a:cs typeface="Courier New" charset="0"/>
              </a:rPr>
              <a:t>funcall</a:t>
            </a:r>
            <a:endParaRPr lang="en-US" dirty="0">
              <a:latin typeface="Courier New" charset="0"/>
              <a:ea typeface="Courier New" charset="0"/>
              <a:cs typeface="Courier New" charset="0"/>
            </a:endParaRPr>
          </a:p>
          <a:p>
            <a:pPr lvl="1">
              <a:defRPr/>
            </a:pPr>
            <a:r>
              <a:rPr lang="en-US" sz="2800" dirty="0">
                <a:ea typeface="ＭＳ Ｐゴシック" charset="0"/>
              </a:rPr>
              <a:t>Provides ability to execute function stored as data</a:t>
            </a:r>
          </a:p>
          <a:p>
            <a:pPr lvl="1">
              <a:defRPr/>
            </a:pPr>
            <a:r>
              <a:rPr lang="en-US" sz="2800" dirty="0">
                <a:ea typeface="ＭＳ Ｐゴシック" charset="0"/>
              </a:rPr>
              <a:t>First argument is the function to be executed, remaining arguments are passed to the executed function </a:t>
            </a:r>
          </a:p>
          <a:p>
            <a:pPr lvl="1">
              <a:defRPr/>
            </a:pPr>
            <a:r>
              <a:rPr lang="en-US" sz="2800" dirty="0">
                <a:ea typeface="ＭＳ Ｐゴシック" charset="0"/>
              </a:rPr>
              <a:t>(</a:t>
            </a:r>
            <a:r>
              <a:rPr lang="en-US" sz="2800" dirty="0" err="1">
                <a:latin typeface="Courier New" charset="0"/>
                <a:ea typeface="Courier New" charset="0"/>
                <a:cs typeface="Courier New" charset="0"/>
              </a:rPr>
              <a:t>funcall</a:t>
            </a:r>
            <a:r>
              <a:rPr lang="en-US" sz="2800" dirty="0">
                <a:ea typeface="ＭＳ Ｐゴシック" charset="0"/>
              </a:rPr>
              <a:t> function &amp;rest </a:t>
            </a:r>
            <a:r>
              <a:rPr lang="en-US" sz="2800" dirty="0" err="1">
                <a:ea typeface="ＭＳ Ｐゴシック" charset="0"/>
              </a:rPr>
              <a:t>args</a:t>
            </a:r>
            <a:r>
              <a:rPr lang="en-US" sz="2800" dirty="0">
                <a:ea typeface="ＭＳ Ｐゴシック" charset="0"/>
              </a:rPr>
              <a:t>)</a:t>
            </a:r>
          </a:p>
          <a:p>
            <a:pPr lvl="1">
              <a:defRPr/>
            </a:pPr>
            <a:r>
              <a:rPr lang="en-US" sz="2800" dirty="0">
                <a:ea typeface="ＭＳ Ｐゴシック" charset="0"/>
              </a:rPr>
              <a:t>Ex: </a:t>
            </a:r>
            <a:r>
              <a:rPr lang="en-US" sz="2800" dirty="0">
                <a:latin typeface="Courier New" charset="0"/>
                <a:ea typeface="Courier New" charset="0"/>
                <a:cs typeface="Courier New" charset="0"/>
              </a:rPr>
              <a:t>(</a:t>
            </a:r>
            <a:r>
              <a:rPr lang="en-US" sz="2800" dirty="0" err="1">
                <a:latin typeface="Courier New" charset="0"/>
                <a:ea typeface="Courier New" charset="0"/>
                <a:cs typeface="Courier New" charset="0"/>
              </a:rPr>
              <a:t>defun</a:t>
            </a:r>
            <a:r>
              <a:rPr lang="en-US" sz="2800" dirty="0">
                <a:latin typeface="Courier New" charset="0"/>
                <a:ea typeface="Courier New" charset="0"/>
                <a:cs typeface="Courier New" charset="0"/>
              </a:rPr>
              <a:t> </a:t>
            </a:r>
            <a:r>
              <a:rPr lang="en-US" sz="2800" dirty="0" err="1">
                <a:latin typeface="Courier New" charset="0"/>
                <a:ea typeface="Courier New" charset="0"/>
                <a:cs typeface="Courier New" charset="0"/>
              </a:rPr>
              <a:t>makeDouble</a:t>
            </a:r>
            <a:r>
              <a:rPr lang="en-US" sz="2800" dirty="0">
                <a:latin typeface="Courier New" charset="0"/>
                <a:ea typeface="Courier New" charset="0"/>
                <a:cs typeface="Courier New" charset="0"/>
              </a:rPr>
              <a:t> (f x) (</a:t>
            </a:r>
            <a:r>
              <a:rPr lang="en-US" sz="2800" dirty="0" err="1">
                <a:latin typeface="Courier New" charset="0"/>
                <a:ea typeface="Courier New" charset="0"/>
                <a:cs typeface="Courier New" charset="0"/>
              </a:rPr>
              <a:t>funcall</a:t>
            </a:r>
            <a:r>
              <a:rPr lang="en-US" sz="2800" dirty="0">
                <a:latin typeface="Courier New" charset="0"/>
                <a:ea typeface="Courier New" charset="0"/>
                <a:cs typeface="Courier New" charset="0"/>
              </a:rPr>
              <a:t> f x x))</a:t>
            </a:r>
          </a:p>
          <a:p>
            <a:pPr lvl="1">
              <a:defRPr/>
            </a:pPr>
            <a:r>
              <a:rPr lang="en-US" sz="2800" dirty="0">
                <a:ea typeface="ＭＳ Ｐゴシック" charset="0"/>
              </a:rPr>
              <a:t>Parameter f stores a function</a:t>
            </a:r>
          </a:p>
          <a:p>
            <a:pPr lvl="1">
              <a:defRPr/>
            </a:pPr>
            <a:r>
              <a:rPr lang="en-US" sz="2800" dirty="0">
                <a:ea typeface="ＭＳ Ｐゴシック" charset="0"/>
              </a:rPr>
              <a:t>f is passed to </a:t>
            </a:r>
            <a:r>
              <a:rPr lang="en-US" sz="2800" dirty="0" err="1">
                <a:ea typeface="ＭＳ Ｐゴシック" charset="0"/>
              </a:rPr>
              <a:t>funcall</a:t>
            </a:r>
            <a:r>
              <a:rPr lang="en-US" sz="2800" dirty="0">
                <a:ea typeface="ＭＳ Ｐゴシック" charset="0"/>
              </a:rPr>
              <a:t> to be executed</a:t>
            </a:r>
          </a:p>
          <a:p>
            <a:pPr lvl="1">
              <a:defRPr/>
            </a:pPr>
            <a:r>
              <a:rPr lang="en-US" sz="2800" dirty="0">
                <a:ea typeface="ＭＳ Ｐゴシック" charset="0"/>
              </a:rPr>
              <a:t>x and x are passed to f as arguments</a:t>
            </a:r>
          </a:p>
        </p:txBody>
      </p:sp>
      <p:sp>
        <p:nvSpPr>
          <p:cNvPr id="5" name="TextBox 4"/>
          <p:cNvSpPr txBox="1"/>
          <p:nvPr/>
        </p:nvSpPr>
        <p:spPr>
          <a:xfrm>
            <a:off x="10580914" y="1104405"/>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35161267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70C0"/>
                </a:solidFill>
              </a:rPr>
              <a:t>Common Lisp - Namespaces</a:t>
            </a:r>
          </a:p>
        </p:txBody>
      </p:sp>
      <p:sp>
        <p:nvSpPr>
          <p:cNvPr id="3" name="Content Placeholder 2"/>
          <p:cNvSpPr>
            <a:spLocks noGrp="1"/>
          </p:cNvSpPr>
          <p:nvPr>
            <p:ph idx="1"/>
          </p:nvPr>
        </p:nvSpPr>
        <p:spPr>
          <a:xfrm>
            <a:off x="838200" y="1825625"/>
            <a:ext cx="10515600" cy="4800806"/>
          </a:xfrm>
        </p:spPr>
        <p:txBody>
          <a:bodyPr>
            <a:noAutofit/>
          </a:bodyPr>
          <a:lstStyle/>
          <a:p>
            <a:pPr>
              <a:defRPr/>
            </a:pPr>
            <a:r>
              <a:rPr lang="en-US" sz="2400" dirty="0">
                <a:latin typeface="Calibri" charset="0"/>
                <a:ea typeface="Calibri" charset="0"/>
                <a:cs typeface="Calibri" charset="0"/>
              </a:rPr>
              <a:t>Why do we use </a:t>
            </a:r>
            <a:r>
              <a:rPr lang="en-US" sz="2400" dirty="0" err="1">
                <a:latin typeface="Calibri" charset="0"/>
                <a:ea typeface="Calibri" charset="0"/>
                <a:cs typeface="Calibri" charset="0"/>
              </a:rPr>
              <a:t>funcall</a:t>
            </a:r>
            <a:r>
              <a:rPr lang="en-US" sz="2400" dirty="0">
                <a:latin typeface="Calibri" charset="0"/>
                <a:ea typeface="Calibri" charset="0"/>
                <a:cs typeface="Calibri" charset="0"/>
              </a:rPr>
              <a:t>?</a:t>
            </a:r>
          </a:p>
          <a:p>
            <a:pPr>
              <a:defRPr/>
            </a:pPr>
            <a:r>
              <a:rPr lang="en-US" sz="2400" dirty="0">
                <a:latin typeface="Calibri" charset="0"/>
                <a:ea typeface="Calibri" charset="0"/>
                <a:cs typeface="Calibri" charset="0"/>
              </a:rPr>
              <a:t>Recall in a list in common lisp, the first element of a list is treated as a function and executed, and the remaining elements are treated as arguments to that function</a:t>
            </a:r>
          </a:p>
          <a:p>
            <a:pPr>
              <a:defRPr/>
            </a:pPr>
            <a:r>
              <a:rPr lang="en-US" sz="2400" dirty="0">
                <a:latin typeface="Calibri" charset="0"/>
                <a:ea typeface="Calibri" charset="0"/>
                <a:cs typeface="Calibri" charset="0"/>
              </a:rPr>
              <a:t>So why can't we do: </a:t>
            </a:r>
            <a:r>
              <a:rPr lang="en-US" sz="2400" dirty="0">
                <a:latin typeface="Courier New" charset="0"/>
                <a:ea typeface="Courier New" charset="0"/>
                <a:cs typeface="Courier New" charset="0"/>
              </a:rPr>
              <a:t>(</a:t>
            </a:r>
            <a:r>
              <a:rPr lang="en-US" sz="2400" dirty="0" err="1">
                <a:latin typeface="Courier New" charset="0"/>
                <a:ea typeface="Courier New" charset="0"/>
                <a:cs typeface="Courier New" charset="0"/>
              </a:rPr>
              <a:t>defun</a:t>
            </a:r>
            <a:r>
              <a:rPr lang="en-US" sz="2400" dirty="0">
                <a:latin typeface="Courier New" charset="0"/>
                <a:ea typeface="Courier New" charset="0"/>
                <a:cs typeface="Courier New" charset="0"/>
              </a:rPr>
              <a:t> </a:t>
            </a:r>
            <a:r>
              <a:rPr lang="en-US" sz="2400" dirty="0" err="1">
                <a:latin typeface="Courier New" charset="0"/>
                <a:ea typeface="Courier New" charset="0"/>
                <a:cs typeface="Courier New" charset="0"/>
              </a:rPr>
              <a:t>makeDouble</a:t>
            </a:r>
            <a:r>
              <a:rPr lang="en-US" sz="2400" dirty="0">
                <a:latin typeface="Courier New" charset="0"/>
                <a:ea typeface="Courier New" charset="0"/>
                <a:cs typeface="Courier New" charset="0"/>
              </a:rPr>
              <a:t> (f x) (f x x)) </a:t>
            </a:r>
          </a:p>
          <a:p>
            <a:pPr>
              <a:defRPr/>
            </a:pPr>
            <a:r>
              <a:rPr lang="en-US" sz="2400" u="sng" dirty="0">
                <a:latin typeface="Calibri" charset="0"/>
                <a:ea typeface="Calibri" charset="0"/>
                <a:cs typeface="Calibri" charset="0"/>
              </a:rPr>
              <a:t>Because common lisp has two separate namespaces, one for variables and one for functions </a:t>
            </a:r>
          </a:p>
          <a:p>
            <a:pPr>
              <a:defRPr/>
            </a:pPr>
            <a:r>
              <a:rPr lang="en-US" sz="2400" dirty="0">
                <a:latin typeface="Calibri" charset="0"/>
                <a:ea typeface="Calibri" charset="0"/>
                <a:cs typeface="Calibri" charset="0"/>
              </a:rPr>
              <a:t>Because f is an argument, the binding to its value is defined in the variable namespace But because the first element in a list is always a function, the function namespace is searched for a value bound to f.</a:t>
            </a:r>
          </a:p>
          <a:p>
            <a:pPr>
              <a:defRPr/>
            </a:pPr>
            <a:r>
              <a:rPr lang="en-US" sz="2400" dirty="0">
                <a:latin typeface="Calibri" charset="0"/>
                <a:ea typeface="Calibri" charset="0"/>
                <a:cs typeface="Calibri" charset="0"/>
              </a:rPr>
              <a:t>So in the example code, we search the function namespace for f, rather than the variable namespace where f is defined</a:t>
            </a:r>
          </a:p>
        </p:txBody>
      </p:sp>
      <p:sp>
        <p:nvSpPr>
          <p:cNvPr id="5" name="TextBox 4"/>
          <p:cNvSpPr txBox="1"/>
          <p:nvPr/>
        </p:nvSpPr>
        <p:spPr>
          <a:xfrm>
            <a:off x="10580914" y="1104405"/>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33832936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70C0"/>
                </a:solidFill>
              </a:rPr>
              <a:t>Common Lisp - Namespaces</a:t>
            </a:r>
          </a:p>
        </p:txBody>
      </p:sp>
      <p:sp>
        <p:nvSpPr>
          <p:cNvPr id="3" name="Content Placeholder 2"/>
          <p:cNvSpPr>
            <a:spLocks noGrp="1"/>
          </p:cNvSpPr>
          <p:nvPr>
            <p:ph idx="1"/>
          </p:nvPr>
        </p:nvSpPr>
        <p:spPr>
          <a:xfrm>
            <a:off x="838200" y="1825625"/>
            <a:ext cx="10515600" cy="4800806"/>
          </a:xfrm>
        </p:spPr>
        <p:txBody>
          <a:bodyPr>
            <a:noAutofit/>
          </a:bodyPr>
          <a:lstStyle/>
          <a:p>
            <a:pPr>
              <a:defRPr/>
            </a:pPr>
            <a:r>
              <a:rPr lang="en-US" sz="2400" dirty="0">
                <a:latin typeface="Calibri" charset="0"/>
                <a:ea typeface="Calibri" charset="0"/>
                <a:cs typeface="Calibri" charset="0"/>
              </a:rPr>
              <a:t>Because variables and functions have separate namespaces, we can not directly pass functions as arguments to functions</a:t>
            </a:r>
          </a:p>
          <a:p>
            <a:pPr>
              <a:defRPr/>
            </a:pPr>
            <a:r>
              <a:rPr lang="en-US" sz="2400" dirty="0">
                <a:latin typeface="Courier New" charset="0"/>
                <a:ea typeface="Courier New" charset="0"/>
                <a:cs typeface="Courier New" charset="0"/>
              </a:rPr>
              <a:t>(</a:t>
            </a:r>
            <a:r>
              <a:rPr lang="en-US" sz="2400" dirty="0" err="1">
                <a:latin typeface="Courier New" charset="0"/>
                <a:ea typeface="Courier New" charset="0"/>
                <a:cs typeface="Courier New" charset="0"/>
              </a:rPr>
              <a:t>makeDouble</a:t>
            </a:r>
            <a:r>
              <a:rPr lang="en-US" sz="2400" dirty="0">
                <a:latin typeface="Courier New" charset="0"/>
                <a:ea typeface="Courier New" charset="0"/>
                <a:cs typeface="Courier New" charset="0"/>
              </a:rPr>
              <a:t> * 5)</a:t>
            </a:r>
            <a:r>
              <a:rPr lang="en-US" sz="2400" dirty="0">
                <a:latin typeface="Calibri" charset="0"/>
                <a:ea typeface="Calibri" charset="0"/>
                <a:cs typeface="Calibri" charset="0"/>
              </a:rPr>
              <a:t>does not work</a:t>
            </a:r>
          </a:p>
          <a:p>
            <a:pPr lvl="1">
              <a:defRPr/>
            </a:pPr>
            <a:r>
              <a:rPr lang="en-US" dirty="0">
                <a:latin typeface="Calibri" charset="0"/>
                <a:ea typeface="Calibri" charset="0"/>
                <a:cs typeface="Calibri" charset="0"/>
              </a:rPr>
              <a:t>The </a:t>
            </a:r>
            <a:r>
              <a:rPr lang="en-US" dirty="0" err="1">
                <a:latin typeface="Calibri" charset="0"/>
                <a:ea typeface="Calibri" charset="0"/>
                <a:cs typeface="Calibri" charset="0"/>
              </a:rPr>
              <a:t>makeDouble</a:t>
            </a:r>
            <a:r>
              <a:rPr lang="en-US" dirty="0">
                <a:latin typeface="Calibri" charset="0"/>
                <a:ea typeface="Calibri" charset="0"/>
                <a:cs typeface="Calibri" charset="0"/>
              </a:rPr>
              <a:t> identifier is looked up in the function namespace </a:t>
            </a:r>
          </a:p>
          <a:p>
            <a:pPr lvl="1">
              <a:defRPr/>
            </a:pPr>
            <a:r>
              <a:rPr lang="en-US" dirty="0">
                <a:latin typeface="Calibri" charset="0"/>
                <a:ea typeface="Calibri" charset="0"/>
                <a:cs typeface="Calibri" charset="0"/>
              </a:rPr>
              <a:t>But the * identifier is looked up in the variable namespace </a:t>
            </a:r>
          </a:p>
          <a:p>
            <a:pPr>
              <a:defRPr/>
            </a:pPr>
            <a:r>
              <a:rPr lang="en-US" sz="2400" dirty="0">
                <a:latin typeface="Courier New" charset="0"/>
                <a:ea typeface="Courier New" charset="0"/>
                <a:cs typeface="Courier New" charset="0"/>
              </a:rPr>
              <a:t>function </a:t>
            </a:r>
          </a:p>
          <a:p>
            <a:pPr lvl="1">
              <a:defRPr/>
            </a:pPr>
            <a:r>
              <a:rPr lang="en-US" dirty="0">
                <a:latin typeface="Calibri" charset="0"/>
                <a:ea typeface="Calibri" charset="0"/>
                <a:cs typeface="Calibri" charset="0"/>
              </a:rPr>
              <a:t>(</a:t>
            </a:r>
            <a:r>
              <a:rPr lang="en-US" dirty="0">
                <a:latin typeface="Courier New" charset="0"/>
                <a:ea typeface="Courier New" charset="0"/>
                <a:cs typeface="Courier New" charset="0"/>
              </a:rPr>
              <a:t>function</a:t>
            </a:r>
            <a:r>
              <a:rPr lang="en-US" dirty="0">
                <a:latin typeface="Calibri" charset="0"/>
                <a:ea typeface="Calibri" charset="0"/>
                <a:cs typeface="Calibri" charset="0"/>
              </a:rPr>
              <a:t> </a:t>
            </a:r>
            <a:r>
              <a:rPr lang="en-US" dirty="0" err="1">
                <a:latin typeface="Calibri" charset="0"/>
                <a:ea typeface="Calibri" charset="0"/>
                <a:cs typeface="Calibri" charset="0"/>
              </a:rPr>
              <a:t>aFunction</a:t>
            </a:r>
            <a:r>
              <a:rPr lang="en-US" dirty="0">
                <a:latin typeface="Calibri" charset="0"/>
                <a:ea typeface="Calibri" charset="0"/>
                <a:cs typeface="Calibri" charset="0"/>
              </a:rPr>
              <a:t>)</a:t>
            </a:r>
          </a:p>
          <a:p>
            <a:pPr lvl="1">
              <a:defRPr/>
            </a:pPr>
            <a:r>
              <a:rPr lang="en-US" dirty="0">
                <a:latin typeface="Calibri" charset="0"/>
                <a:ea typeface="Calibri" charset="0"/>
                <a:cs typeface="Calibri" charset="0"/>
              </a:rPr>
              <a:t>returns the given function as data</a:t>
            </a:r>
          </a:p>
          <a:p>
            <a:pPr lvl="1">
              <a:defRPr/>
            </a:pPr>
            <a:r>
              <a:rPr lang="en-US" dirty="0">
                <a:latin typeface="Courier New" charset="0"/>
                <a:ea typeface="Courier New" charset="0"/>
                <a:cs typeface="Courier New" charset="0"/>
              </a:rPr>
              <a:t>(</a:t>
            </a:r>
            <a:r>
              <a:rPr lang="en-US" dirty="0" err="1">
                <a:latin typeface="Courier New" charset="0"/>
                <a:ea typeface="Courier New" charset="0"/>
                <a:cs typeface="Courier New" charset="0"/>
              </a:rPr>
              <a:t>makeDouble</a:t>
            </a:r>
            <a:r>
              <a:rPr lang="en-US" dirty="0">
                <a:latin typeface="Courier New" charset="0"/>
                <a:ea typeface="Courier New" charset="0"/>
                <a:cs typeface="Courier New" charset="0"/>
              </a:rPr>
              <a:t> (function *) 5) </a:t>
            </a:r>
            <a:r>
              <a:rPr lang="en-US" dirty="0">
                <a:latin typeface="Calibri" charset="0"/>
                <a:ea typeface="Calibri" charset="0"/>
                <a:cs typeface="Calibri" charset="0"/>
              </a:rPr>
              <a:t>would produce the expected result</a:t>
            </a:r>
          </a:p>
          <a:p>
            <a:pPr lvl="1">
              <a:defRPr/>
            </a:pPr>
            <a:r>
              <a:rPr lang="en-US" dirty="0">
                <a:latin typeface="Calibri" charset="0"/>
                <a:ea typeface="Calibri" charset="0"/>
                <a:cs typeface="Calibri" charset="0"/>
              </a:rPr>
              <a:t>Common lisp provides a shorthand notation for the function function</a:t>
            </a:r>
            <a:r>
              <a:rPr lang="en-US">
                <a:latin typeface="Calibri" charset="0"/>
                <a:ea typeface="Calibri" charset="0"/>
                <a:cs typeface="Calibri" charset="0"/>
              </a:rPr>
              <a:t>: </a:t>
            </a:r>
            <a:r>
              <a:rPr lang="en-US">
                <a:latin typeface="Courier New" charset="0"/>
                <a:ea typeface="Courier New" charset="0"/>
                <a:cs typeface="Courier New" charset="0"/>
              </a:rPr>
              <a:t>#'</a:t>
            </a:r>
            <a:endParaRPr lang="en-US" dirty="0">
              <a:latin typeface="Courier New" charset="0"/>
              <a:ea typeface="Courier New" charset="0"/>
              <a:cs typeface="Courier New" charset="0"/>
            </a:endParaRPr>
          </a:p>
          <a:p>
            <a:pPr lvl="1">
              <a:defRPr/>
            </a:pPr>
            <a:r>
              <a:rPr lang="en-US" dirty="0">
                <a:latin typeface="Calibri" charset="0"/>
                <a:ea typeface="Calibri" charset="0"/>
                <a:cs typeface="Calibri" charset="0"/>
              </a:rPr>
              <a:t>Ex: </a:t>
            </a:r>
            <a:r>
              <a:rPr lang="en-US" dirty="0">
                <a:latin typeface="Courier New" charset="0"/>
                <a:ea typeface="Courier New" charset="0"/>
                <a:cs typeface="Courier New" charset="0"/>
              </a:rPr>
              <a:t>(</a:t>
            </a:r>
            <a:r>
              <a:rPr lang="en-US" dirty="0" err="1">
                <a:latin typeface="Courier New" charset="0"/>
                <a:ea typeface="Courier New" charset="0"/>
                <a:cs typeface="Courier New" charset="0"/>
              </a:rPr>
              <a:t>makeDouble</a:t>
            </a:r>
            <a:r>
              <a:rPr lang="en-US" dirty="0">
                <a:latin typeface="Courier New" charset="0"/>
                <a:ea typeface="Courier New" charset="0"/>
                <a:cs typeface="Courier New" charset="0"/>
              </a:rPr>
              <a:t> #'* 5)</a:t>
            </a:r>
          </a:p>
        </p:txBody>
      </p:sp>
      <p:sp>
        <p:nvSpPr>
          <p:cNvPr id="5" name="TextBox 4"/>
          <p:cNvSpPr txBox="1"/>
          <p:nvPr/>
        </p:nvSpPr>
        <p:spPr>
          <a:xfrm>
            <a:off x="10580914" y="1104405"/>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28332877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70C0"/>
                </a:solidFill>
              </a:rPr>
              <a:t>Higher-Order Functions in Common Lisp</a:t>
            </a:r>
          </a:p>
        </p:txBody>
      </p:sp>
      <p:sp>
        <p:nvSpPr>
          <p:cNvPr id="3" name="Content Placeholder 2"/>
          <p:cNvSpPr>
            <a:spLocks noGrp="1"/>
          </p:cNvSpPr>
          <p:nvPr>
            <p:ph idx="1"/>
          </p:nvPr>
        </p:nvSpPr>
        <p:spPr/>
        <p:txBody>
          <a:bodyPr>
            <a:noAutofit/>
          </a:bodyPr>
          <a:lstStyle/>
          <a:p>
            <a:pPr>
              <a:defRPr/>
            </a:pPr>
            <a:r>
              <a:rPr lang="en-US" dirty="0"/>
              <a:t>Ex: function with a function parameter that returns a function value</a:t>
            </a:r>
          </a:p>
          <a:p>
            <a:pPr marL="0" indent="0">
              <a:buFontTx/>
              <a:buNone/>
              <a:defRPr/>
            </a:pPr>
            <a:r>
              <a:rPr lang="en-US" dirty="0">
                <a:latin typeface="Courier New" pitchFamily="49" charset="0"/>
                <a:cs typeface="Courier New" pitchFamily="49" charset="0"/>
              </a:rPr>
              <a:t>	(</a:t>
            </a:r>
            <a:r>
              <a:rPr lang="en-US" dirty="0" err="1">
                <a:latin typeface="Courier New" pitchFamily="49" charset="0"/>
                <a:cs typeface="Courier New" pitchFamily="49" charset="0"/>
              </a:rPr>
              <a:t>defun</a:t>
            </a:r>
            <a:r>
              <a:rPr lang="en-US" dirty="0">
                <a:latin typeface="Courier New" pitchFamily="49" charset="0"/>
                <a:cs typeface="Courier New" pitchFamily="49" charset="0"/>
              </a:rPr>
              <a:t> </a:t>
            </a:r>
            <a:r>
              <a:rPr lang="en-US" dirty="0" err="1">
                <a:latin typeface="Courier New" pitchFamily="49" charset="0"/>
                <a:cs typeface="Courier New" pitchFamily="49" charset="0"/>
              </a:rPr>
              <a:t>makeDouble</a:t>
            </a:r>
            <a:r>
              <a:rPr lang="en-US" dirty="0">
                <a:latin typeface="Courier New" pitchFamily="49" charset="0"/>
                <a:cs typeface="Courier New" pitchFamily="49" charset="0"/>
              </a:rPr>
              <a:t> (f)  </a:t>
            </a:r>
          </a:p>
          <a:p>
            <a:pPr marL="0" indent="0">
              <a:buFontTx/>
              <a:buNone/>
              <a:defRPr/>
            </a:pPr>
            <a:r>
              <a:rPr lang="en-US" dirty="0">
                <a:latin typeface="Courier New" pitchFamily="49" charset="0"/>
                <a:cs typeface="Courier New" pitchFamily="49" charset="0"/>
              </a:rPr>
              <a:t>		(lambda (x) (</a:t>
            </a:r>
            <a:r>
              <a:rPr lang="en-US" dirty="0" err="1">
                <a:latin typeface="Courier New" pitchFamily="49" charset="0"/>
                <a:cs typeface="Courier New" pitchFamily="49" charset="0"/>
              </a:rPr>
              <a:t>funcall</a:t>
            </a:r>
            <a:r>
              <a:rPr lang="en-US" dirty="0">
                <a:latin typeface="Courier New" pitchFamily="49" charset="0"/>
                <a:cs typeface="Courier New" pitchFamily="49" charset="0"/>
              </a:rPr>
              <a:t> f x x))</a:t>
            </a:r>
          </a:p>
          <a:p>
            <a:pPr marL="0" indent="0">
              <a:buFontTx/>
              <a:buNone/>
              <a:defRPr/>
            </a:pPr>
            <a:r>
              <a:rPr lang="en-US" dirty="0">
                <a:latin typeface="Courier New" pitchFamily="49" charset="0"/>
                <a:cs typeface="Courier New" pitchFamily="49" charset="0"/>
              </a:rPr>
              <a:t>     )   		</a:t>
            </a:r>
          </a:p>
          <a:p>
            <a:pPr lvl="1">
              <a:defRPr/>
            </a:pPr>
            <a:r>
              <a:rPr lang="en-US" sz="2800" dirty="0"/>
              <a:t>The </a:t>
            </a:r>
            <a:r>
              <a:rPr lang="en-US" sz="2800" dirty="0" err="1"/>
              <a:t>makeDouble</a:t>
            </a:r>
            <a:r>
              <a:rPr lang="en-US" sz="2800" dirty="0"/>
              <a:t> function treats f as a function with two parameters and creates the function that repeats the parameter x in a call to f</a:t>
            </a:r>
          </a:p>
          <a:p>
            <a:pPr lvl="1">
              <a:defRPr/>
            </a:pPr>
            <a:r>
              <a:rPr lang="en-US" sz="2800" dirty="0"/>
              <a:t>x is not a parameter to </a:t>
            </a:r>
            <a:r>
              <a:rPr lang="en-US" sz="2800" dirty="0" err="1"/>
              <a:t>makeDouble</a:t>
            </a:r>
            <a:r>
              <a:rPr lang="en-US" sz="2800" dirty="0"/>
              <a:t>, but to the function created by </a:t>
            </a:r>
            <a:r>
              <a:rPr lang="en-US" sz="2800" dirty="0" err="1"/>
              <a:t>makeDouble</a:t>
            </a:r>
            <a:endParaRPr lang="en-US" sz="2800" dirty="0"/>
          </a:p>
          <a:p>
            <a:pPr>
              <a:defRPr/>
            </a:pPr>
            <a:endParaRPr lang="en-US" dirty="0">
              <a:ea typeface="ＭＳ Ｐゴシック" charset="0"/>
            </a:endParaRPr>
          </a:p>
        </p:txBody>
      </p:sp>
      <p:sp>
        <p:nvSpPr>
          <p:cNvPr id="5" name="TextBox 4"/>
          <p:cNvSpPr txBox="1"/>
          <p:nvPr/>
        </p:nvSpPr>
        <p:spPr>
          <a:xfrm>
            <a:off x="10580914" y="1104405"/>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38048197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70C0"/>
                </a:solidFill>
              </a:rPr>
              <a:t>Higher-Order Functions in Common Lisp</a:t>
            </a:r>
          </a:p>
        </p:txBody>
      </p:sp>
      <p:sp>
        <p:nvSpPr>
          <p:cNvPr id="3" name="Content Placeholder 2"/>
          <p:cNvSpPr>
            <a:spLocks noGrp="1"/>
          </p:cNvSpPr>
          <p:nvPr>
            <p:ph idx="1"/>
          </p:nvPr>
        </p:nvSpPr>
        <p:spPr>
          <a:xfrm>
            <a:off x="838200" y="1825625"/>
            <a:ext cx="10515600" cy="4800806"/>
          </a:xfrm>
        </p:spPr>
        <p:txBody>
          <a:bodyPr>
            <a:noAutofit/>
          </a:bodyPr>
          <a:lstStyle/>
          <a:p>
            <a:pPr>
              <a:defRPr/>
            </a:pPr>
            <a:r>
              <a:rPr lang="en-US" dirty="0"/>
              <a:t>Ex: function with a function parameter that returns a function value</a:t>
            </a:r>
          </a:p>
          <a:p>
            <a:pPr marL="0" indent="0">
              <a:buFontTx/>
              <a:buNone/>
              <a:defRPr/>
            </a:pPr>
            <a:r>
              <a:rPr lang="en-US" dirty="0">
                <a:latin typeface="Courier New" pitchFamily="49" charset="0"/>
                <a:cs typeface="Courier New" pitchFamily="49" charset="0"/>
              </a:rPr>
              <a:t>	(</a:t>
            </a:r>
            <a:r>
              <a:rPr lang="en-US" dirty="0" err="1">
                <a:latin typeface="Courier New" pitchFamily="49" charset="0"/>
                <a:cs typeface="Courier New" pitchFamily="49" charset="0"/>
              </a:rPr>
              <a:t>defun</a:t>
            </a:r>
            <a:r>
              <a:rPr lang="en-US" dirty="0">
                <a:latin typeface="Courier New" pitchFamily="49" charset="0"/>
                <a:cs typeface="Courier New" pitchFamily="49" charset="0"/>
              </a:rPr>
              <a:t> </a:t>
            </a:r>
            <a:r>
              <a:rPr lang="en-US" dirty="0" err="1">
                <a:latin typeface="Courier New" pitchFamily="49" charset="0"/>
                <a:cs typeface="Courier New" pitchFamily="49" charset="0"/>
              </a:rPr>
              <a:t>makeDouble</a:t>
            </a:r>
            <a:r>
              <a:rPr lang="en-US" dirty="0">
                <a:latin typeface="Courier New" pitchFamily="49" charset="0"/>
                <a:cs typeface="Courier New" pitchFamily="49" charset="0"/>
              </a:rPr>
              <a:t> (f)  </a:t>
            </a:r>
          </a:p>
          <a:p>
            <a:pPr marL="0" indent="0">
              <a:buFontTx/>
              <a:buNone/>
              <a:defRPr/>
            </a:pPr>
            <a:r>
              <a:rPr lang="en-US" dirty="0">
                <a:latin typeface="Courier New" pitchFamily="49" charset="0"/>
                <a:cs typeface="Courier New" pitchFamily="49" charset="0"/>
              </a:rPr>
              <a:t>		(lambda (x) (</a:t>
            </a:r>
            <a:r>
              <a:rPr lang="en-US" dirty="0" err="1">
                <a:latin typeface="Courier New" pitchFamily="49" charset="0"/>
                <a:cs typeface="Courier New" pitchFamily="49" charset="0"/>
              </a:rPr>
              <a:t>funcall</a:t>
            </a:r>
            <a:r>
              <a:rPr lang="en-US" dirty="0">
                <a:latin typeface="Courier New" pitchFamily="49" charset="0"/>
                <a:cs typeface="Courier New" pitchFamily="49" charset="0"/>
              </a:rPr>
              <a:t> f x x)))</a:t>
            </a:r>
          </a:p>
          <a:p>
            <a:pPr lvl="1">
              <a:defRPr/>
            </a:pPr>
            <a:r>
              <a:rPr lang="en-US" sz="2800" dirty="0"/>
              <a:t>Can now use the make-double function like this:</a:t>
            </a:r>
          </a:p>
          <a:p>
            <a:pPr marL="0" indent="0">
              <a:buFontTx/>
              <a:buNone/>
              <a:defRPr/>
            </a:pPr>
            <a:r>
              <a:rPr lang="en-US" dirty="0">
                <a:latin typeface="Courier New" pitchFamily="49" charset="0"/>
                <a:cs typeface="Courier New" pitchFamily="49" charset="0"/>
              </a:rPr>
              <a:t>	</a:t>
            </a:r>
            <a:r>
              <a:rPr lang="en-US" sz="2600" dirty="0">
                <a:latin typeface="Courier New" charset="0"/>
                <a:ea typeface="Courier New" charset="0"/>
                <a:cs typeface="Courier New" charset="0"/>
              </a:rPr>
              <a:t>(</a:t>
            </a:r>
            <a:r>
              <a:rPr lang="en-US" sz="2600" dirty="0" err="1">
                <a:latin typeface="Courier New" charset="0"/>
                <a:ea typeface="Courier New" charset="0"/>
                <a:cs typeface="Courier New" charset="0"/>
              </a:rPr>
              <a:t>defun</a:t>
            </a:r>
            <a:r>
              <a:rPr lang="en-US" sz="2600" dirty="0">
                <a:latin typeface="Courier New" charset="0"/>
                <a:ea typeface="Courier New" charset="0"/>
                <a:cs typeface="Courier New" charset="0"/>
              </a:rPr>
              <a:t> square (x) (</a:t>
            </a:r>
            <a:r>
              <a:rPr lang="en-US" sz="2600" dirty="0" err="1">
                <a:latin typeface="Courier New" charset="0"/>
                <a:ea typeface="Courier New" charset="0"/>
                <a:cs typeface="Courier New" charset="0"/>
              </a:rPr>
              <a:t>funcall</a:t>
            </a:r>
            <a:r>
              <a:rPr lang="en-US" sz="2600" dirty="0">
                <a:latin typeface="Courier New" charset="0"/>
                <a:ea typeface="Courier New" charset="0"/>
                <a:cs typeface="Courier New" charset="0"/>
              </a:rPr>
              <a:t> (</a:t>
            </a:r>
            <a:r>
              <a:rPr lang="en-US" sz="2600" dirty="0" err="1">
                <a:latin typeface="Courier New" charset="0"/>
                <a:ea typeface="Courier New" charset="0"/>
                <a:cs typeface="Courier New" charset="0"/>
              </a:rPr>
              <a:t>makeDouble</a:t>
            </a:r>
            <a:r>
              <a:rPr lang="en-US" sz="2600" dirty="0">
                <a:latin typeface="Courier New" charset="0"/>
                <a:ea typeface="Courier New" charset="0"/>
                <a:cs typeface="Courier New" charset="0"/>
              </a:rPr>
              <a:t> #'*) x))</a:t>
            </a:r>
          </a:p>
          <a:p>
            <a:pPr marL="0" indent="0">
              <a:buFontTx/>
              <a:buNone/>
              <a:defRPr/>
            </a:pPr>
            <a:r>
              <a:rPr lang="en-US" sz="2600" dirty="0">
                <a:latin typeface="Courier New" charset="0"/>
                <a:ea typeface="Courier New" charset="0"/>
                <a:cs typeface="Courier New" charset="0"/>
              </a:rPr>
              <a:t>	(</a:t>
            </a:r>
            <a:r>
              <a:rPr lang="en-US" sz="2600" dirty="0" err="1">
                <a:latin typeface="Courier New" charset="0"/>
                <a:ea typeface="Courier New" charset="0"/>
                <a:cs typeface="Courier New" charset="0"/>
              </a:rPr>
              <a:t>defun</a:t>
            </a:r>
            <a:r>
              <a:rPr lang="en-US" sz="2600" dirty="0">
                <a:latin typeface="Courier New" charset="0"/>
                <a:ea typeface="Courier New" charset="0"/>
                <a:cs typeface="Courier New" charset="0"/>
              </a:rPr>
              <a:t> double (x) (</a:t>
            </a:r>
            <a:r>
              <a:rPr lang="en-US" sz="2600" dirty="0" err="1">
                <a:latin typeface="Courier New" charset="0"/>
                <a:ea typeface="Courier New" charset="0"/>
                <a:cs typeface="Courier New" charset="0"/>
              </a:rPr>
              <a:t>funcall</a:t>
            </a:r>
            <a:r>
              <a:rPr lang="en-US" sz="2600" dirty="0">
                <a:latin typeface="Courier New" charset="0"/>
                <a:ea typeface="Courier New" charset="0"/>
                <a:cs typeface="Courier New" charset="0"/>
              </a:rPr>
              <a:t> (</a:t>
            </a:r>
            <a:r>
              <a:rPr lang="en-US" sz="2600" dirty="0" err="1">
                <a:latin typeface="Courier New" charset="0"/>
                <a:ea typeface="Courier New" charset="0"/>
                <a:cs typeface="Courier New" charset="0"/>
              </a:rPr>
              <a:t>makeDouble</a:t>
            </a:r>
            <a:r>
              <a:rPr lang="en-US" sz="2600">
                <a:latin typeface="Courier New" charset="0"/>
                <a:ea typeface="Courier New" charset="0"/>
                <a:cs typeface="Courier New" charset="0"/>
              </a:rPr>
              <a:t> #'+) </a:t>
            </a:r>
            <a:r>
              <a:rPr lang="en-US" sz="2600" dirty="0">
                <a:latin typeface="Courier New" charset="0"/>
                <a:ea typeface="Courier New" charset="0"/>
                <a:cs typeface="Courier New" charset="0"/>
              </a:rPr>
              <a:t>x))</a:t>
            </a:r>
          </a:p>
          <a:p>
            <a:pPr lvl="1">
              <a:defRPr/>
            </a:pPr>
            <a:r>
              <a:rPr lang="en-US" sz="2800" dirty="0"/>
              <a:t>And use them:</a:t>
            </a:r>
          </a:p>
          <a:p>
            <a:pPr marL="0" indent="0">
              <a:buFontTx/>
              <a:buNone/>
              <a:defRPr/>
            </a:pPr>
            <a:r>
              <a:rPr lang="en-US" dirty="0">
                <a:latin typeface="Courier New" pitchFamily="49" charset="0"/>
                <a:cs typeface="Courier New" pitchFamily="49" charset="0"/>
              </a:rPr>
              <a:t>	(square 5) ; 25</a:t>
            </a:r>
          </a:p>
          <a:p>
            <a:pPr marL="0" indent="0">
              <a:buFontTx/>
              <a:buNone/>
              <a:defRPr/>
            </a:pPr>
            <a:r>
              <a:rPr lang="en-US" dirty="0">
                <a:latin typeface="Courier New" pitchFamily="49" charset="0"/>
                <a:cs typeface="Courier New" pitchFamily="49" charset="0"/>
              </a:rPr>
              <a:t>	(double 5) ; 10</a:t>
            </a:r>
          </a:p>
          <a:p>
            <a:pPr marL="0" indent="0">
              <a:buFontTx/>
              <a:buNone/>
              <a:defRPr/>
            </a:pPr>
            <a:endParaRPr lang="en-US" dirty="0">
              <a:latin typeface="Courier New" pitchFamily="49" charset="0"/>
              <a:cs typeface="Courier New" pitchFamily="49" charset="0"/>
            </a:endParaRPr>
          </a:p>
          <a:p>
            <a:pPr>
              <a:defRPr/>
            </a:pPr>
            <a:endParaRPr lang="en-US" dirty="0">
              <a:ea typeface="ＭＳ Ｐゴシック" charset="0"/>
            </a:endParaRPr>
          </a:p>
        </p:txBody>
      </p:sp>
      <p:sp>
        <p:nvSpPr>
          <p:cNvPr id="5" name="TextBox 4"/>
          <p:cNvSpPr txBox="1"/>
          <p:nvPr/>
        </p:nvSpPr>
        <p:spPr>
          <a:xfrm>
            <a:off x="10580914" y="1104405"/>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20943682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70C0"/>
                </a:solidFill>
              </a:rPr>
              <a:t>Higher-Order Functions in Common Lisp</a:t>
            </a:r>
          </a:p>
        </p:txBody>
      </p:sp>
      <p:sp>
        <p:nvSpPr>
          <p:cNvPr id="3" name="Content Placeholder 2"/>
          <p:cNvSpPr>
            <a:spLocks noGrp="1"/>
          </p:cNvSpPr>
          <p:nvPr>
            <p:ph idx="1"/>
          </p:nvPr>
        </p:nvSpPr>
        <p:spPr/>
        <p:txBody>
          <a:bodyPr>
            <a:noAutofit/>
          </a:bodyPr>
          <a:lstStyle/>
          <a:p>
            <a:pPr>
              <a:defRPr/>
            </a:pPr>
            <a:r>
              <a:rPr lang="en-US" dirty="0"/>
              <a:t>Ex: Another example of a function with a function parameter.  Returns a list of numbers squared</a:t>
            </a:r>
          </a:p>
          <a:p>
            <a:pPr marL="0" indent="0">
              <a:buNone/>
            </a:pPr>
            <a:r>
              <a:rPr lang="en-US" sz="2400" dirty="0">
                <a:latin typeface="Courier New" charset="0"/>
                <a:ea typeface="Courier New" charset="0"/>
                <a:cs typeface="Courier New" charset="0"/>
              </a:rPr>
              <a:t>(</a:t>
            </a:r>
            <a:r>
              <a:rPr lang="en-US" sz="2400" dirty="0" err="1">
                <a:latin typeface="Courier New" charset="0"/>
                <a:ea typeface="Courier New" charset="0"/>
                <a:cs typeface="Courier New" charset="0"/>
              </a:rPr>
              <a:t>defun</a:t>
            </a:r>
            <a:r>
              <a:rPr lang="en-US" sz="2400" dirty="0">
                <a:latin typeface="Courier New" charset="0"/>
                <a:ea typeface="Courier New" charset="0"/>
                <a:cs typeface="Courier New" charset="0"/>
              </a:rPr>
              <a:t> map-tail (f L &amp;optional L2)</a:t>
            </a:r>
          </a:p>
          <a:p>
            <a:pPr marL="0" indent="0">
              <a:buNone/>
            </a:pPr>
            <a:r>
              <a:rPr lang="en-US" sz="2400" dirty="0">
                <a:latin typeface="Courier New" charset="0"/>
                <a:ea typeface="Courier New" charset="0"/>
                <a:cs typeface="Courier New" charset="0"/>
              </a:rPr>
              <a:t>  (if (null L) (RETURN-FROM map-tail (reverse L2)))</a:t>
            </a:r>
          </a:p>
          <a:p>
            <a:pPr marL="0" indent="0">
              <a:buNone/>
            </a:pPr>
            <a:r>
              <a:rPr lang="en-US" sz="2400" dirty="0">
                <a:latin typeface="Courier New" charset="0"/>
                <a:ea typeface="Courier New" charset="0"/>
                <a:cs typeface="Courier New" charset="0"/>
              </a:rPr>
              <a:t>  (map-tail f (</a:t>
            </a:r>
            <a:r>
              <a:rPr lang="en-US" sz="2400" dirty="0" err="1">
                <a:latin typeface="Courier New" charset="0"/>
                <a:ea typeface="Courier New" charset="0"/>
                <a:cs typeface="Courier New" charset="0"/>
              </a:rPr>
              <a:t>cdr</a:t>
            </a:r>
            <a:r>
              <a:rPr lang="en-US" sz="2400" dirty="0">
                <a:latin typeface="Courier New" charset="0"/>
                <a:ea typeface="Courier New" charset="0"/>
                <a:cs typeface="Courier New" charset="0"/>
              </a:rPr>
              <a:t> L) (cons (</a:t>
            </a:r>
            <a:r>
              <a:rPr lang="en-US" sz="2400" dirty="0" err="1">
                <a:latin typeface="Courier New" charset="0"/>
                <a:ea typeface="Courier New" charset="0"/>
                <a:cs typeface="Courier New" charset="0"/>
              </a:rPr>
              <a:t>funcall</a:t>
            </a:r>
            <a:r>
              <a:rPr lang="en-US" sz="2400" dirty="0">
                <a:latin typeface="Courier New" charset="0"/>
                <a:ea typeface="Courier New" charset="0"/>
                <a:cs typeface="Courier New" charset="0"/>
              </a:rPr>
              <a:t> f (car L)) L2 ))</a:t>
            </a:r>
          </a:p>
          <a:p>
            <a:pPr marL="0" indent="0">
              <a:buNone/>
            </a:pPr>
            <a:r>
              <a:rPr lang="en-US" sz="2400" dirty="0">
                <a:latin typeface="Courier New" charset="0"/>
                <a:ea typeface="Courier New" charset="0"/>
                <a:cs typeface="Courier New" charset="0"/>
              </a:rPr>
              <a:t>)</a:t>
            </a:r>
          </a:p>
          <a:p>
            <a:pPr marL="0" indent="0">
              <a:buNone/>
            </a:pPr>
            <a:r>
              <a:rPr lang="en-US" sz="2400" dirty="0">
                <a:latin typeface="Courier New" charset="0"/>
                <a:ea typeface="Courier New" charset="0"/>
                <a:cs typeface="Courier New" charset="0"/>
              </a:rPr>
              <a:t>(</a:t>
            </a:r>
            <a:r>
              <a:rPr lang="en-US" sz="2400" dirty="0" err="1">
                <a:latin typeface="Courier New" charset="0"/>
                <a:ea typeface="Courier New" charset="0"/>
                <a:cs typeface="Courier New" charset="0"/>
              </a:rPr>
              <a:t>defun</a:t>
            </a:r>
            <a:r>
              <a:rPr lang="en-US" sz="2400" dirty="0">
                <a:latin typeface="Courier New" charset="0"/>
                <a:ea typeface="Courier New" charset="0"/>
                <a:cs typeface="Courier New" charset="0"/>
              </a:rPr>
              <a:t> square (x) (* x x))</a:t>
            </a:r>
          </a:p>
          <a:p>
            <a:pPr marL="0" indent="0">
              <a:buNone/>
            </a:pPr>
            <a:r>
              <a:rPr lang="en-US" sz="2400" dirty="0">
                <a:latin typeface="Courier New" charset="0"/>
                <a:ea typeface="Courier New" charset="0"/>
                <a:cs typeface="Courier New" charset="0"/>
              </a:rPr>
              <a:t>(</a:t>
            </a:r>
            <a:r>
              <a:rPr lang="en-US" sz="2400" dirty="0" err="1">
                <a:latin typeface="Courier New" charset="0"/>
                <a:ea typeface="Courier New" charset="0"/>
                <a:cs typeface="Courier New" charset="0"/>
              </a:rPr>
              <a:t>defun</a:t>
            </a:r>
            <a:r>
              <a:rPr lang="en-US" sz="2400" dirty="0">
                <a:latin typeface="Courier New" charset="0"/>
                <a:ea typeface="Courier New" charset="0"/>
                <a:cs typeface="Courier New" charset="0"/>
              </a:rPr>
              <a:t> square-list (L) (map-tail #'square L))</a:t>
            </a:r>
          </a:p>
          <a:p>
            <a:pPr marL="0" indent="0">
              <a:buNone/>
            </a:pPr>
            <a:endParaRPr lang="en-US" sz="2400" dirty="0">
              <a:latin typeface="Courier New" charset="0"/>
              <a:ea typeface="Courier New" charset="0"/>
              <a:cs typeface="Courier New" charset="0"/>
            </a:endParaRPr>
          </a:p>
          <a:p>
            <a:pPr marL="0" indent="0">
              <a:buNone/>
            </a:pPr>
            <a:r>
              <a:rPr lang="en-US" sz="2400" dirty="0">
                <a:latin typeface="Courier New" charset="0"/>
                <a:ea typeface="Courier New" charset="0"/>
                <a:cs typeface="Courier New" charset="0"/>
              </a:rPr>
              <a:t>(print (square-list '(3 4 5))) ;prints '(9 16 25)</a:t>
            </a:r>
          </a:p>
        </p:txBody>
      </p:sp>
      <p:sp>
        <p:nvSpPr>
          <p:cNvPr id="5" name="TextBox 4"/>
          <p:cNvSpPr txBox="1"/>
          <p:nvPr/>
        </p:nvSpPr>
        <p:spPr>
          <a:xfrm>
            <a:off x="10580914" y="1104405"/>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20352394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70C0"/>
                </a:solidFill>
              </a:rPr>
              <a:t>Higher-Order Functions in Common Lisp</a:t>
            </a:r>
          </a:p>
        </p:txBody>
      </p:sp>
      <p:sp>
        <p:nvSpPr>
          <p:cNvPr id="3" name="Content Placeholder 2"/>
          <p:cNvSpPr>
            <a:spLocks noGrp="1"/>
          </p:cNvSpPr>
          <p:nvPr>
            <p:ph idx="1"/>
          </p:nvPr>
        </p:nvSpPr>
        <p:spPr/>
        <p:txBody>
          <a:bodyPr>
            <a:noAutofit/>
          </a:bodyPr>
          <a:lstStyle/>
          <a:p>
            <a:pPr>
              <a:defRPr/>
            </a:pPr>
            <a:r>
              <a:rPr lang="en-US" dirty="0"/>
              <a:t>Ex: Another example of a function with a function parameter</a:t>
            </a:r>
          </a:p>
          <a:p>
            <a:pPr marL="0" indent="0">
              <a:buNone/>
            </a:pPr>
            <a:r>
              <a:rPr lang="en-US" sz="2400" dirty="0">
                <a:latin typeface="Courier New" charset="0"/>
                <a:ea typeface="Courier New" charset="0"/>
                <a:cs typeface="Courier New" charset="0"/>
              </a:rPr>
              <a:t>(</a:t>
            </a:r>
            <a:r>
              <a:rPr lang="en-US" sz="2400" dirty="0" err="1">
                <a:latin typeface="Courier New" charset="0"/>
                <a:ea typeface="Courier New" charset="0"/>
                <a:cs typeface="Courier New" charset="0"/>
              </a:rPr>
              <a:t>defun</a:t>
            </a:r>
            <a:r>
              <a:rPr lang="en-US" sz="2400" dirty="0">
                <a:latin typeface="Courier New" charset="0"/>
                <a:ea typeface="Courier New" charset="0"/>
                <a:cs typeface="Courier New" charset="0"/>
              </a:rPr>
              <a:t> map-tail (f L &amp;optional L2)</a:t>
            </a:r>
          </a:p>
          <a:p>
            <a:pPr marL="0" indent="0">
              <a:buNone/>
            </a:pPr>
            <a:r>
              <a:rPr lang="en-US" sz="2400" dirty="0">
                <a:latin typeface="Courier New" charset="0"/>
                <a:ea typeface="Courier New" charset="0"/>
                <a:cs typeface="Courier New" charset="0"/>
              </a:rPr>
              <a:t>  (if (null L) (RETURN-FROM map-tail (reverse L2)))</a:t>
            </a:r>
          </a:p>
          <a:p>
            <a:pPr marL="0" indent="0">
              <a:buNone/>
            </a:pPr>
            <a:r>
              <a:rPr lang="en-US" sz="2400" dirty="0">
                <a:latin typeface="Courier New" charset="0"/>
                <a:ea typeface="Courier New" charset="0"/>
                <a:cs typeface="Courier New" charset="0"/>
              </a:rPr>
              <a:t>  (map-tail f (</a:t>
            </a:r>
            <a:r>
              <a:rPr lang="en-US" sz="2400" dirty="0" err="1">
                <a:latin typeface="Courier New" charset="0"/>
                <a:ea typeface="Courier New" charset="0"/>
                <a:cs typeface="Courier New" charset="0"/>
              </a:rPr>
              <a:t>cdr</a:t>
            </a:r>
            <a:r>
              <a:rPr lang="en-US" sz="2400" dirty="0">
                <a:latin typeface="Courier New" charset="0"/>
                <a:ea typeface="Courier New" charset="0"/>
                <a:cs typeface="Courier New" charset="0"/>
              </a:rPr>
              <a:t> L) (cons (</a:t>
            </a:r>
            <a:r>
              <a:rPr lang="en-US" sz="2400" dirty="0" err="1">
                <a:latin typeface="Courier New" charset="0"/>
                <a:ea typeface="Courier New" charset="0"/>
                <a:cs typeface="Courier New" charset="0"/>
              </a:rPr>
              <a:t>funcall</a:t>
            </a:r>
            <a:r>
              <a:rPr lang="en-US" sz="2400" dirty="0">
                <a:latin typeface="Courier New" charset="0"/>
                <a:ea typeface="Courier New" charset="0"/>
                <a:cs typeface="Courier New" charset="0"/>
              </a:rPr>
              <a:t> f (car L)) L2 ))</a:t>
            </a:r>
          </a:p>
          <a:p>
            <a:pPr marL="0" indent="0">
              <a:buNone/>
            </a:pPr>
            <a:r>
              <a:rPr lang="en-US" sz="2400" dirty="0">
                <a:latin typeface="Courier New" charset="0"/>
                <a:ea typeface="Courier New" charset="0"/>
                <a:cs typeface="Courier New" charset="0"/>
              </a:rPr>
              <a:t>)</a:t>
            </a:r>
          </a:p>
          <a:p>
            <a:pPr marL="0" indent="0">
              <a:buNone/>
            </a:pPr>
            <a:endParaRPr lang="en-US" sz="2400" dirty="0">
              <a:latin typeface="Courier New" charset="0"/>
              <a:ea typeface="Courier New" charset="0"/>
              <a:cs typeface="Courier New" charset="0"/>
            </a:endParaRPr>
          </a:p>
          <a:p>
            <a:pPr marL="0" indent="0">
              <a:buNone/>
            </a:pPr>
            <a:r>
              <a:rPr lang="mr-IN" sz="2400" dirty="0">
                <a:latin typeface="Courier New" charset="0"/>
                <a:ea typeface="Courier New" charset="0"/>
                <a:cs typeface="Courier New" charset="0"/>
              </a:rPr>
              <a:t>(</a:t>
            </a:r>
            <a:r>
              <a:rPr lang="mr-IN" sz="2400" dirty="0" err="1">
                <a:latin typeface="Courier New" charset="0"/>
                <a:ea typeface="Courier New" charset="0"/>
                <a:cs typeface="Courier New" charset="0"/>
              </a:rPr>
              <a:t>print</a:t>
            </a:r>
            <a:r>
              <a:rPr lang="mr-IN" sz="2400" dirty="0">
                <a:latin typeface="Courier New" charset="0"/>
                <a:ea typeface="Courier New" charset="0"/>
                <a:cs typeface="Courier New" charset="0"/>
              </a:rPr>
              <a:t> (</a:t>
            </a:r>
            <a:r>
              <a:rPr lang="mr-IN" sz="2400" dirty="0" err="1">
                <a:latin typeface="Courier New" charset="0"/>
                <a:ea typeface="Courier New" charset="0"/>
                <a:cs typeface="Courier New" charset="0"/>
              </a:rPr>
              <a:t>map</a:t>
            </a:r>
            <a:r>
              <a:rPr lang="mr-IN" sz="2400" dirty="0">
                <a:latin typeface="Courier New" charset="0"/>
                <a:ea typeface="Courier New" charset="0"/>
                <a:cs typeface="Courier New" charset="0"/>
              </a:rPr>
              <a:t>-</a:t>
            </a:r>
            <a:r>
              <a:rPr lang="en-US" sz="2400" dirty="0">
                <a:latin typeface="Courier New" charset="0"/>
                <a:ea typeface="Courier New" charset="0"/>
                <a:cs typeface="Courier New" charset="0"/>
              </a:rPr>
              <a:t>tail</a:t>
            </a:r>
            <a:r>
              <a:rPr lang="mr-IN" sz="2400" dirty="0">
                <a:latin typeface="Courier New" charset="0"/>
                <a:ea typeface="Courier New" charset="0"/>
                <a:cs typeface="Courier New" charset="0"/>
              </a:rPr>
              <a:t> #'</a:t>
            </a:r>
            <a:r>
              <a:rPr lang="mr-IN" sz="2400" dirty="0" err="1">
                <a:latin typeface="Courier New" charset="0"/>
                <a:ea typeface="Courier New" charset="0"/>
                <a:cs typeface="Courier New" charset="0"/>
              </a:rPr>
              <a:t>parse-integer</a:t>
            </a:r>
            <a:r>
              <a:rPr lang="mr-IN" sz="2400" dirty="0">
                <a:latin typeface="Courier New" charset="0"/>
                <a:ea typeface="Courier New" charset="0"/>
                <a:cs typeface="Courier New" charset="0"/>
              </a:rPr>
              <a:t> '("0" "22" "77")))</a:t>
            </a:r>
            <a:r>
              <a:rPr lang="en-US" sz="2400" dirty="0">
                <a:latin typeface="Courier New" charset="0"/>
                <a:ea typeface="Courier New" charset="0"/>
                <a:cs typeface="Courier New" charset="0"/>
              </a:rPr>
              <a:t>  </a:t>
            </a:r>
          </a:p>
          <a:p>
            <a:pPr marL="0" indent="0">
              <a:buNone/>
            </a:pPr>
            <a:r>
              <a:rPr lang="mr-IN" sz="2400" dirty="0">
                <a:latin typeface="Courier New" charset="0"/>
                <a:ea typeface="Courier New" charset="0"/>
                <a:cs typeface="Courier New" charset="0"/>
              </a:rPr>
              <a:t>;</a:t>
            </a:r>
            <a:r>
              <a:rPr lang="mr-IN" sz="2400" dirty="0" err="1">
                <a:latin typeface="Courier New" charset="0"/>
                <a:ea typeface="Courier New" charset="0"/>
                <a:cs typeface="Courier New" charset="0"/>
              </a:rPr>
              <a:t>prints</a:t>
            </a:r>
            <a:r>
              <a:rPr lang="mr-IN" sz="2400" dirty="0">
                <a:latin typeface="Courier New" charset="0"/>
                <a:ea typeface="Courier New" charset="0"/>
                <a:cs typeface="Courier New" charset="0"/>
              </a:rPr>
              <a:t> '(0 22 77)</a:t>
            </a:r>
          </a:p>
        </p:txBody>
      </p:sp>
      <p:sp>
        <p:nvSpPr>
          <p:cNvPr id="5" name="TextBox 4"/>
          <p:cNvSpPr txBox="1"/>
          <p:nvPr/>
        </p:nvSpPr>
        <p:spPr>
          <a:xfrm>
            <a:off x="10580914" y="1104405"/>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16926651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70C0"/>
                </a:solidFill>
              </a:rPr>
              <a:t>Higher-Order Functions in Common Lisp</a:t>
            </a:r>
          </a:p>
        </p:txBody>
      </p:sp>
      <p:sp>
        <p:nvSpPr>
          <p:cNvPr id="3" name="Content Placeholder 2"/>
          <p:cNvSpPr>
            <a:spLocks noGrp="1"/>
          </p:cNvSpPr>
          <p:nvPr>
            <p:ph idx="1"/>
          </p:nvPr>
        </p:nvSpPr>
        <p:spPr/>
        <p:txBody>
          <a:bodyPr>
            <a:noAutofit/>
          </a:bodyPr>
          <a:lstStyle/>
          <a:p>
            <a:pPr>
              <a:defRPr/>
            </a:pPr>
            <a:r>
              <a:rPr lang="en-US" dirty="0"/>
              <a:t>Ex: Revision of parse-integer to deal with non-numeric values</a:t>
            </a:r>
          </a:p>
          <a:p>
            <a:pPr marL="0" indent="0">
              <a:buNone/>
            </a:pPr>
            <a:r>
              <a:rPr lang="en-US" sz="2400" dirty="0">
                <a:latin typeface="Courier New" charset="0"/>
                <a:ea typeface="Courier New" charset="0"/>
                <a:cs typeface="Courier New" charset="0"/>
              </a:rPr>
              <a:t>(</a:t>
            </a:r>
            <a:r>
              <a:rPr lang="en-US" sz="2400" dirty="0" err="1">
                <a:latin typeface="Courier New" charset="0"/>
                <a:ea typeface="Courier New" charset="0"/>
                <a:cs typeface="Courier New" charset="0"/>
              </a:rPr>
              <a:t>defun</a:t>
            </a:r>
            <a:r>
              <a:rPr lang="en-US" sz="2400" dirty="0">
                <a:latin typeface="Courier New" charset="0"/>
                <a:ea typeface="Courier New" charset="0"/>
                <a:cs typeface="Courier New" charset="0"/>
              </a:rPr>
              <a:t> map-tail (f L &amp;optional L2)</a:t>
            </a:r>
          </a:p>
          <a:p>
            <a:pPr marL="0" indent="0">
              <a:buNone/>
            </a:pPr>
            <a:r>
              <a:rPr lang="en-US" sz="2400" dirty="0">
                <a:latin typeface="Courier New" charset="0"/>
                <a:ea typeface="Courier New" charset="0"/>
                <a:cs typeface="Courier New" charset="0"/>
              </a:rPr>
              <a:t>  (if (null L) (RETURN-FROM map-tail (reverse L2)))</a:t>
            </a:r>
          </a:p>
          <a:p>
            <a:pPr marL="0" indent="0">
              <a:buNone/>
            </a:pPr>
            <a:r>
              <a:rPr lang="en-US" sz="2400" dirty="0">
                <a:latin typeface="Courier New" charset="0"/>
                <a:ea typeface="Courier New" charset="0"/>
                <a:cs typeface="Courier New" charset="0"/>
              </a:rPr>
              <a:t>  (map-tail f (</a:t>
            </a:r>
            <a:r>
              <a:rPr lang="en-US" sz="2400" dirty="0" err="1">
                <a:latin typeface="Courier New" charset="0"/>
                <a:ea typeface="Courier New" charset="0"/>
                <a:cs typeface="Courier New" charset="0"/>
              </a:rPr>
              <a:t>cdr</a:t>
            </a:r>
            <a:r>
              <a:rPr lang="en-US" sz="2400" dirty="0">
                <a:latin typeface="Courier New" charset="0"/>
                <a:ea typeface="Courier New" charset="0"/>
                <a:cs typeface="Courier New" charset="0"/>
              </a:rPr>
              <a:t> L) (cons (</a:t>
            </a:r>
            <a:r>
              <a:rPr lang="en-US" sz="2400" dirty="0" err="1">
                <a:latin typeface="Courier New" charset="0"/>
                <a:ea typeface="Courier New" charset="0"/>
                <a:cs typeface="Courier New" charset="0"/>
              </a:rPr>
              <a:t>funcall</a:t>
            </a:r>
            <a:r>
              <a:rPr lang="en-US" sz="2400" dirty="0">
                <a:latin typeface="Courier New" charset="0"/>
                <a:ea typeface="Courier New" charset="0"/>
                <a:cs typeface="Courier New" charset="0"/>
              </a:rPr>
              <a:t> f (car L)) L2 ))</a:t>
            </a:r>
          </a:p>
          <a:p>
            <a:pPr marL="0" indent="0">
              <a:buNone/>
            </a:pPr>
            <a:r>
              <a:rPr lang="en-US" sz="2400" dirty="0">
                <a:latin typeface="Courier New" charset="0"/>
                <a:ea typeface="Courier New" charset="0"/>
                <a:cs typeface="Courier New" charset="0"/>
              </a:rPr>
              <a:t>)</a:t>
            </a:r>
          </a:p>
          <a:p>
            <a:pPr marL="0" indent="0">
              <a:buNone/>
            </a:pPr>
            <a:r>
              <a:rPr lang="en-US" sz="2400" dirty="0">
                <a:latin typeface="Courier New" charset="0"/>
                <a:ea typeface="Courier New" charset="0"/>
                <a:cs typeface="Courier New" charset="0"/>
              </a:rPr>
              <a:t>(</a:t>
            </a:r>
            <a:r>
              <a:rPr lang="en-US" sz="2400" dirty="0" err="1">
                <a:latin typeface="Courier New" charset="0"/>
                <a:ea typeface="Courier New" charset="0"/>
                <a:cs typeface="Courier New" charset="0"/>
              </a:rPr>
              <a:t>defun</a:t>
            </a:r>
            <a:r>
              <a:rPr lang="en-US" sz="2400" dirty="0">
                <a:latin typeface="Courier New" charset="0"/>
                <a:ea typeface="Courier New" charset="0"/>
                <a:cs typeface="Courier New" charset="0"/>
              </a:rPr>
              <a:t> my-parse-integer (string)</a:t>
            </a:r>
          </a:p>
          <a:p>
            <a:pPr marL="0" indent="0">
              <a:buNone/>
            </a:pPr>
            <a:r>
              <a:rPr lang="en-US" sz="2400" dirty="0">
                <a:latin typeface="Courier New" charset="0"/>
                <a:ea typeface="Courier New" charset="0"/>
                <a:cs typeface="Courier New" charset="0"/>
              </a:rPr>
              <a:t>   (parse-integer string :junk-allowed T)</a:t>
            </a:r>
            <a:r>
              <a:rPr lang="mr-IN" sz="2400" dirty="0">
                <a:latin typeface="Courier New" charset="0"/>
                <a:ea typeface="Courier New" charset="0"/>
                <a:cs typeface="Courier New" charset="0"/>
              </a:rPr>
              <a:t>)</a:t>
            </a:r>
            <a:br>
              <a:rPr lang="en-US" sz="2400" dirty="0">
                <a:latin typeface="Courier New" charset="0"/>
                <a:ea typeface="Courier New" charset="0"/>
                <a:cs typeface="Courier New" charset="0"/>
              </a:rPr>
            </a:br>
            <a:endParaRPr lang="it-IT" sz="2400" dirty="0">
              <a:latin typeface="Courier New" pitchFamily="49" charset="0"/>
              <a:cs typeface="Courier New" pitchFamily="49" charset="0"/>
            </a:endParaRPr>
          </a:p>
          <a:p>
            <a:pPr marL="0" indent="0">
              <a:buFontTx/>
              <a:buNone/>
              <a:defRPr/>
            </a:pPr>
            <a:r>
              <a:rPr lang="en-US" sz="2400" dirty="0">
                <a:latin typeface="Courier New" pitchFamily="49" charset="0"/>
                <a:cs typeface="Courier New" pitchFamily="49" charset="0"/>
              </a:rPr>
              <a:t>(map-</a:t>
            </a:r>
            <a:r>
              <a:rPr lang="en-US" sz="2400" dirty="0">
                <a:latin typeface="Courier New" charset="0"/>
                <a:ea typeface="Courier New" charset="0"/>
                <a:cs typeface="Courier New" charset="0"/>
              </a:rPr>
              <a:t>tail</a:t>
            </a:r>
            <a:r>
              <a:rPr lang="en-US" sz="2400" dirty="0">
                <a:latin typeface="Courier New" pitchFamily="49" charset="0"/>
                <a:cs typeface="Courier New" pitchFamily="49" charset="0"/>
              </a:rPr>
              <a:t> #’my-parse-integer '("a" "22" "77"))</a:t>
            </a:r>
          </a:p>
          <a:p>
            <a:pPr marL="0" indent="0">
              <a:buFontTx/>
              <a:buNone/>
              <a:defRPr/>
            </a:pPr>
            <a:r>
              <a:rPr lang="en-US" sz="2400" dirty="0">
                <a:latin typeface="Courier New" charset="0"/>
                <a:ea typeface="Courier New" charset="0"/>
                <a:cs typeface="Courier New" charset="0"/>
              </a:rPr>
              <a:t>   ; prints '(0 22 77)</a:t>
            </a:r>
          </a:p>
        </p:txBody>
      </p:sp>
      <p:sp>
        <p:nvSpPr>
          <p:cNvPr id="5" name="TextBox 4"/>
          <p:cNvSpPr txBox="1"/>
          <p:nvPr/>
        </p:nvSpPr>
        <p:spPr>
          <a:xfrm>
            <a:off x="10580914" y="1104405"/>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9351754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70C0"/>
                </a:solidFill>
              </a:rPr>
              <a:t>Higher-Order Functions in Common Lisp </a:t>
            </a:r>
          </a:p>
        </p:txBody>
      </p:sp>
      <p:sp>
        <p:nvSpPr>
          <p:cNvPr id="3" name="Content Placeholder 2"/>
          <p:cNvSpPr>
            <a:spLocks noGrp="1"/>
          </p:cNvSpPr>
          <p:nvPr>
            <p:ph idx="1"/>
          </p:nvPr>
        </p:nvSpPr>
        <p:spPr/>
        <p:txBody>
          <a:bodyPr>
            <a:noAutofit/>
          </a:bodyPr>
          <a:lstStyle/>
          <a:p>
            <a:pPr>
              <a:defRPr/>
            </a:pPr>
            <a:r>
              <a:rPr lang="en-US" dirty="0"/>
              <a:t>Ex: Generic solution map-remove</a:t>
            </a:r>
          </a:p>
          <a:p>
            <a:pPr>
              <a:spcBef>
                <a:spcPct val="0"/>
              </a:spcBef>
              <a:buFontTx/>
              <a:buNone/>
            </a:pPr>
            <a:endParaRPr lang="en-US" altLang="en-US" dirty="0">
              <a:latin typeface="Courier New" charset="0"/>
              <a:ea typeface="MS PGothic" charset="-128"/>
            </a:endParaRPr>
          </a:p>
          <a:p>
            <a:pPr>
              <a:spcBef>
                <a:spcPct val="0"/>
              </a:spcBef>
              <a:buFontTx/>
              <a:buNone/>
            </a:pPr>
            <a:r>
              <a:rPr lang="en-US" altLang="en-US" dirty="0">
                <a:latin typeface="Courier New" charset="0"/>
                <a:ea typeface="MS PGothic" charset="-128"/>
              </a:rPr>
              <a:t>(</a:t>
            </a:r>
            <a:r>
              <a:rPr lang="en-US" altLang="en-US" dirty="0" err="1">
                <a:latin typeface="Courier New" charset="0"/>
                <a:ea typeface="MS PGothic" charset="-128"/>
              </a:rPr>
              <a:t>defun</a:t>
            </a:r>
            <a:r>
              <a:rPr lang="en-US" altLang="en-US" dirty="0">
                <a:latin typeface="Courier New" charset="0"/>
                <a:ea typeface="MS PGothic" charset="-128"/>
              </a:rPr>
              <a:t> map-remove (f L) </a:t>
            </a:r>
          </a:p>
          <a:p>
            <a:pPr>
              <a:spcBef>
                <a:spcPct val="0"/>
              </a:spcBef>
              <a:buFontTx/>
              <a:buNone/>
            </a:pPr>
            <a:r>
              <a:rPr lang="en-US" altLang="en-US" dirty="0">
                <a:latin typeface="Courier New" charset="0"/>
                <a:ea typeface="MS PGothic" charset="-128"/>
              </a:rPr>
              <a:t>   (map 'list f (remove-if-not f L)))</a:t>
            </a:r>
          </a:p>
          <a:p>
            <a:pPr>
              <a:spcBef>
                <a:spcPct val="0"/>
              </a:spcBef>
              <a:buFontTx/>
              <a:buNone/>
            </a:pPr>
            <a:endParaRPr lang="en-US" altLang="en-US" dirty="0">
              <a:latin typeface="Courier New" charset="0"/>
              <a:ea typeface="MS PGothic" charset="-128"/>
            </a:endParaRPr>
          </a:p>
          <a:p>
            <a:pPr>
              <a:spcBef>
                <a:spcPct val="0"/>
              </a:spcBef>
              <a:buFontTx/>
              <a:buNone/>
            </a:pPr>
            <a:r>
              <a:rPr lang="en-US" altLang="en-US" dirty="0">
                <a:latin typeface="Courier New" charset="0"/>
                <a:ea typeface="MS PGothic" charset="-128"/>
              </a:rPr>
              <a:t>(map-remove #'my-parse-integer '("A" "2" "3"))	;returns (2 3)</a:t>
            </a:r>
          </a:p>
          <a:p>
            <a:pPr>
              <a:spcBef>
                <a:spcPct val="0"/>
              </a:spcBef>
              <a:buFontTx/>
              <a:buNone/>
            </a:pPr>
            <a:endParaRPr lang="en-US" altLang="en-US" dirty="0">
              <a:latin typeface="Courier New" charset="0"/>
              <a:ea typeface="Courier New" charset="0"/>
              <a:cs typeface="Courier New" charset="0"/>
            </a:endParaRPr>
          </a:p>
          <a:p>
            <a:pPr>
              <a:spcBef>
                <a:spcPct val="0"/>
              </a:spcBef>
              <a:buFontTx/>
              <a:buNone/>
            </a:pPr>
            <a:r>
              <a:rPr lang="en-US" altLang="en-US" dirty="0">
                <a:latin typeface="Courier New" charset="0"/>
                <a:ea typeface="Courier New" charset="0"/>
                <a:cs typeface="Courier New" charset="0"/>
              </a:rPr>
              <a:t>	</a:t>
            </a:r>
            <a:endParaRPr lang="en-US" altLang="en-US" dirty="0"/>
          </a:p>
          <a:p>
            <a:pPr>
              <a:spcBef>
                <a:spcPct val="0"/>
              </a:spcBef>
            </a:pPr>
            <a:r>
              <a:rPr lang="en-US" altLang="en-US" dirty="0"/>
              <a:t>map and remove-if-not are built in functions</a:t>
            </a:r>
          </a:p>
          <a:p>
            <a:pPr marL="0" indent="0">
              <a:buFontTx/>
              <a:buNone/>
              <a:defRPr/>
            </a:pPr>
            <a:endParaRPr lang="en-US" dirty="0">
              <a:ea typeface="MS PGothic" charset="-128"/>
            </a:endParaRPr>
          </a:p>
        </p:txBody>
      </p:sp>
      <p:sp>
        <p:nvSpPr>
          <p:cNvPr id="5" name="TextBox 4"/>
          <p:cNvSpPr txBox="1"/>
          <p:nvPr/>
        </p:nvSpPr>
        <p:spPr>
          <a:xfrm>
            <a:off x="10580914" y="1104405"/>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110530552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70C0"/>
                </a:solidFill>
              </a:rPr>
              <a:t>Higher-Order Functions in Common Lisp</a:t>
            </a:r>
          </a:p>
        </p:txBody>
      </p:sp>
      <p:sp>
        <p:nvSpPr>
          <p:cNvPr id="3" name="Content Placeholder 2"/>
          <p:cNvSpPr>
            <a:spLocks noGrp="1"/>
          </p:cNvSpPr>
          <p:nvPr>
            <p:ph idx="1"/>
          </p:nvPr>
        </p:nvSpPr>
        <p:spPr/>
        <p:txBody>
          <a:bodyPr>
            <a:noAutofit/>
          </a:bodyPr>
          <a:lstStyle/>
          <a:p>
            <a:r>
              <a:rPr lang="en-US" altLang="x-none" dirty="0"/>
              <a:t>Because higher-order functions can return function values, the runtime environment of functional languages is more complicated than the stack-based environment of a standard block-structured imperative language</a:t>
            </a:r>
          </a:p>
          <a:p>
            <a:r>
              <a:rPr lang="en-US" altLang="x-none" dirty="0"/>
              <a:t>Need</a:t>
            </a:r>
            <a:r>
              <a:rPr lang="en-US" altLang="x-none" b="1" dirty="0"/>
              <a:t> garbage collection</a:t>
            </a:r>
            <a:r>
              <a:rPr lang="en-US" altLang="x-none" dirty="0"/>
              <a:t>: automatic memory management technique to return memory used by functions</a:t>
            </a:r>
          </a:p>
          <a:p>
            <a:pPr>
              <a:defRPr/>
            </a:pPr>
            <a:endParaRPr lang="en-US" dirty="0">
              <a:ea typeface="ＭＳ Ｐゴシック" charset="0"/>
            </a:endParaRPr>
          </a:p>
        </p:txBody>
      </p:sp>
      <p:sp>
        <p:nvSpPr>
          <p:cNvPr id="5" name="TextBox 4"/>
          <p:cNvSpPr txBox="1"/>
          <p:nvPr/>
        </p:nvSpPr>
        <p:spPr>
          <a:xfrm>
            <a:off x="10580914" y="1104405"/>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426411819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70C0"/>
                </a:solidFill>
              </a:rPr>
              <a:t>Example</a:t>
            </a:r>
          </a:p>
        </p:txBody>
      </p:sp>
      <p:sp>
        <p:nvSpPr>
          <p:cNvPr id="3" name="Content Placeholder 2"/>
          <p:cNvSpPr>
            <a:spLocks noGrp="1"/>
          </p:cNvSpPr>
          <p:nvPr>
            <p:ph idx="1"/>
          </p:nvPr>
        </p:nvSpPr>
        <p:spPr/>
        <p:txBody>
          <a:bodyPr>
            <a:noAutofit/>
          </a:bodyPr>
          <a:lstStyle/>
          <a:p>
            <a:r>
              <a:rPr lang="en-US" altLang="x-none" dirty="0"/>
              <a:t>Create a function that is given a list and a function, filters the list for strings, then appends “OR” to the front of the strings in the list</a:t>
            </a:r>
          </a:p>
        </p:txBody>
      </p:sp>
      <p:sp>
        <p:nvSpPr>
          <p:cNvPr id="5" name="TextBox 4"/>
          <p:cNvSpPr txBox="1"/>
          <p:nvPr/>
        </p:nvSpPr>
        <p:spPr>
          <a:xfrm>
            <a:off x="10580914" y="1104405"/>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321964437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70C0"/>
                </a:solidFill>
              </a:rPr>
              <a:t>Example</a:t>
            </a:r>
          </a:p>
        </p:txBody>
      </p:sp>
      <p:sp>
        <p:nvSpPr>
          <p:cNvPr id="3" name="Content Placeholder 2"/>
          <p:cNvSpPr>
            <a:spLocks noGrp="1"/>
          </p:cNvSpPr>
          <p:nvPr>
            <p:ph idx="1"/>
          </p:nvPr>
        </p:nvSpPr>
        <p:spPr/>
        <p:txBody>
          <a:bodyPr>
            <a:noAutofit/>
          </a:bodyPr>
          <a:lstStyle/>
          <a:p>
            <a:pPr marL="0" indent="0">
              <a:buNone/>
            </a:pPr>
            <a:r>
              <a:rPr lang="en-US" altLang="x-none" sz="2200" dirty="0">
                <a:latin typeface="Courier New" panose="02070309020205020404" pitchFamily="49" charset="0"/>
                <a:cs typeface="Courier New" panose="02070309020205020404" pitchFamily="49" charset="0"/>
              </a:rPr>
              <a:t>(</a:t>
            </a:r>
            <a:r>
              <a:rPr lang="en-US" altLang="x-none" sz="2200" dirty="0" err="1">
                <a:latin typeface="Courier New" panose="02070309020205020404" pitchFamily="49" charset="0"/>
                <a:cs typeface="Courier New" panose="02070309020205020404" pitchFamily="49" charset="0"/>
              </a:rPr>
              <a:t>defun</a:t>
            </a:r>
            <a:r>
              <a:rPr lang="en-US" altLang="x-none" sz="2200" dirty="0">
                <a:latin typeface="Courier New" panose="02070309020205020404" pitchFamily="49" charset="0"/>
                <a:cs typeface="Courier New" panose="02070309020205020404" pitchFamily="49" charset="0"/>
              </a:rPr>
              <a:t> </a:t>
            </a:r>
            <a:r>
              <a:rPr lang="en-US" altLang="x-none" sz="2200" dirty="0" err="1">
                <a:latin typeface="Courier New" panose="02070309020205020404" pitchFamily="49" charset="0"/>
                <a:cs typeface="Courier New" panose="02070309020205020404" pitchFamily="49" charset="0"/>
              </a:rPr>
              <a:t>isString</a:t>
            </a:r>
            <a:r>
              <a:rPr lang="en-US" altLang="x-none" sz="2200" dirty="0">
                <a:latin typeface="Courier New" panose="02070309020205020404" pitchFamily="49" charset="0"/>
                <a:cs typeface="Courier New" panose="02070309020205020404" pitchFamily="49" charset="0"/>
              </a:rPr>
              <a:t> (x)</a:t>
            </a:r>
          </a:p>
          <a:p>
            <a:pPr marL="0" indent="0">
              <a:buNone/>
            </a:pPr>
            <a:r>
              <a:rPr lang="en-US" altLang="x-none" sz="2200" dirty="0">
                <a:latin typeface="Courier New" panose="02070309020205020404" pitchFamily="49" charset="0"/>
                <a:cs typeface="Courier New" panose="02070309020205020404" pitchFamily="49" charset="0"/>
              </a:rPr>
              <a:t>	(</a:t>
            </a:r>
            <a:r>
              <a:rPr lang="en-US" altLang="x-none" sz="2200" dirty="0" err="1">
                <a:latin typeface="Courier New" panose="02070309020205020404" pitchFamily="49" charset="0"/>
                <a:cs typeface="Courier New" panose="02070309020205020404" pitchFamily="49" charset="0"/>
              </a:rPr>
              <a:t>typep</a:t>
            </a:r>
            <a:r>
              <a:rPr lang="en-US" altLang="x-none" sz="2200" dirty="0">
                <a:latin typeface="Courier New" panose="02070309020205020404" pitchFamily="49" charset="0"/>
                <a:cs typeface="Courier New" panose="02070309020205020404" pitchFamily="49" charset="0"/>
              </a:rPr>
              <a:t> x 'String)</a:t>
            </a:r>
          </a:p>
          <a:p>
            <a:pPr marL="0" indent="0">
              <a:buNone/>
            </a:pPr>
            <a:r>
              <a:rPr lang="en-US" altLang="x-none" sz="2200" dirty="0">
                <a:latin typeface="Courier New" panose="02070309020205020404" pitchFamily="49" charset="0"/>
                <a:cs typeface="Courier New" panose="02070309020205020404" pitchFamily="49" charset="0"/>
              </a:rPr>
              <a:t>)</a:t>
            </a:r>
          </a:p>
          <a:p>
            <a:pPr marL="0" indent="0">
              <a:buNone/>
            </a:pPr>
            <a:endParaRPr lang="en-US" altLang="x-none" sz="2200" dirty="0">
              <a:latin typeface="Courier New" panose="02070309020205020404" pitchFamily="49" charset="0"/>
              <a:cs typeface="Courier New" panose="02070309020205020404" pitchFamily="49" charset="0"/>
            </a:endParaRPr>
          </a:p>
          <a:p>
            <a:pPr marL="0" indent="0">
              <a:buNone/>
            </a:pPr>
            <a:r>
              <a:rPr lang="en-US" altLang="x-none" sz="2200" dirty="0">
                <a:latin typeface="Courier New" panose="02070309020205020404" pitchFamily="49" charset="0"/>
                <a:cs typeface="Courier New" panose="02070309020205020404" pitchFamily="49" charset="0"/>
              </a:rPr>
              <a:t>(</a:t>
            </a:r>
            <a:r>
              <a:rPr lang="en-US" altLang="x-none" sz="2200" dirty="0" err="1">
                <a:latin typeface="Courier New" panose="02070309020205020404" pitchFamily="49" charset="0"/>
                <a:cs typeface="Courier New" panose="02070309020205020404" pitchFamily="49" charset="0"/>
              </a:rPr>
              <a:t>defun</a:t>
            </a:r>
            <a:r>
              <a:rPr lang="en-US" altLang="x-none" sz="2200" dirty="0">
                <a:latin typeface="Courier New" panose="02070309020205020404" pitchFamily="49" charset="0"/>
                <a:cs typeface="Courier New" panose="02070309020205020404" pitchFamily="49" charset="0"/>
              </a:rPr>
              <a:t> </a:t>
            </a:r>
            <a:r>
              <a:rPr lang="en-US" altLang="x-none" sz="2200" dirty="0" err="1">
                <a:latin typeface="Courier New" panose="02070309020205020404" pitchFamily="49" charset="0"/>
                <a:cs typeface="Courier New" panose="02070309020205020404" pitchFamily="49" charset="0"/>
              </a:rPr>
              <a:t>myExample</a:t>
            </a:r>
            <a:r>
              <a:rPr lang="en-US" altLang="x-none" sz="2200" dirty="0">
                <a:latin typeface="Courier New" panose="02070309020205020404" pitchFamily="49" charset="0"/>
                <a:cs typeface="Courier New" panose="02070309020205020404" pitchFamily="49" charset="0"/>
              </a:rPr>
              <a:t> (f L &amp;optional L2)</a:t>
            </a:r>
          </a:p>
          <a:p>
            <a:pPr marL="0" indent="0">
              <a:buNone/>
            </a:pPr>
            <a:r>
              <a:rPr lang="en-US" altLang="x-none" sz="2200" dirty="0">
                <a:latin typeface="Courier New" panose="02070309020205020404" pitchFamily="49" charset="0"/>
                <a:cs typeface="Courier New" panose="02070309020205020404" pitchFamily="49" charset="0"/>
              </a:rPr>
              <a:t>	(if (null L) (RETURN-FROM </a:t>
            </a:r>
            <a:r>
              <a:rPr lang="en-US" altLang="x-none" sz="2200" dirty="0" err="1">
                <a:latin typeface="Courier New" panose="02070309020205020404" pitchFamily="49" charset="0"/>
                <a:cs typeface="Courier New" panose="02070309020205020404" pitchFamily="49" charset="0"/>
              </a:rPr>
              <a:t>myExample</a:t>
            </a:r>
            <a:r>
              <a:rPr lang="en-US" altLang="x-none" sz="2200" dirty="0">
                <a:latin typeface="Courier New" panose="02070309020205020404" pitchFamily="49" charset="0"/>
                <a:cs typeface="Courier New" panose="02070309020205020404" pitchFamily="49" charset="0"/>
              </a:rPr>
              <a:t> (reverse L2)))</a:t>
            </a:r>
          </a:p>
          <a:p>
            <a:pPr marL="0" indent="0">
              <a:buNone/>
            </a:pPr>
            <a:r>
              <a:rPr lang="en-US" altLang="x-none" sz="2200" dirty="0">
                <a:latin typeface="Courier New" panose="02070309020205020404" pitchFamily="49" charset="0"/>
                <a:cs typeface="Courier New" panose="02070309020205020404" pitchFamily="49" charset="0"/>
              </a:rPr>
              <a:t>	(if (</a:t>
            </a:r>
            <a:r>
              <a:rPr lang="en-US" altLang="x-none" sz="2200" dirty="0" err="1">
                <a:latin typeface="Courier New" panose="02070309020205020404" pitchFamily="49" charset="0"/>
                <a:cs typeface="Courier New" panose="02070309020205020404" pitchFamily="49" charset="0"/>
              </a:rPr>
              <a:t>funcall</a:t>
            </a:r>
            <a:r>
              <a:rPr lang="en-US" altLang="x-none" sz="2200" dirty="0">
                <a:latin typeface="Courier New" panose="02070309020205020404" pitchFamily="49" charset="0"/>
                <a:cs typeface="Courier New" panose="02070309020205020404" pitchFamily="49" charset="0"/>
              </a:rPr>
              <a:t> f (car L))</a:t>
            </a:r>
          </a:p>
          <a:p>
            <a:pPr marL="0" indent="0">
              <a:buNone/>
            </a:pPr>
            <a:r>
              <a:rPr lang="en-US" altLang="x-none" sz="2200" dirty="0">
                <a:latin typeface="Courier New" panose="02070309020205020404" pitchFamily="49" charset="0"/>
                <a:cs typeface="Courier New" panose="02070309020205020404" pitchFamily="49" charset="0"/>
              </a:rPr>
              <a:t>		(</a:t>
            </a:r>
            <a:r>
              <a:rPr lang="en-US" altLang="x-none" sz="2200" dirty="0" err="1">
                <a:latin typeface="Courier New" panose="02070309020205020404" pitchFamily="49" charset="0"/>
                <a:cs typeface="Courier New" panose="02070309020205020404" pitchFamily="49" charset="0"/>
              </a:rPr>
              <a:t>myExample</a:t>
            </a:r>
            <a:r>
              <a:rPr lang="en-US" altLang="x-none" sz="2200" dirty="0">
                <a:latin typeface="Courier New" panose="02070309020205020404" pitchFamily="49" charset="0"/>
                <a:cs typeface="Courier New" panose="02070309020205020404" pitchFamily="49" charset="0"/>
              </a:rPr>
              <a:t> f (</a:t>
            </a:r>
            <a:r>
              <a:rPr lang="en-US" altLang="x-none" sz="2200" dirty="0" err="1">
                <a:latin typeface="Courier New" panose="02070309020205020404" pitchFamily="49" charset="0"/>
                <a:cs typeface="Courier New" panose="02070309020205020404" pitchFamily="49" charset="0"/>
              </a:rPr>
              <a:t>cdr</a:t>
            </a:r>
            <a:r>
              <a:rPr lang="en-US" altLang="x-none" sz="2200" dirty="0">
                <a:latin typeface="Courier New" panose="02070309020205020404" pitchFamily="49" charset="0"/>
                <a:cs typeface="Courier New" panose="02070309020205020404" pitchFamily="49" charset="0"/>
              </a:rPr>
              <a:t> L) (cons (concatenate 'String "OR" (car L)) L2))</a:t>
            </a:r>
          </a:p>
          <a:p>
            <a:pPr marL="0" indent="0">
              <a:buNone/>
            </a:pPr>
            <a:r>
              <a:rPr lang="en-US" altLang="x-none" sz="2200" dirty="0">
                <a:latin typeface="Courier New" panose="02070309020205020404" pitchFamily="49" charset="0"/>
                <a:cs typeface="Courier New" panose="02070309020205020404" pitchFamily="49" charset="0"/>
              </a:rPr>
              <a:t>		(</a:t>
            </a:r>
            <a:r>
              <a:rPr lang="en-US" altLang="x-none" sz="2200" dirty="0" err="1">
                <a:latin typeface="Courier New" panose="02070309020205020404" pitchFamily="49" charset="0"/>
                <a:cs typeface="Courier New" panose="02070309020205020404" pitchFamily="49" charset="0"/>
              </a:rPr>
              <a:t>myExample</a:t>
            </a:r>
            <a:r>
              <a:rPr lang="en-US" altLang="x-none" sz="2200" dirty="0">
                <a:latin typeface="Courier New" panose="02070309020205020404" pitchFamily="49" charset="0"/>
                <a:cs typeface="Courier New" panose="02070309020205020404" pitchFamily="49" charset="0"/>
              </a:rPr>
              <a:t> f (</a:t>
            </a:r>
            <a:r>
              <a:rPr lang="en-US" altLang="x-none" sz="2200" dirty="0" err="1">
                <a:latin typeface="Courier New" panose="02070309020205020404" pitchFamily="49" charset="0"/>
                <a:cs typeface="Courier New" panose="02070309020205020404" pitchFamily="49" charset="0"/>
              </a:rPr>
              <a:t>cdr</a:t>
            </a:r>
            <a:r>
              <a:rPr lang="en-US" altLang="x-none" sz="2200" dirty="0">
                <a:latin typeface="Courier New" panose="02070309020205020404" pitchFamily="49" charset="0"/>
                <a:cs typeface="Courier New" panose="02070309020205020404" pitchFamily="49" charset="0"/>
              </a:rPr>
              <a:t> L) L2)</a:t>
            </a:r>
          </a:p>
          <a:p>
            <a:pPr marL="0" indent="0">
              <a:buNone/>
            </a:pPr>
            <a:r>
              <a:rPr lang="en-US" altLang="x-none" sz="2200" dirty="0">
                <a:latin typeface="Courier New" panose="02070309020205020404" pitchFamily="49" charset="0"/>
                <a:cs typeface="Courier New" panose="02070309020205020404" pitchFamily="49" charset="0"/>
              </a:rPr>
              <a:t>	)</a:t>
            </a:r>
          </a:p>
          <a:p>
            <a:pPr marL="0" indent="0">
              <a:buNone/>
            </a:pPr>
            <a:r>
              <a:rPr lang="en-US" altLang="x-none" sz="2200" dirty="0">
                <a:latin typeface="Courier New" panose="02070309020205020404" pitchFamily="49" charset="0"/>
                <a:cs typeface="Courier New" panose="02070309020205020404" pitchFamily="49" charset="0"/>
              </a:rPr>
              <a:t>)</a:t>
            </a:r>
          </a:p>
        </p:txBody>
      </p:sp>
      <p:sp>
        <p:nvSpPr>
          <p:cNvPr id="5" name="TextBox 4"/>
          <p:cNvSpPr txBox="1"/>
          <p:nvPr/>
        </p:nvSpPr>
        <p:spPr>
          <a:xfrm>
            <a:off x="10580914" y="1104405"/>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17300838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4" id="{65316EAB-7D9D-F44C-9359-5EAF5ACFF67A}" vid="{A314C093-9F88-C04E-9797-11A80E266CD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352</TotalTime>
  <Words>1755</Words>
  <Application>Microsoft Macintosh PowerPoint</Application>
  <PresentationFormat>Widescreen</PresentationFormat>
  <Paragraphs>289</Paragraphs>
  <Slides>30</Slides>
  <Notes>11</Notes>
  <HiddenSlides>2</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30</vt:i4>
      </vt:variant>
    </vt:vector>
  </HeadingPairs>
  <TitlesOfParts>
    <vt:vector size="38" baseType="lpstr">
      <vt:lpstr>ＭＳ Ｐゴシック</vt:lpstr>
      <vt:lpstr>ＭＳ Ｐゴシック</vt:lpstr>
      <vt:lpstr>Arial</vt:lpstr>
      <vt:lpstr>Calibri</vt:lpstr>
      <vt:lpstr>Calibri Light</vt:lpstr>
      <vt:lpstr>Courier New</vt:lpstr>
      <vt:lpstr>Mangal</vt:lpstr>
      <vt:lpstr>Office Theme</vt:lpstr>
      <vt:lpstr>CMSC 304</vt:lpstr>
      <vt:lpstr>Common Lisp – Iteration </vt:lpstr>
      <vt:lpstr>Recursion</vt:lpstr>
      <vt:lpstr>Recursion</vt:lpstr>
      <vt:lpstr>Tail Recursion</vt:lpstr>
      <vt:lpstr>Tail Recursion</vt:lpstr>
      <vt:lpstr>Tail Recursion</vt:lpstr>
      <vt:lpstr>Tail Recursion</vt:lpstr>
      <vt:lpstr>Tail Recursion</vt:lpstr>
      <vt:lpstr>Tail Recursion</vt:lpstr>
      <vt:lpstr>Tail Recursion</vt:lpstr>
      <vt:lpstr>Common Lisp – Iteration</vt:lpstr>
      <vt:lpstr>Common Lisp – Iteration</vt:lpstr>
      <vt:lpstr>Common Lisp – Iteration</vt:lpstr>
      <vt:lpstr>Demo</vt:lpstr>
      <vt:lpstr>PowerPoint Presentation</vt:lpstr>
      <vt:lpstr>Functions in Common Lisp</vt:lpstr>
      <vt:lpstr>Common Lisp - Defining Functions</vt:lpstr>
      <vt:lpstr>Common Lisp - Anonymous Functions</vt:lpstr>
      <vt:lpstr>Common Lisp - Namespaces</vt:lpstr>
      <vt:lpstr>Common Lisp - Namespaces</vt:lpstr>
      <vt:lpstr>Higher-Order Functions in Common Lisp</vt:lpstr>
      <vt:lpstr>Higher-Order Functions in Common Lisp</vt:lpstr>
      <vt:lpstr>Higher-Order Functions in Common Lisp</vt:lpstr>
      <vt:lpstr>Higher-Order Functions in Common Lisp</vt:lpstr>
      <vt:lpstr>Higher-Order Functions in Common Lisp</vt:lpstr>
      <vt:lpstr>Higher-Order Functions in Common Lisp </vt:lpstr>
      <vt:lpstr>Higher-Order Functions in Common Lisp</vt:lpstr>
      <vt:lpstr>Example</vt:lpstr>
      <vt:lpstr>Example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CMSC 403</dc:title>
  <dc:creator>Microsoft Office User</dc:creator>
  <cp:lastModifiedBy>Microsoft Office User</cp:lastModifiedBy>
  <cp:revision>34</cp:revision>
  <dcterms:created xsi:type="dcterms:W3CDTF">2019-08-09T21:39:58Z</dcterms:created>
  <dcterms:modified xsi:type="dcterms:W3CDTF">2025-03-17T15:44:55Z</dcterms:modified>
</cp:coreProperties>
</file>