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3" r:id="rId1"/>
  </p:sldMasterIdLst>
  <p:notesMasterIdLst>
    <p:notesMasterId r:id="rId45"/>
  </p:notesMasterIdLst>
  <p:sldIdLst>
    <p:sldId id="256" r:id="rId2"/>
    <p:sldId id="278" r:id="rId3"/>
    <p:sldId id="315" r:id="rId4"/>
    <p:sldId id="316" r:id="rId5"/>
    <p:sldId id="317" r:id="rId6"/>
    <p:sldId id="281" r:id="rId7"/>
    <p:sldId id="318" r:id="rId8"/>
    <p:sldId id="328" r:id="rId9"/>
    <p:sldId id="329" r:id="rId10"/>
    <p:sldId id="340" r:id="rId11"/>
    <p:sldId id="319" r:id="rId12"/>
    <p:sldId id="282" r:id="rId13"/>
    <p:sldId id="320" r:id="rId14"/>
    <p:sldId id="321" r:id="rId15"/>
    <p:sldId id="283" r:id="rId16"/>
    <p:sldId id="322" r:id="rId17"/>
    <p:sldId id="323" r:id="rId18"/>
    <p:sldId id="341" r:id="rId19"/>
    <p:sldId id="326" r:id="rId20"/>
    <p:sldId id="324" r:id="rId21"/>
    <p:sldId id="332" r:id="rId22"/>
    <p:sldId id="333" r:id="rId23"/>
    <p:sldId id="335" r:id="rId24"/>
    <p:sldId id="336" r:id="rId25"/>
    <p:sldId id="337" r:id="rId26"/>
    <p:sldId id="289" r:id="rId27"/>
    <p:sldId id="342" r:id="rId28"/>
    <p:sldId id="339" r:id="rId29"/>
    <p:sldId id="290" r:id="rId30"/>
    <p:sldId id="292" r:id="rId31"/>
    <p:sldId id="296" r:id="rId32"/>
    <p:sldId id="297" r:id="rId33"/>
    <p:sldId id="298" r:id="rId34"/>
    <p:sldId id="257" r:id="rId35"/>
    <p:sldId id="258" r:id="rId36"/>
    <p:sldId id="259" r:id="rId37"/>
    <p:sldId id="260" r:id="rId38"/>
    <p:sldId id="261" r:id="rId39"/>
    <p:sldId id="262" r:id="rId40"/>
    <p:sldId id="264" r:id="rId41"/>
    <p:sldId id="265" r:id="rId42"/>
    <p:sldId id="267" r:id="rId43"/>
    <p:sldId id="269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77"/>
    <p:restoredTop sz="87084"/>
  </p:normalViewPr>
  <p:slideViewPr>
    <p:cSldViewPr snapToGrid="0" snapToObjects="1">
      <p:cViewPr varScale="1">
        <p:scale>
          <a:sx n="113" d="100"/>
          <a:sy n="113" d="100"/>
        </p:scale>
        <p:origin x="9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C3FBE-CC6D-C84E-A32C-3E7139D0BEF1}" type="datetimeFigureOut">
              <a:rPr lang="en-US" smtClean="0"/>
              <a:t>1/15/25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C0DA4-3FAE-DF4B-9554-5D7B5414A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724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16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836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We’re </a:t>
            </a:r>
            <a:r>
              <a:rPr lang="en-US" dirty="0" err="1"/>
              <a:t>gonna</a:t>
            </a:r>
            <a:r>
              <a:rPr lang="en-US" dirty="0"/>
              <a:t> go over these</a:t>
            </a:r>
            <a:r>
              <a:rPr lang="en-US" baseline="0" dirty="0"/>
              <a:t> four focus areas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923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411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88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COBOL attempted. It’s actually awful.</a:t>
            </a:r>
            <a:r>
              <a:rPr lang="en-US" baseline="0" dirty="0"/>
              <a:t> It’s also a very early language. Got some COBOL coming right up</a:t>
            </a:r>
          </a:p>
          <a:p>
            <a:r>
              <a:rPr lang="en-US" baseline="0" dirty="0" err="1"/>
              <a:t>Applescript</a:t>
            </a:r>
            <a:r>
              <a:rPr lang="en-US" baseline="0" dirty="0"/>
              <a:t> also did this. Any language which does this will suck!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515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370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52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SDLC</a:t>
            </a:r>
          </a:p>
          <a:p>
            <a:r>
              <a:rPr lang="en-US" dirty="0"/>
              <a:t>Software Development Life Cycle</a:t>
            </a:r>
          </a:p>
          <a:p>
            <a:r>
              <a:rPr lang="en-US" dirty="0"/>
              <a:t>Planning </a:t>
            </a:r>
            <a:r>
              <a:rPr lang="en-US" dirty="0">
                <a:sym typeface="Wingdings" pitchFamily="2" charset="2"/>
              </a:rPr>
              <a:t> Analysis  Design  Implementation  Maintenance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ym typeface="Wingdings" pitchFamily="2" charset="2"/>
              </a:rPr>
              <a:t>Write quick and debug horribly? Or write slower, but easy to debug?</a:t>
            </a:r>
            <a:endParaRPr lang="en-US" dirty="0"/>
          </a:p>
          <a:p>
            <a:r>
              <a:rPr lang="en-US" dirty="0">
                <a:sym typeface="Wingdings" pitchFamily="2" charset="2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6194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6291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228600"/>
            <a:r>
              <a:rPr lang="en-US" dirty="0"/>
              <a:t>NOT cyber security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How well a language prevents a person from doing something invalid or that can't happen</a:t>
            </a:r>
            <a:endParaRPr lang="en-US" dirty="0"/>
          </a:p>
          <a:p>
            <a:pPr defTabSz="228600"/>
            <a:r>
              <a:rPr lang="en-US" dirty="0"/>
              <a:t>ADA is an example of this.</a:t>
            </a:r>
            <a:r>
              <a:rPr lang="en-US" baseline="0" dirty="0"/>
              <a:t> Verbose but you get more compile errors rather than runtime errors.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877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“Prevention” can equal a crash or an exception thrown</a:t>
            </a:r>
          </a:p>
          <a:p>
            <a:r>
              <a:rPr lang="en-US" dirty="0"/>
              <a:t>Spectrum, C are insecure so C hang with rope, it let you </a:t>
            </a:r>
            <a:r>
              <a:rPr lang="en-US" dirty="0" err="1"/>
              <a:t>reck</a:t>
            </a:r>
            <a:r>
              <a:rPr lang="en-US" dirty="0"/>
              <a:t> havoc. Array out of bounds, it doesn't tell where or how it happened, and let's you overwrite say the stack</a:t>
            </a:r>
          </a:p>
          <a:p>
            <a:r>
              <a:rPr lang="en-US" dirty="0"/>
              <a:t>Java stops you, you can crash things, tells you if something goes wrong</a:t>
            </a:r>
          </a:p>
          <a:p>
            <a:pPr defTabSz="228600"/>
            <a:r>
              <a:rPr lang="en-US" baseline="0" dirty="0"/>
              <a:t>	Does the language or the programmer shoulder the responsibility that nothing goes wrong? Security vs efficiency? Is it worthwhile?</a:t>
            </a:r>
          </a:p>
          <a:p>
            <a:pPr defTabSz="228600"/>
            <a:r>
              <a:rPr lang="en-US" baseline="0" dirty="0"/>
              <a:t>In the military? Maybe? In a random webpage? Maybe not?</a:t>
            </a:r>
          </a:p>
          <a:p>
            <a:pPr defTabSz="228600"/>
            <a:r>
              <a:rPr lang="en-US" baseline="0" dirty="0"/>
              <a:t>Depends.</a:t>
            </a:r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3726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E.g. a symbol that does a thing should consistently do the same thing throughout the program to be considered regular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449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81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 you can compare the two structures but it compares their</a:t>
            </a:r>
            <a:r>
              <a:rPr lang="en-US" baseline="0" dirty="0"/>
              <a:t> identity not their equality </a:t>
            </a:r>
            <a:endParaRPr lang="en-US" dirty="0"/>
          </a:p>
          <a:p>
            <a:endParaRPr lang="en-US" dirty="0"/>
          </a:p>
          <a:p>
            <a:r>
              <a:rPr lang="en-US" dirty="0"/>
              <a:t>What are some</a:t>
            </a:r>
            <a:r>
              <a:rPr lang="en-US" baseline="0" dirty="0"/>
              <a:t> limitations?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044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Orthogonal design: Think of this as context should be ORTHOGONAL to behavior of a construct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146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Orthogonal or not?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Not orthogonal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Not orthogonal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Orthogonal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Not orthogonal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orthogonal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8192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Does this for compatibility with C for some reason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891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Modern languages do their best to avoid uniformity issues, so we go to the past.</a:t>
            </a:r>
          </a:p>
          <a:p>
            <a:endParaRPr lang="en-US" dirty="0"/>
          </a:p>
          <a:p>
            <a:r>
              <a:rPr lang="en-US" dirty="0"/>
              <a:t>Recursive call? Yikes! Seasoned pascal programmers can tell you easily, but new people? nope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9780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= *p * *b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620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Python, everything is an object. In Java, that was scary, in 1990s, people were worried about efficiency and people were still used to C</a:t>
            </a:r>
          </a:p>
          <a:p>
            <a:r>
              <a:rPr lang="en-US" dirty="0"/>
              <a:t>Sacrifice regularity for Computational efficiency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7153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5960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don’t care how the computer</a:t>
            </a:r>
            <a:r>
              <a:rPr lang="en-US" baseline="0" dirty="0"/>
              <a:t> stores the numeric value 2.8, we just care that it stores that value </a:t>
            </a:r>
          </a:p>
          <a:p>
            <a:r>
              <a:rPr lang="en-US" baseline="0" dirty="0"/>
              <a:t>We don’t need to manually loop our code, we can use a control structure instead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472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We’re about to dive into detail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293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4565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Black Box Programming </a:t>
            </a:r>
          </a:p>
          <a:p>
            <a:r>
              <a:rPr lang="en-US" dirty="0"/>
              <a:t>Programming via contract </a:t>
            </a:r>
          </a:p>
          <a:p>
            <a:r>
              <a:rPr lang="en-US" dirty="0"/>
              <a:t>Blackbox programming, foundation of using other people's code, breaking stuff into sub problems!</a:t>
            </a:r>
          </a:p>
          <a:p>
            <a:r>
              <a:rPr lang="en-US" dirty="0"/>
              <a:t>Imagine if you had to understand a car to drive it…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8403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Data start transitioning to control </a:t>
            </a:r>
          </a:p>
          <a:p>
            <a:r>
              <a:rPr lang="en-US" dirty="0"/>
              <a:t>We don’t care how the computer</a:t>
            </a:r>
            <a:r>
              <a:rPr lang="en-US" baseline="0" dirty="0"/>
              <a:t> stores the numeric value 2.8, we just care that it stores that value </a:t>
            </a:r>
          </a:p>
          <a:p>
            <a:r>
              <a:rPr lang="en-US" baseline="0" dirty="0"/>
              <a:t>We don’t need to manually loop our code, we can use a control structure instead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193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We’re about to dive into detail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856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ARM Assembly? LC-3 Assembly? lol</a:t>
            </a:r>
          </a:p>
          <a:p>
            <a:r>
              <a:rPr lang="en-US" dirty="0"/>
              <a:t>Adding</a:t>
            </a:r>
            <a:r>
              <a:rPr lang="en-US" baseline="0" dirty="0"/>
              <a:t> absolute values of a list of numbers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052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Function returns something, a procedure doesn’t, but they are basically the same thing: This is the FORMAL difference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606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116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885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3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431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8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2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496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56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490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7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727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88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106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97D23-1D1C-734C-9188-3D38F4DBA869}" type="datetimeFigureOut">
              <a:rPr lang="en-US" smtClean="0"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49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>
                <a:solidFill>
                  <a:srgbClr val="0070C0"/>
                </a:solidFill>
              </a:rPr>
              <a:t>CMSC 304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Language Design Criteria &amp; Abstractions in Programming Languages</a:t>
            </a:r>
          </a:p>
          <a:p>
            <a:r>
              <a:rPr lang="en-US"/>
              <a:t>Claire Sparks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1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Language Design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What is good programming language design?</a:t>
            </a:r>
          </a:p>
          <a:p>
            <a:r>
              <a:rPr lang="en-US" altLang="en-US" dirty="0">
                <a:ea typeface="MS PGothic" charset="-128"/>
              </a:rPr>
              <a:t>What criteria should be used to judge a language?</a:t>
            </a:r>
          </a:p>
          <a:p>
            <a:r>
              <a:rPr lang="en-US" altLang="en-US" dirty="0">
                <a:ea typeface="MS PGothic" charset="-128"/>
              </a:rPr>
              <a:t>How should success or failure of a language be defined?</a:t>
            </a:r>
          </a:p>
        </p:txBody>
      </p:sp>
    </p:spTree>
    <p:extLst>
      <p:ext uri="{BB962C8B-B14F-4D97-AF65-F5344CB8AC3E}">
        <p14:creationId xmlns:p14="http://schemas.microsoft.com/office/powerpoint/2010/main" val="168462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Language Design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Criteria for a successful language: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It achieves the goals of its designers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It attains widespread use in an application area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It serves as a model for other languages that are successful</a:t>
            </a:r>
          </a:p>
          <a:p>
            <a:pPr lvl="1"/>
            <a:endParaRPr lang="en-US" altLang="en-US" sz="2800" dirty="0">
              <a:ea typeface="MS PGothic" charset="-128"/>
            </a:endParaRPr>
          </a:p>
          <a:p>
            <a:r>
              <a:rPr lang="en-US" altLang="en-US" dirty="0">
                <a:ea typeface="MS PGothic" charset="-128"/>
              </a:rPr>
              <a:t>Why are some languages popular when others are not?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Ex: C with UNIX, COBOL in industry, Java &amp; Python 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Ex: Smalltalk not, but many languages built from its constructs</a:t>
            </a:r>
          </a:p>
        </p:txBody>
      </p:sp>
    </p:spTree>
    <p:extLst>
      <p:ext uri="{BB962C8B-B14F-4D97-AF65-F5344CB8AC3E}">
        <p14:creationId xmlns:p14="http://schemas.microsoft.com/office/powerpoint/2010/main" val="1372894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Language Design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When creating a new language, decide on an overall goal and keep it in mind throughout the design process</a:t>
            </a:r>
          </a:p>
          <a:p>
            <a:r>
              <a:rPr lang="en-US" altLang="en-US" dirty="0">
                <a:ea typeface="MS PGothic" charset="-128"/>
              </a:rPr>
              <a:t>This is especially important for special purpose languages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The abstractions for the target application area must be built into the language design</a:t>
            </a:r>
          </a:p>
        </p:txBody>
      </p:sp>
    </p:spTree>
    <p:extLst>
      <p:ext uri="{BB962C8B-B14F-4D97-AF65-F5344CB8AC3E}">
        <p14:creationId xmlns:p14="http://schemas.microsoft.com/office/powerpoint/2010/main" val="4068520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Language Design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Focus Areas: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Efficiency</a:t>
            </a:r>
          </a:p>
          <a:p>
            <a:pPr lvl="1"/>
            <a:r>
              <a:rPr lang="en-US" altLang="en-US" sz="2800">
                <a:ea typeface="MS PGothic" charset="-128"/>
              </a:rPr>
              <a:t>Security </a:t>
            </a:r>
            <a:endParaRPr lang="en-US" altLang="en-US" sz="2800" dirty="0">
              <a:ea typeface="MS PGothic" charset="-128"/>
            </a:endParaRPr>
          </a:p>
          <a:p>
            <a:pPr lvl="1"/>
            <a:r>
              <a:rPr lang="en-US" altLang="en-US" sz="2800" dirty="0">
                <a:ea typeface="MS PGothic" charset="-128"/>
              </a:rPr>
              <a:t>Regularity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Generality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Orthogonal Design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Uniformity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Extensibility</a:t>
            </a:r>
          </a:p>
          <a:p>
            <a:pPr lvl="1"/>
            <a:endParaRPr lang="en-US" altLang="en-US" sz="2800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0904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>
            <a:extLst>
              <a:ext uri="{FF2B5EF4-FFF2-40B4-BE49-F238E27FC236}">
                <a16:creationId xmlns:a16="http://schemas.microsoft.com/office/drawing/2014/main" id="{FE2C77D0-D2BC-7245-8036-1F3769E1E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408" y="365125"/>
            <a:ext cx="4856019" cy="63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Computational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04367" y="5530632"/>
            <a:ext cx="214943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Where do you check data types?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121727" cy="4351338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Two types of efficiency</a:t>
            </a:r>
          </a:p>
          <a:p>
            <a:r>
              <a:rPr lang="en-US" altLang="en-US" b="1" dirty="0">
                <a:ea typeface="MS PGothic" charset="-128"/>
              </a:rPr>
              <a:t>Computational efficiency</a:t>
            </a:r>
            <a:r>
              <a:rPr lang="en-US" altLang="en-US" dirty="0">
                <a:ea typeface="MS PGothic" charset="-128"/>
              </a:rPr>
              <a:t>: efficiency of the target code</a:t>
            </a:r>
          </a:p>
          <a:p>
            <a:r>
              <a:rPr lang="en-US" altLang="en-US" dirty="0">
                <a:ea typeface="MS PGothic" charset="-128"/>
              </a:rPr>
              <a:t>Example: static data typing, enforced at compile time, means that the runtime does not need to check the data types before executing operations</a:t>
            </a:r>
          </a:p>
        </p:txBody>
      </p:sp>
    </p:spTree>
    <p:extLst>
      <p:ext uri="{BB962C8B-B14F-4D97-AF65-F5344CB8AC3E}">
        <p14:creationId xmlns:p14="http://schemas.microsoft.com/office/powerpoint/2010/main" val="2808564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ea typeface="MS PGothic" charset="-128"/>
              </a:rPr>
              <a:t>Programmer </a:t>
            </a:r>
            <a:r>
              <a:rPr lang="en-US" b="1" dirty="0">
                <a:solidFill>
                  <a:srgbClr val="0070C0"/>
                </a:solidFill>
              </a:rPr>
              <a:t>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sz="2600" b="1" dirty="0">
                <a:ea typeface="MS PGothic" charset="-128"/>
              </a:rPr>
              <a:t>Programmer efficiency</a:t>
            </a:r>
            <a:r>
              <a:rPr lang="en-US" altLang="en-US" sz="2600" dirty="0">
                <a:ea typeface="MS PGothic" charset="-128"/>
              </a:rPr>
              <a:t>: how quickly and easily can a person read and write in the programming language?</a:t>
            </a:r>
          </a:p>
          <a:p>
            <a:r>
              <a:rPr lang="en-US" altLang="en-US" sz="2600" dirty="0">
                <a:ea typeface="MS PGothic" charset="-128"/>
              </a:rPr>
              <a:t>Many aspects of programmer efficiency</a:t>
            </a:r>
          </a:p>
          <a:p>
            <a:pPr lvl="1"/>
            <a:r>
              <a:rPr lang="en-US" altLang="en-US" sz="2600" dirty="0">
                <a:ea typeface="MS PGothic" charset="-128"/>
              </a:rPr>
              <a:t>Expressiveness: how easy is it to express complex processes and structures?</a:t>
            </a:r>
          </a:p>
          <a:p>
            <a:pPr lvl="1"/>
            <a:r>
              <a:rPr lang="en-US" altLang="en-US" sz="2600" dirty="0">
                <a:ea typeface="MS PGothic" charset="-128"/>
              </a:rPr>
              <a:t>Conciseness of the syntax also contributes to programmer efficiency</a:t>
            </a:r>
          </a:p>
          <a:p>
            <a:pPr lvl="2"/>
            <a:r>
              <a:rPr lang="en-US" altLang="en-US" sz="2600" dirty="0">
                <a:ea typeface="MS PGothic" charset="-128"/>
              </a:rPr>
              <a:t>Example: Pascal has BEGIN END, C/Java have { }</a:t>
            </a:r>
          </a:p>
          <a:p>
            <a:pPr lvl="2"/>
            <a:r>
              <a:rPr lang="en-US" altLang="en-US" sz="2600" dirty="0">
                <a:ea typeface="MS PGothic" charset="-128"/>
              </a:rPr>
              <a:t>Block Structure in general</a:t>
            </a:r>
          </a:p>
        </p:txBody>
      </p:sp>
    </p:spTree>
    <p:extLst>
      <p:ext uri="{BB962C8B-B14F-4D97-AF65-F5344CB8AC3E}">
        <p14:creationId xmlns:p14="http://schemas.microsoft.com/office/powerpoint/2010/main" val="4146782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ea typeface="MS PGothic" charset="-128"/>
              </a:rPr>
              <a:t>Programmer </a:t>
            </a:r>
            <a:r>
              <a:rPr lang="en-US" b="1" dirty="0"/>
              <a:t>Efficiency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Aspects of programmer efficiency; </a:t>
            </a:r>
            <a:r>
              <a:rPr lang="en-US" altLang="en-US" dirty="0" err="1">
                <a:ea typeface="MS PGothic" charset="-128"/>
              </a:rPr>
              <a:t>cont</a:t>
            </a:r>
            <a:endParaRPr lang="en-US" altLang="en-US" dirty="0">
              <a:ea typeface="MS PGothic" charset="-128"/>
            </a:endParaRPr>
          </a:p>
          <a:p>
            <a:pPr lvl="1"/>
            <a:r>
              <a:rPr lang="en-US" altLang="en-US" sz="2600" dirty="0">
                <a:ea typeface="MS PGothic" charset="-128"/>
              </a:rPr>
              <a:t>Writability: the quality of a language that enables a programmer to use it to express computation clearly, correctly, concisely, and quickly</a:t>
            </a:r>
          </a:p>
          <a:p>
            <a:pPr lvl="1"/>
            <a:r>
              <a:rPr lang="en-US" altLang="en-US" sz="2600" dirty="0">
                <a:ea typeface="MS PGothic" charset="-128"/>
              </a:rPr>
              <a:t>Readability: how easy is it to comprehend the computations in a program? </a:t>
            </a:r>
          </a:p>
          <a:p>
            <a:pPr lvl="2"/>
            <a:r>
              <a:rPr lang="en-US" altLang="en-US" sz="2600" dirty="0">
                <a:ea typeface="MS PGothic" charset="-128"/>
              </a:rPr>
              <a:t>COBOL attempted to improve readability of programs by trying to make them look like ordinary English</a:t>
            </a:r>
          </a:p>
          <a:p>
            <a:pPr lvl="2"/>
            <a:r>
              <a:rPr lang="en-US" altLang="en-US" sz="2600" dirty="0">
                <a:ea typeface="MS PGothic" charset="-128"/>
              </a:rPr>
              <a:t>What about Java?</a:t>
            </a:r>
          </a:p>
          <a:p>
            <a:pPr lvl="1"/>
            <a:endParaRPr lang="en-US" altLang="en-US" sz="2800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0300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COBOL Efficiency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1552"/>
            <a:ext cx="10515600" cy="540644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1600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PROCEDURE CALCULATOR.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1600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Calculator.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1600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    PERFORM 3 TIMES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1600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       DISPLAY "Enter First Number      : " WITH NO ADVANCING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1600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       ACCEPT Num1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1600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       DISPLAY "Enter Second Number     : " WITH NO ADVANCING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1600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       ACCEPT Num2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1600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       DISPLAY "Enter operator (+ or *) : " WITH NO ADVANCING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1600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       ACCEPT Operator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1600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       IF Operator = "+" THEN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1600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          ADD Num1, Num2 GIVING Result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1600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       END-IF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1600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       IF Operator = "*" THEN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1600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          MULTIPLY Num1 BY Num2 GIVING Result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1600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       END-IF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1600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       DISPLAY "Result is = ", Result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1600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    END-PERFORM.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1600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    STOP RUN.</a:t>
            </a:r>
          </a:p>
          <a:p>
            <a:pPr lvl="1"/>
            <a:endParaRPr lang="en-US" altLang="en-US" sz="2800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27152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COBOL Efficiency 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CBA088-F8E6-934A-B884-0DBA290A50C7}"/>
              </a:ext>
            </a:extLst>
          </p:cNvPr>
          <p:cNvSpPr/>
          <p:nvPr/>
        </p:nvSpPr>
        <p:spPr>
          <a:xfrm>
            <a:off x="838200" y="1451552"/>
            <a:ext cx="10515600" cy="43581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86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en-US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#Same code in Python</a:t>
            </a:r>
          </a:p>
          <a:p>
            <a:pPr defTabSz="2286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en-US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def calculator():</a:t>
            </a:r>
          </a:p>
          <a:p>
            <a:pPr defTabSz="2286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en-US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	</a:t>
            </a:r>
            <a:r>
              <a:rPr lang="en-US" altLang="en-US" kern="0" dirty="0" err="1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i</a:t>
            </a:r>
            <a:r>
              <a:rPr lang="en-US" altLang="en-US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 = 0</a:t>
            </a:r>
          </a:p>
          <a:p>
            <a:pPr defTabSz="2286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en-US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	while </a:t>
            </a:r>
            <a:r>
              <a:rPr lang="en-US" altLang="en-US" kern="0" dirty="0" err="1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i</a:t>
            </a:r>
            <a:r>
              <a:rPr lang="en-US" altLang="en-US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 &lt; 3:</a:t>
            </a:r>
          </a:p>
          <a:p>
            <a:pPr defTabSz="2286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en-US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		num1 = </a:t>
            </a:r>
            <a:r>
              <a:rPr lang="en-US" altLang="en-US" kern="0" dirty="0" err="1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int</a:t>
            </a:r>
            <a:r>
              <a:rPr lang="en-US" altLang="en-US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(input("Enter First Number:"))</a:t>
            </a:r>
          </a:p>
          <a:p>
            <a:pPr defTabSz="2286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en-US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		num2 = </a:t>
            </a:r>
            <a:r>
              <a:rPr lang="en-US" altLang="en-US" kern="0" dirty="0" err="1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int</a:t>
            </a:r>
            <a:r>
              <a:rPr lang="en-US" altLang="en-US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(input("Enter Second Number:"))</a:t>
            </a:r>
          </a:p>
          <a:p>
            <a:pPr defTabSz="2286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en-US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		op = input("Enter operator (+ or *)")</a:t>
            </a:r>
          </a:p>
          <a:p>
            <a:pPr defTabSz="2286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en-US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		if op == "+":</a:t>
            </a:r>
          </a:p>
          <a:p>
            <a:pPr defTabSz="2286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en-US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			result = num1 + num2</a:t>
            </a:r>
          </a:p>
          <a:p>
            <a:pPr defTabSz="2286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en-US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		if op == "*":</a:t>
            </a:r>
          </a:p>
          <a:p>
            <a:pPr defTabSz="2286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en-US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			result = num1 * num2</a:t>
            </a:r>
          </a:p>
          <a:p>
            <a:pPr defTabSz="2286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en-US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		print("Result is =", result)</a:t>
            </a:r>
          </a:p>
          <a:p>
            <a:pPr defTabSz="2286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en-US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		</a:t>
            </a:r>
            <a:r>
              <a:rPr lang="en-US" altLang="en-US" kern="0" dirty="0" err="1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i</a:t>
            </a:r>
            <a:r>
              <a:rPr lang="en-US" altLang="en-US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 = </a:t>
            </a:r>
            <a:r>
              <a:rPr lang="en-US" altLang="en-US" kern="0" dirty="0" err="1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i</a:t>
            </a:r>
            <a:r>
              <a:rPr lang="en-US" altLang="en-US" kern="0" dirty="0">
                <a:solidFill>
                  <a:srgbClr val="222222"/>
                </a:solidFill>
                <a:latin typeface="Menlo" charset="0"/>
                <a:ea typeface="Menlo" charset="0"/>
                <a:cs typeface="Menlo" charset="0"/>
              </a:rPr>
              <a:t> + 1</a:t>
            </a:r>
          </a:p>
        </p:txBody>
      </p:sp>
    </p:spTree>
    <p:extLst>
      <p:ext uri="{BB962C8B-B14F-4D97-AF65-F5344CB8AC3E}">
        <p14:creationId xmlns:p14="http://schemas.microsoft.com/office/powerpoint/2010/main" val="2549310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ea typeface="MS PGothic" charset="-128"/>
              </a:rPr>
              <a:t>Programmer </a:t>
            </a:r>
            <a:r>
              <a:rPr lang="en-US" b="1" dirty="0"/>
              <a:t>Efficiency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Aspects of programmer efficiency; </a:t>
            </a:r>
            <a:r>
              <a:rPr lang="en-US" altLang="en-US" dirty="0" err="1">
                <a:ea typeface="MS PGothic" charset="-128"/>
              </a:rPr>
              <a:t>cont</a:t>
            </a:r>
            <a:endParaRPr lang="en-US" altLang="en-US" b="1" dirty="0">
              <a:ea typeface="MS PGothic" charset="-128"/>
            </a:endParaRPr>
          </a:p>
          <a:p>
            <a:pPr lvl="1"/>
            <a:r>
              <a:rPr lang="en-US" altLang="en-US" sz="2600" dirty="0">
                <a:ea typeface="MS PGothic" charset="-128"/>
              </a:rPr>
              <a:t>Reliability of a program can be viewed as an efficiency issue</a:t>
            </a:r>
          </a:p>
          <a:p>
            <a:pPr lvl="2"/>
            <a:r>
              <a:rPr lang="en-US" altLang="en-US" sz="2600" dirty="0">
                <a:ea typeface="MS PGothic" charset="-128"/>
              </a:rPr>
              <a:t>Unreliable programs require programmer time to diagnose and correct</a:t>
            </a:r>
          </a:p>
          <a:p>
            <a:pPr lvl="1"/>
            <a:r>
              <a:rPr lang="en-US" altLang="en-US" sz="2600" dirty="0">
                <a:ea typeface="MS PGothic" charset="-128"/>
              </a:rPr>
              <a:t>Programmer efficiency is also impacted by the ease with which errors can be found and corrected</a:t>
            </a:r>
          </a:p>
          <a:p>
            <a:pPr lvl="1"/>
            <a:r>
              <a:rPr lang="en-US" altLang="en-US" sz="2600" dirty="0">
                <a:ea typeface="MS PGothic" charset="-128"/>
              </a:rPr>
              <a:t>Since roughly 90% of time is spent on debugging and maintaining programs, maintainability may be the most important index of programming language efficiency</a:t>
            </a:r>
          </a:p>
          <a:p>
            <a:pPr lvl="1"/>
            <a:endParaRPr lang="en-US" altLang="en-US" sz="2800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8364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ea typeface="MS PGothic" charset="-128"/>
              </a:rPr>
              <a:t>Programmer </a:t>
            </a:r>
            <a:r>
              <a:rPr lang="en-US" b="1" dirty="0"/>
              <a:t>Efficiency 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Aspects of programmer efficiency; </a:t>
            </a:r>
            <a:r>
              <a:rPr lang="en-US" altLang="en-US" dirty="0" err="1">
                <a:ea typeface="MS PGothic" charset="-128"/>
              </a:rPr>
              <a:t>cont</a:t>
            </a:r>
            <a:endParaRPr lang="en-US" altLang="en-US" dirty="0">
              <a:ea typeface="MS PGothic" charset="-128"/>
            </a:endParaRPr>
          </a:p>
          <a:p>
            <a:pPr lvl="1"/>
            <a:r>
              <a:rPr lang="en-US" altLang="en-US" sz="2600" dirty="0">
                <a:ea typeface="MS PGothic" charset="-128"/>
              </a:rPr>
              <a:t>Reliability can be affected if restrictions are not imposed on certain features</a:t>
            </a:r>
          </a:p>
          <a:p>
            <a:pPr lvl="2"/>
            <a:r>
              <a:rPr lang="en-US" altLang="en-US" sz="2600" dirty="0">
                <a:ea typeface="MS PGothic" charset="-128"/>
              </a:rPr>
              <a:t>C: pointers basically unrestricted and thus prone to misuse and error</a:t>
            </a:r>
          </a:p>
          <a:p>
            <a:pPr lvl="2"/>
            <a:r>
              <a:rPr lang="en-US" altLang="en-US" sz="2600" dirty="0">
                <a:ea typeface="MS PGothic" charset="-128"/>
              </a:rPr>
              <a:t>Go: pointers are restricted to reduce security problems (e.g. no pointer arithmetic)</a:t>
            </a:r>
          </a:p>
          <a:p>
            <a:pPr lvl="2"/>
            <a:r>
              <a:rPr lang="en-US" altLang="en-US" sz="2600" dirty="0">
                <a:ea typeface="MS PGothic" charset="-128"/>
              </a:rPr>
              <a:t>Java: pointers were eliminated altogether (they are implicit in object allocation), but Java requires a more complicated runtime environment</a:t>
            </a:r>
          </a:p>
        </p:txBody>
      </p:sp>
    </p:spTree>
    <p:extLst>
      <p:ext uri="{BB962C8B-B14F-4D97-AF65-F5344CB8AC3E}">
        <p14:creationId xmlns:p14="http://schemas.microsoft.com/office/powerpoint/2010/main" val="2816230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70C0"/>
                </a:solidFill>
              </a:rPr>
              <a:t>Security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b="1" dirty="0">
                <a:ea typeface="MS PGothic" charset="-128"/>
              </a:rPr>
              <a:t>Security</a:t>
            </a:r>
            <a:r>
              <a:rPr lang="en-US" altLang="en-US" dirty="0">
                <a:ea typeface="MS PGothic" charset="-128"/>
              </a:rPr>
              <a:t>: A language designed with security in mind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Discourages programming errors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Allows errors to be discovered and reported</a:t>
            </a:r>
          </a:p>
          <a:p>
            <a:r>
              <a:rPr lang="en-US" altLang="en-US" dirty="0">
                <a:ea typeface="MS PGothic" charset="-128"/>
              </a:rPr>
              <a:t>Types, type-checking, and variable declarations resulted from a concern for security</a:t>
            </a:r>
          </a:p>
          <a:p>
            <a:r>
              <a:rPr lang="en-US" altLang="en-US" dirty="0">
                <a:ea typeface="MS PGothic" charset="-128"/>
              </a:rPr>
              <a:t>Exclusive focus on security can compromise the expressiveness and conciseness of a language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Typically forces the programmer to laboriously specify as many things as possible in the code</a:t>
            </a:r>
          </a:p>
        </p:txBody>
      </p:sp>
    </p:spTree>
    <p:extLst>
      <p:ext uri="{BB962C8B-B14F-4D97-AF65-F5344CB8AC3E}">
        <p14:creationId xmlns:p14="http://schemas.microsoft.com/office/powerpoint/2010/main" val="1030167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Security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b="1" dirty="0">
                <a:ea typeface="MS PGothic" charset="-128"/>
              </a:rPr>
              <a:t>Semantically safe</a:t>
            </a:r>
            <a:r>
              <a:rPr lang="en-US" altLang="en-US" dirty="0">
                <a:ea typeface="MS PGothic" charset="-128"/>
              </a:rPr>
              <a:t>: languages that prevent a programmer from compiling or executing any statements or expressions that violate the language definition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Example: array out of bounds exception (or lack of it in C/C++ languages)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Languages semantically safe: Python, Lisp, Java</a:t>
            </a:r>
          </a:p>
          <a:p>
            <a:pPr marL="0" indent="0">
              <a:buNone/>
            </a:pPr>
            <a:endParaRPr lang="en-US" altLang="en-US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420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Regularity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rmAutofit lnSpcReduction="10000"/>
          </a:bodyPr>
          <a:lstStyle/>
          <a:p>
            <a:r>
              <a:rPr lang="en-US" altLang="en-US" b="1" dirty="0">
                <a:ea typeface="MS PGothic" charset="-128"/>
              </a:rPr>
              <a:t>Regularity</a:t>
            </a:r>
            <a:r>
              <a:rPr lang="en-US" altLang="en-US" dirty="0">
                <a:ea typeface="MS PGothic" charset="-128"/>
              </a:rPr>
              <a:t>: refers to how well the features of a language are integrated</a:t>
            </a:r>
          </a:p>
          <a:p>
            <a:r>
              <a:rPr lang="en-US" altLang="en-US" dirty="0">
                <a:ea typeface="MS PGothic" charset="-128"/>
              </a:rPr>
              <a:t>Greater regularity implies: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Fewer restrictions on the use of particular constructs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Fewer strange interactions between constructs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Fewer surprises in the way the language features behave</a:t>
            </a:r>
          </a:p>
          <a:p>
            <a:r>
              <a:rPr lang="en-US" altLang="en-US" dirty="0">
                <a:ea typeface="MS PGothic" charset="-128"/>
              </a:rPr>
              <a:t>Languages that satisfy the criterion of regularity are said to adhere to the </a:t>
            </a:r>
            <a:r>
              <a:rPr lang="en-US" altLang="en-US" b="1" dirty="0">
                <a:ea typeface="MS PGothic" charset="-128"/>
              </a:rPr>
              <a:t>principle of least astonishment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Human languages (especially English) have many irregularities</a:t>
            </a:r>
          </a:p>
          <a:p>
            <a:r>
              <a:rPr lang="en-US" altLang="en-US" dirty="0">
                <a:ea typeface="MS PGothic" charset="-128"/>
              </a:rPr>
              <a:t>Language constructs should be simple to understand with few ambiguities</a:t>
            </a:r>
          </a:p>
        </p:txBody>
      </p:sp>
    </p:spTree>
    <p:extLst>
      <p:ext uri="{BB962C8B-B14F-4D97-AF65-F5344CB8AC3E}">
        <p14:creationId xmlns:p14="http://schemas.microsoft.com/office/powerpoint/2010/main" val="2269968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Regularity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7500"/>
            <a:ext cx="10515600" cy="4670178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Regularity refers to three (somewhat overlapping) concepts:</a:t>
            </a:r>
          </a:p>
          <a:p>
            <a:pPr lvl="1"/>
            <a:r>
              <a:rPr lang="en-US" altLang="en-US" sz="2800" b="1" dirty="0">
                <a:ea typeface="MS PGothic" charset="-128"/>
              </a:rPr>
              <a:t>Generality</a:t>
            </a:r>
            <a:r>
              <a:rPr lang="en-US" altLang="en-US" sz="2800" dirty="0">
                <a:ea typeface="MS PGothic" charset="-128"/>
              </a:rPr>
              <a:t>: achieved by avoiding special cases in the availability or use of constructs and by combining closely related constructs into a single more general one</a:t>
            </a:r>
          </a:p>
          <a:p>
            <a:pPr lvl="1"/>
            <a:r>
              <a:rPr lang="en-US" altLang="en-US" sz="2800" b="1" dirty="0">
                <a:ea typeface="MS PGothic" charset="-128"/>
              </a:rPr>
              <a:t>Orthogonal design</a:t>
            </a:r>
            <a:r>
              <a:rPr lang="en-US" altLang="en-US" sz="2800" dirty="0">
                <a:ea typeface="MS PGothic" charset="-128"/>
              </a:rPr>
              <a:t>: 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Constructs can be combined in any meaningful way, with no unexpected restrictions or behaviors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Constructs should behave the same when used in different contexts</a:t>
            </a:r>
          </a:p>
          <a:p>
            <a:pPr lvl="1"/>
            <a:r>
              <a:rPr lang="en-US" altLang="en-US" sz="2800" b="1" dirty="0">
                <a:ea typeface="MS PGothic" charset="-128"/>
              </a:rPr>
              <a:t>Uniformity</a:t>
            </a:r>
            <a:r>
              <a:rPr lang="en-US" altLang="en-US" sz="2800" dirty="0">
                <a:ea typeface="MS PGothic" charset="-128"/>
              </a:rPr>
              <a:t>: a design in which similar things look similar and have similar meanings while different things look different</a:t>
            </a:r>
          </a:p>
        </p:txBody>
      </p:sp>
    </p:spTree>
    <p:extLst>
      <p:ext uri="{BB962C8B-B14F-4D97-AF65-F5344CB8AC3E}">
        <p14:creationId xmlns:p14="http://schemas.microsoft.com/office/powerpoint/2010/main" val="194775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Generality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ea typeface="MS PGothic" charset="-128"/>
              </a:rPr>
              <a:t>Generality</a:t>
            </a:r>
            <a:r>
              <a:rPr lang="en-US" altLang="en-US" dirty="0">
                <a:ea typeface="MS PGothic" charset="-128"/>
              </a:rPr>
              <a:t>: A language with this property avoids special cases wherever possible</a:t>
            </a:r>
          </a:p>
          <a:p>
            <a:r>
              <a:rPr lang="en-US" altLang="en-US" dirty="0">
                <a:ea typeface="MS PGothic" charset="-128"/>
              </a:rPr>
              <a:t>Example: operators – should be applied consistently and to new data types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In C, cannot directly compare two structures with ==, so this operator lacks generality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What about Java?</a:t>
            </a:r>
          </a:p>
        </p:txBody>
      </p:sp>
    </p:spTree>
    <p:extLst>
      <p:ext uri="{BB962C8B-B14F-4D97-AF65-F5344CB8AC3E}">
        <p14:creationId xmlns:p14="http://schemas.microsoft.com/office/powerpoint/2010/main" val="779353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Orthogonality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Orthogonal design allows language constructs to be combined in any meaningful way with no unexpected restrictions or behaviors arising as a result of the </a:t>
            </a:r>
            <a:r>
              <a:rPr lang="en-US" altLang="en-US" b="1" dirty="0">
                <a:ea typeface="MS PGothic" charset="-128"/>
              </a:rPr>
              <a:t>interaction of the constructs</a:t>
            </a:r>
          </a:p>
          <a:p>
            <a:r>
              <a:rPr lang="en-US" altLang="en-US" dirty="0">
                <a:ea typeface="MS PGothic" charset="-128"/>
              </a:rPr>
              <a:t>In a language that is truly </a:t>
            </a:r>
            <a:r>
              <a:rPr lang="en-US" altLang="en-US" b="1" dirty="0">
                <a:ea typeface="MS PGothic" charset="-128"/>
              </a:rPr>
              <a:t>orthogonal</a:t>
            </a:r>
            <a:r>
              <a:rPr lang="en-US" altLang="en-US" dirty="0">
                <a:ea typeface="MS PGothic" charset="-128"/>
              </a:rPr>
              <a:t>, constructs do not behave differently in different contexts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FFACC41-CE09-4071-8DCD-664CD92FD3C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04983" y="3971109"/>
          <a:ext cx="9175931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336">
                  <a:extLst>
                    <a:ext uri="{9D8B030D-6E8A-4147-A177-3AD203B41FA5}">
                      <a16:colId xmlns:a16="http://schemas.microsoft.com/office/drawing/2014/main" val="1082795509"/>
                    </a:ext>
                  </a:extLst>
                </a:gridCol>
                <a:gridCol w="1341980">
                  <a:extLst>
                    <a:ext uri="{9D8B030D-6E8A-4147-A177-3AD203B41FA5}">
                      <a16:colId xmlns:a16="http://schemas.microsoft.com/office/drawing/2014/main" val="3269896776"/>
                    </a:ext>
                  </a:extLst>
                </a:gridCol>
                <a:gridCol w="4258615">
                  <a:extLst>
                    <a:ext uri="{9D8B030D-6E8A-4147-A177-3AD203B41FA5}">
                      <a16:colId xmlns:a16="http://schemas.microsoft.com/office/drawing/2014/main" val="3251802677"/>
                    </a:ext>
                  </a:extLst>
                </a:gridCol>
              </a:tblGrid>
              <a:tr h="47501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Orthogonality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VS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Generality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352326"/>
                  </a:ext>
                </a:extLst>
              </a:tr>
              <a:tr h="16150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800" dirty="0">
                          <a:ea typeface="MS PGothic" charset="-128"/>
                        </a:rPr>
                        <a:t>Restrictions that are context dependent are non-orthogonal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800" dirty="0">
                        <a:ea typeface="MS PGothic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800" dirty="0">
                          <a:ea typeface="MS PGothic" charset="-128"/>
                        </a:rPr>
                        <a:t>Restrictions that apply regardless of context exhibit a lack of generality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614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2370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Lack of Orthogonality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Example: </a:t>
            </a:r>
            <a:r>
              <a:rPr lang="en-US" altLang="en-US" b="1" dirty="0">
                <a:ea typeface="MS PGothic" charset="-128"/>
              </a:rPr>
              <a:t>Function Return Types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Pascal allows only allows scalar or pointer types as return values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C and C++ allows values of all data types except array types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Ada and Python allow all data types</a:t>
            </a:r>
          </a:p>
          <a:p>
            <a:r>
              <a:rPr lang="en-US" altLang="en-US" dirty="0">
                <a:ea typeface="MS PGothic" charset="-128"/>
              </a:rPr>
              <a:t>Example: </a:t>
            </a:r>
            <a:r>
              <a:rPr lang="en-US" altLang="en-US" b="1" dirty="0">
                <a:ea typeface="MS PGothic" charset="-128"/>
              </a:rPr>
              <a:t>Placement of Variable Declarations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C requires that local variables be defined only at the beginning of a block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C++ allows variable definitions at any point inside a block prior to use</a:t>
            </a:r>
          </a:p>
        </p:txBody>
      </p:sp>
    </p:spTree>
    <p:extLst>
      <p:ext uri="{BB962C8B-B14F-4D97-AF65-F5344CB8AC3E}">
        <p14:creationId xmlns:p14="http://schemas.microsoft.com/office/powerpoint/2010/main" val="646859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Lack of Orthogonality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Example: </a:t>
            </a:r>
            <a:r>
              <a:rPr lang="en-US" altLang="en-US" b="1" dirty="0">
                <a:ea typeface="MS PGothic" charset="-128"/>
              </a:rPr>
              <a:t>Primitive and Reference Types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In Java, primitive types use </a:t>
            </a:r>
            <a:r>
              <a:rPr lang="en-US" altLang="en-US" sz="2800" b="1" dirty="0">
                <a:ea typeface="MS PGothic" charset="-128"/>
              </a:rPr>
              <a:t>value semantics </a:t>
            </a:r>
            <a:r>
              <a:rPr lang="en-US" altLang="en-US" sz="2800" dirty="0">
                <a:ea typeface="MS PGothic" charset="-128"/>
              </a:rPr>
              <a:t>(values are copied during assignment), while object types (or reference types) use </a:t>
            </a:r>
            <a:r>
              <a:rPr lang="en-US" altLang="en-US" sz="2800" b="1" dirty="0">
                <a:ea typeface="MS PGothic" charset="-128"/>
              </a:rPr>
              <a:t>reference semantics </a:t>
            </a:r>
            <a:r>
              <a:rPr lang="en-US" altLang="en-US" sz="2800" dirty="0">
                <a:ea typeface="MS PGothic" charset="-128"/>
              </a:rPr>
              <a:t>(assignment produces two references to the same object). Only arrays can contain primitive types; other collections (e.g. </a:t>
            </a:r>
            <a:r>
              <a:rPr lang="en-US" altLang="en-US" sz="2800" dirty="0" err="1">
                <a:ea typeface="MS PGothic" charset="-128"/>
              </a:rPr>
              <a:t>ArrayList</a:t>
            </a:r>
            <a:r>
              <a:rPr lang="en-US" altLang="en-US" sz="2800" dirty="0">
                <a:ea typeface="MS PGothic" charset="-128"/>
              </a:rPr>
              <a:t>)</a:t>
            </a:r>
            <a:r>
              <a:rPr lang="en-US" altLang="en-US" sz="2800" b="1" dirty="0">
                <a:ea typeface="MS PGothic" charset="-128"/>
              </a:rPr>
              <a:t> </a:t>
            </a:r>
            <a:r>
              <a:rPr lang="en-US" altLang="en-US" sz="2800" dirty="0">
                <a:ea typeface="MS PGothic" charset="-128"/>
              </a:rPr>
              <a:t>must contain objects.</a:t>
            </a:r>
          </a:p>
        </p:txBody>
      </p:sp>
    </p:spTree>
    <p:extLst>
      <p:ext uri="{BB962C8B-B14F-4D97-AF65-F5344CB8AC3E}">
        <p14:creationId xmlns:p14="http://schemas.microsoft.com/office/powerpoint/2010/main" val="1040995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Uniformity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0183"/>
          </a:xfrm>
        </p:spPr>
        <p:txBody>
          <a:bodyPr>
            <a:noAutofit/>
          </a:bodyPr>
          <a:lstStyle/>
          <a:p>
            <a:r>
              <a:rPr lang="en-US" altLang="en-US" b="1" dirty="0">
                <a:ea typeface="MS PGothic" charset="-128"/>
              </a:rPr>
              <a:t>Uniformity</a:t>
            </a:r>
            <a:r>
              <a:rPr lang="en-US" altLang="en-US" dirty="0">
                <a:ea typeface="MS PGothic" charset="-128"/>
              </a:rPr>
              <a:t>: refers to the consistency of appearance and behavior of language constructs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Lack of uniformity: 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Same things look different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Different things look the same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Deals with syntactical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1070111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Lack of Uniformity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4945083" cy="4860183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Same things look different</a:t>
            </a:r>
          </a:p>
          <a:p>
            <a:pPr lvl="1">
              <a:defRPr/>
            </a:pPr>
            <a:r>
              <a:rPr lang="en-US" altLang="en-US" sz="2800" dirty="0"/>
              <a:t>C++ requires a semicolon after a class definition but forbids its use after a function definition</a:t>
            </a:r>
          </a:p>
          <a:p>
            <a:pPr lvl="1">
              <a:defRPr/>
            </a:pPr>
            <a:r>
              <a:rPr lang="en-US" altLang="en-US" sz="2800" dirty="0"/>
              <a:t>Class definition</a:t>
            </a:r>
          </a:p>
          <a:p>
            <a:pPr lvl="1">
              <a:defRPr/>
            </a:pPr>
            <a:endParaRPr lang="en-US" altLang="en-US" sz="2800" dirty="0">
              <a:ea typeface="MS PGothic" charset="-12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634" y="1531258"/>
            <a:ext cx="5168900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684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Lack of Uniformity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0183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Different things look the same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Pascal uses the function name in an assignment statement to return the function’s value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Other languages use a return statement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377527" y="3616929"/>
          <a:ext cx="8028039" cy="262128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3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rtl="0" fontAlgn="base"/>
                      <a:r>
                        <a:rPr lang="is-IS" b="0" i="0" dirty="0">
                          <a:solidFill>
                            <a:srgbClr val="AFAFAF"/>
                          </a:solidFill>
                          <a:effectLst/>
                          <a:latin typeface="Monaco" charset="0"/>
                        </a:rPr>
                        <a:t>1</a:t>
                      </a:r>
                    </a:p>
                    <a:p>
                      <a:pPr algn="r" rtl="0" fontAlgn="base"/>
                      <a:r>
                        <a:rPr lang="is-IS" b="0" i="0" dirty="0">
                          <a:solidFill>
                            <a:srgbClr val="AFAFAF"/>
                          </a:solidFill>
                          <a:effectLst/>
                          <a:latin typeface="Monaco" charset="0"/>
                        </a:rPr>
                        <a:t>2</a:t>
                      </a:r>
                    </a:p>
                    <a:p>
                      <a:pPr algn="r" rtl="0" fontAlgn="base"/>
                      <a:r>
                        <a:rPr lang="is-IS" b="0" i="0" dirty="0">
                          <a:solidFill>
                            <a:srgbClr val="AFAFAF"/>
                          </a:solidFill>
                          <a:effectLst/>
                          <a:latin typeface="Monaco" charset="0"/>
                        </a:rPr>
                        <a:t>3</a:t>
                      </a:r>
                    </a:p>
                    <a:p>
                      <a:pPr algn="r" rtl="0" fontAlgn="base"/>
                      <a:r>
                        <a:rPr lang="is-IS" b="0" i="0" dirty="0">
                          <a:solidFill>
                            <a:srgbClr val="AFAFAF"/>
                          </a:solidFill>
                          <a:effectLst/>
                          <a:latin typeface="Monaco" charset="0"/>
                        </a:rPr>
                        <a:t>4</a:t>
                      </a:r>
                    </a:p>
                    <a:p>
                      <a:pPr algn="r" rtl="0" fontAlgn="base"/>
                      <a:r>
                        <a:rPr lang="is-IS" b="0" i="0" dirty="0">
                          <a:solidFill>
                            <a:srgbClr val="AFAFAF"/>
                          </a:solidFill>
                          <a:effectLst/>
                          <a:latin typeface="Monaco" charset="0"/>
                        </a:rPr>
                        <a:t>5</a:t>
                      </a:r>
                    </a:p>
                    <a:p>
                      <a:pPr algn="r" rtl="0" fontAlgn="base"/>
                      <a:r>
                        <a:rPr lang="is-IS" b="0" i="0" dirty="0">
                          <a:solidFill>
                            <a:srgbClr val="AFAFAF"/>
                          </a:solidFill>
                          <a:effectLst/>
                          <a:latin typeface="Monaco" charset="0"/>
                        </a:rPr>
                        <a:t>6</a:t>
                      </a:r>
                    </a:p>
                    <a:p>
                      <a:pPr algn="r" rtl="0" fontAlgn="base"/>
                      <a:r>
                        <a:rPr lang="is-IS" b="0" i="0" dirty="0">
                          <a:solidFill>
                            <a:srgbClr val="AFAFAF"/>
                          </a:solidFill>
                          <a:effectLst/>
                          <a:latin typeface="Monaco" charset="0"/>
                        </a:rPr>
                        <a:t>7</a:t>
                      </a:r>
                    </a:p>
                    <a:p>
                      <a:pPr algn="r" rtl="0" fontAlgn="base"/>
                      <a:r>
                        <a:rPr lang="is-IS" b="0" i="0" dirty="0">
                          <a:solidFill>
                            <a:srgbClr val="AFAFAF"/>
                          </a:solidFill>
                          <a:effectLst/>
                          <a:latin typeface="Monaco" charset="0"/>
                        </a:rPr>
                        <a:t>8</a:t>
                      </a:r>
                    </a:p>
                    <a:p>
                      <a:pPr algn="r" rtl="0" fontAlgn="base"/>
                      <a:r>
                        <a:rPr lang="is-IS" b="0" i="0" dirty="0">
                          <a:solidFill>
                            <a:srgbClr val="AFAFAF"/>
                          </a:solidFill>
                          <a:effectLst/>
                          <a:latin typeface="Monaco" charset="0"/>
                        </a:rPr>
                        <a:t>9</a:t>
                      </a:r>
                    </a:p>
                  </a:txBody>
                  <a:tcPr marL="304800" marR="3048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0" i="0" dirty="0">
                          <a:effectLst/>
                          <a:latin typeface="Monaco" charset="0"/>
                        </a:rPr>
                        <a:t>function </a:t>
                      </a:r>
                      <a:r>
                        <a:rPr lang="en-US" b="0" i="0" dirty="0" err="1">
                          <a:effectLst/>
                          <a:latin typeface="Monaco" charset="0"/>
                        </a:rPr>
                        <a:t>gcd</a:t>
                      </a:r>
                      <a:r>
                        <a:rPr lang="en-US" b="0" i="0" dirty="0">
                          <a:effectLst/>
                          <a:latin typeface="Monaco" charset="0"/>
                        </a:rPr>
                        <a:t>(</a:t>
                      </a:r>
                      <a:r>
                        <a:rPr lang="en-US" b="0" i="0" dirty="0" err="1">
                          <a:effectLst/>
                          <a:latin typeface="Monaco" charset="0"/>
                        </a:rPr>
                        <a:t>x,y:longint</a:t>
                      </a:r>
                      <a:r>
                        <a:rPr lang="en-US" b="0" i="0" dirty="0">
                          <a:effectLst/>
                          <a:latin typeface="Monaco" charset="0"/>
                        </a:rPr>
                        <a:t>):</a:t>
                      </a:r>
                      <a:r>
                        <a:rPr lang="en-US" b="0" i="0" dirty="0" err="1">
                          <a:effectLst/>
                          <a:latin typeface="Monaco" charset="0"/>
                        </a:rPr>
                        <a:t>longint</a:t>
                      </a:r>
                      <a:r>
                        <a:rPr lang="en-US" b="0" i="0" dirty="0">
                          <a:effectLst/>
                          <a:latin typeface="Monaco" charset="0"/>
                        </a:rPr>
                        <a:t>;</a:t>
                      </a:r>
                    </a:p>
                    <a:p>
                      <a:pPr algn="l" rtl="0" fontAlgn="base"/>
                      <a:r>
                        <a:rPr lang="en-US" b="0" i="0" dirty="0">
                          <a:effectLst/>
                          <a:latin typeface="Monaco" charset="0"/>
                        </a:rPr>
                        <a:t>begin</a:t>
                      </a:r>
                    </a:p>
                    <a:p>
                      <a:pPr algn="l" rtl="0" fontAlgn="base"/>
                      <a:r>
                        <a:rPr lang="en-US" b="0" i="0" dirty="0">
                          <a:effectLst/>
                          <a:latin typeface="Monaco" charset="0"/>
                        </a:rPr>
                        <a:t> while x&lt;&gt;y do</a:t>
                      </a:r>
                    </a:p>
                    <a:p>
                      <a:pPr algn="l" rtl="0" fontAlgn="base"/>
                      <a:r>
                        <a:rPr lang="en-US" b="0" i="0" dirty="0">
                          <a:effectLst/>
                          <a:latin typeface="Monaco" charset="0"/>
                        </a:rPr>
                        <a:t>  begin</a:t>
                      </a:r>
                    </a:p>
                    <a:p>
                      <a:pPr algn="l" rtl="0" fontAlgn="base"/>
                      <a:r>
                        <a:rPr lang="en-US" b="0" i="0" dirty="0">
                          <a:effectLst/>
                          <a:latin typeface="Monaco" charset="0"/>
                        </a:rPr>
                        <a:t>   if (x&gt;y) then x := x-y</a:t>
                      </a:r>
                    </a:p>
                    <a:p>
                      <a:pPr algn="l" rtl="0" fontAlgn="base"/>
                      <a:r>
                        <a:rPr lang="en-US" b="0" i="0" dirty="0">
                          <a:effectLst/>
                          <a:latin typeface="Monaco" charset="0"/>
                        </a:rPr>
                        <a:t>   else y := y-x;</a:t>
                      </a:r>
                    </a:p>
                    <a:p>
                      <a:pPr algn="l" rtl="0" fontAlgn="base"/>
                      <a:r>
                        <a:rPr lang="en-US" b="0" i="0" dirty="0">
                          <a:effectLst/>
                          <a:latin typeface="Monaco" charset="0"/>
                        </a:rPr>
                        <a:t>  end;</a:t>
                      </a:r>
                    </a:p>
                    <a:p>
                      <a:pPr algn="l" rtl="0" fontAlgn="base"/>
                      <a:r>
                        <a:rPr lang="en-US" b="0" i="0" dirty="0">
                          <a:effectLst/>
                          <a:latin typeface="Monaco" charset="0"/>
                        </a:rPr>
                        <a:t> </a:t>
                      </a:r>
                      <a:r>
                        <a:rPr lang="en-US" b="0" i="0" dirty="0" err="1">
                          <a:effectLst/>
                          <a:latin typeface="Monaco" charset="0"/>
                        </a:rPr>
                        <a:t>gcd</a:t>
                      </a:r>
                      <a:r>
                        <a:rPr lang="en-US" b="0" i="0" dirty="0">
                          <a:effectLst/>
                          <a:latin typeface="Monaco" charset="0"/>
                        </a:rPr>
                        <a:t> := x;</a:t>
                      </a:r>
                    </a:p>
                    <a:p>
                      <a:pPr algn="l" rtl="0" fontAlgn="base"/>
                      <a:r>
                        <a:rPr lang="en-US" b="0" i="0" dirty="0">
                          <a:effectLst/>
                          <a:latin typeface="Monaco" charset="0"/>
                        </a:rPr>
                        <a:t>end;</a:t>
                      </a:r>
                    </a:p>
                  </a:txBody>
                  <a:tcPr marL="304800" marR="3048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0407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Lack of Uniformity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0183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Different things look the same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C use of *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Multiplication </a:t>
            </a:r>
          </a:p>
          <a:p>
            <a:pPr lvl="3"/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multiply = first * second;</a:t>
            </a:r>
            <a:endParaRPr lang="en-US" altLang="en-US" sz="2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2"/>
            <a:r>
              <a:rPr lang="en-US" altLang="en-US" sz="2800" dirty="0">
                <a:ea typeface="MS PGothic" charset="-128"/>
              </a:rPr>
              <a:t>Dereferencing pointers</a:t>
            </a:r>
          </a:p>
          <a:p>
            <a:pPr marL="1371600" lvl="3" indent="0">
              <a:buNone/>
            </a:pPr>
            <a:r>
              <a:rPr lang="en-US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n = 50 , x ; </a:t>
            </a:r>
          </a:p>
          <a:p>
            <a:pPr marL="1371600" lvl="3" indent="0">
              <a:buNone/>
            </a:pPr>
            <a:r>
              <a:rPr lang="en-US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*</a:t>
            </a:r>
            <a:r>
              <a:rPr lang="en-US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; // Un-initialized Pointer </a:t>
            </a:r>
          </a:p>
          <a:p>
            <a:pPr marL="1371600" lvl="3" indent="0">
              <a:buNone/>
            </a:pPr>
            <a:r>
              <a:rPr lang="en-US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&amp;n;  // Stores address of n in </a:t>
            </a:r>
            <a:r>
              <a:rPr lang="en-US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pPr marL="1371600" lvl="3" indent="0">
              <a:buNone/>
            </a:pP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 = *</a:t>
            </a:r>
            <a:r>
              <a:rPr lang="en-US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// Put Value at </a:t>
            </a:r>
            <a:r>
              <a:rPr lang="en-US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x</a:t>
            </a:r>
            <a:endParaRPr lang="en-US" altLang="en-US" sz="2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518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Causes of Irregularity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Many irregularities are case studies in the difficulties of language design</a:t>
            </a:r>
          </a:p>
          <a:p>
            <a:r>
              <a:rPr lang="en-US" altLang="en-US" dirty="0">
                <a:ea typeface="MS PGothic" charset="-128"/>
              </a:rPr>
              <a:t>Example: extra semicolon problem in C++ was a byproduct of the need to be compatible with C</a:t>
            </a:r>
          </a:p>
          <a:p>
            <a:r>
              <a:rPr lang="en-US" altLang="en-US" dirty="0">
                <a:ea typeface="MS PGothic" charset="-128"/>
              </a:rPr>
              <a:t>Example: irregularity of primitive types and reference types in Java is the result of the designer’s concern with efficiency</a:t>
            </a:r>
          </a:p>
        </p:txBody>
      </p:sp>
    </p:spTree>
    <p:extLst>
      <p:ext uri="{BB962C8B-B14F-4D97-AF65-F5344CB8AC3E}">
        <p14:creationId xmlns:p14="http://schemas.microsoft.com/office/powerpoint/2010/main" val="21058621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Extensibility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ea typeface="MS PGothic" charset="-128"/>
              </a:rPr>
              <a:t>Extensibility</a:t>
            </a:r>
            <a:r>
              <a:rPr lang="en-US" altLang="en-US" dirty="0">
                <a:ea typeface="MS PGothic" charset="-128"/>
              </a:rPr>
              <a:t>: a language that allows the user to add features to it</a:t>
            </a:r>
          </a:p>
          <a:p>
            <a:r>
              <a:rPr lang="en-US" altLang="en-US" dirty="0">
                <a:ea typeface="MS PGothic" charset="-128"/>
              </a:rPr>
              <a:t>Example: the ability to define new data types and new operations (functions or procedures)</a:t>
            </a:r>
          </a:p>
          <a:p>
            <a:r>
              <a:rPr lang="en-US" altLang="en-US" dirty="0">
                <a:ea typeface="MS PGothic" charset="-128"/>
              </a:rPr>
              <a:t>Extend built-in features with new releases – Java and Python</a:t>
            </a:r>
          </a:p>
          <a:p>
            <a:r>
              <a:rPr lang="en-US" altLang="en-US" dirty="0">
                <a:ea typeface="MS PGothic" charset="-128"/>
              </a:rPr>
              <a:t>Allow user defined types – C++, Java, etc.</a:t>
            </a:r>
          </a:p>
          <a:p>
            <a:r>
              <a:rPr lang="en-US" altLang="en-US" dirty="0">
                <a:ea typeface="MS PGothic" charset="-128"/>
              </a:rPr>
              <a:t>Very few languages allow additions to the syntax and semantics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Lisp allows new syntax and semantics via a macro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Macro: specifies the syntax of a piece of code that expands to other standard code when compiled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59375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12D0B-C508-4E2C-B720-54631D6CA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Language Design Criteria Review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24C87-E555-4E63-AD2E-C939F2063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sz="3200" b="1" dirty="0">
                <a:ea typeface="MS PGothic" charset="-128"/>
              </a:rPr>
              <a:t>Efficiency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Computational and programmer efficiency</a:t>
            </a:r>
          </a:p>
          <a:p>
            <a:r>
              <a:rPr lang="en-US" altLang="en-US" sz="3200" b="1" dirty="0">
                <a:ea typeface="MS PGothic" charset="-128"/>
              </a:rPr>
              <a:t>Security</a:t>
            </a:r>
            <a:r>
              <a:rPr lang="en-US" altLang="en-US" sz="3200" dirty="0">
                <a:ea typeface="MS PGothic" charset="-128"/>
              </a:rPr>
              <a:t>  - How easy it is to do something illegal</a:t>
            </a:r>
          </a:p>
          <a:p>
            <a:r>
              <a:rPr lang="en-US" altLang="en-US" sz="3200" b="1" dirty="0">
                <a:ea typeface="MS PGothic" charset="-128"/>
              </a:rPr>
              <a:t>Regularity</a:t>
            </a:r>
            <a:r>
              <a:rPr lang="en-US" altLang="en-US" sz="3200" dirty="0">
                <a:ea typeface="MS PGothic" charset="-128"/>
              </a:rPr>
              <a:t> – rule of least astonishment</a:t>
            </a:r>
          </a:p>
          <a:p>
            <a:pPr lvl="1"/>
            <a:r>
              <a:rPr lang="en-US" altLang="en-US" sz="2800" b="1" dirty="0">
                <a:ea typeface="MS PGothic" charset="-128"/>
              </a:rPr>
              <a:t>Generality</a:t>
            </a:r>
            <a:r>
              <a:rPr lang="en-US" altLang="en-US" sz="2800" dirty="0">
                <a:ea typeface="MS PGothic" charset="-128"/>
              </a:rPr>
              <a:t> – No restrictions regardless of context</a:t>
            </a:r>
          </a:p>
          <a:p>
            <a:pPr lvl="1"/>
            <a:r>
              <a:rPr lang="en-US" altLang="en-US" sz="2800" b="1" dirty="0">
                <a:ea typeface="MS PGothic" charset="-128"/>
              </a:rPr>
              <a:t>Orthogonal</a:t>
            </a:r>
            <a:r>
              <a:rPr lang="en-US" altLang="en-US" sz="2800" dirty="0">
                <a:ea typeface="MS PGothic" charset="-128"/>
              </a:rPr>
              <a:t> </a:t>
            </a:r>
            <a:r>
              <a:rPr lang="en-US" altLang="en-US" sz="2800" b="1" dirty="0">
                <a:ea typeface="MS PGothic" charset="-128"/>
              </a:rPr>
              <a:t>Design</a:t>
            </a:r>
            <a:r>
              <a:rPr lang="en-US" altLang="en-US" sz="2800" dirty="0">
                <a:ea typeface="MS PGothic" charset="-128"/>
              </a:rPr>
              <a:t> – behavior is consistent across contexts</a:t>
            </a:r>
          </a:p>
          <a:p>
            <a:pPr lvl="1"/>
            <a:r>
              <a:rPr lang="en-US" altLang="en-US" sz="2800" b="1" dirty="0">
                <a:ea typeface="MS PGothic" charset="-128"/>
              </a:rPr>
              <a:t>Uniformity</a:t>
            </a:r>
            <a:r>
              <a:rPr lang="en-US" altLang="en-US" sz="2800" dirty="0">
                <a:ea typeface="MS PGothic" charset="-128"/>
              </a:rPr>
              <a:t> – symbols behave the same throughout language</a:t>
            </a:r>
            <a:endParaRPr lang="en-US" altLang="en-US" sz="3200" dirty="0">
              <a:ea typeface="MS PGothic" charset="-128"/>
            </a:endParaRPr>
          </a:p>
          <a:p>
            <a:r>
              <a:rPr lang="en-US" altLang="en-US" sz="3200" b="1" dirty="0">
                <a:ea typeface="MS PGothic" charset="-128"/>
              </a:rPr>
              <a:t>Extensibility</a:t>
            </a:r>
            <a:r>
              <a:rPr lang="en-US" altLang="en-US" sz="3200" dirty="0">
                <a:ea typeface="MS PGothic" charset="-128"/>
              </a:rPr>
              <a:t> – how much / easily you can add to the language</a:t>
            </a:r>
          </a:p>
          <a:p>
            <a:pPr lvl="1"/>
            <a:endParaRPr lang="en-US" altLang="en-US" sz="2800" dirty="0">
              <a:ea typeface="MS PGothic" charset="-128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832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Abstractions in Programming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types of programming language abstractions:</a:t>
            </a:r>
          </a:p>
          <a:p>
            <a:pPr lvl="1"/>
            <a:r>
              <a:rPr lang="en-US" sz="2800" dirty="0"/>
              <a:t>Data abstraction - simplify the behavior and attributes of data for humans</a:t>
            </a:r>
          </a:p>
          <a:p>
            <a:pPr lvl="2"/>
            <a:r>
              <a:rPr lang="en-US" sz="2800" dirty="0"/>
              <a:t>Examples: numbers, character strings, search trees</a:t>
            </a:r>
          </a:p>
          <a:p>
            <a:pPr lvl="2"/>
            <a:endParaRPr lang="en-US" sz="2800" dirty="0"/>
          </a:p>
          <a:p>
            <a:pPr lvl="1"/>
            <a:r>
              <a:rPr lang="en-US" sz="2800" dirty="0"/>
              <a:t>Control abstraction - simplify properties of the transfer of control</a:t>
            </a:r>
          </a:p>
          <a:p>
            <a:pPr lvl="2"/>
            <a:r>
              <a:rPr lang="en-US" sz="2800" dirty="0">
                <a:solidFill>
                  <a:prstClr val="black"/>
                </a:solidFill>
              </a:rPr>
              <a:t>Examples: loops, conditional statements, procedure calls</a:t>
            </a:r>
          </a:p>
          <a:p>
            <a:pPr lvl="4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850108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21488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Abstractions in Programming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Abstractions can also be categorized by levels (measures of the amount of information contained or hidden in the abstraction)</a:t>
            </a:r>
          </a:p>
          <a:p>
            <a:r>
              <a:rPr lang="en-US" altLang="en-US" b="1" dirty="0"/>
              <a:t>Basic abstractions</a:t>
            </a:r>
            <a:r>
              <a:rPr lang="en-US" altLang="en-US" dirty="0"/>
              <a:t>: collect the most localized machine information</a:t>
            </a:r>
          </a:p>
          <a:p>
            <a:r>
              <a:rPr lang="en-US" altLang="en-US" b="1" dirty="0"/>
              <a:t>Structured abstractions</a:t>
            </a:r>
            <a:r>
              <a:rPr lang="en-US" altLang="en-US" dirty="0"/>
              <a:t>: collect intermediate information about the structure of a program</a:t>
            </a:r>
          </a:p>
          <a:p>
            <a:r>
              <a:rPr lang="en-US" altLang="en-US" b="1" dirty="0"/>
              <a:t>Unit abstractions</a:t>
            </a:r>
            <a:r>
              <a:rPr lang="en-US" altLang="en-US" dirty="0"/>
              <a:t>: collect large-scale information in a program</a:t>
            </a:r>
          </a:p>
        </p:txBody>
      </p:sp>
    </p:spTree>
    <p:extLst>
      <p:ext uri="{BB962C8B-B14F-4D97-AF65-F5344CB8AC3E}">
        <p14:creationId xmlns:p14="http://schemas.microsoft.com/office/powerpoint/2010/main" val="981103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33364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Data: Basic Abstractions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40242" cy="4351338"/>
          </a:xfrm>
        </p:spPr>
        <p:txBody>
          <a:bodyPr>
            <a:noAutofit/>
          </a:bodyPr>
          <a:lstStyle/>
          <a:p>
            <a:r>
              <a:rPr lang="en-US" altLang="en-US" b="1" dirty="0"/>
              <a:t>Basic data abstraction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sz="2800" dirty="0"/>
              <a:t>Hides internal representation of common data values</a:t>
            </a:r>
          </a:p>
          <a:p>
            <a:pPr lvl="2"/>
            <a:r>
              <a:rPr lang="en-US" altLang="en-US" sz="2800" dirty="0"/>
              <a:t>Values are also called “primitive” or “atomic” because the programmer cannot normally access the component parts or bits of the internal representation</a:t>
            </a:r>
          </a:p>
          <a:p>
            <a:pPr lvl="1"/>
            <a:r>
              <a:rPr lang="en-US" altLang="en-US" sz="2800" b="1" dirty="0"/>
              <a:t>Variables</a:t>
            </a:r>
            <a:r>
              <a:rPr lang="en-US" altLang="en-US" sz="2800" dirty="0"/>
              <a:t>: use of symbolic names to hide computer memory locations containing data values</a:t>
            </a:r>
          </a:p>
          <a:p>
            <a:pPr lvl="1"/>
            <a:r>
              <a:rPr lang="en-US" altLang="en-US" sz="2800" b="1" dirty="0"/>
              <a:t>Data types</a:t>
            </a:r>
            <a:r>
              <a:rPr lang="en-US" altLang="en-US" sz="2800" dirty="0"/>
              <a:t>: names given to kinds of data values</a:t>
            </a:r>
          </a:p>
          <a:p>
            <a:pPr lvl="1"/>
            <a:r>
              <a:rPr lang="en-US" altLang="en-US" sz="2800" b="1" dirty="0"/>
              <a:t>Declaration</a:t>
            </a:r>
            <a:r>
              <a:rPr lang="en-US" altLang="en-US" sz="2800" dirty="0"/>
              <a:t>: the process of giving a variable a name and a data type</a:t>
            </a:r>
          </a:p>
          <a:p>
            <a:pPr lvl="1"/>
            <a:r>
              <a:rPr lang="en-US" altLang="en-US" sz="2800" dirty="0"/>
              <a:t>Standard mathematical operations, such as addition and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41932168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33364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Data: Structured Abstractions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40242" cy="4351338"/>
          </a:xfrm>
        </p:spPr>
        <p:txBody>
          <a:bodyPr>
            <a:noAutofit/>
          </a:bodyPr>
          <a:lstStyle/>
          <a:p>
            <a:r>
              <a:rPr lang="en-US" altLang="en-US" b="1" dirty="0"/>
              <a:t>Data structure</a:t>
            </a:r>
            <a:r>
              <a:rPr lang="en-US" altLang="en-US" dirty="0"/>
              <a:t>: collects related data values into a single unit</a:t>
            </a:r>
          </a:p>
          <a:p>
            <a:pPr lvl="1"/>
            <a:r>
              <a:rPr lang="en-US" altLang="en-US" sz="2800" dirty="0"/>
              <a:t>Hides component parts but can be constructed from parts, and parts can be accessed and modified	</a:t>
            </a:r>
          </a:p>
          <a:p>
            <a:r>
              <a:rPr lang="en-US" altLang="en-US" dirty="0"/>
              <a:t>Examples: </a:t>
            </a:r>
          </a:p>
          <a:p>
            <a:pPr lvl="1"/>
            <a:r>
              <a:rPr lang="en-US" altLang="en-US" sz="2800" b="1" dirty="0"/>
              <a:t>Structure/Record</a:t>
            </a:r>
            <a:r>
              <a:rPr lang="en-US" altLang="en-US" sz="2800" dirty="0"/>
              <a:t>: Collection of elements of possibly different types, (Ex: Employee record contains name, address, phone, salary (different data types)</a:t>
            </a:r>
          </a:p>
          <a:p>
            <a:pPr lvl="1"/>
            <a:r>
              <a:rPr lang="en-US" altLang="en-US" sz="2800" b="1" dirty="0"/>
              <a:t>Array</a:t>
            </a:r>
            <a:r>
              <a:rPr lang="en-US" altLang="en-US" sz="2800" dirty="0"/>
              <a:t>: sequence of individually indexed items with the same data type</a:t>
            </a:r>
          </a:p>
          <a:p>
            <a:pPr lvl="1"/>
            <a:r>
              <a:rPr lang="en-US" altLang="en-US" sz="2800" b="1" dirty="0"/>
              <a:t>Text file</a:t>
            </a:r>
            <a:r>
              <a:rPr lang="en-US" altLang="en-US" sz="2800" dirty="0"/>
              <a:t>: a sequence of characters for transfer to and from an external storage device</a:t>
            </a:r>
          </a:p>
        </p:txBody>
      </p:sp>
    </p:spTree>
    <p:extLst>
      <p:ext uri="{BB962C8B-B14F-4D97-AF65-F5344CB8AC3E}">
        <p14:creationId xmlns:p14="http://schemas.microsoft.com/office/powerpoint/2010/main" val="40750614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33364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Data: Unit Abstractions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40242" cy="4351338"/>
          </a:xfrm>
        </p:spPr>
        <p:txBody>
          <a:bodyPr>
            <a:noAutofit/>
          </a:bodyPr>
          <a:lstStyle/>
          <a:p>
            <a:r>
              <a:rPr lang="en-US" altLang="en-US" b="1" dirty="0"/>
              <a:t>Information hiding</a:t>
            </a:r>
            <a:r>
              <a:rPr lang="en-US" altLang="en-US" dirty="0"/>
              <a:t>: defining new data types (data and operations) that hide information</a:t>
            </a:r>
          </a:p>
          <a:p>
            <a:r>
              <a:rPr lang="en-US" altLang="en-US" dirty="0"/>
              <a:t>Unit abstraction is often associated with the concept of an </a:t>
            </a:r>
            <a:r>
              <a:rPr lang="en-US" altLang="en-US" b="1" dirty="0"/>
              <a:t>abstract data type</a:t>
            </a:r>
          </a:p>
          <a:p>
            <a:pPr lvl="1"/>
            <a:r>
              <a:rPr lang="en-US" altLang="en-US" sz="2800" dirty="0"/>
              <a:t>A set of data values and the operations on those values</a:t>
            </a:r>
          </a:p>
          <a:p>
            <a:pPr lvl="1"/>
            <a:r>
              <a:rPr lang="en-US" altLang="en-US" sz="2800" dirty="0"/>
              <a:t>Separates the interface from the implementation</a:t>
            </a:r>
          </a:p>
          <a:p>
            <a:pPr lvl="2"/>
            <a:r>
              <a:rPr lang="en-US" altLang="en-US" sz="2800" b="1" dirty="0"/>
              <a:t>Interface</a:t>
            </a:r>
            <a:r>
              <a:rPr lang="en-US" altLang="en-US" sz="2800" dirty="0"/>
              <a:t>: set of operations available to the user</a:t>
            </a:r>
          </a:p>
          <a:p>
            <a:pPr lvl="2"/>
            <a:r>
              <a:rPr lang="en-US" altLang="en-US" sz="2800" b="1" dirty="0"/>
              <a:t>Implementation</a:t>
            </a:r>
            <a:r>
              <a:rPr lang="en-US" altLang="en-US" sz="2800" dirty="0"/>
              <a:t>: internal representation of data values and operations</a:t>
            </a:r>
          </a:p>
          <a:p>
            <a:pPr lvl="1"/>
            <a:r>
              <a:rPr lang="en-US" altLang="en-US" sz="2800" dirty="0"/>
              <a:t>Ex: package, class, module</a:t>
            </a:r>
          </a:p>
        </p:txBody>
      </p:sp>
    </p:spTree>
    <p:extLst>
      <p:ext uri="{BB962C8B-B14F-4D97-AF65-F5344CB8AC3E}">
        <p14:creationId xmlns:p14="http://schemas.microsoft.com/office/powerpoint/2010/main" val="30282093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33364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Data: Unit Abstractions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40242" cy="4351338"/>
          </a:xfrm>
        </p:spPr>
        <p:txBody>
          <a:bodyPr>
            <a:noAutofit/>
          </a:bodyPr>
          <a:lstStyle/>
          <a:p>
            <a:r>
              <a:rPr lang="en-US" altLang="en-US" dirty="0"/>
              <a:t>Unit abstraction also provides </a:t>
            </a:r>
            <a:r>
              <a:rPr lang="en-US" altLang="en-US" b="1" dirty="0"/>
              <a:t>reusability</a:t>
            </a:r>
          </a:p>
          <a:p>
            <a:r>
              <a:rPr lang="en-US" altLang="en-US" dirty="0"/>
              <a:t>Typically, </a:t>
            </a:r>
            <a:r>
              <a:rPr lang="en-US" altLang="en-US" b="1" dirty="0"/>
              <a:t>components</a:t>
            </a:r>
            <a:r>
              <a:rPr lang="en-US" altLang="en-US" dirty="0"/>
              <a:t> are entered into a </a:t>
            </a:r>
            <a:r>
              <a:rPr lang="en-US" altLang="en-US" b="1" dirty="0"/>
              <a:t>library</a:t>
            </a:r>
            <a:r>
              <a:rPr lang="en-US" altLang="en-US" dirty="0"/>
              <a:t> and become the basis for library mechanisms</a:t>
            </a:r>
          </a:p>
          <a:p>
            <a:pPr lvl="1"/>
            <a:r>
              <a:rPr lang="en-US" altLang="en-US" sz="2800" b="1" dirty="0"/>
              <a:t>Interoperability</a:t>
            </a:r>
            <a:r>
              <a:rPr lang="en-US" altLang="en-US" sz="2800" dirty="0"/>
              <a:t> allows combination of units</a:t>
            </a:r>
          </a:p>
          <a:p>
            <a:r>
              <a:rPr lang="en-US" altLang="en-US" b="1" dirty="0"/>
              <a:t>Application programming interface (API)</a:t>
            </a:r>
            <a:r>
              <a:rPr lang="en-US" altLang="en-US" dirty="0"/>
              <a:t>: gives information about the resource’s components</a:t>
            </a:r>
          </a:p>
        </p:txBody>
      </p:sp>
    </p:spTree>
    <p:extLst>
      <p:ext uri="{BB962C8B-B14F-4D97-AF65-F5344CB8AC3E}">
        <p14:creationId xmlns:p14="http://schemas.microsoft.com/office/powerpoint/2010/main" val="8230487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Abstractions in Programming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types of programming language abstractions:</a:t>
            </a:r>
          </a:p>
          <a:p>
            <a:pPr lvl="1"/>
            <a:r>
              <a:rPr lang="en-US" sz="2800" dirty="0"/>
              <a:t>Data abstraction - simplify the behavior and attributes of data for humans</a:t>
            </a:r>
          </a:p>
          <a:p>
            <a:pPr lvl="2"/>
            <a:r>
              <a:rPr lang="en-US" sz="2800" dirty="0"/>
              <a:t>Examples: numbers, character strings, search trees</a:t>
            </a:r>
          </a:p>
          <a:p>
            <a:pPr lvl="2"/>
            <a:endParaRPr lang="en-US" sz="2800" dirty="0"/>
          </a:p>
          <a:p>
            <a:pPr lvl="1"/>
            <a:r>
              <a:rPr lang="en-US" sz="2800" dirty="0"/>
              <a:t>Control abstraction - simplify properties of the transfer of control</a:t>
            </a:r>
          </a:p>
          <a:p>
            <a:pPr lvl="2"/>
            <a:r>
              <a:rPr lang="en-US" sz="2800" dirty="0">
                <a:solidFill>
                  <a:prstClr val="black"/>
                </a:solidFill>
              </a:rPr>
              <a:t>Examples: loops, conditional statements, procedure calls</a:t>
            </a:r>
          </a:p>
          <a:p>
            <a:pPr lvl="4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911022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21488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Abstractions in Programming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Abstractions can also be categorized by levels (measures of the amount of information contained or hidden in the abstraction)</a:t>
            </a:r>
          </a:p>
          <a:p>
            <a:r>
              <a:rPr lang="en-US" altLang="en-US" b="1" dirty="0"/>
              <a:t>Basic abstractions</a:t>
            </a:r>
            <a:r>
              <a:rPr lang="en-US" altLang="en-US" dirty="0"/>
              <a:t>: collect the most localized machine information</a:t>
            </a:r>
          </a:p>
          <a:p>
            <a:r>
              <a:rPr lang="en-US" altLang="en-US" b="1" dirty="0"/>
              <a:t>Structured abstractions</a:t>
            </a:r>
            <a:r>
              <a:rPr lang="en-US" altLang="en-US" dirty="0"/>
              <a:t>: collect intermediate information about the structure of a program</a:t>
            </a:r>
          </a:p>
          <a:p>
            <a:r>
              <a:rPr lang="en-US" altLang="en-US" b="1" dirty="0"/>
              <a:t>Unit abstractions</a:t>
            </a:r>
            <a:r>
              <a:rPr lang="en-US" altLang="en-US" dirty="0"/>
              <a:t>: collect large-scale information in a program</a:t>
            </a:r>
          </a:p>
        </p:txBody>
      </p:sp>
    </p:spTree>
    <p:extLst>
      <p:ext uri="{BB962C8B-B14F-4D97-AF65-F5344CB8AC3E}">
        <p14:creationId xmlns:p14="http://schemas.microsoft.com/office/powerpoint/2010/main" val="24582311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33364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Control: Basic Abstractions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40242" cy="4351338"/>
          </a:xfrm>
        </p:spPr>
        <p:txBody>
          <a:bodyPr>
            <a:noAutofit/>
          </a:bodyPr>
          <a:lstStyle/>
          <a:p>
            <a:r>
              <a:rPr lang="en-US" altLang="en-US" b="1" dirty="0">
                <a:ea typeface="MS PGothic" charset="-128"/>
              </a:rPr>
              <a:t>Basic control abstractions</a:t>
            </a:r>
            <a:r>
              <a:rPr lang="en-US" altLang="en-US" dirty="0">
                <a:ea typeface="MS PGothic" charset="-128"/>
              </a:rPr>
              <a:t>: statements that combine a few machine instructions into an abstract statement that is easier to understand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Use of algebra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Ex: sum = num1 + num2</a:t>
            </a:r>
          </a:p>
          <a:p>
            <a:r>
              <a:rPr lang="en-US" altLang="en-US" b="1" dirty="0">
                <a:ea typeface="MS PGothic" charset="-128"/>
              </a:rPr>
              <a:t>Syntactic sugar</a:t>
            </a:r>
            <a:r>
              <a:rPr lang="en-US" altLang="en-US" dirty="0">
                <a:ea typeface="MS PGothic" charset="-128"/>
              </a:rPr>
              <a:t>: a mechanism that allows you to replace a complex notation with a simpler, shorthand notation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Ex: x += 10 instead of x = x + 10</a:t>
            </a:r>
          </a:p>
        </p:txBody>
      </p:sp>
    </p:spTree>
    <p:extLst>
      <p:ext uri="{BB962C8B-B14F-4D97-AF65-F5344CB8AC3E}">
        <p14:creationId xmlns:p14="http://schemas.microsoft.com/office/powerpoint/2010/main" val="40494318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33364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Control: Structured Abstractions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40242" cy="4351338"/>
          </a:xfrm>
        </p:spPr>
        <p:txBody>
          <a:bodyPr>
            <a:noAutofit/>
          </a:bodyPr>
          <a:lstStyle/>
          <a:p>
            <a:r>
              <a:rPr lang="en-US" altLang="en-US" b="1" dirty="0">
                <a:ea typeface="MS PGothic" charset="-128"/>
              </a:rPr>
              <a:t>Structured control abstractions</a:t>
            </a:r>
            <a:r>
              <a:rPr lang="en-US" altLang="en-US" dirty="0">
                <a:ea typeface="MS PGothic" charset="-128"/>
              </a:rPr>
              <a:t>: divide a program into groups of instructions nested within tests that govern their execution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Help to express the logic of primary control structures of sequencing, selection, and iteration</a:t>
            </a:r>
          </a:p>
          <a:p>
            <a:r>
              <a:rPr lang="en-US" altLang="en-US" b="1" dirty="0">
                <a:ea typeface="MS PGothic" charset="-128"/>
              </a:rPr>
              <a:t>Branch instructions</a:t>
            </a:r>
            <a:r>
              <a:rPr lang="en-US" altLang="en-US" dirty="0">
                <a:ea typeface="MS PGothic" charset="-128"/>
              </a:rPr>
              <a:t>: instructions that support selection and iteration to memory locations other than the next one</a:t>
            </a:r>
          </a:p>
        </p:txBody>
      </p:sp>
    </p:spTree>
    <p:extLst>
      <p:ext uri="{BB962C8B-B14F-4D97-AF65-F5344CB8AC3E}">
        <p14:creationId xmlns:p14="http://schemas.microsoft.com/office/powerpoint/2010/main" val="36198274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33364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Control: Structured Abstractions - Assembly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685" y="1837500"/>
            <a:ext cx="9517383" cy="4634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65778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33364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Control: Structured Abstractions – Java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199" y="2176463"/>
            <a:ext cx="7881409" cy="332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34531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33364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Control: Structured Abstractions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40242" cy="435133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400" b="1" dirty="0"/>
              <a:t>Function</a:t>
            </a:r>
            <a:r>
              <a:rPr lang="en-US" sz="2400" dirty="0"/>
              <a:t> (or </a:t>
            </a:r>
            <a:r>
              <a:rPr lang="en-US" sz="2400" b="1" dirty="0"/>
              <a:t>method</a:t>
            </a:r>
            <a:r>
              <a:rPr lang="en-US" sz="2400" dirty="0"/>
              <a:t> or </a:t>
            </a:r>
            <a:r>
              <a:rPr lang="en-US" sz="2400" b="1" dirty="0"/>
              <a:t>procedure</a:t>
            </a:r>
            <a:r>
              <a:rPr lang="en-US" sz="2400" dirty="0"/>
              <a:t> or </a:t>
            </a:r>
            <a:r>
              <a:rPr lang="en-US" sz="2400" b="1" dirty="0"/>
              <a:t>subroutine</a:t>
            </a:r>
            <a:r>
              <a:rPr lang="en-US" sz="2400" dirty="0"/>
              <a:t>): groups a sequence of actions into a single action that can be called or invoked from other points in the program</a:t>
            </a:r>
          </a:p>
          <a:p>
            <a:pPr lvl="1">
              <a:defRPr/>
            </a:pPr>
            <a:r>
              <a:rPr lang="en-US" sz="2200" b="1" dirty="0"/>
              <a:t>Function declaration</a:t>
            </a:r>
            <a:r>
              <a:rPr lang="en-US" sz="2200" dirty="0"/>
              <a:t>: names a procedure and associates it with the actions to be performed</a:t>
            </a:r>
          </a:p>
          <a:p>
            <a:pPr lvl="1">
              <a:defRPr/>
            </a:pPr>
            <a:r>
              <a:rPr lang="en-US" sz="2200" b="1" dirty="0"/>
              <a:t>Invocation</a:t>
            </a:r>
            <a:r>
              <a:rPr lang="en-US" sz="2200" dirty="0"/>
              <a:t>: the act of calling the procedure</a:t>
            </a:r>
          </a:p>
          <a:p>
            <a:pPr lvl="1">
              <a:defRPr/>
            </a:pPr>
            <a:r>
              <a:rPr lang="en-US" sz="2200" b="1" dirty="0"/>
              <a:t>Parameters</a:t>
            </a:r>
            <a:r>
              <a:rPr lang="en-US" sz="2200" dirty="0"/>
              <a:t>: values that can change from call to call</a:t>
            </a:r>
          </a:p>
          <a:p>
            <a:pPr lvl="1">
              <a:defRPr/>
            </a:pPr>
            <a:r>
              <a:rPr lang="en-US" sz="2200" b="1" dirty="0"/>
              <a:t>Arguments</a:t>
            </a:r>
            <a:r>
              <a:rPr lang="en-US" sz="2200" dirty="0"/>
              <a:t>: values supplied by the caller for the parameters</a:t>
            </a:r>
          </a:p>
          <a:p>
            <a:pPr>
              <a:defRPr/>
            </a:pPr>
            <a:r>
              <a:rPr lang="en-US" sz="2400" dirty="0"/>
              <a:t>While all above terms are commonly used interchangeably, there are formal differences: </a:t>
            </a:r>
          </a:p>
          <a:p>
            <a:pPr lvl="1">
              <a:defRPr/>
            </a:pPr>
            <a:r>
              <a:rPr lang="en-US" sz="2200" dirty="0"/>
              <a:t>Function      </a:t>
            </a:r>
            <a:r>
              <a:rPr lang="en-US" sz="2200" dirty="0">
                <a:sym typeface="Wingdings" pitchFamily="2" charset="2"/>
              </a:rPr>
              <a:t> defined in a class, returns a value</a:t>
            </a:r>
            <a:endParaRPr lang="en-US" sz="2200" dirty="0"/>
          </a:p>
          <a:p>
            <a:pPr lvl="1">
              <a:defRPr/>
            </a:pPr>
            <a:r>
              <a:rPr lang="en-US" sz="2200" dirty="0"/>
              <a:t>Method       </a:t>
            </a:r>
            <a:r>
              <a:rPr lang="en-US" sz="2200" dirty="0">
                <a:sym typeface="Wingdings" pitchFamily="2" charset="2"/>
              </a:rPr>
              <a:t> defined in a object, returns a value</a:t>
            </a:r>
            <a:endParaRPr lang="en-US" sz="2200" dirty="0"/>
          </a:p>
          <a:p>
            <a:pPr lvl="1">
              <a:defRPr/>
            </a:pPr>
            <a:r>
              <a:rPr lang="en-US" sz="2200" dirty="0"/>
              <a:t>Procedure   </a:t>
            </a:r>
            <a:r>
              <a:rPr lang="en-US" sz="2200" dirty="0">
                <a:sym typeface="Wingdings" pitchFamily="2" charset="2"/>
              </a:rPr>
              <a:t> defined in a class, no return value</a:t>
            </a:r>
            <a:endParaRPr lang="en-US" sz="2200" dirty="0"/>
          </a:p>
          <a:p>
            <a:pPr lvl="1">
              <a:defRPr/>
            </a:pPr>
            <a:r>
              <a:rPr lang="en-US" sz="2200" dirty="0"/>
              <a:t>Subroutine  </a:t>
            </a:r>
            <a:r>
              <a:rPr lang="en-US" sz="2200" dirty="0">
                <a:sym typeface="Wingdings" pitchFamily="2" charset="2"/>
              </a:rPr>
              <a:t> assembly programming for procedure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310822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33364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Control: Structured Abstractions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1752600"/>
            <a:ext cx="719137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3886200"/>
            <a:ext cx="7181850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5943600"/>
            <a:ext cx="32099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40645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33364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Control: Structured Abstractions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2124075"/>
            <a:ext cx="714375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4876800"/>
            <a:ext cx="3028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3444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33364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Control: Unit Abstractions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40242" cy="4351338"/>
          </a:xfrm>
        </p:spPr>
        <p:txBody>
          <a:bodyPr>
            <a:noAutofit/>
          </a:bodyPr>
          <a:lstStyle/>
          <a:p>
            <a:r>
              <a:rPr lang="en-US" altLang="en-US" b="1" dirty="0">
                <a:ea typeface="MS PGothic" charset="-128"/>
              </a:rPr>
              <a:t>Unit</a:t>
            </a:r>
            <a:r>
              <a:rPr lang="en-US" altLang="en-US" dirty="0">
                <a:ea typeface="MS PGothic" charset="-128"/>
              </a:rPr>
              <a:t>: a stand-alone collection of procedures providing logically related services to other parts of a program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Allows a program to be understood as a whole without needing to know the details of the services provided by the unit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Same a unit level data abstraction, but focus is on the operations</a:t>
            </a:r>
          </a:p>
          <a:p>
            <a:r>
              <a:rPr lang="en-US" altLang="en-US" b="1" dirty="0">
                <a:ea typeface="MS PGothic" charset="-128"/>
              </a:rPr>
              <a:t>Threads</a:t>
            </a:r>
            <a:r>
              <a:rPr lang="en-US" altLang="en-US" dirty="0">
                <a:ea typeface="MS PGothic" charset="-128"/>
              </a:rPr>
              <a:t>: separately executed control paths within the Java system</a:t>
            </a:r>
          </a:p>
          <a:p>
            <a:r>
              <a:rPr lang="en-US" altLang="en-US" b="1" dirty="0">
                <a:ea typeface="MS PGothic" charset="-128"/>
              </a:rPr>
              <a:t>Processes</a:t>
            </a:r>
            <a:r>
              <a:rPr lang="en-US" altLang="en-US" dirty="0">
                <a:ea typeface="MS PGothic" charset="-128"/>
              </a:rPr>
              <a:t>: other programs executing outside the Java system for parallel processing</a:t>
            </a:r>
          </a:p>
          <a:p>
            <a:pPr lvl="1"/>
            <a:endParaRPr lang="en-US" altLang="en-US" sz="2800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33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65316EAB-7D9D-F44C-9359-5EAF5ACFF67A}" vid="{A314C093-9F88-C04E-9797-11A80E266C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245</TotalTime>
  <Words>2807</Words>
  <Application>Microsoft Macintosh PowerPoint</Application>
  <PresentationFormat>Widescreen</PresentationFormat>
  <Paragraphs>373</Paragraphs>
  <Slides>43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MS PGothic</vt:lpstr>
      <vt:lpstr>Arial</vt:lpstr>
      <vt:lpstr>Calibri</vt:lpstr>
      <vt:lpstr>Calibri Light</vt:lpstr>
      <vt:lpstr>Menlo</vt:lpstr>
      <vt:lpstr>Monaco</vt:lpstr>
      <vt:lpstr>Wingdings</vt:lpstr>
      <vt:lpstr>Office Theme</vt:lpstr>
      <vt:lpstr>CMSC 304</vt:lpstr>
      <vt:lpstr>Language Design Criteria</vt:lpstr>
      <vt:lpstr>Language Design Criteria</vt:lpstr>
      <vt:lpstr>Language Design Criteria</vt:lpstr>
      <vt:lpstr>Language Design Criteria</vt:lpstr>
      <vt:lpstr>Computational Efficiency</vt:lpstr>
      <vt:lpstr>Programmer Efficiency</vt:lpstr>
      <vt:lpstr>Programmer Efficiency</vt:lpstr>
      <vt:lpstr>COBOL Efficiency Example</vt:lpstr>
      <vt:lpstr>COBOL Efficiency Example</vt:lpstr>
      <vt:lpstr>Programmer Efficiency</vt:lpstr>
      <vt:lpstr>Programmer Efficiency </vt:lpstr>
      <vt:lpstr>Security</vt:lpstr>
      <vt:lpstr>Security </vt:lpstr>
      <vt:lpstr>Regularity</vt:lpstr>
      <vt:lpstr>Regularity</vt:lpstr>
      <vt:lpstr>Generality</vt:lpstr>
      <vt:lpstr>Orthogonality</vt:lpstr>
      <vt:lpstr>Lack of Orthogonality</vt:lpstr>
      <vt:lpstr>Lack of Orthogonality</vt:lpstr>
      <vt:lpstr>Uniformity</vt:lpstr>
      <vt:lpstr>Lack of Uniformity</vt:lpstr>
      <vt:lpstr>Lack of Uniformity</vt:lpstr>
      <vt:lpstr>Lack of Uniformity</vt:lpstr>
      <vt:lpstr>Causes of Irregularity</vt:lpstr>
      <vt:lpstr>Extensibility</vt:lpstr>
      <vt:lpstr>Language Design Criteria Review</vt:lpstr>
      <vt:lpstr>Abstractions in Programming Languages</vt:lpstr>
      <vt:lpstr>Abstractions in Programming Languages</vt:lpstr>
      <vt:lpstr>Data: Basic Abstractions</vt:lpstr>
      <vt:lpstr>Data: Structured Abstractions</vt:lpstr>
      <vt:lpstr>Data: Unit Abstractions</vt:lpstr>
      <vt:lpstr>Data: Unit Abstractions</vt:lpstr>
      <vt:lpstr>Abstractions in Programming Languages</vt:lpstr>
      <vt:lpstr>Abstractions in Programming Languages</vt:lpstr>
      <vt:lpstr>Control: Basic Abstractions</vt:lpstr>
      <vt:lpstr>Control: Structured Abstractions</vt:lpstr>
      <vt:lpstr>Control: Structured Abstractions - Assembly</vt:lpstr>
      <vt:lpstr>Control: Structured Abstractions – Java</vt:lpstr>
      <vt:lpstr>Control: Structured Abstractions</vt:lpstr>
      <vt:lpstr>Control: Structured Abstractions</vt:lpstr>
      <vt:lpstr>Control: Structured Abstractions</vt:lpstr>
      <vt:lpstr>Control: Unit Abstractions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CMSC 403</dc:title>
  <dc:creator>Microsoft Office User</dc:creator>
  <cp:lastModifiedBy>Microsoft Office User</cp:lastModifiedBy>
  <cp:revision>44</cp:revision>
  <dcterms:created xsi:type="dcterms:W3CDTF">2019-07-08T21:47:00Z</dcterms:created>
  <dcterms:modified xsi:type="dcterms:W3CDTF">2025-01-15T18:06:43Z</dcterms:modified>
</cp:coreProperties>
</file>