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23"/>
  </p:notesMasterIdLst>
  <p:sldIdLst>
    <p:sldId id="256" r:id="rId2"/>
    <p:sldId id="286" r:id="rId3"/>
    <p:sldId id="315" r:id="rId4"/>
    <p:sldId id="316" r:id="rId5"/>
    <p:sldId id="317" r:id="rId6"/>
    <p:sldId id="322" r:id="rId7"/>
    <p:sldId id="318" r:id="rId8"/>
    <p:sldId id="303" r:id="rId9"/>
    <p:sldId id="284" r:id="rId10"/>
    <p:sldId id="312" r:id="rId11"/>
    <p:sldId id="306" r:id="rId12"/>
    <p:sldId id="307" r:id="rId13"/>
    <p:sldId id="319" r:id="rId14"/>
    <p:sldId id="320" r:id="rId15"/>
    <p:sldId id="309" r:id="rId16"/>
    <p:sldId id="321" r:id="rId17"/>
    <p:sldId id="314" r:id="rId18"/>
    <p:sldId id="270" r:id="rId19"/>
    <p:sldId id="323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70"/>
    <p:restoredTop sz="76165"/>
  </p:normalViewPr>
  <p:slideViewPr>
    <p:cSldViewPr snapToGrid="0" snapToObjects="1">
      <p:cViewPr varScale="1">
        <p:scale>
          <a:sx n="92" d="100"/>
          <a:sy n="92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72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von Neumann Architecture, to program a computer would require to physically rewire the machine!! Being able to re-program a computer by changing the contents of memory is immensely easier than re-wiring the thing!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97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*Technically modern assembly languages have more features such as macro support, but the general principle of CPU instructions having a one-to-one correspondence with mnemonic assembly instructions is unchanged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I had to program in either machine language or assembly language, I’d really prefer assembly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1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*This is much less of a problem now due to the massive proliferation of x86, but in early computing almost every machine had a different architecture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62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</a:t>
            </a:r>
            <a:r>
              <a:rPr lang="en-US" dirty="0"/>
              <a:t>about abstraction as providing a simplified interface to interact with a complex system. because the underlying system isn't any less complex!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309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B1403FF-D6F5-FE46-94CC-3E21F181A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8DC06573-20BA-704B-919C-646F9D7938B7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E018CBD-B226-9D47-94D7-2DFE873966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EAC7365-C8E8-4846-AD00-BBED3C8C1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MX" altLang="en-US" dirty="0">
                <a:latin typeface="Times" pitchFamily="2" charset="0"/>
              </a:rPr>
              <a:t>Technically translators includes assemblers but that’s more in the weeds then we need to get right now</a:t>
            </a:r>
          </a:p>
        </p:txBody>
      </p:sp>
    </p:spTree>
    <p:extLst>
      <p:ext uri="{BB962C8B-B14F-4D97-AF65-F5344CB8AC3E}">
        <p14:creationId xmlns:p14="http://schemas.microsoft.com/office/powerpoint/2010/main" val="4241103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02E6AF9-F47B-B44C-994E-4B93ED802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3ED8366C-9277-8E49-90AD-AAB2D5161AB8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3E76CC1D-E7BA-DB4E-8BAC-8C64158E0D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DE36E0E-DDA8-0D44-9F25-EC06BFE62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390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02E6AF9-F47B-B44C-994E-4B93ED802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3ED8366C-9277-8E49-90AD-AAB2D5161AB8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3E76CC1D-E7BA-DB4E-8BAC-8C64158E0D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DE36E0E-DDA8-0D44-9F25-EC06BFE62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642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A89086D-DA9B-7847-AEB3-40171A689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09558DC6-6BE1-6749-8509-2E8DB7DDC4CF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C8649E1-6F77-0B43-8AFB-660C4BC85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A38E9F44-857C-5C4C-8487-384C4DF28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MX" altLang="en-US" dirty="0">
                <a:latin typeface="Times" pitchFamily="2" charset="0"/>
              </a:rPr>
              <a:t>Note that the rapid advance in computer hardware changed the goals / priorities of programming languages </a:t>
            </a:r>
          </a:p>
        </p:txBody>
      </p:sp>
    </p:spTree>
    <p:extLst>
      <p:ext uri="{BB962C8B-B14F-4D97-AF65-F5344CB8AC3E}">
        <p14:creationId xmlns:p14="http://schemas.microsoft.com/office/powerpoint/2010/main" val="759054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B4369824-A7AB-1D42-A3F0-26A348BF2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25DACAE6-341B-614A-9107-1ED7463357FB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D913706C-D212-4A4B-9D75-6CE591E68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1556A40A-5571-DA43-B085-EC9276901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395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BF84909-B5BB-8044-91C0-08CB246122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517A39AD-1C9E-4C4D-8DF5-090C1D5F1711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2F500A34-E13A-B847-834C-B7BC95653A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0B8C808-D6D0-1242-8835-B053A1D4D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037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26B00102-C4B9-824E-87EE-8F7FE6A4C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DBFD4E37-10FE-B949-8DDF-739CEADBEF3C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45A2B2F8-84D2-7445-A7EF-EB49DE98F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AA326173-5654-BE4E-975B-8FCCC9752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978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46821D9-C04F-494C-9B9C-E5BA59F0F3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EA148713-D190-4642-A0D3-D9D4730EB770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F231592-0583-314A-8862-D95251CE10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1F4D4D2-60C7-B74F-88F0-6D5392243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723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491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39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Among others which we won’t mention here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05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18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8/15/25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Compilation, Interpretation, &amp; Programming Paradigms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von Neumann Architecture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09"/>
          </a:xfrm>
        </p:spPr>
        <p:txBody>
          <a:bodyPr>
            <a:normAutofit/>
          </a:bodyPr>
          <a:lstStyle/>
          <a:p>
            <a:r>
              <a:rPr lang="en-US" dirty="0"/>
              <a:t>In 1945, von Neumann wrote First Draft of a Report on the EDVAC</a:t>
            </a:r>
          </a:p>
          <a:p>
            <a:pPr lvl="1"/>
            <a:r>
              <a:rPr lang="en-US" dirty="0"/>
              <a:t>majorly influential</a:t>
            </a:r>
          </a:p>
          <a:p>
            <a:r>
              <a:rPr lang="en-US" dirty="0"/>
              <a:t>The First Draft contained the first published description of a “stored-program” digital computer</a:t>
            </a:r>
          </a:p>
          <a:p>
            <a:r>
              <a:rPr lang="en-US" dirty="0"/>
              <a:t>In a stored-program architecture, computers are permanently hardwired with a small set of general purpose operations </a:t>
            </a:r>
          </a:p>
          <a:p>
            <a:r>
              <a:rPr lang="en-US" dirty="0"/>
              <a:t>A computer is programmed by storing a set of these operations (a program) in memory, and executing the operations sequentially</a:t>
            </a:r>
          </a:p>
          <a:p>
            <a:r>
              <a:rPr lang="en-US" dirty="0"/>
              <a:t>This stored-program concept became known as the von Neumann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78542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564A-EF9C-F740-A78F-BC6DC600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Programming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F9C8-4003-7247-9143-6195B8F70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earliest digital computers (such as the EDVAC) were physically massive, had an insatiable need for electricity, and eye-</a:t>
            </a:r>
            <a:r>
              <a:rPr lang="en-US" dirty="0" err="1"/>
              <a:t>poppingly</a:t>
            </a:r>
            <a:r>
              <a:rPr lang="en-US" dirty="0"/>
              <a:t> expensive </a:t>
            </a:r>
          </a:p>
          <a:p>
            <a:r>
              <a:rPr lang="en-US" dirty="0"/>
              <a:t>Early programmers believed the computer’s time was more valuable than theirs and as a result would program in machine language</a:t>
            </a:r>
          </a:p>
          <a:p>
            <a:r>
              <a:rPr lang="en-US" dirty="0"/>
              <a:t>Machine language is the sequence of bits that represents an operation, causing the computer to add, compare, move data, etc.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47AA7-4ABF-8D49-BE1B-DEA9013ADDF5}"/>
              </a:ext>
            </a:extLst>
          </p:cNvPr>
          <p:cNvSpPr txBox="1"/>
          <p:nvPr/>
        </p:nvSpPr>
        <p:spPr>
          <a:xfrm>
            <a:off x="2784565" y="4950509"/>
            <a:ext cx="6527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3000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2036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903F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2435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1002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2231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B4422D-673B-674F-BD25-DA9AEEA54CCD}"/>
              </a:ext>
            </a:extLst>
          </p:cNvPr>
          <p:cNvSpPr/>
          <p:nvPr/>
        </p:nvSpPr>
        <p:spPr>
          <a:xfrm>
            <a:off x="3437308" y="4950509"/>
            <a:ext cx="68159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1401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042D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242D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5020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103E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0D231-D745-0B46-9CE3-A3CE2E4903CF}"/>
              </a:ext>
            </a:extLst>
          </p:cNvPr>
          <p:cNvSpPr txBox="1"/>
          <p:nvPr/>
        </p:nvSpPr>
        <p:spPr>
          <a:xfrm>
            <a:off x="4090051" y="4950509"/>
            <a:ext cx="68800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0A04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B42A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2029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1021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3027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56E0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BC212-2E17-9D4F-A98A-86991065634C}"/>
              </a:ext>
            </a:extLst>
          </p:cNvPr>
          <p:cNvSpPr txBox="1"/>
          <p:nvPr/>
        </p:nvSpPr>
        <p:spPr>
          <a:xfrm>
            <a:off x="4742794" y="4950509"/>
            <a:ext cx="6527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16E2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2422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92FF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1261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1481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0802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0D69E-8C7F-E749-B319-726674F95BCA}"/>
              </a:ext>
            </a:extLst>
          </p:cNvPr>
          <p:cNvSpPr/>
          <p:nvPr/>
        </p:nvSpPr>
        <p:spPr>
          <a:xfrm>
            <a:off x="5390728" y="4950509"/>
            <a:ext cx="70403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0418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0FFC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201B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54A0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5920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193E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4B7E11-253F-B84C-BE16-0E86B4015818}"/>
              </a:ext>
            </a:extLst>
          </p:cNvPr>
          <p:cNvSpPr/>
          <p:nvPr/>
        </p:nvSpPr>
        <p:spPr>
          <a:xfrm>
            <a:off x="6043470" y="4950509"/>
            <a:ext cx="69442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1004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0C02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14A1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0FFC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1020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0801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1423E1-E162-ED44-86D1-E4A7FA4D2F2B}"/>
              </a:ext>
            </a:extLst>
          </p:cNvPr>
          <p:cNvSpPr/>
          <p:nvPr/>
        </p:nvSpPr>
        <p:spPr>
          <a:xfrm>
            <a:off x="6701022" y="4950509"/>
            <a:ext cx="6799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14A1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1042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0802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16E1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0FEA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200C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3AF40-89DA-2245-9087-9AAFCB5B013D}"/>
              </a:ext>
            </a:extLst>
          </p:cNvPr>
          <p:cNvSpPr txBox="1"/>
          <p:nvPr/>
        </p:nvSpPr>
        <p:spPr>
          <a:xfrm>
            <a:off x="7348957" y="4950509"/>
            <a:ext cx="6944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B00D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1021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3009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200A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1021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3008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D0A95F-A1F1-7343-A509-E8B29DFD22F0}"/>
              </a:ext>
            </a:extLst>
          </p:cNvPr>
          <p:cNvSpPr/>
          <p:nvPr/>
        </p:nvSpPr>
        <p:spPr>
          <a:xfrm>
            <a:off x="7996891" y="4950509"/>
            <a:ext cx="69442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0FD0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2004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1021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3002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0FCC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333321-A520-BE42-B8E0-7C63CCA8C25F}"/>
              </a:ext>
            </a:extLst>
          </p:cNvPr>
          <p:cNvSpPr/>
          <p:nvPr/>
        </p:nvSpPr>
        <p:spPr>
          <a:xfrm>
            <a:off x="8654443" y="4950509"/>
            <a:ext cx="647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0002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5000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5000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0033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A19C2-0641-0A40-A328-BD9F65101C8C}"/>
              </a:ext>
            </a:extLst>
          </p:cNvPr>
          <p:cNvSpPr txBox="1"/>
          <p:nvPr/>
        </p:nvSpPr>
        <p:spPr>
          <a:xfrm>
            <a:off x="9559636" y="5504506"/>
            <a:ext cx="1794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Generating the 50 First Primes in LC-3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548811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5F1B-3DD3-5049-AF16-08D8B87D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Programming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81371-FF61-074A-8946-44DB8287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5259" cy="4351338"/>
          </a:xfrm>
        </p:spPr>
        <p:txBody>
          <a:bodyPr>
            <a:noAutofit/>
          </a:bodyPr>
          <a:lstStyle/>
          <a:p>
            <a:r>
              <a:rPr lang="en-US" dirty="0"/>
              <a:t>Writing programs in machine language is an enormously tedious and error prone task </a:t>
            </a:r>
          </a:p>
          <a:p>
            <a:r>
              <a:rPr lang="en-US" dirty="0"/>
              <a:t>Assembly languages were invented to allow computer processor operations to be         expressed with mnemonic abbreviations</a:t>
            </a:r>
          </a:p>
          <a:p>
            <a:r>
              <a:rPr lang="en-US" dirty="0"/>
              <a:t>Assembly languages are designed with a one-to-one correspondence between mnemonics and machine language instructions</a:t>
            </a:r>
          </a:p>
          <a:p>
            <a:r>
              <a:rPr lang="en-US" b="1" dirty="0"/>
              <a:t>Assembler</a:t>
            </a:r>
            <a:r>
              <a:rPr lang="en-US" dirty="0"/>
              <a:t>: program which translates from mnemonics to machine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885D9-568D-F949-9050-C8DF602BD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943"/>
          <a:stretch/>
        </p:blipFill>
        <p:spPr>
          <a:xfrm>
            <a:off x="7776922" y="365125"/>
            <a:ext cx="2017968" cy="3501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1764F-AFE6-5A4E-84D3-F03E7605C8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732"/>
          <a:stretch/>
        </p:blipFill>
        <p:spPr>
          <a:xfrm>
            <a:off x="9794890" y="365125"/>
            <a:ext cx="2017968" cy="3378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F97818-DEC6-9548-95AF-349E0B051794}"/>
              </a:ext>
            </a:extLst>
          </p:cNvPr>
          <p:cNvSpPr/>
          <p:nvPr/>
        </p:nvSpPr>
        <p:spPr>
          <a:xfrm>
            <a:off x="10091854" y="4001294"/>
            <a:ext cx="17210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Generating the 50 First Primes in LC-3 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300700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5F1B-3DD3-5049-AF16-08D8B87D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Programming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81371-FF61-074A-8946-44DB8287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A major disadvantage of machine language / assembly is it’s machine dependent </a:t>
            </a:r>
          </a:p>
          <a:p>
            <a:r>
              <a:rPr lang="en-US" dirty="0"/>
              <a:t>Different computers may have different processor operations</a:t>
            </a:r>
          </a:p>
          <a:p>
            <a:pPr lvl="1"/>
            <a:r>
              <a:rPr lang="en-US" dirty="0"/>
              <a:t>Machine language which is understood by one computer may not be understood by others! </a:t>
            </a:r>
          </a:p>
          <a:p>
            <a:r>
              <a:rPr lang="en-US" dirty="0"/>
              <a:t>It became increasingly frustrating to have to rewrite programs for every new computer</a:t>
            </a:r>
          </a:p>
          <a:p>
            <a:r>
              <a:rPr lang="en-US" dirty="0"/>
              <a:t>It also became increasingly difficult for human beings to keep track of the wealth of detail in large assembly language programs</a:t>
            </a:r>
          </a:p>
          <a:p>
            <a:r>
              <a:rPr lang="en-US" dirty="0"/>
              <a:t>What’s the solution?</a:t>
            </a:r>
          </a:p>
          <a:p>
            <a:pPr lvl="1"/>
            <a:r>
              <a:rPr lang="en-US" dirty="0"/>
              <a:t>Abstraction &amp; High Level Languages!</a:t>
            </a:r>
          </a:p>
        </p:txBody>
      </p:sp>
    </p:spTree>
    <p:extLst>
      <p:ext uri="{BB962C8B-B14F-4D97-AF65-F5344CB8AC3E}">
        <p14:creationId xmlns:p14="http://schemas.microsoft.com/office/powerpoint/2010/main" val="245769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5F1B-3DD3-5049-AF16-08D8B87D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 Level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81371-FF61-074A-8946-44DB8287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US" b="1" dirty="0"/>
              <a:t>Abstraction:</a:t>
            </a:r>
            <a:r>
              <a:rPr lang="en-US" dirty="0"/>
              <a:t> a technique for establishing a simpler way to interact with a system, removing the details that are unnecessary to interact effectively with that system </a:t>
            </a:r>
          </a:p>
          <a:p>
            <a:r>
              <a:rPr lang="en-US" dirty="0"/>
              <a:t>It allows us to not get bogged down in the detail when everything about the detail is working just fine </a:t>
            </a:r>
          </a:p>
          <a:p>
            <a:r>
              <a:rPr lang="en-US" b="1" dirty="0"/>
              <a:t>High Level Language:</a:t>
            </a:r>
            <a:r>
              <a:rPr lang="en-US" dirty="0"/>
              <a:t> a programming language where the details of the underlying computer hardware are abstracted away</a:t>
            </a:r>
          </a:p>
          <a:p>
            <a:pPr lvl="1"/>
            <a:r>
              <a:rPr lang="en-US" dirty="0"/>
              <a:t>Some high level languages abstract away more than others </a:t>
            </a:r>
          </a:p>
          <a:p>
            <a:pPr lvl="1"/>
            <a:r>
              <a:rPr lang="en-US" dirty="0"/>
              <a:t>All high level languages remove the need to write machine code </a:t>
            </a:r>
          </a:p>
          <a:p>
            <a:r>
              <a:rPr lang="en-US" dirty="0"/>
              <a:t>Allows for programmers to focus more on the logic of a program and less on the hardware it runs 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9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1E4E-AE97-9449-ADB0-C54B70F3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 Level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5FC1A-C537-064B-BFE7-F395210C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But if a high level language is abstracted away from the underlying computer hardware, how does the computer know what to do?</a:t>
            </a:r>
          </a:p>
          <a:p>
            <a:r>
              <a:rPr lang="en-US" dirty="0"/>
              <a:t>High level languages must be translated into machine language! </a:t>
            </a:r>
          </a:p>
          <a:p>
            <a:r>
              <a:rPr lang="en-US" b="1" dirty="0"/>
              <a:t>Compiler</a:t>
            </a:r>
            <a:r>
              <a:rPr lang="en-US" dirty="0"/>
              <a:t>: a program which translates a high-level language to machine language </a:t>
            </a:r>
          </a:p>
          <a:p>
            <a:r>
              <a:rPr lang="en-US" dirty="0"/>
              <a:t>Compilers are substantially more complicated than assemblers</a:t>
            </a:r>
          </a:p>
          <a:p>
            <a:pPr lvl="1"/>
            <a:r>
              <a:rPr lang="en-US" dirty="0"/>
              <a:t>The one-to-one correspondence between source and target instructions no longer exists</a:t>
            </a:r>
          </a:p>
          <a:p>
            <a:r>
              <a:rPr lang="en-US" dirty="0"/>
              <a:t>Due to increases in hardware complexity and continuing improvements in compiler technology, a compiler will usually generate better machine code than a human being will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7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47583B5E-CB2D-6342-AD8D-B197EE33E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Translation Methods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EEA0D9F5-38EF-4F43-9938-85EB8F9FC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515600" cy="501055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Compilation</a:t>
            </a:r>
          </a:p>
          <a:p>
            <a:pPr lvl="1" eaLnBrk="1" hangingPunct="1"/>
            <a:r>
              <a:rPr lang="en-US" altLang="en-US" dirty="0"/>
              <a:t>Programs are translated into machine language before execution</a:t>
            </a:r>
          </a:p>
          <a:p>
            <a:pPr lvl="1"/>
            <a:r>
              <a:rPr lang="en-US" altLang="en-US" dirty="0"/>
              <a:t>Compilation generally leads to better performance.</a:t>
            </a:r>
          </a:p>
          <a:p>
            <a:pPr lvl="2"/>
            <a:r>
              <a:rPr lang="en-US" altLang="en-US" dirty="0"/>
              <a:t>A decision made at compile time is a decision that does not need to be made at run time</a:t>
            </a:r>
          </a:p>
          <a:p>
            <a:r>
              <a:rPr lang="en-US" altLang="en-US" dirty="0"/>
              <a:t>Interpretation</a:t>
            </a:r>
          </a:p>
          <a:p>
            <a:pPr lvl="1" eaLnBrk="1" hangingPunct="1"/>
            <a:r>
              <a:rPr lang="en-US" altLang="en-US" dirty="0"/>
              <a:t>Programs are translated into machine language at runtime </a:t>
            </a:r>
          </a:p>
          <a:p>
            <a:pPr lvl="1"/>
            <a:r>
              <a:rPr lang="en-US" dirty="0"/>
              <a:t>The interpreter reads statements in that language more or less one at a time, executing them as it goes along</a:t>
            </a:r>
            <a:endParaRPr lang="en-US" altLang="en-US" dirty="0"/>
          </a:p>
          <a:p>
            <a:r>
              <a:rPr lang="en-US" altLang="en-US" dirty="0"/>
              <a:t>Languages do not have a specific implementation</a:t>
            </a:r>
          </a:p>
          <a:p>
            <a:r>
              <a:rPr lang="en-US" altLang="en-US" b="1" dirty="0"/>
              <a:t>Translator</a:t>
            </a:r>
            <a:r>
              <a:rPr lang="en-US" altLang="en-US" dirty="0"/>
              <a:t>: A generic term </a:t>
            </a:r>
            <a:r>
              <a:rPr lang="en-US" dirty="0"/>
              <a:t>which can refer to a compiler, interpreter, or assembler</a:t>
            </a:r>
          </a:p>
          <a:p>
            <a:pPr lvl="1"/>
            <a:r>
              <a:rPr lang="en-US" dirty="0"/>
              <a:t>Anything that converts code from one language into another</a:t>
            </a:r>
            <a:endParaRPr lang="en-US" altLang="en-US" b="1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645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>
            <a:extLst>
              <a:ext uri="{FF2B5EF4-FFF2-40B4-BE49-F238E27FC236}">
                <a16:creationId xmlns:a16="http://schemas.microsoft.com/office/drawing/2014/main" id="{4FC497C7-98A8-0045-AD19-BAA8F1A42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Compilation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51A9EAE3-737E-A044-B050-39F2224B3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515600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Translate high-level language into machine language</a:t>
            </a:r>
          </a:p>
          <a:p>
            <a:pPr eaLnBrk="1" hangingPunct="1"/>
            <a:r>
              <a:rPr lang="en-US" altLang="en-US" dirty="0"/>
              <a:t>Slow translation, fast execution</a:t>
            </a:r>
          </a:p>
          <a:p>
            <a:pPr eaLnBrk="1" hangingPunct="1"/>
            <a:r>
              <a:rPr lang="en-US" altLang="en-US" dirty="0"/>
              <a:t>Compilation process has several phases: </a:t>
            </a:r>
          </a:p>
          <a:p>
            <a:pPr lvl="1" eaLnBrk="1" hangingPunct="1"/>
            <a:r>
              <a:rPr lang="en-US" altLang="en-US" dirty="0"/>
              <a:t>lexical analysis: converts characters in the source program into lexical units</a:t>
            </a:r>
          </a:p>
          <a:p>
            <a:pPr lvl="1" eaLnBrk="1" hangingPunct="1"/>
            <a:r>
              <a:rPr lang="en-US" altLang="en-US" dirty="0"/>
              <a:t>syntax analysis: transforms lexical units into </a:t>
            </a:r>
            <a:r>
              <a:rPr lang="en-US" altLang="en-US" i="1" dirty="0"/>
              <a:t>parse trees </a:t>
            </a:r>
            <a:r>
              <a:rPr lang="en-US" altLang="en-US" dirty="0"/>
              <a:t>which represent the syntactic structure of program</a:t>
            </a:r>
          </a:p>
          <a:p>
            <a:pPr lvl="1" eaLnBrk="1" hangingPunct="1"/>
            <a:r>
              <a:rPr lang="en-US" altLang="en-US" dirty="0"/>
              <a:t>Semantics analysis: generate intermediate code</a:t>
            </a:r>
          </a:p>
          <a:p>
            <a:pPr lvl="1" eaLnBrk="1" hangingPunct="1"/>
            <a:r>
              <a:rPr lang="en-US" altLang="en-US" dirty="0"/>
              <a:t>code generation: machine code is generated</a:t>
            </a:r>
          </a:p>
          <a:p>
            <a:pPr eaLnBrk="1" hangingPunct="1"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6995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>
            <a:extLst>
              <a:ext uri="{FF2B5EF4-FFF2-40B4-BE49-F238E27FC236}">
                <a16:creationId xmlns:a16="http://schemas.microsoft.com/office/drawing/2014/main" id="{4FC497C7-98A8-0045-AD19-BAA8F1A42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4080164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The Compilation Process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0B58F7F-0770-EC4E-A2D4-CBF19D6DA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364" y="365125"/>
            <a:ext cx="4772891" cy="6230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27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>
            <a:extLst>
              <a:ext uri="{FF2B5EF4-FFF2-40B4-BE49-F238E27FC236}">
                <a16:creationId xmlns:a16="http://schemas.microsoft.com/office/drawing/2014/main" id="{C6FD385A-A2BC-2A47-9A02-08332AB88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Pure Interpretation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E5122DDD-5351-E54F-99AB-0E58FCBF7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515600" cy="4572000"/>
          </a:xfrm>
        </p:spPr>
        <p:txBody>
          <a:bodyPr>
            <a:normAutofit/>
          </a:bodyPr>
          <a:lstStyle/>
          <a:p>
            <a:r>
              <a:rPr lang="en-US" dirty="0"/>
              <a:t>In general, interpretation leads to greater flexibility and better diagnostics than does compilation</a:t>
            </a:r>
          </a:p>
          <a:p>
            <a:r>
              <a:rPr lang="en-US" dirty="0"/>
              <a:t>Because the source code is being executed directly, the interpreter can include an excellent source-level debugger</a:t>
            </a:r>
          </a:p>
          <a:p>
            <a:r>
              <a:rPr lang="en-US" dirty="0"/>
              <a:t>Easier to implement an interpreter rather than a compiler </a:t>
            </a:r>
          </a:p>
          <a:p>
            <a:r>
              <a:rPr lang="en-US" altLang="en-US" dirty="0"/>
              <a:t>Slower execution (10 to 100 times slower than compiled programs)</a:t>
            </a:r>
          </a:p>
          <a:p>
            <a:pPr eaLnBrk="1" hangingPunct="1"/>
            <a:r>
              <a:rPr lang="en-US" altLang="en-US" dirty="0"/>
              <a:t>Often requires more memory</a:t>
            </a:r>
          </a:p>
          <a:p>
            <a:pPr eaLnBrk="1" hangingPunct="1"/>
            <a:r>
              <a:rPr lang="en-US" altLang="en-US" dirty="0"/>
              <a:t>Pure interpretation is now rare for traditional high-level languages</a:t>
            </a:r>
          </a:p>
        </p:txBody>
      </p:sp>
    </p:spTree>
    <p:extLst>
      <p:ext uri="{BB962C8B-B14F-4D97-AF65-F5344CB8AC3E}">
        <p14:creationId xmlns:p14="http://schemas.microsoft.com/office/powerpoint/2010/main" val="1573659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>
            <a:extLst>
              <a:ext uri="{FF2B5EF4-FFF2-40B4-BE49-F238E27FC236}">
                <a16:creationId xmlns:a16="http://schemas.microsoft.com/office/drawing/2014/main" id="{3AE4E1E2-4850-F842-A334-2B58582E0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Pure Interpretation Process</a:t>
            </a:r>
          </a:p>
        </p:txBody>
      </p:sp>
      <p:pic>
        <p:nvPicPr>
          <p:cNvPr id="28677" name="Picture 4">
            <a:extLst>
              <a:ext uri="{FF2B5EF4-FFF2-40B4-BE49-F238E27FC236}">
                <a16:creationId xmlns:a16="http://schemas.microsoft.com/office/drawing/2014/main" id="{976AA312-D23D-7D4F-98F8-598FB1429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672" y="1690688"/>
            <a:ext cx="373221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17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>
            <a:extLst>
              <a:ext uri="{FF2B5EF4-FFF2-40B4-BE49-F238E27FC236}">
                <a16:creationId xmlns:a16="http://schemas.microsoft.com/office/drawing/2014/main" id="{BC95ED6C-E64F-5542-9C0D-2AF2F815F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Hybrid Implementation Systems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DAA0520D-43DA-FD4C-A163-918824909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515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 compromise between compilers and pure interpreters</a:t>
            </a:r>
          </a:p>
          <a:p>
            <a:r>
              <a:rPr lang="en-US" altLang="en-US" dirty="0"/>
              <a:t>While the conceptual difference between compilation and interpretation is clear, most language implementations include a mixture of both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C5AA2-7E53-5348-BC11-E00CFCC6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426" y="3765176"/>
            <a:ext cx="7743147" cy="28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71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3165-E7CA-554B-A7E5-325AA564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Hybrid Implementation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E20E-3BCE-AB4B-B9FE-9F50656E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say that a language is compiled if the translator analyzes it thoroughly and if the intermediate program does not bear a strong resemblance to the source</a:t>
            </a:r>
          </a:p>
          <a:p>
            <a:r>
              <a:rPr lang="en-US" dirty="0"/>
              <a:t>These two characteristics—thorough analysis and nontrivial transformation—are the hallmarks of compilation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76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>
            <a:extLst>
              <a:ext uri="{FF2B5EF4-FFF2-40B4-BE49-F238E27FC236}">
                <a16:creationId xmlns:a16="http://schemas.microsoft.com/office/drawing/2014/main" id="{CE9CE32B-D141-4A45-A7D5-DAD56A012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17525"/>
            <a:ext cx="5618018" cy="1524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Hybrid Implementation Process</a:t>
            </a: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A05A7DE5-6746-A74E-A50F-8A56941E2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76531"/>
            <a:ext cx="2133599" cy="634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853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B9DD-A0B5-CC45-BCCB-E6E9DEF3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11D9B-2AF8-1A4B-88C6-0F0406A80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652247" cy="4351338"/>
          </a:xfrm>
        </p:spPr>
        <p:txBody>
          <a:bodyPr>
            <a:noAutofit/>
          </a:bodyPr>
          <a:lstStyle/>
          <a:p>
            <a:r>
              <a:rPr lang="en-US" dirty="0"/>
              <a:t>The Java language definition defines a machine-independent intermediate form known as Java bytecode</a:t>
            </a:r>
          </a:p>
          <a:p>
            <a:r>
              <a:rPr lang="en-US" dirty="0"/>
              <a:t>The first Java implementations were based on byte-code interpreters</a:t>
            </a:r>
          </a:p>
          <a:p>
            <a:r>
              <a:rPr lang="en-US" dirty="0"/>
              <a:t>Modern implementations obtain significantly better performance with a just-in-time compiler </a:t>
            </a:r>
          </a:p>
          <a:p>
            <a:r>
              <a:rPr lang="en-US" dirty="0"/>
              <a:t>It translates bytecode into machine language immediately before each execution of the program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2B02C-6B67-C244-8B89-516B6DCF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447" y="2202657"/>
            <a:ext cx="53848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63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>
            <a:extLst>
              <a:ext uri="{FF2B5EF4-FFF2-40B4-BE49-F238E27FC236}">
                <a16:creationId xmlns:a16="http://schemas.microsoft.com/office/drawing/2014/main" id="{8664276A-7ADF-A140-9397-3B7EA3F66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Just-in-Time Implementation Systems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F08D91B2-D0DB-FB49-B5B7-A9F52E142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Initially translate programs to an intermediate language</a:t>
            </a:r>
          </a:p>
          <a:p>
            <a:pPr eaLnBrk="1" hangingPunct="1"/>
            <a:r>
              <a:rPr lang="en-US" altLang="en-US" sz="2400" dirty="0"/>
              <a:t>Then compile the intermediate language of the subprograms into machine code when they are called </a:t>
            </a:r>
          </a:p>
          <a:p>
            <a:pPr eaLnBrk="1" hangingPunct="1"/>
            <a:r>
              <a:rPr lang="en-US" altLang="en-US" sz="2400" dirty="0"/>
              <a:t>Machine code version is kept for subsequent calls</a:t>
            </a:r>
          </a:p>
          <a:p>
            <a:pPr eaLnBrk="1" hangingPunct="1"/>
            <a:r>
              <a:rPr lang="en-US" altLang="en-US" sz="2400" dirty="0"/>
              <a:t>In essence, JIT systems are delayed compilers</a:t>
            </a:r>
          </a:p>
        </p:txBody>
      </p:sp>
    </p:spTree>
    <p:extLst>
      <p:ext uri="{BB962C8B-B14F-4D97-AF65-F5344CB8AC3E}">
        <p14:creationId xmlns:p14="http://schemas.microsoft.com/office/powerpoint/2010/main" val="693853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Computational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b="1" dirty="0"/>
              <a:t>Programming paradigms</a:t>
            </a:r>
            <a:r>
              <a:rPr lang="en-US" dirty="0"/>
              <a:t>: patterns / models used to conceptualize the structure and implementation of programming languages</a:t>
            </a:r>
          </a:p>
          <a:p>
            <a:pPr lvl="1"/>
            <a:r>
              <a:rPr lang="en-US" dirty="0"/>
              <a:t>Similar to biology, these paradigms are an attempt to classify existing programming languages </a:t>
            </a:r>
          </a:p>
          <a:p>
            <a:r>
              <a:rPr lang="en-US" dirty="0"/>
              <a:t>The most common programming language paradigm is the imperative paradigm</a:t>
            </a:r>
            <a:endParaRPr lang="en-US" b="1" dirty="0"/>
          </a:p>
          <a:p>
            <a:r>
              <a:rPr lang="en-US" b="1" dirty="0"/>
              <a:t>Imperative language: </a:t>
            </a:r>
            <a:r>
              <a:rPr lang="en-US" dirty="0"/>
              <a:t>A programming language characterized by:</a:t>
            </a:r>
          </a:p>
          <a:p>
            <a:pPr lvl="1"/>
            <a:r>
              <a:rPr lang="en-US" dirty="0"/>
              <a:t>The sequential execution of instructions</a:t>
            </a:r>
          </a:p>
          <a:p>
            <a:pPr lvl="1"/>
            <a:r>
              <a:rPr lang="en-US" dirty="0"/>
              <a:t>The use of variables representing memory locations</a:t>
            </a:r>
          </a:p>
          <a:p>
            <a:pPr lvl="1"/>
            <a:r>
              <a:rPr lang="en-US" dirty="0"/>
              <a:t>The use of assignment to change the values of variables</a:t>
            </a:r>
          </a:p>
          <a:p>
            <a:r>
              <a:rPr lang="en-US" dirty="0"/>
              <a:t>Note the similarities to the von Neumann Architecture! </a:t>
            </a:r>
          </a:p>
        </p:txBody>
      </p:sp>
    </p:spTree>
    <p:extLst>
      <p:ext uri="{BB962C8B-B14F-4D97-AF65-F5344CB8AC3E}">
        <p14:creationId xmlns:p14="http://schemas.microsoft.com/office/powerpoint/2010/main" val="414314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Computational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dirty="0"/>
              <a:t>High level programming languages are often designed to abstract away the operations of a computer </a:t>
            </a:r>
          </a:p>
          <a:p>
            <a:r>
              <a:rPr lang="en-US" dirty="0"/>
              <a:t>The von Neumann Architecture was used almost universally since the very beginnings of digital computing</a:t>
            </a:r>
          </a:p>
          <a:p>
            <a:r>
              <a:rPr lang="en-US" dirty="0"/>
              <a:t>Consequently, most programming languages today are imperative</a:t>
            </a:r>
          </a:p>
          <a:p>
            <a:r>
              <a:rPr lang="en-US" dirty="0"/>
              <a:t>But imperative languages represent only a single programming language paradigm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432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Computational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1210365" cy="4351338"/>
          </a:xfrm>
        </p:spPr>
        <p:txBody>
          <a:bodyPr>
            <a:noAutofit/>
          </a:bodyPr>
          <a:lstStyle/>
          <a:p>
            <a:r>
              <a:rPr lang="en-US" dirty="0"/>
              <a:t>Other paradigms include: </a:t>
            </a:r>
          </a:p>
          <a:p>
            <a:r>
              <a:rPr lang="en-US" b="1" dirty="0"/>
              <a:t>Functional: </a:t>
            </a:r>
            <a:r>
              <a:rPr lang="en-US" dirty="0"/>
              <a:t>Treats programs as functions, treats functions as data, and avoids mutable data</a:t>
            </a:r>
          </a:p>
          <a:p>
            <a:r>
              <a:rPr lang="en-US" b="1" dirty="0"/>
              <a:t>Logic</a:t>
            </a:r>
            <a:r>
              <a:rPr lang="en-US" dirty="0"/>
              <a:t>: based on formal symbolic logic </a:t>
            </a:r>
          </a:p>
          <a:p>
            <a:r>
              <a:rPr lang="en-US" b="1" dirty="0"/>
              <a:t>Scripting: </a:t>
            </a:r>
            <a:r>
              <a:rPr lang="en-US" dirty="0"/>
              <a:t>Emphasize coordinating or “gluing together” components from some surrounding context</a:t>
            </a:r>
            <a:endParaRPr lang="en-US" b="1" dirty="0"/>
          </a:p>
          <a:p>
            <a:r>
              <a:rPr lang="en-US" b="1" dirty="0"/>
              <a:t>Object Oriented: </a:t>
            </a:r>
            <a:r>
              <a:rPr lang="en-US" dirty="0"/>
              <a:t>Allows programmers to write reusable code</a:t>
            </a:r>
          </a:p>
          <a:p>
            <a:r>
              <a:rPr lang="en-US" dirty="0"/>
              <a:t>Not all of these paradigms are mutually exclusive </a:t>
            </a:r>
          </a:p>
          <a:p>
            <a:pPr lvl="1"/>
            <a:r>
              <a:rPr lang="en-US" dirty="0"/>
              <a:t>Programmers tend to build first and name second, so terminology gets messy! </a:t>
            </a:r>
          </a:p>
          <a:p>
            <a:pPr lvl="1"/>
            <a:endParaRPr lang="en-US" dirty="0"/>
          </a:p>
          <a:p>
            <a:endParaRPr lang="en-US" altLang="en-US" sz="2800" dirty="0">
              <a:ea typeface="MS PGothic" charset="-128"/>
            </a:endParaRPr>
          </a:p>
          <a:p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0942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Computational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dirty="0"/>
              <a:t>Object Oriented languages have acquired enormous importance over the past 25 years </a:t>
            </a:r>
          </a:p>
          <a:p>
            <a:pPr lvl="1"/>
            <a:r>
              <a:rPr lang="en-US" dirty="0"/>
              <a:t>Java and C++, both </a:t>
            </a:r>
            <a:r>
              <a:rPr lang="en-US"/>
              <a:t>Object Oriented </a:t>
            </a:r>
            <a:r>
              <a:rPr lang="en-US" dirty="0"/>
              <a:t>languages, are two of the most popular languages in the world </a:t>
            </a:r>
          </a:p>
          <a:p>
            <a:r>
              <a:rPr lang="en-US" dirty="0"/>
              <a:t>The object orientated paradigm is an extension of the imperative paradigm</a:t>
            </a:r>
          </a:p>
          <a:p>
            <a:pPr lvl="1"/>
            <a:r>
              <a:rPr lang="en-US" dirty="0"/>
              <a:t>It relies primarily on the same sequential execution with a changing set of memory locations</a:t>
            </a:r>
          </a:p>
          <a:p>
            <a:r>
              <a:rPr lang="en-US" dirty="0"/>
              <a:t>The object orientated paradigm has essentially become a new standard </a:t>
            </a:r>
          </a:p>
          <a:p>
            <a:r>
              <a:rPr lang="en-US" dirty="0"/>
              <a:t>Still encounter the same issues as imperative languages </a:t>
            </a:r>
            <a:endParaRPr lang="en-US" altLang="en-US" sz="2800" dirty="0">
              <a:ea typeface="MS PGothic" charset="-128"/>
            </a:endParaRPr>
          </a:p>
          <a:p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067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1109</TotalTime>
  <Words>1400</Words>
  <Application>Microsoft Macintosh PowerPoint</Application>
  <PresentationFormat>Widescreen</PresentationFormat>
  <Paragraphs>200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MS PGothic</vt:lpstr>
      <vt:lpstr>Arial</vt:lpstr>
      <vt:lpstr>Calibri</vt:lpstr>
      <vt:lpstr>Calibri Light</vt:lpstr>
      <vt:lpstr>Lucida Sans Unicode</vt:lpstr>
      <vt:lpstr>Times</vt:lpstr>
      <vt:lpstr>Office Theme</vt:lpstr>
      <vt:lpstr>CMSC 304</vt:lpstr>
      <vt:lpstr>The von Neumann Architecture </vt:lpstr>
      <vt:lpstr>Programming History</vt:lpstr>
      <vt:lpstr>Programming History</vt:lpstr>
      <vt:lpstr>Programming History</vt:lpstr>
      <vt:lpstr>High Level Languages</vt:lpstr>
      <vt:lpstr>High Level Languages</vt:lpstr>
      <vt:lpstr>Translation Methods</vt:lpstr>
      <vt:lpstr>Compilation</vt:lpstr>
      <vt:lpstr>The Compilation Process</vt:lpstr>
      <vt:lpstr>Pure Interpretation</vt:lpstr>
      <vt:lpstr>Pure Interpretation Process</vt:lpstr>
      <vt:lpstr>Hybrid Implementation Systems</vt:lpstr>
      <vt:lpstr>Hybrid Implementation Systems</vt:lpstr>
      <vt:lpstr>Hybrid Implementation Process</vt:lpstr>
      <vt:lpstr>Java</vt:lpstr>
      <vt:lpstr>Just-in-Time Implementation Systems</vt:lpstr>
      <vt:lpstr>Computational Paradigms</vt:lpstr>
      <vt:lpstr>Computational Paradigms</vt:lpstr>
      <vt:lpstr>Computational Paradigms</vt:lpstr>
      <vt:lpstr>Computational Paradigms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63</cp:revision>
  <dcterms:created xsi:type="dcterms:W3CDTF">2019-07-08T21:42:47Z</dcterms:created>
  <dcterms:modified xsi:type="dcterms:W3CDTF">2025-08-15T16:53:57Z</dcterms:modified>
</cp:coreProperties>
</file>