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/oHP/KvgZPZfEFZ1KUVDTFQvT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E31EF1-BC79-4B74-82F8-2B633515E28F}">
  <a:tblStyle styleId="{F0E31EF1-BC79-4B74-82F8-2B633515E2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fill>
          <a:solidFill>
            <a:srgbClr val="FFE8CA"/>
          </a:solidFill>
        </a:fill>
      </a:tcStyle>
    </a:band1H>
    <a:band2H>
      <a:tcTxStyle/>
    </a:band2H>
    <a:band1V>
      <a:tcTxStyle/>
      <a:tcStyle>
        <a:fill>
          <a:solidFill>
            <a:srgbClr val="FFE8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jpg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VCU Computer Science, College of Engineering - 1st Annual Virginia  Cybersecurity Education Conference" id="13" name="Google Shape;13;p10"/>
          <p:cNvPicPr preferRelativeResize="0"/>
          <p:nvPr/>
        </p:nvPicPr>
        <p:blipFill rotWithShape="1">
          <a:blip r:embed="rId1">
            <a:alphaModFix/>
          </a:blip>
          <a:srcRect b="27661" l="0" r="0" t="27177"/>
          <a:stretch/>
        </p:blipFill>
        <p:spPr>
          <a:xfrm>
            <a:off x="9470572" y="5994667"/>
            <a:ext cx="1883228" cy="850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2845" y="6174544"/>
            <a:ext cx="2926310" cy="685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/>
          <p:nvPr/>
        </p:nvSpPr>
        <p:spPr>
          <a:xfrm>
            <a:off x="835744" y="6172124"/>
            <a:ext cx="2762865" cy="685876"/>
          </a:xfrm>
          <a:prstGeom prst="rect">
            <a:avLst/>
          </a:prstGeom>
          <a:solidFill>
            <a:srgbClr val="595959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Research Corner</a:t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1" y="6172124"/>
            <a:ext cx="766915" cy="685876"/>
          </a:xfrm>
          <a:prstGeom prst="rect">
            <a:avLst/>
          </a:prstGeom>
          <a:solidFill>
            <a:srgbClr val="3F3F3F"/>
          </a:solidFill>
          <a:ln cap="flat" cmpd="sng" w="1270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1" i="0" sz="54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10"/>
          <p:cNvGrpSpPr/>
          <p:nvPr/>
        </p:nvGrpSpPr>
        <p:grpSpPr>
          <a:xfrm>
            <a:off x="0" y="5486248"/>
            <a:ext cx="766915" cy="685876"/>
            <a:chOff x="0" y="5486248"/>
            <a:chExt cx="766915" cy="685876"/>
          </a:xfrm>
        </p:grpSpPr>
        <p:sp>
          <p:nvSpPr>
            <p:cNvPr id="18" name="Google Shape;18;p10"/>
            <p:cNvSpPr/>
            <p:nvPr/>
          </p:nvSpPr>
          <p:spPr>
            <a:xfrm>
              <a:off x="0" y="5486248"/>
              <a:ext cx="766915" cy="685876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 b="1" i="0" sz="5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oque - ícones de gestos grátis" id="19" name="Google Shape;1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2495" y="5608224"/>
              <a:ext cx="441924" cy="4419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Research Corner</a:t>
            </a:r>
            <a:endParaRPr/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Research Corner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838200" y="1825625"/>
            <a:ext cx="10033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this activity, you will work in groups to explore a topic that connects Artificial Intelligence (AI) with Software Engineering.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Your task is to investigate the chosen topic, understand its relevance, and present your findings in a 15-minute presentation.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activity is designed to enhance your understanding of AI's applications in software engineering, foster collaborative learning, and improve your presentation skills.</a:t>
            </a:r>
            <a:endParaRPr/>
          </a:p>
        </p:txBody>
      </p:sp>
      <p:sp>
        <p:nvSpPr>
          <p:cNvPr id="78" name="Google Shape;78;p2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838200" y="1825625"/>
            <a:ext cx="10033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Choose a Topic:</a:t>
            </a:r>
            <a:r>
              <a:rPr lang="en-US" sz="2400"/>
              <a:t> Each group will select a topic that intersects AI and software engineering.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Conduct Research:</a:t>
            </a:r>
            <a:r>
              <a:rPr lang="en-US" sz="2400"/>
              <a:t> Once your topic is selected, gather information from academic papers, case studies, and relevant sources. Identify real-world examples where AI has been applied in software engineering.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Prepare a Presentation:</a:t>
            </a:r>
            <a:r>
              <a:rPr lang="en-US" sz="2400"/>
              <a:t> Based on your research, prepare a 15-minute presentation. Your presentation should: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Introduce the topic clearly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Explain the core concepts of AI related to your topic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Demonstrate how AI is applied in software engineering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Provide examples, case studies, or practical applications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Engage your audience with visuals and examples where possible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Online Presentation:</a:t>
            </a:r>
            <a:r>
              <a:rPr lang="en-US" sz="2400"/>
              <a:t> Your group will deliver the presentation during a designated class session. </a:t>
            </a:r>
            <a:endParaRPr/>
          </a:p>
        </p:txBody>
      </p:sp>
      <p:sp>
        <p:nvSpPr>
          <p:cNvPr id="85" name="Google Shape;85;p3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0 Deliverable Icon Illustrations &amp; Clip Art - iStock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972" y="2556718"/>
            <a:ext cx="1168144" cy="116814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Activity Description</a:t>
            </a:r>
            <a:endParaRPr/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1873004" y="1825625"/>
            <a:ext cx="891298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Deadline: see your specific date.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Deliverable:</a:t>
            </a:r>
            <a:endParaRPr sz="24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Talk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Slides submitted on canvas.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01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93" name="Google Shape;93;p4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alendar - Free time and date icons" id="94" name="Google Shape;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784" y="1690688"/>
            <a:ext cx="764458" cy="764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1325" y="1668587"/>
            <a:ext cx="3556500" cy="35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850253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Topics, Groups and Dates</a:t>
            </a:r>
            <a:endParaRPr/>
          </a:p>
        </p:txBody>
      </p:sp>
      <p:sp>
        <p:nvSpPr>
          <p:cNvPr id="101" name="Google Shape;101;p5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2" name="Google Shape;102;p5"/>
          <p:cNvGraphicFramePr/>
          <p:nvPr/>
        </p:nvGraphicFramePr>
        <p:xfrm>
          <a:off x="1255380" y="12779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{F0E31EF1-BC79-4B74-82F8-2B633515E28F}</a:tableStyleId>
              </a:tblPr>
              <a:tblGrid>
                <a:gridCol w="5038825"/>
                <a:gridCol w="4714050"/>
                <a:gridCol w="762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3F3F3F"/>
                          </a:solidFill>
                        </a:rPr>
                        <a:t>Topic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Group (</a:t>
                      </a:r>
                      <a:r>
                        <a:rPr lang="en-US">
                          <a:solidFill>
                            <a:srgbClr val="3F3F3F"/>
                          </a:solidFill>
                        </a:rPr>
                        <a:t>still missing </a:t>
                      </a: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8, 11, 19, 21, 22)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Date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AI applied to code review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10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Software Fairness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20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10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Conversational Agents and Chatbots for Software Teams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10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AI applied to software refactoring 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12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Agentic AI</a:t>
                      </a:r>
                      <a:endParaRPr b="1" sz="14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15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12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AI-Driven Software Analytics and Technical Debt Management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26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12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AI applied to Automated Code Generation 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16</a:t>
                      </a:r>
                      <a:endParaRPr b="1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14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Software Fairness 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9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14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AI for Developer Productivity and Knowledge Transfer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14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AI applied to software architecture 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2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17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/>
                        <a:t>AI applied to software design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25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17</a:t>
                      </a:r>
                      <a:endParaRPr b="1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AI applied to software design</a:t>
                      </a:r>
                      <a:endParaRPr b="1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3F3F3F"/>
                          </a:solidFill>
                        </a:rPr>
                        <a:t>Group 1 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>
                          <a:solidFill>
                            <a:srgbClr val="3F3F3F"/>
                          </a:solidFill>
                        </a:rPr>
                        <a:t>Nov 17</a:t>
                      </a:r>
                      <a:endParaRPr b="1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Topics, Groups and Dates</a:t>
            </a:r>
            <a:endParaRPr/>
          </a:p>
        </p:txBody>
      </p:sp>
      <p:sp>
        <p:nvSpPr>
          <p:cNvPr id="108" name="Google Shape;108;p6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9" name="Google Shape;109;p6"/>
          <p:cNvGraphicFramePr/>
          <p:nvPr/>
        </p:nvGraphicFramePr>
        <p:xfrm>
          <a:off x="909222" y="1328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{F0E31EF1-BC79-4B74-82F8-2B633515E28F}</a:tableStyleId>
              </a:tblPr>
              <a:tblGrid>
                <a:gridCol w="5038825"/>
                <a:gridCol w="4714050"/>
                <a:gridCol w="762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Topic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Group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Date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applied to software design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5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Nov 19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AI applied to Test Case Generation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12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Nov 19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Agentic AI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24</a:t>
                      </a:r>
                      <a:endParaRPr>
                        <a:solidFill>
                          <a:srgbClr val="3F3F3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Nov 19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AI applied to Code Review Automation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4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Nov 21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applied to software refactoring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23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Nov 21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AI applied to Code Smell Detection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Group 18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Nov 21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AI applied to Security Vulnerability Detection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10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applied to Automated Documentation Generation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AI applied to Test Case Generation </a:t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14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AI applied to Code Review Automation</a:t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13 </a:t>
                      </a:r>
                      <a:endParaRPr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Project Management and Effort Estimation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17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for Developer Productivity and Knowledge Transfer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7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Topics, Groups and Dates</a:t>
            </a:r>
            <a:endParaRPr/>
          </a:p>
        </p:txBody>
      </p:sp>
      <p:sp>
        <p:nvSpPr>
          <p:cNvPr id="115" name="Google Shape;115;p7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6" name="Google Shape;116;p7"/>
          <p:cNvGraphicFramePr/>
          <p:nvPr/>
        </p:nvGraphicFramePr>
        <p:xfrm>
          <a:off x="909222" y="1328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{F0E31EF1-BC79-4B74-82F8-2B633515E28F}</a:tableStyleId>
              </a:tblPr>
              <a:tblGrid>
                <a:gridCol w="5038825"/>
                <a:gridCol w="4714050"/>
                <a:gridCol w="762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Topic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Group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Date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applied to Automated Code Generation 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6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AI-Driven Software Analytics and Technical Debt Management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applied to requirements specification</a:t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3F3F3F"/>
                          </a:solidFill>
                        </a:rPr>
                        <a:t>Group 3</a:t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>
                          <a:solidFill>
                            <a:srgbClr val="3F3F3F"/>
                          </a:solidFill>
                        </a:rPr>
                        <a:t>Dec 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3F3F3F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 Criteria</a:t>
            </a:r>
            <a:endParaRPr/>
          </a:p>
        </p:txBody>
      </p:sp>
      <p:sp>
        <p:nvSpPr>
          <p:cNvPr id="122" name="Google Shape;122;p8"/>
          <p:cNvSpPr txBox="1"/>
          <p:nvPr>
            <p:ph idx="12" type="sldNum"/>
          </p:nvPr>
        </p:nvSpPr>
        <p:spPr>
          <a:xfrm>
            <a:off x="10871200" y="0"/>
            <a:ext cx="482600" cy="730250"/>
          </a:xfrm>
          <a:prstGeom prst="rect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Content (40%): </a:t>
            </a:r>
            <a:r>
              <a:rPr lang="en-US"/>
              <a:t>Depth of research, accuracy of information, and relevance to the chosen topic. The presentation should demonstrate a clear understanding of the relationship between AI and software engineering.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Clarity and Organization (30%): </a:t>
            </a:r>
            <a:r>
              <a:rPr lang="en-US"/>
              <a:t>The presentation should be well-organized, with a logical flow of ideas, clear explanations, and easy-to-follow examples.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Examples and Practicality (20%): </a:t>
            </a:r>
            <a:r>
              <a:rPr lang="en-US"/>
              <a:t>Use of real-world examples or case studies to support your points. Demonstrating practical applications of AI in software engineering is essential.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Team Collaboration (10%): </a:t>
            </a:r>
            <a:r>
              <a:rPr lang="en-US"/>
              <a:t>All group members should contribute to the research and presentation. Collaboration will be assessed based on the seamlessness of transitions and the balance of contributions during the presentation.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Research Corner</a:t>
            </a:r>
            <a:endParaRPr/>
          </a:p>
        </p:txBody>
      </p:sp>
      <p:sp>
        <p:nvSpPr>
          <p:cNvPr id="129" name="Google Shape;12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2022-05-23T19:23:01Z</dcterms:created>
  <dc:creator>Rodrigo Spinola</dc:creator>
</cp:coreProperties>
</file>