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349" r:id="rId3"/>
    <p:sldId id="362" r:id="rId4"/>
    <p:sldId id="458" r:id="rId5"/>
    <p:sldId id="459" r:id="rId6"/>
    <p:sldId id="464" r:id="rId7"/>
    <p:sldId id="465" r:id="rId8"/>
    <p:sldId id="466" r:id="rId9"/>
    <p:sldId id="467" r:id="rId10"/>
    <p:sldId id="462" r:id="rId11"/>
    <p:sldId id="363" r:id="rId12"/>
    <p:sldId id="391" r:id="rId13"/>
    <p:sldId id="393" r:id="rId14"/>
    <p:sldId id="394" r:id="rId15"/>
    <p:sldId id="395" r:id="rId16"/>
    <p:sldId id="397" r:id="rId17"/>
    <p:sldId id="398" r:id="rId18"/>
    <p:sldId id="400" r:id="rId19"/>
    <p:sldId id="401" r:id="rId20"/>
    <p:sldId id="364" r:id="rId21"/>
    <p:sldId id="402" r:id="rId22"/>
    <p:sldId id="387" r:id="rId23"/>
    <p:sldId id="388" r:id="rId24"/>
    <p:sldId id="378" r:id="rId25"/>
    <p:sldId id="368" r:id="rId26"/>
    <p:sldId id="403" r:id="rId27"/>
    <p:sldId id="404" r:id="rId28"/>
    <p:sldId id="405" r:id="rId29"/>
    <p:sldId id="373" r:id="rId30"/>
    <p:sldId id="379" r:id="rId31"/>
    <p:sldId id="406" r:id="rId32"/>
    <p:sldId id="407" r:id="rId33"/>
    <p:sldId id="408" r:id="rId34"/>
    <p:sldId id="409" r:id="rId35"/>
    <p:sldId id="410" r:id="rId36"/>
    <p:sldId id="411" r:id="rId37"/>
    <p:sldId id="325" r:id="rId38"/>
    <p:sldId id="389" r:id="rId39"/>
    <p:sldId id="412" r:id="rId40"/>
    <p:sldId id="413" r:id="rId41"/>
    <p:sldId id="414" r:id="rId42"/>
    <p:sldId id="41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84820"/>
  </p:normalViewPr>
  <p:slideViewPr>
    <p:cSldViewPr snapToGrid="0" snapToObjects="1">
      <p:cViewPr varScale="1">
        <p:scale>
          <a:sx n="110" d="100"/>
          <a:sy n="110" d="100"/>
        </p:scale>
        <p:origin x="9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C3FBE-CC6D-C84E-A32C-3E7139D0BEF1}" type="datetimeFigureOut">
              <a:rPr lang="en-US" smtClean="0"/>
              <a:t>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C0DA4-3FAE-DF4B-9554-5D7B5414A6C1}" type="slidenum">
              <a:rPr lang="en-US" smtClean="0"/>
              <a:t>‹#›</a:t>
            </a:fld>
            <a:endParaRPr lang="en-US"/>
          </a:p>
        </p:txBody>
      </p:sp>
    </p:spTree>
    <p:extLst>
      <p:ext uri="{BB962C8B-B14F-4D97-AF65-F5344CB8AC3E}">
        <p14:creationId xmlns:p14="http://schemas.microsoft.com/office/powerpoint/2010/main" val="33856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interface declares an abstract method overriding one of the public methods of </a:t>
            </a:r>
            <a:r>
              <a:rPr lang="en-US" dirty="0" err="1"/>
              <a:t>java.lang.Object</a:t>
            </a:r>
            <a:r>
              <a:rPr lang="en-US" dirty="0"/>
              <a:t>, that also does </a:t>
            </a:r>
            <a:r>
              <a:rPr lang="en-US" i="1" dirty="0"/>
              <a:t>not</a:t>
            </a:r>
            <a:r>
              <a:rPr lang="en-US" dirty="0"/>
              <a:t> count toward the interface's abstract method count since any implementation of the interface will have an implementation from </a:t>
            </a:r>
            <a:r>
              <a:rPr lang="en-US" dirty="0" err="1"/>
              <a:t>java.lang.Object</a:t>
            </a:r>
            <a:r>
              <a:rPr lang="en-US" dirty="0"/>
              <a:t> or elsewhere. </a:t>
            </a:r>
          </a:p>
        </p:txBody>
      </p:sp>
      <p:sp>
        <p:nvSpPr>
          <p:cNvPr id="4" name="Slide Number Placeholder 3"/>
          <p:cNvSpPr>
            <a:spLocks noGrp="1"/>
          </p:cNvSpPr>
          <p:nvPr>
            <p:ph type="sldNum" sz="quarter" idx="5"/>
          </p:nvPr>
        </p:nvSpPr>
        <p:spPr/>
        <p:txBody>
          <a:bodyPr/>
          <a:lstStyle/>
          <a:p>
            <a:fld id="{BCAC0DA4-3FAE-DF4B-9554-5D7B5414A6C1}" type="slidenum">
              <a:rPr lang="en-US" smtClean="0"/>
              <a:t>18</a:t>
            </a:fld>
            <a:endParaRPr lang="en-US"/>
          </a:p>
        </p:txBody>
      </p:sp>
    </p:spTree>
    <p:extLst>
      <p:ext uri="{BB962C8B-B14F-4D97-AF65-F5344CB8AC3E}">
        <p14:creationId xmlns:p14="http://schemas.microsoft.com/office/powerpoint/2010/main" val="3724742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docs.oracle.com</a:t>
            </a:r>
            <a:r>
              <a:rPr lang="en-US" dirty="0"/>
              <a:t>/</a:t>
            </a:r>
            <a:r>
              <a:rPr lang="en-US" dirty="0" err="1"/>
              <a:t>javase</a:t>
            </a:r>
            <a:r>
              <a:rPr lang="en-US" dirty="0"/>
              <a:t>/8/docs/</a:t>
            </a:r>
            <a:r>
              <a:rPr lang="en-US" dirty="0" err="1"/>
              <a:t>api</a:t>
            </a:r>
            <a:r>
              <a:rPr lang="en-US" dirty="0"/>
              <a:t>/java/</a:t>
            </a:r>
            <a:r>
              <a:rPr lang="en-US" dirty="0" err="1"/>
              <a:t>lang</a:t>
            </a:r>
            <a:r>
              <a:rPr lang="en-US" dirty="0"/>
              <a:t>/</a:t>
            </a:r>
            <a:r>
              <a:rPr lang="en-US" dirty="0" err="1"/>
              <a:t>Runnable.html</a:t>
            </a:r>
            <a:endParaRPr lang="en-US" dirty="0"/>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19</a:t>
            </a:fld>
            <a:endParaRPr lang="en-US"/>
          </a:p>
        </p:txBody>
      </p:sp>
    </p:spTree>
    <p:extLst>
      <p:ext uri="{BB962C8B-B14F-4D97-AF65-F5344CB8AC3E}">
        <p14:creationId xmlns:p14="http://schemas.microsoft.com/office/powerpoint/2010/main" val="3351614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up List API to kill time</a:t>
            </a:r>
          </a:p>
        </p:txBody>
      </p:sp>
      <p:sp>
        <p:nvSpPr>
          <p:cNvPr id="4" name="Slide Number Placeholder 3"/>
          <p:cNvSpPr>
            <a:spLocks noGrp="1"/>
          </p:cNvSpPr>
          <p:nvPr>
            <p:ph type="sldNum" sz="quarter" idx="5"/>
          </p:nvPr>
        </p:nvSpPr>
        <p:spPr/>
        <p:txBody>
          <a:bodyPr/>
          <a:lstStyle/>
          <a:p>
            <a:fld id="{BCAC0DA4-3FAE-DF4B-9554-5D7B5414A6C1}" type="slidenum">
              <a:rPr lang="en-US" smtClean="0"/>
              <a:t>20</a:t>
            </a:fld>
            <a:endParaRPr lang="en-US"/>
          </a:p>
        </p:txBody>
      </p:sp>
    </p:spTree>
    <p:extLst>
      <p:ext uri="{BB962C8B-B14F-4D97-AF65-F5344CB8AC3E}">
        <p14:creationId xmlns:p14="http://schemas.microsoft.com/office/powerpoint/2010/main" val="31391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up List API to kill time</a:t>
            </a:r>
          </a:p>
        </p:txBody>
      </p:sp>
      <p:sp>
        <p:nvSpPr>
          <p:cNvPr id="4" name="Slide Number Placeholder 3"/>
          <p:cNvSpPr>
            <a:spLocks noGrp="1"/>
          </p:cNvSpPr>
          <p:nvPr>
            <p:ph type="sldNum" sz="quarter" idx="5"/>
          </p:nvPr>
        </p:nvSpPr>
        <p:spPr/>
        <p:txBody>
          <a:bodyPr/>
          <a:lstStyle/>
          <a:p>
            <a:fld id="{BCAC0DA4-3FAE-DF4B-9554-5D7B5414A6C1}" type="slidenum">
              <a:rPr lang="en-US" smtClean="0"/>
              <a:t>21</a:t>
            </a:fld>
            <a:endParaRPr lang="en-US"/>
          </a:p>
        </p:txBody>
      </p:sp>
    </p:spTree>
    <p:extLst>
      <p:ext uri="{BB962C8B-B14F-4D97-AF65-F5344CB8AC3E}">
        <p14:creationId xmlns:p14="http://schemas.microsoft.com/office/powerpoint/2010/main" val="402640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returns a new Stream object</a:t>
            </a:r>
          </a:p>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25</a:t>
            </a:fld>
            <a:endParaRPr lang="en-US"/>
          </a:p>
        </p:txBody>
      </p:sp>
    </p:spTree>
    <p:extLst>
      <p:ext uri="{BB962C8B-B14F-4D97-AF65-F5344CB8AC3E}">
        <p14:creationId xmlns:p14="http://schemas.microsoft.com/office/powerpoint/2010/main" val="1772255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the stream API </a:t>
            </a:r>
            <a:r>
              <a:rPr lang="en-US" dirty="0">
                <a:sym typeface="Wingdings" pitchFamily="2" charset="2"/>
              </a:rPr>
              <a:t> Look at Map  Realize that map takes a single parameter which conforms to the Function Interface, which is a functional interface. </a:t>
            </a:r>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26</a:t>
            </a:fld>
            <a:endParaRPr lang="en-US"/>
          </a:p>
        </p:txBody>
      </p:sp>
    </p:spTree>
    <p:extLst>
      <p:ext uri="{BB962C8B-B14F-4D97-AF65-F5344CB8AC3E}">
        <p14:creationId xmlns:p14="http://schemas.microsoft.com/office/powerpoint/2010/main" val="1968988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27</a:t>
            </a:fld>
            <a:endParaRPr lang="en-US"/>
          </a:p>
        </p:txBody>
      </p:sp>
    </p:spTree>
    <p:extLst>
      <p:ext uri="{BB962C8B-B14F-4D97-AF65-F5344CB8AC3E}">
        <p14:creationId xmlns:p14="http://schemas.microsoft.com/office/powerpoint/2010/main" val="2751700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28</a:t>
            </a:fld>
            <a:endParaRPr lang="en-US"/>
          </a:p>
        </p:txBody>
      </p:sp>
    </p:spTree>
    <p:extLst>
      <p:ext uri="{BB962C8B-B14F-4D97-AF65-F5344CB8AC3E}">
        <p14:creationId xmlns:p14="http://schemas.microsoft.com/office/powerpoint/2010/main" val="2046736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Takes a </a:t>
            </a:r>
            <a:r>
              <a:rPr lang="en-US" dirty="0" err="1"/>
              <a:t>BinaryOperator</a:t>
            </a:r>
            <a:r>
              <a:rPr lang="en-US" dirty="0"/>
              <a:t> object, which is a functional interface because it implements the </a:t>
            </a:r>
            <a:r>
              <a:rPr lang="en-US" dirty="0" err="1"/>
              <a:t>BiFunction</a:t>
            </a:r>
            <a:r>
              <a:rPr lang="en-US" dirty="0"/>
              <a:t> functional interface. </a:t>
            </a:r>
          </a:p>
        </p:txBody>
      </p:sp>
      <p:sp>
        <p:nvSpPr>
          <p:cNvPr id="4" name="Slide Number Placeholder 3"/>
          <p:cNvSpPr>
            <a:spLocks noGrp="1"/>
          </p:cNvSpPr>
          <p:nvPr>
            <p:ph type="sldNum" sz="quarter" idx="5"/>
          </p:nvPr>
        </p:nvSpPr>
        <p:spPr/>
        <p:txBody>
          <a:bodyPr/>
          <a:lstStyle/>
          <a:p>
            <a:fld id="{2CCE8593-0285-7349-8F71-4B0B5C12005C}" type="slidenum">
              <a:rPr lang="en-US" smtClean="0"/>
              <a:t>30</a:t>
            </a:fld>
            <a:endParaRPr lang="en-US"/>
          </a:p>
        </p:txBody>
      </p:sp>
    </p:spTree>
    <p:extLst>
      <p:ext uri="{BB962C8B-B14F-4D97-AF65-F5344CB8AC3E}">
        <p14:creationId xmlns:p14="http://schemas.microsoft.com/office/powerpoint/2010/main" val="2576063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believe it is due to a lack of unboxing </a:t>
            </a:r>
            <a:br>
              <a:rPr lang="en-US" dirty="0"/>
            </a:br>
            <a:r>
              <a:rPr lang="en-US" dirty="0"/>
              <a:t>https://</a:t>
            </a:r>
            <a:r>
              <a:rPr lang="en-US" dirty="0" err="1"/>
              <a:t>stackoverflow.com</a:t>
            </a:r>
            <a:r>
              <a:rPr lang="en-US" dirty="0"/>
              <a:t>/questions/32462798/is-there-any-advantage-of-calling-map-after-maptoint-where-ever-required</a:t>
            </a:r>
          </a:p>
        </p:txBody>
      </p:sp>
      <p:sp>
        <p:nvSpPr>
          <p:cNvPr id="4" name="Slide Number Placeholder 3"/>
          <p:cNvSpPr>
            <a:spLocks noGrp="1"/>
          </p:cNvSpPr>
          <p:nvPr>
            <p:ph type="sldNum" sz="quarter" idx="5"/>
          </p:nvPr>
        </p:nvSpPr>
        <p:spPr/>
        <p:txBody>
          <a:bodyPr/>
          <a:lstStyle/>
          <a:p>
            <a:fld id="{2CCE8593-0285-7349-8F71-4B0B5C12005C}" type="slidenum">
              <a:rPr lang="en-US" smtClean="0"/>
              <a:t>32</a:t>
            </a:fld>
            <a:endParaRPr lang="en-US"/>
          </a:p>
        </p:txBody>
      </p:sp>
    </p:spTree>
    <p:extLst>
      <p:ext uri="{BB962C8B-B14F-4D97-AF65-F5344CB8AC3E}">
        <p14:creationId xmlns:p14="http://schemas.microsoft.com/office/powerpoint/2010/main" val="2517937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33</a:t>
            </a:fld>
            <a:endParaRPr lang="en-US"/>
          </a:p>
        </p:txBody>
      </p:sp>
    </p:spTree>
    <p:extLst>
      <p:ext uri="{BB962C8B-B14F-4D97-AF65-F5344CB8AC3E}">
        <p14:creationId xmlns:p14="http://schemas.microsoft.com/office/powerpoint/2010/main" val="1366221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34</a:t>
            </a:fld>
            <a:endParaRPr lang="en-US"/>
          </a:p>
        </p:txBody>
      </p:sp>
    </p:spTree>
    <p:extLst>
      <p:ext uri="{BB962C8B-B14F-4D97-AF65-F5344CB8AC3E}">
        <p14:creationId xmlns:p14="http://schemas.microsoft.com/office/powerpoint/2010/main" val="4058650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35</a:t>
            </a:fld>
            <a:endParaRPr lang="en-US"/>
          </a:p>
        </p:txBody>
      </p:sp>
    </p:spTree>
    <p:extLst>
      <p:ext uri="{BB962C8B-B14F-4D97-AF65-F5344CB8AC3E}">
        <p14:creationId xmlns:p14="http://schemas.microsoft.com/office/powerpoint/2010/main" val="3170692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36</a:t>
            </a:fld>
            <a:endParaRPr lang="en-US"/>
          </a:p>
        </p:txBody>
      </p:sp>
    </p:spTree>
    <p:extLst>
      <p:ext uri="{BB962C8B-B14F-4D97-AF65-F5344CB8AC3E}">
        <p14:creationId xmlns:p14="http://schemas.microsoft.com/office/powerpoint/2010/main" val="828215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default streams are sequential. The collections interface provides a </a:t>
            </a:r>
            <a:r>
              <a:rPr lang="en-US" dirty="0" err="1"/>
              <a:t>parallelStream</a:t>
            </a:r>
            <a:r>
              <a:rPr lang="en-US" dirty="0"/>
              <a:t>() method. </a:t>
            </a:r>
          </a:p>
        </p:txBody>
      </p:sp>
      <p:sp>
        <p:nvSpPr>
          <p:cNvPr id="4" name="Slide Number Placeholder 3"/>
          <p:cNvSpPr>
            <a:spLocks noGrp="1"/>
          </p:cNvSpPr>
          <p:nvPr>
            <p:ph type="sldNum" sz="quarter" idx="5"/>
          </p:nvPr>
        </p:nvSpPr>
        <p:spPr/>
        <p:txBody>
          <a:bodyPr/>
          <a:lstStyle/>
          <a:p>
            <a:fld id="{2CCE8593-0285-7349-8F71-4B0B5C12005C}" type="slidenum">
              <a:rPr lang="en-US" smtClean="0"/>
              <a:t>39</a:t>
            </a:fld>
            <a:endParaRPr lang="en-US"/>
          </a:p>
        </p:txBody>
      </p:sp>
    </p:spTree>
    <p:extLst>
      <p:ext uri="{BB962C8B-B14F-4D97-AF65-F5344CB8AC3E}">
        <p14:creationId xmlns:p14="http://schemas.microsoft.com/office/powerpoint/2010/main" val="58144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Parameters: functions as data </a:t>
            </a:r>
          </a:p>
          <a:p>
            <a:r>
              <a:rPr lang="en-US" dirty="0"/>
              <a:t>For most data sources, preventing interference means ensuring that the data source is </a:t>
            </a:r>
            <a:r>
              <a:rPr lang="en-US" i="1" dirty="0"/>
              <a:t>not modified at all</a:t>
            </a:r>
            <a:r>
              <a:rPr lang="en-US" dirty="0"/>
              <a:t> during the execution of the stream pipeline.</a:t>
            </a:r>
          </a:p>
          <a:p>
            <a:r>
              <a:rPr lang="en-US" dirty="0"/>
              <a:t>	This is because most data sources are not designed to handle concurrent modification (i.e. they are not thread safe. Like </a:t>
            </a:r>
            <a:r>
              <a:rPr lang="en-US" dirty="0" err="1"/>
              <a:t>ArrayList</a:t>
            </a:r>
            <a:r>
              <a:rPr lang="en-US" dirty="0"/>
              <a:t>) </a:t>
            </a:r>
          </a:p>
          <a:p>
            <a:r>
              <a:rPr lang="en-US" dirty="0"/>
              <a:t>	The exception to this rule is data sources which are concurrent collections </a:t>
            </a:r>
          </a:p>
          <a:p>
            <a:endParaRPr lang="en-US" dirty="0"/>
          </a:p>
          <a:p>
            <a:r>
              <a:rPr lang="en-US" dirty="0"/>
              <a:t>A behavioral parameter is said to </a:t>
            </a:r>
            <a:r>
              <a:rPr lang="en-US" i="1" dirty="0"/>
              <a:t>interfere</a:t>
            </a:r>
            <a:r>
              <a:rPr lang="en-US" dirty="0"/>
              <a:t> with a non-concurrent data source if it modifies, or causes to be modified, the stream's data source. The need for non-interference applies to all pipelines, not just parallel ones.</a:t>
            </a:r>
          </a:p>
        </p:txBody>
      </p:sp>
      <p:sp>
        <p:nvSpPr>
          <p:cNvPr id="4" name="Slide Number Placeholder 3"/>
          <p:cNvSpPr>
            <a:spLocks noGrp="1"/>
          </p:cNvSpPr>
          <p:nvPr>
            <p:ph type="sldNum" sz="quarter" idx="5"/>
          </p:nvPr>
        </p:nvSpPr>
        <p:spPr/>
        <p:txBody>
          <a:bodyPr/>
          <a:lstStyle/>
          <a:p>
            <a:fld id="{2CCE8593-0285-7349-8F71-4B0B5C12005C}" type="slidenum">
              <a:rPr lang="en-US" smtClean="0"/>
              <a:t>40</a:t>
            </a:fld>
            <a:endParaRPr lang="en-US"/>
          </a:p>
        </p:txBody>
      </p:sp>
    </p:spTree>
    <p:extLst>
      <p:ext uri="{BB962C8B-B14F-4D97-AF65-F5344CB8AC3E}">
        <p14:creationId xmlns:p14="http://schemas.microsoft.com/office/powerpoint/2010/main" val="14619608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Behavioral Parameters: functions as data </a:t>
            </a:r>
          </a:p>
        </p:txBody>
      </p:sp>
      <p:sp>
        <p:nvSpPr>
          <p:cNvPr id="4" name="Slide Number Placeholder 3"/>
          <p:cNvSpPr>
            <a:spLocks noGrp="1"/>
          </p:cNvSpPr>
          <p:nvPr>
            <p:ph type="sldNum" sz="quarter" idx="5"/>
          </p:nvPr>
        </p:nvSpPr>
        <p:spPr/>
        <p:txBody>
          <a:bodyPr/>
          <a:lstStyle/>
          <a:p>
            <a:fld id="{2CCE8593-0285-7349-8F71-4B0B5C12005C}" type="slidenum">
              <a:rPr lang="en-US" smtClean="0"/>
              <a:t>41</a:t>
            </a:fld>
            <a:endParaRPr lang="en-US"/>
          </a:p>
        </p:txBody>
      </p:sp>
    </p:spTree>
    <p:extLst>
      <p:ext uri="{BB962C8B-B14F-4D97-AF65-F5344CB8AC3E}">
        <p14:creationId xmlns:p14="http://schemas.microsoft.com/office/powerpoint/2010/main" val="15046591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CE8593-0285-7349-8F71-4B0B5C12005C}" type="slidenum">
              <a:rPr lang="en-US" smtClean="0"/>
              <a:t>42</a:t>
            </a:fld>
            <a:endParaRPr lang="en-US"/>
          </a:p>
        </p:txBody>
      </p:sp>
    </p:spTree>
    <p:extLst>
      <p:ext uri="{BB962C8B-B14F-4D97-AF65-F5344CB8AC3E}">
        <p14:creationId xmlns:p14="http://schemas.microsoft.com/office/powerpoint/2010/main" val="1283320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2538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53645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788232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C197D23-1D1C-734C-9188-3D38F4DBA869}" type="datetimeFigureOut">
              <a:rPr lang="en-US" smtClean="0"/>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90407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C197D23-1D1C-734C-9188-3D38F4DBA869}" type="datetimeFigureOut">
              <a:rPr lang="en-US" smtClean="0"/>
              <a:t>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51903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C197D23-1D1C-734C-9188-3D38F4DBA869}" type="datetimeFigureOut">
              <a:rPr lang="en-US" smtClean="0"/>
              <a:t>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5583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97D23-1D1C-734C-9188-3D38F4DBA869}" type="datetimeFigureOut">
              <a:rPr lang="en-US" smtClean="0"/>
              <a:t>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076002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18411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373157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80578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97D23-1D1C-734C-9188-3D38F4DBA869}" type="datetimeFigureOut">
              <a:rPr lang="en-US" smtClean="0"/>
              <a:t>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72554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97D23-1D1C-734C-9188-3D38F4DBA869}" type="datetimeFigureOut">
              <a:rPr lang="en-US" smtClean="0"/>
              <a:t>1/6/25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26966-79DA-234F-B9D6-D01F1009FBDE}" type="slidenum">
              <a:rPr lang="en-US" smtClean="0"/>
              <a:t>‹#›</a:t>
            </a:fld>
            <a:endParaRPr lang="en-US"/>
          </a:p>
        </p:txBody>
      </p:sp>
    </p:spTree>
    <p:extLst>
      <p:ext uri="{BB962C8B-B14F-4D97-AF65-F5344CB8AC3E}">
        <p14:creationId xmlns:p14="http://schemas.microsoft.com/office/powerpoint/2010/main" val="1408447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cs.python.org/3/library/stdtypes.html#iterator-types" TargetMode="External"/><Relationship Id="rId2" Type="http://schemas.openxmlformats.org/officeDocument/2006/relationships/hyperlink" Target="https://docs.python.org/3/glossary.html#term-special-method" TargetMode="External"/><Relationship Id="rId1" Type="http://schemas.openxmlformats.org/officeDocument/2006/relationships/slideLayout" Target="../slideLayouts/slideLayout2.xml"/><Relationship Id="rId6" Type="http://schemas.openxmlformats.org/officeDocument/2006/relationships/hyperlink" Target="https://docs.python.org/3/glossary.html#term-iterator" TargetMode="External"/><Relationship Id="rId5" Type="http://schemas.openxmlformats.org/officeDocument/2006/relationships/hyperlink" Target="https://docs.python.org/3/library/stdtypes.html#iterator.__next__" TargetMode="External"/><Relationship Id="rId4" Type="http://schemas.openxmlformats.org/officeDocument/2006/relationships/hyperlink" Target="https://docs.python.org/3/library/stdtypes.html#iterator.__iter__"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docs.oracle.com/javase/8/docs/api/java/util/function/package-summary.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docs.oracle.com/javase/8/docs/api/java/util/function/Function.html" TargetMode="External"/></Relationships>
</file>

<file path=ppt/slides/_rels/slide41.xml.rels><?xml version="1.0" encoding="UTF-8" standalone="yes"?>
<Relationships xmlns="http://schemas.openxmlformats.org/package/2006/relationships"><Relationship Id="rId3" Type="http://schemas.openxmlformats.org/officeDocument/2006/relationships/hyperlink" Target="https://docs.oracle.com/javase/8/docs/api/java/util/function/package-summary.ht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docs.oracle.com/javase/8/docs/api/java/util/function/Function.html"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docs.oracle.com/javase/8/docs/api/java/util/function/package-summary.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docs.oracle.com/javase/8/docs/api/java/util/function/Function.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70C0"/>
                </a:solidFill>
              </a:rPr>
              <a:t>CMSC 304</a:t>
            </a:r>
          </a:p>
        </p:txBody>
      </p:sp>
      <p:sp>
        <p:nvSpPr>
          <p:cNvPr id="3" name="Subtitle 2"/>
          <p:cNvSpPr>
            <a:spLocks noGrp="1"/>
          </p:cNvSpPr>
          <p:nvPr>
            <p:ph type="subTitle" idx="1"/>
          </p:nvPr>
        </p:nvSpPr>
        <p:spPr/>
        <p:txBody>
          <a:bodyPr/>
          <a:lstStyle/>
          <a:p>
            <a:r>
              <a:rPr lang="en-US" dirty="0"/>
              <a:t>Lambda in Java</a:t>
            </a:r>
          </a:p>
          <a:p>
            <a:r>
              <a:rPr lang="en-US"/>
              <a:t>Claire Sparks</a:t>
            </a:r>
            <a:endParaRPr lang="en-US" dirty="0"/>
          </a:p>
        </p:txBody>
      </p:sp>
    </p:spTree>
    <p:extLst>
      <p:ext uri="{BB962C8B-B14F-4D97-AF65-F5344CB8AC3E}">
        <p14:creationId xmlns:p14="http://schemas.microsoft.com/office/powerpoint/2010/main" val="7007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a:t>
            </a:r>
          </a:p>
        </p:txBody>
      </p:sp>
      <p:sp>
        <p:nvSpPr>
          <p:cNvPr id="3" name="Content Placeholder 2"/>
          <p:cNvSpPr>
            <a:spLocks noGrp="1"/>
          </p:cNvSpPr>
          <p:nvPr>
            <p:ph idx="1"/>
          </p:nvPr>
        </p:nvSpPr>
        <p:spPr/>
        <p:txBody>
          <a:bodyPr>
            <a:normAutofit lnSpcReduction="10000"/>
          </a:bodyPr>
          <a:lstStyle/>
          <a:p>
            <a:r>
              <a:rPr lang="en-US" altLang="en-US" dirty="0">
                <a:ea typeface="MS PGothic" charset="-128"/>
              </a:rPr>
              <a:t>Until recently, most functional languages suffered from inefficient execution</a:t>
            </a:r>
          </a:p>
          <a:p>
            <a:pPr lvl="1"/>
            <a:r>
              <a:rPr lang="en-US" altLang="en-US" sz="2800" dirty="0">
                <a:ea typeface="MS PGothic" charset="-128"/>
              </a:rPr>
              <a:t>Most were originally interpreted instead of compiled</a:t>
            </a:r>
          </a:p>
          <a:p>
            <a:r>
              <a:rPr lang="en-US" altLang="en-US" dirty="0">
                <a:ea typeface="MS PGothic" charset="-128"/>
              </a:rPr>
              <a:t>Today, functional languages are very attractive for general programming</a:t>
            </a:r>
          </a:p>
          <a:p>
            <a:pPr lvl="1"/>
            <a:r>
              <a:rPr lang="en-US" altLang="en-US" sz="2800" dirty="0">
                <a:ea typeface="MS PGothic" charset="-128"/>
              </a:rPr>
              <a:t>They lend themselves very well to parallel execution</a:t>
            </a:r>
          </a:p>
          <a:p>
            <a:pPr lvl="1"/>
            <a:r>
              <a:rPr lang="en-US" altLang="en-US" sz="2800" dirty="0">
                <a:ea typeface="MS PGothic" charset="-128"/>
              </a:rPr>
              <a:t>May be more efficient than imperative languages on multicore hardware architectures</a:t>
            </a:r>
          </a:p>
          <a:p>
            <a:pPr lvl="1"/>
            <a:r>
              <a:rPr lang="en-US" altLang="en-US" sz="2800" dirty="0">
                <a:ea typeface="MS PGothic" charset="-128"/>
              </a:rPr>
              <a:t>Have mature application libraries</a:t>
            </a:r>
          </a:p>
          <a:p>
            <a:pPr>
              <a:spcBef>
                <a:spcPct val="0"/>
              </a:spcBef>
              <a:buNone/>
            </a:pPr>
            <a:r>
              <a:rPr lang="en-US" altLang="en-US" dirty="0">
                <a:latin typeface="Times New Roman" charset="0"/>
              </a:rPr>
              <a:t>		</a:t>
            </a:r>
          </a:p>
          <a:p>
            <a:pPr>
              <a:spcBef>
                <a:spcPct val="0"/>
              </a:spcBef>
              <a:buNone/>
            </a:pPr>
            <a:r>
              <a:rPr lang="en-US" altLang="en-US" dirty="0">
                <a:latin typeface="Times New Roman" charset="0"/>
              </a:rPr>
              <a:t>		</a:t>
            </a:r>
            <a:endParaRPr lang="en-US" altLang="en-US" dirty="0">
              <a:solidFill>
                <a:srgbClr val="0070C0"/>
              </a:solidFill>
              <a:latin typeface="Times New Roman" charset="0"/>
            </a:endParaRPr>
          </a:p>
        </p:txBody>
      </p:sp>
    </p:spTree>
    <p:extLst>
      <p:ext uri="{BB962C8B-B14F-4D97-AF65-F5344CB8AC3E}">
        <p14:creationId xmlns:p14="http://schemas.microsoft.com/office/powerpoint/2010/main" val="1982807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a:t>
            </a:r>
          </a:p>
        </p:txBody>
      </p:sp>
      <p:sp>
        <p:nvSpPr>
          <p:cNvPr id="3" name="Content Placeholder 2"/>
          <p:cNvSpPr>
            <a:spLocks noGrp="1"/>
          </p:cNvSpPr>
          <p:nvPr>
            <p:ph idx="1"/>
          </p:nvPr>
        </p:nvSpPr>
        <p:spPr>
          <a:xfrm>
            <a:off x="838200" y="1825624"/>
            <a:ext cx="10515600" cy="4696199"/>
          </a:xfrm>
        </p:spPr>
        <p:txBody>
          <a:bodyPr>
            <a:normAutofit/>
          </a:bodyPr>
          <a:lstStyle/>
          <a:p>
            <a:r>
              <a:rPr lang="en-US" altLang="en-US" dirty="0">
                <a:ea typeface="MS PGothic" charset="-128"/>
              </a:rPr>
              <a:t>Despite these advantages, functional languages have not become mainstream languages for several reasons:</a:t>
            </a:r>
          </a:p>
          <a:p>
            <a:pPr lvl="1"/>
            <a:r>
              <a:rPr lang="en-US" altLang="en-US" sz="2800" dirty="0">
                <a:ea typeface="MS PGothic" charset="-128"/>
              </a:rPr>
              <a:t>Programmers learn imperative or object-oriented languages first</a:t>
            </a:r>
          </a:p>
          <a:p>
            <a:pPr lvl="1"/>
            <a:r>
              <a:rPr lang="en-US" altLang="en-US" sz="2800" dirty="0">
                <a:ea typeface="MS PGothic" charset="-128"/>
              </a:rPr>
              <a:t>OO languages provide a strong organizing principle for structuring code that mirrors the everyday experience of real objects</a:t>
            </a:r>
          </a:p>
          <a:p>
            <a:r>
              <a:rPr lang="en-US" altLang="en-US" dirty="0">
                <a:ea typeface="MS PGothic" charset="-128"/>
              </a:rPr>
              <a:t>Functional methods such as recursion, functional abstraction, and higher-order functions have become part of many programming languages</a:t>
            </a:r>
          </a:p>
          <a:p>
            <a:pPr lvl="1"/>
            <a:r>
              <a:rPr lang="en-US" altLang="en-US" sz="2800" dirty="0">
                <a:ea typeface="MS PGothic" charset="-128"/>
              </a:rPr>
              <a:t>We will see how Java 8 incorporates some functional programming techniques</a:t>
            </a:r>
          </a:p>
          <a:p>
            <a:pPr>
              <a:spcBef>
                <a:spcPct val="0"/>
              </a:spcBef>
              <a:buNone/>
            </a:pPr>
            <a:r>
              <a:rPr lang="en-US" altLang="en-US" dirty="0">
                <a:latin typeface="Times New Roman" charset="0"/>
              </a:rPr>
              <a:t>		</a:t>
            </a:r>
          </a:p>
        </p:txBody>
      </p:sp>
    </p:spTree>
    <p:extLst>
      <p:ext uri="{BB962C8B-B14F-4D97-AF65-F5344CB8AC3E}">
        <p14:creationId xmlns:p14="http://schemas.microsoft.com/office/powerpoint/2010/main" val="39086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Python’s Functional Paradigm</a:t>
            </a:r>
          </a:p>
        </p:txBody>
      </p:sp>
      <p:sp>
        <p:nvSpPr>
          <p:cNvPr id="3" name="Content Placeholder 2"/>
          <p:cNvSpPr>
            <a:spLocks noGrp="1"/>
          </p:cNvSpPr>
          <p:nvPr>
            <p:ph idx="1"/>
          </p:nvPr>
        </p:nvSpPr>
        <p:spPr>
          <a:xfrm>
            <a:off x="838200" y="1825624"/>
            <a:ext cx="10515600" cy="4689475"/>
          </a:xfrm>
        </p:spPr>
        <p:txBody>
          <a:bodyPr>
            <a:normAutofit/>
          </a:bodyPr>
          <a:lstStyle/>
          <a:p>
            <a:r>
              <a:rPr lang="en-US" dirty="0"/>
              <a:t>Python is a multi paradigm programming language </a:t>
            </a:r>
          </a:p>
          <a:p>
            <a:pPr lvl="1"/>
            <a:r>
              <a:rPr lang="en-US" dirty="0"/>
              <a:t>Most commonly used in an Object Oriented context </a:t>
            </a:r>
          </a:p>
          <a:p>
            <a:pPr lvl="1"/>
            <a:r>
              <a:rPr lang="en-US" dirty="0"/>
              <a:t>It also supports programming in a function context </a:t>
            </a:r>
          </a:p>
          <a:p>
            <a:pPr lvl="1"/>
            <a:r>
              <a:rPr lang="en-US" dirty="0"/>
              <a:t>Implementing functional features in Python is reasonable due to functions being treated as objects </a:t>
            </a:r>
          </a:p>
          <a:p>
            <a:r>
              <a:rPr lang="en-US" dirty="0"/>
              <a:t>Commonly used functional constructs:</a:t>
            </a:r>
          </a:p>
          <a:p>
            <a:pPr lvl="1"/>
            <a:r>
              <a:rPr lang="en-US" dirty="0"/>
              <a:t>lambda, map, filter, and reduce functions</a:t>
            </a:r>
          </a:p>
          <a:p>
            <a:pPr lvl="1"/>
            <a:r>
              <a:rPr lang="en-US" dirty="0"/>
              <a:t>List comprehensions </a:t>
            </a:r>
          </a:p>
          <a:p>
            <a:pPr lvl="1"/>
            <a:r>
              <a:rPr lang="en-US" dirty="0"/>
              <a:t>Closures</a:t>
            </a:r>
          </a:p>
          <a:p>
            <a:endParaRPr lang="en-US" dirty="0"/>
          </a:p>
        </p:txBody>
      </p:sp>
    </p:spTree>
    <p:extLst>
      <p:ext uri="{BB962C8B-B14F-4D97-AF65-F5344CB8AC3E}">
        <p14:creationId xmlns:p14="http://schemas.microsoft.com/office/powerpoint/2010/main" val="2402890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Lambda in Python</a:t>
            </a:r>
          </a:p>
        </p:txBody>
      </p:sp>
      <p:sp>
        <p:nvSpPr>
          <p:cNvPr id="3" name="Content Placeholder 2"/>
          <p:cNvSpPr>
            <a:spLocks noGrp="1"/>
          </p:cNvSpPr>
          <p:nvPr>
            <p:ph idx="1"/>
          </p:nvPr>
        </p:nvSpPr>
        <p:spPr>
          <a:xfrm>
            <a:off x="838200" y="1825624"/>
            <a:ext cx="10515600" cy="4689475"/>
          </a:xfrm>
        </p:spPr>
        <p:txBody>
          <a:bodyPr>
            <a:normAutofit/>
          </a:bodyPr>
          <a:lstStyle/>
          <a:p>
            <a:r>
              <a:rPr lang="en-US" dirty="0"/>
              <a:t>Use the lambda function to create an anonymous function </a:t>
            </a:r>
          </a:p>
          <a:p>
            <a:pPr marL="0" indent="0" algn="ctr">
              <a:buNone/>
            </a:pPr>
            <a:r>
              <a:rPr lang="en-US" dirty="0">
                <a:latin typeface="Courier New" panose="02070309020205020404" pitchFamily="49" charset="0"/>
                <a:cs typeface="Courier New" panose="02070309020205020404" pitchFamily="49" charset="0"/>
              </a:rPr>
              <a:t>lambda arguments: expression</a:t>
            </a:r>
          </a:p>
          <a:p>
            <a:pPr marL="0" indent="0" algn="ctr">
              <a:buNone/>
            </a:pPr>
            <a:r>
              <a:rPr lang="en-US" dirty="0">
                <a:latin typeface="Courier New" panose="02070309020205020404" pitchFamily="49" charset="0"/>
                <a:cs typeface="Courier New" panose="02070309020205020404" pitchFamily="49" charset="0"/>
              </a:rPr>
              <a:t>lambda x, y: x + y</a:t>
            </a:r>
          </a:p>
          <a:p>
            <a:r>
              <a:rPr lang="en-US" dirty="0">
                <a:latin typeface="Calibri" panose="020F0502020204030204" pitchFamily="34" charset="0"/>
                <a:cs typeface="Calibri" panose="020F0502020204030204" pitchFamily="34" charset="0"/>
              </a:rPr>
              <a:t>Return value of lambda is a new function stored as data</a:t>
            </a:r>
          </a:p>
          <a:p>
            <a:pPr marL="0" indent="0" algn="ctr">
              <a:buNone/>
            </a:pPr>
            <a:r>
              <a:rPr lang="en-US" dirty="0" err="1">
                <a:latin typeface="Courier New" panose="02070309020205020404" pitchFamily="49" charset="0"/>
                <a:cs typeface="Courier New" panose="02070309020205020404" pitchFamily="49" charset="0"/>
              </a:rPr>
              <a:t>sumTwoNums</a:t>
            </a:r>
            <a:r>
              <a:rPr lang="en-US" dirty="0">
                <a:latin typeface="Courier New" panose="02070309020205020404" pitchFamily="49" charset="0"/>
                <a:cs typeface="Courier New" panose="02070309020205020404" pitchFamily="49" charset="0"/>
              </a:rPr>
              <a:t> = lambda x, y: x + y</a:t>
            </a:r>
          </a:p>
          <a:p>
            <a:r>
              <a:rPr lang="en-US" dirty="0">
                <a:latin typeface="Calibri" panose="020F0502020204030204" pitchFamily="34" charset="0"/>
                <a:cs typeface="Calibri" panose="020F0502020204030204" pitchFamily="34" charset="0"/>
              </a:rPr>
              <a:t>To invoke a function stored as data, just call it like a normal function!</a:t>
            </a:r>
          </a:p>
          <a:p>
            <a:pPr marL="0" indent="0" algn="ctr">
              <a:buNone/>
            </a:pPr>
            <a:r>
              <a:rPr lang="en-US" dirty="0" err="1">
                <a:latin typeface="Courier New" panose="02070309020205020404" pitchFamily="49" charset="0"/>
                <a:cs typeface="Courier New" panose="02070309020205020404" pitchFamily="49" charset="0"/>
              </a:rPr>
              <a:t>sumTwoNums</a:t>
            </a:r>
            <a:r>
              <a:rPr lang="en-US" dirty="0">
                <a:latin typeface="Courier New" panose="02070309020205020404" pitchFamily="49" charset="0"/>
                <a:cs typeface="Courier New" panose="02070309020205020404" pitchFamily="49" charset="0"/>
              </a:rPr>
              <a:t>(2,3) </a:t>
            </a:r>
            <a:r>
              <a:rPr lang="en-US" dirty="0">
                <a:latin typeface="Courier New" panose="02070309020205020404" pitchFamily="49" charset="0"/>
                <a:cs typeface="Courier New" panose="02070309020205020404" pitchFamily="49" charset="0"/>
                <a:sym typeface="Wingdings" pitchFamily="2" charset="2"/>
              </a:rPr>
              <a:t> 5</a:t>
            </a:r>
            <a:endParaRPr lang="en-US" dirty="0">
              <a:latin typeface="Courier New" panose="02070309020205020404" pitchFamily="49" charset="0"/>
              <a:cs typeface="Courier New" panose="02070309020205020404" pitchFamily="49" charset="0"/>
            </a:endParaRPr>
          </a:p>
          <a:p>
            <a:r>
              <a:rPr lang="en-US" dirty="0">
                <a:latin typeface="Calibri" panose="020F0502020204030204" pitchFamily="34" charset="0"/>
                <a:cs typeface="Calibri" panose="020F0502020204030204" pitchFamily="34" charset="0"/>
              </a:rPr>
              <a:t>Much cleaner than Common Lisp!</a:t>
            </a:r>
          </a:p>
          <a:p>
            <a:pPr lvl="1"/>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237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Map in Python</a:t>
            </a:r>
          </a:p>
        </p:txBody>
      </p:sp>
      <p:sp>
        <p:nvSpPr>
          <p:cNvPr id="3" name="Content Placeholder 2"/>
          <p:cNvSpPr>
            <a:spLocks noGrp="1"/>
          </p:cNvSpPr>
          <p:nvPr>
            <p:ph idx="1"/>
          </p:nvPr>
        </p:nvSpPr>
        <p:spPr>
          <a:xfrm>
            <a:off x="838200" y="1825624"/>
            <a:ext cx="10515600" cy="4689475"/>
          </a:xfrm>
        </p:spPr>
        <p:txBody>
          <a:bodyPr>
            <a:noAutofit/>
          </a:bodyPr>
          <a:lstStyle/>
          <a:p>
            <a:r>
              <a:rPr lang="en-US" dirty="0">
                <a:latin typeface="Calibri" panose="020F0502020204030204" pitchFamily="34" charset="0"/>
                <a:cs typeface="Calibri" panose="020F0502020204030204" pitchFamily="34" charset="0"/>
              </a:rPr>
              <a:t>One use for functions as data is the map function</a:t>
            </a:r>
          </a:p>
          <a:p>
            <a:pPr marL="0" indent="0" algn="ctr">
              <a:buNone/>
            </a:pPr>
            <a:r>
              <a:rPr lang="en-US" dirty="0">
                <a:latin typeface="Courier New" panose="02070309020205020404" pitchFamily="49" charset="0"/>
                <a:cs typeface="Courier New" panose="02070309020205020404" pitchFamily="49" charset="0"/>
              </a:rPr>
              <a:t>map(function, </a:t>
            </a:r>
            <a:r>
              <a:rPr lang="en-US" dirty="0" err="1">
                <a:latin typeface="Courier New" panose="02070309020205020404" pitchFamily="49" charset="0"/>
                <a:cs typeface="Courier New" panose="02070309020205020404" pitchFamily="49" charset="0"/>
              </a:rPr>
              <a:t>iterable</a:t>
            </a:r>
            <a:r>
              <a:rPr lang="en-US" dirty="0">
                <a:latin typeface="Courier New" panose="02070309020205020404" pitchFamily="49" charset="0"/>
                <a:cs typeface="Courier New" panose="02070309020205020404" pitchFamily="49" charset="0"/>
              </a:rPr>
              <a:t>)</a:t>
            </a:r>
          </a:p>
          <a:p>
            <a:r>
              <a:rPr lang="en-US" dirty="0">
                <a:latin typeface="Calibri" panose="020F0502020204030204" pitchFamily="34" charset="0"/>
                <a:cs typeface="Calibri" panose="020F0502020204030204" pitchFamily="34" charset="0"/>
              </a:rPr>
              <a:t>In Python, the map function returns a map object</a:t>
            </a:r>
          </a:p>
          <a:p>
            <a:pPr lvl="1"/>
            <a:r>
              <a:rPr lang="en-US" dirty="0">
                <a:latin typeface="Calibri" panose="020F0502020204030204" pitchFamily="34" charset="0"/>
                <a:cs typeface="Calibri" panose="020F0502020204030204" pitchFamily="34" charset="0"/>
              </a:rPr>
              <a:t>The map object implements two </a:t>
            </a:r>
            <a:r>
              <a:rPr lang="en-US" dirty="0">
                <a:latin typeface="Calibri" panose="020F0502020204030204" pitchFamily="34" charset="0"/>
                <a:cs typeface="Calibri" panose="020F0502020204030204" pitchFamily="34" charset="0"/>
                <a:hlinkClick r:id="rId2"/>
              </a:rPr>
              <a:t>special methods</a:t>
            </a:r>
            <a:r>
              <a:rPr lang="en-US" dirty="0">
                <a:latin typeface="Calibri" panose="020F0502020204030204" pitchFamily="34" charset="0"/>
                <a:cs typeface="Calibri" panose="020F0502020204030204" pitchFamily="34" charset="0"/>
              </a:rPr>
              <a:t>, which are known as the </a:t>
            </a:r>
            <a:r>
              <a:rPr lang="en-US" dirty="0">
                <a:hlinkClick r:id="rId3"/>
              </a:rPr>
              <a:t>iterator protocol</a:t>
            </a:r>
            <a:endParaRPr lang="en-US" dirty="0"/>
          </a:p>
          <a:p>
            <a:pPr lvl="1"/>
            <a:r>
              <a:rPr lang="en-US" dirty="0">
                <a:latin typeface="Calibri" panose="020F0502020204030204" pitchFamily="34" charset="0"/>
                <a:cs typeface="Calibri" panose="020F0502020204030204" pitchFamily="34" charset="0"/>
              </a:rPr>
              <a:t>The two methods are:</a:t>
            </a:r>
          </a:p>
          <a:p>
            <a:pPr lvl="2"/>
            <a:r>
              <a:rPr lang="en-US" dirty="0">
                <a:hlinkClick r:id="rId4"/>
              </a:rPr>
              <a:t>.__iter__()</a:t>
            </a:r>
            <a:r>
              <a:rPr lang="en-US" dirty="0"/>
              <a:t>  </a:t>
            </a:r>
            <a:r>
              <a:rPr lang="en-US" dirty="0">
                <a:sym typeface="Wingdings" pitchFamily="2" charset="2"/>
              </a:rPr>
              <a:t> </a:t>
            </a:r>
            <a:r>
              <a:rPr lang="en-US" dirty="0"/>
              <a:t>Return the iterator object itself</a:t>
            </a:r>
          </a:p>
          <a:p>
            <a:pPr lvl="2"/>
            <a:r>
              <a:rPr lang="en-US" dirty="0">
                <a:hlinkClick r:id="rId5"/>
              </a:rPr>
              <a:t>.__next__()</a:t>
            </a:r>
            <a:r>
              <a:rPr lang="en-US" dirty="0"/>
              <a:t> </a:t>
            </a:r>
            <a:r>
              <a:rPr lang="en-US" dirty="0">
                <a:sym typeface="Wingdings" pitchFamily="2" charset="2"/>
              </a:rPr>
              <a:t> </a:t>
            </a:r>
            <a:r>
              <a:rPr lang="en-US" dirty="0"/>
              <a:t>Return the next item from the iterator</a:t>
            </a:r>
            <a:endParaRPr lang="en-US" dirty="0">
              <a:latin typeface="Calibri" panose="020F0502020204030204" pitchFamily="34" charset="0"/>
              <a:cs typeface="Calibri" panose="020F0502020204030204" pitchFamily="34" charset="0"/>
            </a:endParaRPr>
          </a:p>
          <a:p>
            <a:pPr lvl="1"/>
            <a:r>
              <a:rPr lang="en-US" dirty="0">
                <a:latin typeface="Calibri" panose="020F0502020204030204" pitchFamily="34" charset="0"/>
                <a:cs typeface="Calibri" panose="020F0502020204030204" pitchFamily="34" charset="0"/>
              </a:rPr>
              <a:t>This makes map an </a:t>
            </a:r>
            <a:r>
              <a:rPr lang="en-US" dirty="0">
                <a:latin typeface="Calibri" panose="020F0502020204030204" pitchFamily="34" charset="0"/>
                <a:cs typeface="Calibri" panose="020F0502020204030204" pitchFamily="34" charset="0"/>
                <a:hlinkClick r:id="rId6"/>
              </a:rPr>
              <a:t>iterator</a:t>
            </a:r>
            <a:r>
              <a:rPr lang="en-US" dirty="0">
                <a:latin typeface="Calibri" panose="020F0502020204030204" pitchFamily="34" charset="0"/>
                <a:cs typeface="Calibri" panose="020F0502020204030204" pitchFamily="34" charset="0"/>
              </a:rPr>
              <a:t> object, but it’s not inheritance, because python</a:t>
            </a:r>
          </a:p>
          <a:p>
            <a:pPr lvl="1"/>
            <a:r>
              <a:rPr lang="en-US" dirty="0"/>
              <a:t>Iterators have two main responsibilities:</a:t>
            </a:r>
          </a:p>
          <a:p>
            <a:pPr lvl="2"/>
            <a:r>
              <a:rPr lang="en-US" dirty="0"/>
              <a:t>Returning the data from a stream or container one item at a time</a:t>
            </a:r>
          </a:p>
          <a:p>
            <a:pPr lvl="2"/>
            <a:r>
              <a:rPr lang="en-US" dirty="0"/>
              <a:t>Keeping track of the current and visited items</a:t>
            </a:r>
          </a:p>
          <a:p>
            <a:pPr marL="457200" lvl="1" indent="0">
              <a:buNone/>
            </a:pPr>
            <a:endParaRPr lang="en-US" dirty="0">
              <a:latin typeface="Calibri" panose="020F0502020204030204" pitchFamily="34" charset="0"/>
              <a:cs typeface="Calibri" panose="020F0502020204030204" pitchFamily="34" charset="0"/>
            </a:endParaRPr>
          </a:p>
          <a:p>
            <a:pPr lvl="1"/>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59665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Map in Python</a:t>
            </a:r>
          </a:p>
        </p:txBody>
      </p:sp>
      <p:sp>
        <p:nvSpPr>
          <p:cNvPr id="3" name="Content Placeholder 2"/>
          <p:cNvSpPr>
            <a:spLocks noGrp="1"/>
          </p:cNvSpPr>
          <p:nvPr>
            <p:ph idx="1"/>
          </p:nvPr>
        </p:nvSpPr>
        <p:spPr>
          <a:xfrm>
            <a:off x="838200" y="1825624"/>
            <a:ext cx="10515600" cy="4689475"/>
          </a:xfrm>
        </p:spPr>
        <p:txBody>
          <a:bodyPr>
            <a:noAutofit/>
          </a:bodyPr>
          <a:lstStyle/>
          <a:p>
            <a:r>
              <a:rPr lang="en-US" dirty="0">
                <a:latin typeface="Calibri" panose="020F0502020204030204" pitchFamily="34" charset="0"/>
                <a:cs typeface="Calibri" panose="020F0502020204030204" pitchFamily="34" charset="0"/>
              </a:rPr>
              <a:t>Calling map doesn't calculate anything, just creates a map object</a:t>
            </a:r>
          </a:p>
          <a:p>
            <a:r>
              <a:rPr lang="en-US" dirty="0">
                <a:latin typeface="Calibri" panose="020F0502020204030204" pitchFamily="34" charset="0"/>
                <a:cs typeface="Calibri" panose="020F0502020204030204" pitchFamily="34" charset="0"/>
              </a:rPr>
              <a:t>Because map objects implement the iterator protocol, need to call map’s __next__() function to get the next value in the collection</a:t>
            </a:r>
          </a:p>
          <a:p>
            <a:pPr lvl="1"/>
            <a:r>
              <a:rPr lang="en-US" dirty="0">
                <a:latin typeface="Calibri" panose="020F0502020204030204" pitchFamily="34" charset="0"/>
                <a:cs typeface="Calibri" panose="020F0502020204030204" pitchFamily="34" charset="0"/>
              </a:rPr>
              <a:t>So invoking the function given to map happens when __next__() is called</a:t>
            </a:r>
          </a:p>
          <a:p>
            <a:pPr lvl="1"/>
            <a:r>
              <a:rPr lang="en-US" dirty="0">
                <a:latin typeface="Calibri" panose="020F0502020204030204" pitchFamily="34" charset="0"/>
                <a:cs typeface="Calibri" panose="020F0502020204030204" pitchFamily="34" charset="0"/>
              </a:rPr>
              <a:t>This invocation occurs on a per-element basis </a:t>
            </a:r>
          </a:p>
          <a:p>
            <a:pPr marL="0" indent="0">
              <a:buNone/>
            </a:pPr>
            <a:r>
              <a:rPr lang="en-US" sz="2400" dirty="0" err="1">
                <a:latin typeface="Courier New" panose="02070309020205020404" pitchFamily="49" charset="0"/>
                <a:cs typeface="Courier New" panose="02070309020205020404" pitchFamily="49" charset="0"/>
              </a:rPr>
              <a:t>aList</a:t>
            </a:r>
            <a:r>
              <a:rPr lang="en-US" sz="2400" dirty="0">
                <a:latin typeface="Courier New" panose="02070309020205020404" pitchFamily="49" charset="0"/>
                <a:cs typeface="Courier New" panose="02070309020205020404" pitchFamily="49" charset="0"/>
              </a:rPr>
              <a:t> = [2,3,4,5,6,7,8]</a:t>
            </a:r>
          </a:p>
          <a:p>
            <a:pPr marL="0" indent="0">
              <a:buNone/>
            </a:pPr>
            <a:r>
              <a:rPr lang="en-US" sz="2400" dirty="0">
                <a:latin typeface="Courier New" panose="02070309020205020404" pitchFamily="49" charset="0"/>
                <a:cs typeface="Courier New" panose="02070309020205020404" pitchFamily="49" charset="0"/>
              </a:rPr>
              <a:t>iterator = map(lambda x: x*</a:t>
            </a:r>
            <a:r>
              <a:rPr lang="en-US" sz="2400" dirty="0" err="1">
                <a:latin typeface="Courier New" panose="02070309020205020404" pitchFamily="49" charset="0"/>
                <a:cs typeface="Courier New" panose="02070309020205020404" pitchFamily="49" charset="0"/>
              </a:rPr>
              <a:t>x,aList</a:t>
            </a:r>
            <a:r>
              <a:rPr lang="en-US" sz="2400" dirty="0">
                <a:latin typeface="Courier New" panose="02070309020205020404" pitchFamily="49" charset="0"/>
                <a:cs typeface="Courier New" panose="02070309020205020404" pitchFamily="49" charset="0"/>
              </a:rPr>
              <a:t>)</a:t>
            </a:r>
          </a:p>
          <a:p>
            <a:pPr marL="0" indent="0">
              <a:buNone/>
            </a:pPr>
            <a:r>
              <a:rPr lang="en-US" sz="2400" dirty="0" err="1">
                <a:latin typeface="Courier New" panose="02070309020205020404" pitchFamily="49" charset="0"/>
                <a:cs typeface="Courier New" panose="02070309020205020404" pitchFamily="49" charset="0"/>
              </a:rPr>
              <a:t>iterator.__next</a:t>
            </a:r>
            <a:r>
              <a:rPr lang="en-US" sz="2400" dirty="0">
                <a:latin typeface="Courier New" panose="02070309020205020404" pitchFamily="49" charset="0"/>
                <a:cs typeface="Courier New" panose="02070309020205020404" pitchFamily="49" charset="0"/>
              </a:rPr>
              <a:t>__() </a:t>
            </a:r>
            <a:r>
              <a:rPr lang="en-US" sz="2400" dirty="0">
                <a:latin typeface="Courier New" panose="02070309020205020404" pitchFamily="49" charset="0"/>
                <a:cs typeface="Courier New" panose="02070309020205020404" pitchFamily="49" charset="0"/>
                <a:sym typeface="Wingdings" pitchFamily="2" charset="2"/>
              </a:rPr>
              <a:t> 4</a:t>
            </a:r>
            <a:endParaRPr lang="en-US" sz="2400" dirty="0">
              <a:latin typeface="Courier New" panose="02070309020205020404" pitchFamily="49" charset="0"/>
              <a:cs typeface="Courier New" panose="02070309020205020404" pitchFamily="49" charset="0"/>
            </a:endParaRPr>
          </a:p>
          <a:p>
            <a:pPr marL="0" indent="0">
              <a:buNone/>
            </a:pPr>
            <a:r>
              <a:rPr lang="en-US" sz="2400" dirty="0" err="1">
                <a:latin typeface="Courier New" panose="02070309020205020404" pitchFamily="49" charset="0"/>
                <a:cs typeface="Courier New" panose="02070309020205020404" pitchFamily="49" charset="0"/>
              </a:rPr>
              <a:t>iterator.__next</a:t>
            </a:r>
            <a:r>
              <a:rPr lang="en-US" sz="2400" dirty="0">
                <a:latin typeface="Courier New" panose="02070309020205020404" pitchFamily="49" charset="0"/>
                <a:cs typeface="Courier New" panose="02070309020205020404" pitchFamily="49" charset="0"/>
              </a:rPr>
              <a:t>__() </a:t>
            </a:r>
            <a:r>
              <a:rPr lang="en-US" sz="2400" dirty="0">
                <a:latin typeface="Courier New" panose="02070309020205020404" pitchFamily="49" charset="0"/>
                <a:cs typeface="Courier New" panose="02070309020205020404" pitchFamily="49" charset="0"/>
                <a:sym typeface="Wingdings" pitchFamily="2" charset="2"/>
              </a:rPr>
              <a:t> 9</a:t>
            </a:r>
            <a:endParaRPr lang="en-US" sz="2400" dirty="0">
              <a:latin typeface="Calibri" panose="020F0502020204030204" pitchFamily="34" charset="0"/>
              <a:cs typeface="Calibri" panose="020F0502020204030204" pitchFamily="34" charset="0"/>
              <a:sym typeface="Wingdings" pitchFamily="2" charset="2"/>
            </a:endParaRPr>
          </a:p>
          <a:p>
            <a:pPr marL="0" indent="0">
              <a:buNone/>
            </a:pPr>
            <a:r>
              <a:rPr lang="en-US" sz="2400" dirty="0" err="1">
                <a:latin typeface="Courier New" panose="02070309020205020404" pitchFamily="49" charset="0"/>
                <a:cs typeface="Courier New" panose="02070309020205020404" pitchFamily="49" charset="0"/>
              </a:rPr>
              <a:t>iterator.__next</a:t>
            </a:r>
            <a:r>
              <a:rPr lang="en-US" sz="2400" dirty="0">
                <a:latin typeface="Courier New" panose="02070309020205020404" pitchFamily="49" charset="0"/>
                <a:cs typeface="Courier New" panose="02070309020205020404" pitchFamily="49" charset="0"/>
              </a:rPr>
              <a:t>__() </a:t>
            </a:r>
            <a:r>
              <a:rPr lang="en-US" sz="2400" dirty="0">
                <a:latin typeface="Courier New" panose="02070309020205020404" pitchFamily="49" charset="0"/>
                <a:cs typeface="Courier New" panose="02070309020205020404" pitchFamily="49" charset="0"/>
                <a:sym typeface="Wingdings" pitchFamily="2" charset="2"/>
              </a:rPr>
              <a:t> 16</a:t>
            </a: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430208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Map in Python</a:t>
            </a:r>
          </a:p>
        </p:txBody>
      </p:sp>
      <p:sp>
        <p:nvSpPr>
          <p:cNvPr id="3" name="Content Placeholder 2"/>
          <p:cNvSpPr>
            <a:spLocks noGrp="1"/>
          </p:cNvSpPr>
          <p:nvPr>
            <p:ph idx="1"/>
          </p:nvPr>
        </p:nvSpPr>
        <p:spPr>
          <a:xfrm>
            <a:off x="838200" y="1825624"/>
            <a:ext cx="10515600" cy="4689475"/>
          </a:xfrm>
        </p:spPr>
        <p:txBody>
          <a:bodyPr>
            <a:noAutofit/>
          </a:bodyPr>
          <a:lstStyle/>
          <a:p>
            <a:r>
              <a:rPr lang="en-US" dirty="0">
                <a:latin typeface="Calibri" panose="020F0502020204030204" pitchFamily="34" charset="0"/>
                <a:cs typeface="Calibri" panose="020F0502020204030204" pitchFamily="34" charset="0"/>
              </a:rPr>
              <a:t>Can also use any traditionally defined function as an argument to map</a:t>
            </a:r>
          </a:p>
          <a:p>
            <a:pPr marL="0" indent="0">
              <a:buNone/>
            </a:pPr>
            <a:r>
              <a:rPr lang="en-US" sz="2600" dirty="0">
                <a:latin typeface="Courier New" panose="02070309020205020404" pitchFamily="49" charset="0"/>
                <a:cs typeface="Courier New" panose="02070309020205020404" pitchFamily="49" charset="0"/>
              </a:rPr>
              <a:t>def square(x):</a:t>
            </a:r>
          </a:p>
          <a:p>
            <a:pPr marL="0" indent="0">
              <a:buNone/>
            </a:pPr>
            <a:r>
              <a:rPr lang="en-US" sz="2600" dirty="0">
                <a:latin typeface="Courier New" panose="02070309020205020404" pitchFamily="49" charset="0"/>
                <a:cs typeface="Courier New" panose="02070309020205020404" pitchFamily="49" charset="0"/>
              </a:rPr>
              <a:t>	return x*x</a:t>
            </a:r>
          </a:p>
          <a:p>
            <a:pPr marL="0" indent="0">
              <a:buNone/>
            </a:pPr>
            <a:r>
              <a:rPr lang="en-US" sz="2600" dirty="0" err="1">
                <a:latin typeface="Courier New" panose="02070309020205020404" pitchFamily="49" charset="0"/>
                <a:cs typeface="Courier New" panose="02070309020205020404" pitchFamily="49" charset="0"/>
              </a:rPr>
              <a:t>aList</a:t>
            </a:r>
            <a:r>
              <a:rPr lang="en-US" sz="2600" dirty="0">
                <a:latin typeface="Courier New" panose="02070309020205020404" pitchFamily="49" charset="0"/>
                <a:cs typeface="Courier New" panose="02070309020205020404" pitchFamily="49" charset="0"/>
              </a:rPr>
              <a:t> = [2,3,4,5,6,7,8]</a:t>
            </a:r>
          </a:p>
          <a:p>
            <a:pPr marL="0" indent="0">
              <a:buNone/>
            </a:pPr>
            <a:r>
              <a:rPr lang="en-US" sz="2600" dirty="0" err="1">
                <a:latin typeface="Courier New" panose="02070309020205020404" pitchFamily="49" charset="0"/>
                <a:cs typeface="Courier New" panose="02070309020205020404" pitchFamily="49" charset="0"/>
              </a:rPr>
              <a:t>myMap</a:t>
            </a:r>
            <a:r>
              <a:rPr lang="en-US" sz="2600" dirty="0">
                <a:latin typeface="Courier New" panose="02070309020205020404" pitchFamily="49" charset="0"/>
                <a:cs typeface="Courier New" panose="02070309020205020404" pitchFamily="49" charset="0"/>
              </a:rPr>
              <a:t> = map(</a:t>
            </a:r>
            <a:r>
              <a:rPr lang="en-US" sz="2600" dirty="0" err="1">
                <a:latin typeface="Courier New" panose="02070309020205020404" pitchFamily="49" charset="0"/>
                <a:cs typeface="Courier New" panose="02070309020205020404" pitchFamily="49" charset="0"/>
              </a:rPr>
              <a:t>square,aList</a:t>
            </a:r>
            <a:r>
              <a:rPr lang="en-US" sz="2600" dirty="0">
                <a:latin typeface="Courier New" panose="02070309020205020404" pitchFamily="49" charset="0"/>
                <a:cs typeface="Courier New" panose="02070309020205020404" pitchFamily="49" charset="0"/>
              </a:rPr>
              <a:t>)</a:t>
            </a:r>
          </a:p>
          <a:p>
            <a:r>
              <a:rPr lang="en-US" dirty="0">
                <a:latin typeface="Calibri" panose="020F0502020204030204" pitchFamily="34" charset="0"/>
                <a:cs typeface="Calibri" panose="020F0502020204030204" pitchFamily="34" charset="0"/>
              </a:rPr>
              <a:t>To convert a map object to a list, can pass it to the list constructor</a:t>
            </a:r>
          </a:p>
          <a:p>
            <a:pPr lvl="1"/>
            <a:r>
              <a:rPr lang="en-US" dirty="0"/>
              <a:t>The list constructor gets every value from an iterator via repeated invocations of it’s __next__() method</a:t>
            </a:r>
          </a:p>
          <a:p>
            <a:pPr marL="0" indent="0">
              <a:buNone/>
            </a:pPr>
            <a:r>
              <a:rPr lang="en-US" sz="2400" dirty="0">
                <a:latin typeface="Courier New" panose="02070309020205020404" pitchFamily="49" charset="0"/>
                <a:cs typeface="Courier New" panose="02070309020205020404" pitchFamily="49" charset="0"/>
              </a:rPr>
              <a:t>list(</a:t>
            </a:r>
            <a:r>
              <a:rPr lang="en-US" sz="2400" dirty="0" err="1">
                <a:latin typeface="Courier New" panose="02070309020205020404" pitchFamily="49" charset="0"/>
                <a:cs typeface="Courier New" panose="02070309020205020404" pitchFamily="49" charset="0"/>
              </a:rPr>
              <a:t>myMap</a:t>
            </a:r>
            <a:r>
              <a:rPr lang="en-US" sz="2400"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sym typeface="Wingdings" pitchFamily="2" charset="2"/>
              </a:rPr>
              <a:t> </a:t>
            </a:r>
            <a:r>
              <a:rPr lang="en-US" sz="2400" dirty="0">
                <a:latin typeface="Courier New" panose="02070309020205020404" pitchFamily="49" charset="0"/>
                <a:cs typeface="Courier New" panose="02070309020205020404" pitchFamily="49" charset="0"/>
              </a:rPr>
              <a:t>[4, 9, 16, 25, 36, 49, 64]</a:t>
            </a:r>
          </a:p>
          <a:p>
            <a:pPr marL="0" indent="0">
              <a:buNone/>
            </a:pPr>
            <a:endParaRPr lang="en-US" sz="2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23364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Map in Python</a:t>
            </a:r>
          </a:p>
        </p:txBody>
      </p:sp>
      <p:sp>
        <p:nvSpPr>
          <p:cNvPr id="3" name="Content Placeholder 2"/>
          <p:cNvSpPr>
            <a:spLocks noGrp="1"/>
          </p:cNvSpPr>
          <p:nvPr>
            <p:ph idx="1"/>
          </p:nvPr>
        </p:nvSpPr>
        <p:spPr>
          <a:xfrm>
            <a:off x="838200" y="1825624"/>
            <a:ext cx="10515600" cy="4689475"/>
          </a:xfrm>
        </p:spPr>
        <p:txBody>
          <a:bodyPr>
            <a:noAutofit/>
          </a:bodyPr>
          <a:lstStyle/>
          <a:p>
            <a:r>
              <a:rPr lang="en-US" dirty="0">
                <a:latin typeface="Calibri" panose="020F0502020204030204" pitchFamily="34" charset="0"/>
                <a:cs typeface="Calibri" panose="020F0502020204030204" pitchFamily="34" charset="0"/>
              </a:rPr>
              <a:t>A list comprehension is a fancy wrapper for a map!</a:t>
            </a:r>
          </a:p>
          <a:p>
            <a:pPr marL="0" indent="0" algn="ctr">
              <a:buNone/>
            </a:pPr>
            <a:r>
              <a:rPr lang="en-US" sz="2400" dirty="0">
                <a:latin typeface="Courier New" panose="02070309020205020404" pitchFamily="49" charset="0"/>
                <a:cs typeface="Courier New" panose="02070309020205020404" pitchFamily="49" charset="0"/>
              </a:rPr>
              <a:t>squares = list(map(lambda x: x**2, </a:t>
            </a:r>
            <a:r>
              <a:rPr lang="en-US" sz="2400" dirty="0" err="1">
                <a:latin typeface="Courier New" panose="02070309020205020404" pitchFamily="49" charset="0"/>
                <a:cs typeface="Courier New" panose="02070309020205020404" pitchFamily="49" charset="0"/>
              </a:rPr>
              <a:t>aList</a:t>
            </a:r>
            <a:r>
              <a:rPr lang="en-US" sz="2400" dirty="0">
                <a:latin typeface="Courier New" panose="02070309020205020404" pitchFamily="49" charset="0"/>
                <a:cs typeface="Courier New" panose="02070309020205020404" pitchFamily="49" charset="0"/>
              </a:rPr>
              <a:t>))</a:t>
            </a:r>
          </a:p>
          <a:p>
            <a:r>
              <a:rPr lang="en-US" dirty="0">
                <a:latin typeface="Calibri" panose="020F0502020204030204" pitchFamily="34" charset="0"/>
                <a:cs typeface="Calibri" panose="020F0502020204030204" pitchFamily="34" charset="0"/>
              </a:rPr>
              <a:t>is the same as </a:t>
            </a:r>
          </a:p>
          <a:p>
            <a:pPr marL="0" indent="0" algn="ctr">
              <a:buNone/>
            </a:pPr>
            <a:r>
              <a:rPr lang="en-US" sz="2400" dirty="0">
                <a:latin typeface="Courier New" panose="02070309020205020404" pitchFamily="49" charset="0"/>
                <a:cs typeface="Courier New" panose="02070309020205020404" pitchFamily="49" charset="0"/>
              </a:rPr>
              <a:t>squares = [x**2 for x in </a:t>
            </a:r>
            <a:r>
              <a:rPr lang="en-US" sz="2400" dirty="0" err="1">
                <a:latin typeface="Courier New" panose="02070309020205020404" pitchFamily="49" charset="0"/>
                <a:cs typeface="Courier New" panose="02070309020205020404" pitchFamily="49" charset="0"/>
              </a:rPr>
              <a:t>aList</a:t>
            </a:r>
            <a:r>
              <a:rPr lang="en-US" sz="2400" dirty="0">
                <a:latin typeface="Courier New" panose="02070309020205020404" pitchFamily="49" charset="0"/>
                <a:cs typeface="Courier New" panose="02070309020205020404" pitchFamily="49" charset="0"/>
              </a:rPr>
              <a:t>]</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List comprehensions are considered to be more flexible in Python</a:t>
            </a:r>
          </a:p>
          <a:p>
            <a:pPr lvl="1"/>
            <a:r>
              <a:rPr lang="en-US" dirty="0">
                <a:latin typeface="Calibri" panose="020F0502020204030204" pitchFamily="34" charset="0"/>
                <a:cs typeface="Calibri" panose="020F0502020204030204" pitchFamily="34" charset="0"/>
              </a:rPr>
              <a:t>It's recommended to use them over a map function directly </a:t>
            </a:r>
            <a:endParaRPr lang="en-US" sz="20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92034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Python Closure</a:t>
            </a:r>
          </a:p>
        </p:txBody>
      </p:sp>
      <p:sp>
        <p:nvSpPr>
          <p:cNvPr id="3" name="Content Placeholder 2"/>
          <p:cNvSpPr>
            <a:spLocks noGrp="1"/>
          </p:cNvSpPr>
          <p:nvPr>
            <p:ph idx="1"/>
          </p:nvPr>
        </p:nvSpPr>
        <p:spPr>
          <a:xfrm>
            <a:off x="838200" y="1825624"/>
            <a:ext cx="10515600" cy="4689475"/>
          </a:xfrm>
        </p:spPr>
        <p:txBody>
          <a:bodyPr>
            <a:normAutofit fontScale="92500" lnSpcReduction="20000"/>
          </a:bodyPr>
          <a:lstStyle/>
          <a:p>
            <a:pPr marL="0" indent="0">
              <a:buNone/>
            </a:pPr>
            <a:r>
              <a:rPr lang="en-US" dirty="0">
                <a:latin typeface="Courier New" panose="02070309020205020404" pitchFamily="49" charset="0"/>
                <a:cs typeface="Courier New" panose="02070309020205020404" pitchFamily="49" charset="0"/>
              </a:rPr>
              <a:t>def </a:t>
            </a:r>
            <a:r>
              <a:rPr lang="en-US" dirty="0" err="1">
                <a:latin typeface="Courier New" panose="02070309020205020404" pitchFamily="49" charset="0"/>
                <a:cs typeface="Courier New" panose="02070309020205020404" pitchFamily="49" charset="0"/>
              </a:rPr>
              <a:t>make_multiplier_of</a:t>
            </a:r>
            <a:r>
              <a:rPr lang="en-US" dirty="0">
                <a:latin typeface="Courier New" panose="02070309020205020404" pitchFamily="49" charset="0"/>
                <a:cs typeface="Courier New" panose="02070309020205020404" pitchFamily="49" charset="0"/>
              </a:rPr>
              <a:t>(n):</a:t>
            </a:r>
          </a:p>
          <a:p>
            <a:pPr marL="0" indent="0">
              <a:buNone/>
            </a:pPr>
            <a:r>
              <a:rPr lang="en-US" dirty="0">
                <a:latin typeface="Courier New" panose="02070309020205020404" pitchFamily="49" charset="0"/>
                <a:cs typeface="Courier New" panose="02070309020205020404" pitchFamily="49" charset="0"/>
              </a:rPr>
              <a:t>    def multiplier(x):</a:t>
            </a:r>
          </a:p>
          <a:p>
            <a:pPr marL="0" indent="0">
              <a:buNone/>
            </a:pPr>
            <a:r>
              <a:rPr lang="en-US" dirty="0">
                <a:latin typeface="Courier New" panose="02070309020205020404" pitchFamily="49" charset="0"/>
                <a:cs typeface="Courier New" panose="02070309020205020404" pitchFamily="49" charset="0"/>
              </a:rPr>
              <a:t>        return x * n</a:t>
            </a:r>
          </a:p>
          <a:p>
            <a:pPr marL="0" indent="0">
              <a:buNone/>
            </a:pPr>
            <a:r>
              <a:rPr lang="en-US" dirty="0">
                <a:latin typeface="Courier New" panose="02070309020205020404" pitchFamily="49" charset="0"/>
                <a:cs typeface="Courier New" panose="02070309020205020404" pitchFamily="49" charset="0"/>
              </a:rPr>
              <a:t>    return multiplier</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times3 = </a:t>
            </a:r>
            <a:r>
              <a:rPr lang="en-US" dirty="0" err="1">
                <a:latin typeface="Courier New" panose="02070309020205020404" pitchFamily="49" charset="0"/>
                <a:cs typeface="Courier New" panose="02070309020205020404" pitchFamily="49" charset="0"/>
              </a:rPr>
              <a:t>make_multiplier_of</a:t>
            </a:r>
            <a:r>
              <a:rPr lang="en-US" dirty="0">
                <a:latin typeface="Courier New" panose="02070309020205020404" pitchFamily="49" charset="0"/>
                <a:cs typeface="Courier New" panose="02070309020205020404" pitchFamily="49" charset="0"/>
              </a:rPr>
              <a:t>(3)	# Multiplier of 3</a:t>
            </a:r>
          </a:p>
          <a:p>
            <a:pPr marL="0" indent="0">
              <a:buNone/>
            </a:pPr>
            <a:r>
              <a:rPr lang="en-US" dirty="0">
                <a:latin typeface="Courier New" panose="02070309020205020404" pitchFamily="49" charset="0"/>
                <a:cs typeface="Courier New" panose="02070309020205020404" pitchFamily="49" charset="0"/>
              </a:rPr>
              <a:t>times5 = </a:t>
            </a:r>
            <a:r>
              <a:rPr lang="en-US" dirty="0" err="1">
                <a:latin typeface="Courier New" panose="02070309020205020404" pitchFamily="49" charset="0"/>
                <a:cs typeface="Courier New" panose="02070309020205020404" pitchFamily="49" charset="0"/>
              </a:rPr>
              <a:t>make_multiplier_of</a:t>
            </a:r>
            <a:r>
              <a:rPr lang="en-US" dirty="0">
                <a:latin typeface="Courier New" panose="02070309020205020404" pitchFamily="49" charset="0"/>
                <a:cs typeface="Courier New" panose="02070309020205020404" pitchFamily="49" charset="0"/>
              </a:rPr>
              <a:t>(5)	# Multiplier of 5</a:t>
            </a:r>
          </a:p>
          <a:p>
            <a:pPr marL="0" indent="0">
              <a:buNone/>
            </a:pP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print(times3(9)) 				# Prints: 27</a:t>
            </a:r>
          </a:p>
          <a:p>
            <a:pPr marL="0" indent="0">
              <a:buNone/>
            </a:pPr>
            <a:r>
              <a:rPr lang="en-US" dirty="0">
                <a:latin typeface="Courier New" panose="02070309020205020404" pitchFamily="49" charset="0"/>
                <a:cs typeface="Courier New" panose="02070309020205020404" pitchFamily="49" charset="0"/>
              </a:rPr>
              <a:t>print(times5(3)) 				# Prints: 15</a:t>
            </a:r>
          </a:p>
          <a:p>
            <a:pPr marL="0" indent="0">
              <a:buNone/>
            </a:pPr>
            <a:r>
              <a:rPr lang="en-US" dirty="0">
                <a:latin typeface="Courier New" panose="02070309020205020404" pitchFamily="49" charset="0"/>
                <a:cs typeface="Courier New" panose="02070309020205020404" pitchFamily="49" charset="0"/>
              </a:rPr>
              <a:t>print(times5(times3(2))) 		# Prints: 30</a:t>
            </a:r>
          </a:p>
          <a:p>
            <a:pPr marL="0" indent="0">
              <a:buNone/>
            </a:pP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57514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in Java</a:t>
            </a:r>
          </a:p>
        </p:txBody>
      </p:sp>
      <p:sp>
        <p:nvSpPr>
          <p:cNvPr id="3" name="Content Placeholder 2"/>
          <p:cNvSpPr>
            <a:spLocks noGrp="1"/>
          </p:cNvSpPr>
          <p:nvPr>
            <p:ph idx="1"/>
          </p:nvPr>
        </p:nvSpPr>
        <p:spPr>
          <a:xfrm>
            <a:off x="838200" y="1825624"/>
            <a:ext cx="10515600" cy="4696199"/>
          </a:xfrm>
        </p:spPr>
        <p:txBody>
          <a:bodyPr>
            <a:normAutofit/>
          </a:bodyPr>
          <a:lstStyle/>
          <a:p>
            <a:r>
              <a:rPr lang="en-US" altLang="en-US" dirty="0">
                <a:ea typeface="MS PGothic" charset="-128"/>
              </a:rPr>
              <a:t>Java 8 incorporated some aspects of functional programming</a:t>
            </a:r>
          </a:p>
          <a:p>
            <a:pPr lvl="1"/>
            <a:r>
              <a:rPr lang="en-US" altLang="en-US" sz="2800" dirty="0">
                <a:ea typeface="MS PGothic" charset="-128"/>
              </a:rPr>
              <a:t>Lambdas</a:t>
            </a:r>
          </a:p>
          <a:p>
            <a:pPr lvl="1"/>
            <a:r>
              <a:rPr lang="en-US" altLang="en-US" sz="2800" dirty="0">
                <a:ea typeface="MS PGothic" charset="-128"/>
              </a:rPr>
              <a:t>Streams</a:t>
            </a:r>
          </a:p>
          <a:p>
            <a:pPr lvl="1"/>
            <a:r>
              <a:rPr lang="en-US" altLang="en-US" sz="2800" dirty="0">
                <a:ea typeface="MS PGothic" charset="-128"/>
              </a:rPr>
              <a:t>Collectors</a:t>
            </a:r>
          </a:p>
        </p:txBody>
      </p:sp>
    </p:spTree>
    <p:extLst>
      <p:ext uri="{BB962C8B-B14F-4D97-AF65-F5344CB8AC3E}">
        <p14:creationId xmlns:p14="http://schemas.microsoft.com/office/powerpoint/2010/main" val="711143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in Java</a:t>
            </a:r>
          </a:p>
        </p:txBody>
      </p:sp>
      <p:sp>
        <p:nvSpPr>
          <p:cNvPr id="3" name="Content Placeholder 2"/>
          <p:cNvSpPr>
            <a:spLocks noGrp="1"/>
          </p:cNvSpPr>
          <p:nvPr>
            <p:ph idx="1"/>
          </p:nvPr>
        </p:nvSpPr>
        <p:spPr>
          <a:xfrm>
            <a:off x="838200" y="1825624"/>
            <a:ext cx="10515600" cy="4696199"/>
          </a:xfrm>
        </p:spPr>
        <p:txBody>
          <a:bodyPr>
            <a:normAutofit/>
          </a:bodyPr>
          <a:lstStyle/>
          <a:p>
            <a:r>
              <a:rPr lang="en-US" dirty="0"/>
              <a:t>Introduced with Java 8 in March of 2014 </a:t>
            </a:r>
          </a:p>
          <a:p>
            <a:r>
              <a:rPr lang="en-US" dirty="0"/>
              <a:t>Why were they added?</a:t>
            </a:r>
          </a:p>
          <a:p>
            <a:r>
              <a:rPr lang="en-US" dirty="0"/>
              <a:t>In Java, if you wanted to define custom functions you needed to create a custom class</a:t>
            </a:r>
          </a:p>
          <a:p>
            <a:r>
              <a:rPr lang="en-US" dirty="0"/>
              <a:t>In particular if you wanted to create an object with a custom function you needed to create a custom object implementation   </a:t>
            </a:r>
          </a:p>
          <a:p>
            <a:r>
              <a:rPr lang="en-US" dirty="0"/>
              <a:t>Java has no way to pass a function or function definition to an object and have the object execute the given function</a:t>
            </a:r>
          </a:p>
          <a:p>
            <a:r>
              <a:rPr lang="en-US" dirty="0"/>
              <a:t>This behavior was fine in most cases</a:t>
            </a:r>
          </a:p>
          <a:p>
            <a:endParaRPr lang="en-US" dirty="0"/>
          </a:p>
        </p:txBody>
      </p:sp>
    </p:spTree>
    <p:extLst>
      <p:ext uri="{BB962C8B-B14F-4D97-AF65-F5344CB8AC3E}">
        <p14:creationId xmlns:p14="http://schemas.microsoft.com/office/powerpoint/2010/main" val="389209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in Java</a:t>
            </a:r>
          </a:p>
        </p:txBody>
      </p:sp>
      <p:sp>
        <p:nvSpPr>
          <p:cNvPr id="3" name="Content Placeholder 2"/>
          <p:cNvSpPr>
            <a:spLocks noGrp="1"/>
          </p:cNvSpPr>
          <p:nvPr>
            <p:ph idx="1"/>
          </p:nvPr>
        </p:nvSpPr>
        <p:spPr>
          <a:xfrm>
            <a:off x="838200" y="1825624"/>
            <a:ext cx="10515600" cy="4696199"/>
          </a:xfrm>
        </p:spPr>
        <p:txBody>
          <a:bodyPr>
            <a:normAutofit/>
          </a:bodyPr>
          <a:lstStyle/>
          <a:p>
            <a:r>
              <a:rPr lang="en-US" dirty="0"/>
              <a:t>But there was one area where this paradigm was limited. Classes that occur only once in an application</a:t>
            </a:r>
          </a:p>
          <a:p>
            <a:r>
              <a:rPr lang="en-US" dirty="0"/>
              <a:t>For example, the </a:t>
            </a:r>
            <a:r>
              <a:rPr lang="en-US" dirty="0" err="1"/>
              <a:t>Jbutton</a:t>
            </a:r>
            <a:r>
              <a:rPr lang="en-US" dirty="0"/>
              <a:t> class defines a method called </a:t>
            </a:r>
            <a:r>
              <a:rPr lang="en-US" dirty="0" err="1"/>
              <a:t>addActionListener</a:t>
            </a:r>
            <a:endParaRPr lang="en-US" dirty="0"/>
          </a:p>
          <a:p>
            <a:r>
              <a:rPr lang="en-US" dirty="0" err="1"/>
              <a:t>addActionListener</a:t>
            </a:r>
            <a:r>
              <a:rPr lang="en-US" dirty="0"/>
              <a:t> takes a single argument of type ActionListener</a:t>
            </a:r>
          </a:p>
          <a:p>
            <a:r>
              <a:rPr lang="en-US" dirty="0"/>
              <a:t>ActionListener is an interface with a single method </a:t>
            </a:r>
            <a:r>
              <a:rPr lang="en-US" dirty="0" err="1"/>
              <a:t>actionPreformed</a:t>
            </a:r>
            <a:endParaRPr lang="en-US" dirty="0"/>
          </a:p>
          <a:p>
            <a:r>
              <a:rPr lang="en-US" dirty="0"/>
              <a:t>The idea is that whenever </a:t>
            </a:r>
            <a:r>
              <a:rPr lang="en-US" dirty="0" err="1"/>
              <a:t>JButton</a:t>
            </a:r>
            <a:r>
              <a:rPr lang="en-US" dirty="0"/>
              <a:t> is pressed, the </a:t>
            </a:r>
            <a:r>
              <a:rPr lang="en-US" dirty="0" err="1"/>
              <a:t>actionPreformed</a:t>
            </a:r>
            <a:r>
              <a:rPr lang="en-US" dirty="0"/>
              <a:t> method is called on all attached </a:t>
            </a:r>
            <a:r>
              <a:rPr lang="en-US" dirty="0" err="1"/>
              <a:t>actionListener</a:t>
            </a:r>
            <a:r>
              <a:rPr lang="en-US" dirty="0"/>
              <a:t> objects</a:t>
            </a:r>
          </a:p>
        </p:txBody>
      </p:sp>
    </p:spTree>
    <p:extLst>
      <p:ext uri="{BB962C8B-B14F-4D97-AF65-F5344CB8AC3E}">
        <p14:creationId xmlns:p14="http://schemas.microsoft.com/office/powerpoint/2010/main" val="2576884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in Java</a:t>
            </a:r>
          </a:p>
        </p:txBody>
      </p:sp>
      <p:sp>
        <p:nvSpPr>
          <p:cNvPr id="3" name="Content Placeholder 2"/>
          <p:cNvSpPr>
            <a:spLocks noGrp="1"/>
          </p:cNvSpPr>
          <p:nvPr>
            <p:ph idx="1"/>
          </p:nvPr>
        </p:nvSpPr>
        <p:spPr>
          <a:xfrm>
            <a:off x="838200" y="1825624"/>
            <a:ext cx="10515600" cy="4696199"/>
          </a:xfrm>
        </p:spPr>
        <p:txBody>
          <a:bodyPr>
            <a:normAutofit/>
          </a:bodyPr>
          <a:lstStyle/>
          <a:p>
            <a:r>
              <a:rPr lang="en-US" dirty="0"/>
              <a:t>We can imagine in a project with multiple </a:t>
            </a:r>
            <a:r>
              <a:rPr lang="en-US" dirty="0" err="1"/>
              <a:t>JButton’s</a:t>
            </a:r>
            <a:r>
              <a:rPr lang="en-US" dirty="0"/>
              <a:t>, each button will have a different action</a:t>
            </a:r>
          </a:p>
          <a:p>
            <a:r>
              <a:rPr lang="en-US" dirty="0"/>
              <a:t> So each </a:t>
            </a:r>
            <a:r>
              <a:rPr lang="en-US" dirty="0" err="1"/>
              <a:t>JButton</a:t>
            </a:r>
            <a:r>
              <a:rPr lang="en-US" dirty="0"/>
              <a:t> will have an action listener object with a uniquely defined </a:t>
            </a:r>
            <a:r>
              <a:rPr lang="en-US" dirty="0" err="1"/>
              <a:t>actionPreformed</a:t>
            </a:r>
            <a:r>
              <a:rPr lang="en-US" dirty="0"/>
              <a:t> method</a:t>
            </a:r>
          </a:p>
          <a:p>
            <a:r>
              <a:rPr lang="en-US" dirty="0"/>
              <a:t>Does this mean we need to create a new class file, defining an object which implements ActionListener for each unique action we wanted preformed? </a:t>
            </a:r>
          </a:p>
          <a:p>
            <a:r>
              <a:rPr lang="en-US" dirty="0"/>
              <a:t>This would be unmanageable </a:t>
            </a:r>
          </a:p>
          <a:p>
            <a:endParaRPr lang="en-US" dirty="0"/>
          </a:p>
          <a:p>
            <a:endParaRPr lang="en-US" dirty="0"/>
          </a:p>
        </p:txBody>
      </p:sp>
    </p:spTree>
    <p:extLst>
      <p:ext uri="{BB962C8B-B14F-4D97-AF65-F5344CB8AC3E}">
        <p14:creationId xmlns:p14="http://schemas.microsoft.com/office/powerpoint/2010/main" val="3351541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Anonymous Inner Class</a:t>
            </a:r>
          </a:p>
        </p:txBody>
      </p:sp>
      <p:sp>
        <p:nvSpPr>
          <p:cNvPr id="3" name="Content Placeholder 2"/>
          <p:cNvSpPr>
            <a:spLocks noGrp="1"/>
          </p:cNvSpPr>
          <p:nvPr>
            <p:ph idx="1"/>
          </p:nvPr>
        </p:nvSpPr>
        <p:spPr>
          <a:xfrm>
            <a:off x="838200" y="1825624"/>
            <a:ext cx="10515600" cy="4696199"/>
          </a:xfrm>
        </p:spPr>
        <p:txBody>
          <a:bodyPr>
            <a:noAutofit/>
          </a:bodyPr>
          <a:lstStyle/>
          <a:p>
            <a:r>
              <a:rPr lang="en-US" dirty="0"/>
              <a:t>Java’s solution to this problem was Anonymous Inner Classes</a:t>
            </a:r>
          </a:p>
          <a:p>
            <a:r>
              <a:rPr lang="en-US" dirty="0"/>
              <a:t>In Java, an </a:t>
            </a:r>
            <a:r>
              <a:rPr lang="en-US" b="1" dirty="0"/>
              <a:t>Anonymous Inner Class</a:t>
            </a:r>
            <a:r>
              <a:rPr lang="en-US" dirty="0"/>
              <a:t> is a class without a name and for which only a single object is created</a:t>
            </a:r>
          </a:p>
          <a:p>
            <a:pPr marL="0" indent="0">
              <a:buNone/>
            </a:pPr>
            <a:r>
              <a:rPr lang="en-US" sz="2400" dirty="0" err="1">
                <a:latin typeface="Courier New" panose="02070309020205020404" pitchFamily="49" charset="0"/>
                <a:cs typeface="Courier New" panose="02070309020205020404" pitchFamily="49" charset="0"/>
              </a:rPr>
              <a:t>JButton</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testButton</a:t>
            </a:r>
            <a:r>
              <a:rPr lang="en-US" sz="2400" dirty="0">
                <a:latin typeface="Courier New" panose="02070309020205020404" pitchFamily="49" charset="0"/>
                <a:cs typeface="Courier New" panose="02070309020205020404" pitchFamily="49" charset="0"/>
              </a:rPr>
              <a:t> = new </a:t>
            </a:r>
            <a:r>
              <a:rPr lang="en-US" sz="2400" dirty="0" err="1">
                <a:latin typeface="Courier New" panose="02070309020205020404" pitchFamily="49" charset="0"/>
                <a:cs typeface="Courier New" panose="02070309020205020404" pitchFamily="49" charset="0"/>
              </a:rPr>
              <a:t>JButton</a:t>
            </a:r>
            <a:r>
              <a:rPr lang="en-US" sz="2400" dirty="0">
                <a:latin typeface="Courier New" panose="02070309020205020404" pitchFamily="49" charset="0"/>
                <a:cs typeface="Courier New" panose="02070309020205020404" pitchFamily="49" charset="0"/>
              </a:rPr>
              <a:t>("Test Button");</a:t>
            </a:r>
          </a:p>
          <a:p>
            <a:pPr marL="0" indent="0">
              <a:buNone/>
            </a:pPr>
            <a:r>
              <a:rPr lang="en-US" sz="2400" dirty="0" err="1">
                <a:latin typeface="Courier New" panose="02070309020205020404" pitchFamily="49" charset="0"/>
                <a:cs typeface="Courier New" panose="02070309020205020404" pitchFamily="49" charset="0"/>
              </a:rPr>
              <a:t>testButton.addActionListener</a:t>
            </a:r>
            <a:r>
              <a:rPr lang="en-US" sz="2400" dirty="0">
                <a:latin typeface="Courier New" panose="02070309020205020404" pitchFamily="49" charset="0"/>
                <a:cs typeface="Courier New" panose="02070309020205020404" pitchFamily="49" charset="0"/>
              </a:rPr>
              <a:t>(new ActionListener(){</a:t>
            </a:r>
          </a:p>
          <a:p>
            <a:pPr marL="0" indent="0">
              <a:buNone/>
            </a:pPr>
            <a:r>
              <a:rPr lang="en-US" sz="2400" dirty="0">
                <a:latin typeface="Courier New" panose="02070309020205020404" pitchFamily="49" charset="0"/>
                <a:cs typeface="Courier New" panose="02070309020205020404" pitchFamily="49" charset="0"/>
              </a:rPr>
              <a:t>	@Override </a:t>
            </a:r>
          </a:p>
          <a:p>
            <a:pPr marL="0" indent="0">
              <a:buNone/>
            </a:pPr>
            <a:r>
              <a:rPr lang="en-US" sz="2400" dirty="0">
                <a:latin typeface="Courier New" panose="02070309020205020404" pitchFamily="49" charset="0"/>
                <a:cs typeface="Courier New" panose="02070309020205020404" pitchFamily="49" charset="0"/>
              </a:rPr>
              <a:t>	public void </a:t>
            </a:r>
            <a:r>
              <a:rPr lang="en-US" sz="2400" dirty="0" err="1">
                <a:latin typeface="Courier New" panose="02070309020205020404" pitchFamily="49" charset="0"/>
                <a:cs typeface="Courier New" panose="02070309020205020404" pitchFamily="49" charset="0"/>
              </a:rPr>
              <a:t>actionPerformed</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ActionEvent</a:t>
            </a:r>
            <a:r>
              <a:rPr lang="en-US" sz="2400" dirty="0">
                <a:latin typeface="Courier New" panose="02070309020205020404" pitchFamily="49" charset="0"/>
                <a:cs typeface="Courier New" panose="02070309020205020404" pitchFamily="49" charset="0"/>
              </a:rPr>
              <a:t> e){ </a:t>
            </a:r>
          </a:p>
          <a:p>
            <a:pPr marL="0" indent="0">
              <a:buNone/>
            </a:pP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System.out.println</a:t>
            </a:r>
            <a:r>
              <a:rPr lang="en-US" sz="2400" dirty="0">
                <a:latin typeface="Courier New" panose="02070309020205020404" pitchFamily="49" charset="0"/>
                <a:cs typeface="Courier New" panose="02070309020205020404" pitchFamily="49" charset="0"/>
              </a:rPr>
              <a:t>("Click by Anon Class"); </a:t>
            </a:r>
          </a:p>
          <a:p>
            <a:pPr marL="0" indent="0">
              <a:buNone/>
            </a:pPr>
            <a:r>
              <a:rPr lang="en-US" sz="2400" dirty="0">
                <a:latin typeface="Courier New" panose="02070309020205020404" pitchFamily="49" charset="0"/>
                <a:cs typeface="Courier New" panose="02070309020205020404" pitchFamily="49" charset="0"/>
              </a:rPr>
              <a:t>	}</a:t>
            </a:r>
          </a:p>
          <a:p>
            <a:pPr marL="0" indent="0">
              <a:buNone/>
            </a:pPr>
            <a:r>
              <a:rPr lang="en-US" sz="2400" dirty="0">
                <a:latin typeface="Courier New" panose="02070309020205020404" pitchFamily="49" charset="0"/>
                <a:cs typeface="Courier New" panose="02070309020205020404" pitchFamily="49" charset="0"/>
              </a:rPr>
              <a:t>});</a:t>
            </a:r>
          </a:p>
          <a:p>
            <a:pPr marL="0" indent="0">
              <a:buNone/>
            </a:pPr>
            <a:endParaRPr lang="en-US" dirty="0"/>
          </a:p>
        </p:txBody>
      </p:sp>
    </p:spTree>
    <p:extLst>
      <p:ext uri="{BB962C8B-B14F-4D97-AF65-F5344CB8AC3E}">
        <p14:creationId xmlns:p14="http://schemas.microsoft.com/office/powerpoint/2010/main" val="655869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Anonymous Inner Class</a:t>
            </a:r>
          </a:p>
        </p:txBody>
      </p:sp>
      <p:sp>
        <p:nvSpPr>
          <p:cNvPr id="3" name="Content Placeholder 2"/>
          <p:cNvSpPr>
            <a:spLocks noGrp="1"/>
          </p:cNvSpPr>
          <p:nvPr>
            <p:ph idx="1"/>
          </p:nvPr>
        </p:nvSpPr>
        <p:spPr>
          <a:xfrm>
            <a:off x="838200" y="1825624"/>
            <a:ext cx="10515600" cy="4696199"/>
          </a:xfrm>
        </p:spPr>
        <p:txBody>
          <a:bodyPr>
            <a:normAutofit/>
          </a:bodyPr>
          <a:lstStyle/>
          <a:p>
            <a:r>
              <a:rPr lang="en-US" dirty="0"/>
              <a:t>Anonymous inner classes prevented a smattering of class files cluttering up projects</a:t>
            </a:r>
          </a:p>
          <a:p>
            <a:r>
              <a:rPr lang="en-US" dirty="0"/>
              <a:t>But they were still verbose </a:t>
            </a:r>
          </a:p>
          <a:p>
            <a:r>
              <a:rPr lang="en-US" dirty="0"/>
              <a:t>So as an alternative to anonymous inner classes, Java 8 introduced lambda expressions</a:t>
            </a:r>
          </a:p>
          <a:p>
            <a:r>
              <a:rPr lang="en-US" dirty="0"/>
              <a:t>Lambda expressions address the bulkiness of anonymous inner classes by converting five lines of code into a single statement</a:t>
            </a:r>
          </a:p>
          <a:p>
            <a:pPr lvl="1"/>
            <a:r>
              <a:rPr lang="en-US" dirty="0"/>
              <a:t>This horizontal solution solves the "vertical problem" presented by inner classes.</a:t>
            </a:r>
          </a:p>
        </p:txBody>
      </p:sp>
    </p:spTree>
    <p:extLst>
      <p:ext uri="{BB962C8B-B14F-4D97-AF65-F5344CB8AC3E}">
        <p14:creationId xmlns:p14="http://schemas.microsoft.com/office/powerpoint/2010/main" val="2724365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Lambda Expressions</a:t>
            </a:r>
          </a:p>
        </p:txBody>
      </p:sp>
      <p:sp>
        <p:nvSpPr>
          <p:cNvPr id="3" name="Content Placeholder 2"/>
          <p:cNvSpPr>
            <a:spLocks noGrp="1"/>
          </p:cNvSpPr>
          <p:nvPr>
            <p:ph idx="1"/>
          </p:nvPr>
        </p:nvSpPr>
        <p:spPr>
          <a:xfrm>
            <a:off x="838200" y="1825624"/>
            <a:ext cx="10515600" cy="4696199"/>
          </a:xfrm>
        </p:spPr>
        <p:txBody>
          <a:bodyPr>
            <a:normAutofit/>
          </a:bodyPr>
          <a:lstStyle/>
          <a:p>
            <a:r>
              <a:rPr lang="en-US" dirty="0"/>
              <a:t>A lambda expression is composed of three parts: </a:t>
            </a:r>
          </a:p>
          <a:p>
            <a:pPr lvl="1"/>
            <a:r>
              <a:rPr lang="en-US" dirty="0"/>
              <a:t>Argument list</a:t>
            </a:r>
          </a:p>
          <a:p>
            <a:pPr lvl="1"/>
            <a:r>
              <a:rPr lang="en-US" dirty="0"/>
              <a:t>Arrow </a:t>
            </a:r>
          </a:p>
          <a:p>
            <a:pPr lvl="1"/>
            <a:r>
              <a:rPr lang="en-US" dirty="0"/>
              <a:t>Token body</a:t>
            </a:r>
          </a:p>
          <a:p>
            <a:pPr marL="0" indent="0" algn="ctr">
              <a:buNone/>
            </a:pP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x, </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y) -&gt; x + y</a:t>
            </a:r>
          </a:p>
          <a:p>
            <a:pPr marL="0" indent="0" algn="ctr">
              <a:buNone/>
            </a:pPr>
            <a:endParaRPr lang="en-US" dirty="0">
              <a:latin typeface="Courier New" panose="02070309020205020404" pitchFamily="49" charset="0"/>
              <a:cs typeface="Courier New" panose="02070309020205020404" pitchFamily="49" charset="0"/>
            </a:endParaRPr>
          </a:p>
          <a:p>
            <a:r>
              <a:rPr lang="en-US" dirty="0"/>
              <a:t>The body can be either a single expression or a statement block</a:t>
            </a:r>
          </a:p>
          <a:p>
            <a:r>
              <a:rPr lang="en-US" dirty="0"/>
              <a:t>So do Java Lambda expressions create a function as data?</a:t>
            </a:r>
          </a:p>
          <a:p>
            <a:pPr lvl="1"/>
            <a:r>
              <a:rPr lang="en-US" dirty="0"/>
              <a:t>No</a:t>
            </a: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4722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Lambda Expressions</a:t>
            </a:r>
          </a:p>
        </p:txBody>
      </p:sp>
      <p:sp>
        <p:nvSpPr>
          <p:cNvPr id="3" name="Content Placeholder 2"/>
          <p:cNvSpPr>
            <a:spLocks noGrp="1"/>
          </p:cNvSpPr>
          <p:nvPr>
            <p:ph idx="1"/>
          </p:nvPr>
        </p:nvSpPr>
        <p:spPr>
          <a:xfrm>
            <a:off x="838200" y="1825624"/>
            <a:ext cx="10515600" cy="4696199"/>
          </a:xfrm>
        </p:spPr>
        <p:txBody>
          <a:bodyPr>
            <a:normAutofit lnSpcReduction="10000"/>
          </a:bodyPr>
          <a:lstStyle/>
          <a:p>
            <a:r>
              <a:rPr lang="en-US" dirty="0"/>
              <a:t>Lambda expressions are anonymous methods which are used to implement an anonymous object which implements a functional interface</a:t>
            </a:r>
          </a:p>
          <a:p>
            <a:pPr lvl="1"/>
            <a:r>
              <a:rPr lang="en-US" dirty="0"/>
              <a:t>What is a functional interface? </a:t>
            </a:r>
          </a:p>
          <a:p>
            <a:r>
              <a:rPr lang="en-US" dirty="0"/>
              <a:t>In Java, a functional interface is an interface with a single abstract method</a:t>
            </a:r>
          </a:p>
          <a:p>
            <a:r>
              <a:rPr lang="en-US" dirty="0"/>
              <a:t>Using functional interfaces with anonymous inner classes are a common design pattern in Java</a:t>
            </a:r>
          </a:p>
          <a:p>
            <a:r>
              <a:rPr lang="en-US" dirty="0"/>
              <a:t>In this design pattern, we can substitute anonymous inner classes with lambda expressions</a:t>
            </a:r>
          </a:p>
          <a:p>
            <a:r>
              <a:rPr lang="en-US" dirty="0"/>
              <a:t>This provides lambda expressions with a large potential for use</a:t>
            </a:r>
          </a:p>
        </p:txBody>
      </p:sp>
    </p:spTree>
    <p:extLst>
      <p:ext uri="{BB962C8B-B14F-4D97-AF65-F5344CB8AC3E}">
        <p14:creationId xmlns:p14="http://schemas.microsoft.com/office/powerpoint/2010/main" val="1443025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Lambda Expressions</a:t>
            </a:r>
          </a:p>
        </p:txBody>
      </p:sp>
      <p:sp>
        <p:nvSpPr>
          <p:cNvPr id="3" name="Content Placeholder 2"/>
          <p:cNvSpPr>
            <a:spLocks noGrp="1"/>
          </p:cNvSpPr>
          <p:nvPr>
            <p:ph idx="1"/>
          </p:nvPr>
        </p:nvSpPr>
        <p:spPr>
          <a:xfrm>
            <a:off x="838200" y="1825624"/>
            <a:ext cx="10515600" cy="4696199"/>
          </a:xfrm>
        </p:spPr>
        <p:txBody>
          <a:bodyPr>
            <a:noAutofit/>
          </a:bodyPr>
          <a:lstStyle/>
          <a:p>
            <a:pPr marL="0" indent="0">
              <a:buNone/>
            </a:pPr>
            <a:r>
              <a:rPr lang="en-US" sz="1900" dirty="0">
                <a:latin typeface="Courier New" panose="02070309020205020404" pitchFamily="49" charset="0"/>
                <a:cs typeface="Courier New" panose="02070309020205020404" pitchFamily="49" charset="0"/>
              </a:rPr>
              <a:t>public class </a:t>
            </a:r>
            <a:r>
              <a:rPr lang="en-US" sz="1900" dirty="0" err="1">
                <a:latin typeface="Courier New" panose="02070309020205020404" pitchFamily="49" charset="0"/>
                <a:cs typeface="Courier New" panose="02070309020205020404" pitchFamily="49" charset="0"/>
              </a:rPr>
              <a:t>RunnableTest</a:t>
            </a:r>
            <a:r>
              <a:rPr lang="en-US" sz="1900" dirty="0">
                <a:latin typeface="Courier New" panose="02070309020205020404" pitchFamily="49" charset="0"/>
                <a:cs typeface="Courier New" panose="02070309020205020404" pitchFamily="49" charset="0"/>
              </a:rPr>
              <a:t> {</a:t>
            </a:r>
          </a:p>
          <a:p>
            <a:pPr marL="0" indent="0">
              <a:buNone/>
            </a:pPr>
            <a:r>
              <a:rPr lang="en-US" sz="1900" dirty="0">
                <a:latin typeface="Courier New" panose="02070309020205020404" pitchFamily="49" charset="0"/>
                <a:cs typeface="Courier New" panose="02070309020205020404" pitchFamily="49" charset="0"/>
              </a:rPr>
              <a:t>    public static void main(String[] </a:t>
            </a:r>
            <a:r>
              <a:rPr lang="en-US" sz="1900" dirty="0" err="1">
                <a:latin typeface="Courier New" panose="02070309020205020404" pitchFamily="49" charset="0"/>
                <a:cs typeface="Courier New" panose="02070309020205020404" pitchFamily="49" charset="0"/>
              </a:rPr>
              <a:t>args</a:t>
            </a:r>
            <a:r>
              <a:rPr lang="en-US" sz="1900" dirty="0">
                <a:latin typeface="Courier New" panose="02070309020205020404" pitchFamily="49" charset="0"/>
                <a:cs typeface="Courier New" panose="02070309020205020404" pitchFamily="49" charset="0"/>
              </a:rPr>
              <a:t>) {</a:t>
            </a:r>
          </a:p>
          <a:p>
            <a:pPr marL="0" indent="0">
              <a:buNone/>
            </a:pPr>
            <a:r>
              <a:rPr lang="en-US" sz="1900" dirty="0">
                <a:latin typeface="Courier New" panose="02070309020205020404" pitchFamily="49" charset="0"/>
                <a:cs typeface="Courier New" panose="02070309020205020404" pitchFamily="49" charset="0"/>
              </a:rPr>
              <a:t>     Runnable r1 = new Runnable(){</a:t>
            </a:r>
          </a:p>
          <a:p>
            <a:pPr marL="0" indent="0">
              <a:buNone/>
            </a:pPr>
            <a:r>
              <a:rPr lang="en-US" sz="1900" dirty="0">
                <a:latin typeface="Courier New" panose="02070309020205020404" pitchFamily="49" charset="0"/>
                <a:cs typeface="Courier New" panose="02070309020205020404" pitchFamily="49" charset="0"/>
              </a:rPr>
              <a:t>       @Override</a:t>
            </a:r>
          </a:p>
          <a:p>
            <a:pPr marL="0" indent="0">
              <a:buNone/>
            </a:pPr>
            <a:r>
              <a:rPr lang="en-US" sz="1900" dirty="0">
                <a:latin typeface="Courier New" panose="02070309020205020404" pitchFamily="49" charset="0"/>
                <a:cs typeface="Courier New" panose="02070309020205020404" pitchFamily="49" charset="0"/>
              </a:rPr>
              <a:t>       public void run(){</a:t>
            </a:r>
          </a:p>
          <a:p>
            <a:pPr marL="0" indent="0">
              <a:buNone/>
            </a:pPr>
            <a:r>
              <a:rPr lang="en-US" sz="1900" dirty="0">
                <a:latin typeface="Courier New" panose="02070309020205020404" pitchFamily="49" charset="0"/>
                <a:cs typeface="Courier New" panose="02070309020205020404" pitchFamily="49" charset="0"/>
              </a:rPr>
              <a:t>         </a:t>
            </a:r>
            <a:r>
              <a:rPr lang="en-US" sz="1900" dirty="0" err="1">
                <a:latin typeface="Courier New" panose="02070309020205020404" pitchFamily="49" charset="0"/>
                <a:cs typeface="Courier New" panose="02070309020205020404" pitchFamily="49" charset="0"/>
              </a:rPr>
              <a:t>System.out.println</a:t>
            </a:r>
            <a:r>
              <a:rPr lang="en-US" sz="1900" dirty="0">
                <a:latin typeface="Courier New" panose="02070309020205020404" pitchFamily="49" charset="0"/>
                <a:cs typeface="Courier New" panose="02070309020205020404" pitchFamily="49" charset="0"/>
              </a:rPr>
              <a:t>("Hello world one!");</a:t>
            </a:r>
          </a:p>
          <a:p>
            <a:pPr marL="0" indent="0">
              <a:buNone/>
            </a:pPr>
            <a:r>
              <a:rPr lang="en-US" sz="1900" dirty="0">
                <a:latin typeface="Courier New" panose="02070309020205020404" pitchFamily="49" charset="0"/>
                <a:cs typeface="Courier New" panose="02070309020205020404" pitchFamily="49" charset="0"/>
              </a:rPr>
              <a:t>       }</a:t>
            </a:r>
          </a:p>
          <a:p>
            <a:pPr marL="0" indent="0">
              <a:buNone/>
            </a:pPr>
            <a:r>
              <a:rPr lang="en-US" sz="1900" dirty="0">
                <a:latin typeface="Courier New" panose="02070309020205020404" pitchFamily="49" charset="0"/>
                <a:cs typeface="Courier New" panose="02070309020205020404" pitchFamily="49" charset="0"/>
              </a:rPr>
              <a:t>     };</a:t>
            </a:r>
          </a:p>
          <a:p>
            <a:pPr marL="0" indent="0">
              <a:buNone/>
            </a:pPr>
            <a:r>
              <a:rPr lang="en-US" sz="1900" dirty="0">
                <a:latin typeface="Courier New" panose="02070309020205020404" pitchFamily="49" charset="0"/>
                <a:cs typeface="Courier New" panose="02070309020205020404" pitchFamily="49" charset="0"/>
              </a:rPr>
              <a:t>     Runnable r2 = () -&gt; </a:t>
            </a:r>
            <a:r>
              <a:rPr lang="en-US" sz="1900" dirty="0" err="1">
                <a:latin typeface="Courier New" panose="02070309020205020404" pitchFamily="49" charset="0"/>
                <a:cs typeface="Courier New" panose="02070309020205020404" pitchFamily="49" charset="0"/>
              </a:rPr>
              <a:t>System.out.println</a:t>
            </a:r>
            <a:r>
              <a:rPr lang="en-US" sz="1900" dirty="0">
                <a:latin typeface="Courier New" panose="02070309020205020404" pitchFamily="49" charset="0"/>
                <a:cs typeface="Courier New" panose="02070309020205020404" pitchFamily="49" charset="0"/>
              </a:rPr>
              <a:t>("Hello world two!");</a:t>
            </a:r>
          </a:p>
          <a:p>
            <a:pPr marL="0" indent="0">
              <a:buNone/>
            </a:pPr>
            <a:r>
              <a:rPr lang="en-US" sz="1900" dirty="0">
                <a:latin typeface="Courier New" panose="02070309020205020404" pitchFamily="49" charset="0"/>
                <a:cs typeface="Courier New" panose="02070309020205020404" pitchFamily="49" charset="0"/>
              </a:rPr>
              <a:t>     r1.run();</a:t>
            </a:r>
          </a:p>
          <a:p>
            <a:pPr marL="0" indent="0">
              <a:buNone/>
            </a:pPr>
            <a:r>
              <a:rPr lang="en-US" sz="1900" dirty="0">
                <a:latin typeface="Courier New" panose="02070309020205020404" pitchFamily="49" charset="0"/>
                <a:cs typeface="Courier New" panose="02070309020205020404" pitchFamily="49" charset="0"/>
              </a:rPr>
              <a:t>     r2.run();</a:t>
            </a:r>
          </a:p>
          <a:p>
            <a:pPr marL="0" indent="0">
              <a:buNone/>
            </a:pPr>
            <a:r>
              <a:rPr lang="en-US" sz="1900" dirty="0">
                <a:latin typeface="Courier New" panose="02070309020205020404" pitchFamily="49" charset="0"/>
                <a:cs typeface="Courier New" panose="02070309020205020404" pitchFamily="49" charset="0"/>
              </a:rPr>
              <a:t>   }</a:t>
            </a:r>
          </a:p>
          <a:p>
            <a:pPr marL="0" indent="0">
              <a:buNone/>
            </a:pPr>
            <a:r>
              <a:rPr lang="en-US" sz="19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47446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in Java</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p>
          <a:p>
            <a:pPr lvl="1">
              <a:spcBef>
                <a:spcPct val="0"/>
              </a:spcBef>
              <a:buFontTx/>
              <a:buNone/>
            </a:pPr>
            <a:r>
              <a:rPr lang="is-IS" altLang="en-US" sz="2000" dirty="0">
                <a:solidFill>
                  <a:srgbClr val="0432FF"/>
                </a:solidFill>
                <a:latin typeface="Courier New" panose="02070309020205020404" pitchFamily="49" charset="0"/>
                <a:cs typeface="Courier New" panose="02070309020205020404" pitchFamily="49" charset="0"/>
              </a:rPr>
              <a:t>		// Traditional iterator</a:t>
            </a:r>
          </a:p>
          <a:p>
            <a:pPr lvl="1">
              <a:spcBef>
                <a:spcPct val="0"/>
              </a:spcBef>
              <a:buFontTx/>
              <a:buNone/>
            </a:pPr>
            <a:r>
              <a:rPr lang="is-I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for (String temp :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a:t>
            </a:r>
          </a:p>
          <a:p>
            <a:pPr lvl="1">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(temp);</a:t>
            </a:r>
          </a:p>
          <a:p>
            <a:pPr lvl="1">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p>
          <a:p>
            <a:pPr lvl="1">
              <a:spcBef>
                <a:spcPct val="0"/>
              </a:spcBef>
              <a:buFontTx/>
              <a:buNone/>
            </a:pPr>
            <a:r>
              <a:rPr lang="is-I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 Lambda expression to iterate a list</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someList.forEach</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(String temp) -&gt;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(temp);}</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FontTx/>
              <a:buNone/>
            </a:pPr>
            <a:endParaRPr lang="en-US" altLang="en-US" sz="2000" dirty="0">
              <a:solidFill>
                <a:srgbClr val="000000"/>
              </a:solidFill>
              <a:latin typeface="Courier New" panose="02070309020205020404" pitchFamily="49" charset="0"/>
              <a:cs typeface="Courier New" panose="02070309020205020404" pitchFamily="49" charset="0"/>
            </a:endParaRPr>
          </a:p>
          <a:p>
            <a:pPr lvl="1">
              <a:spcBef>
                <a:spcPct val="0"/>
              </a:spcBef>
              <a:buFontTx/>
              <a:buNone/>
            </a:pPr>
            <a:r>
              <a:rPr lang="is-IS" altLang="en-US" sz="2000" dirty="0">
                <a:solidFill>
                  <a:srgbClr val="0432FF"/>
                </a:solidFill>
                <a:latin typeface="Courier New" panose="02070309020205020404" pitchFamily="49" charset="0"/>
                <a:cs typeface="Courier New" panose="02070309020205020404" pitchFamily="49" charset="0"/>
              </a:rPr>
              <a:t>		</a:t>
            </a:r>
            <a:endParaRPr lang="en-US" altLang="en-US" sz="2000" dirty="0">
              <a:solidFill>
                <a:srgbClr val="000000"/>
              </a:solidFill>
              <a:latin typeface="Courier New" panose="02070309020205020404" pitchFamily="49" charset="0"/>
              <a:cs typeface="Courier New" panose="02070309020205020404" pitchFamily="49" charset="0"/>
            </a:endParaRP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a:t>
            </a:r>
          </a:p>
          <a:p>
            <a:pPr lvl="1">
              <a:spcBef>
                <a:spcPct val="0"/>
              </a:spcBef>
              <a:buFontTx/>
              <a:buNone/>
            </a:pPr>
            <a:endParaRPr lang="en-US" altLang="en-US" sz="2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12226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in Java 8</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p>
          <a:p>
            <a:pPr lvl="1">
              <a:spcBef>
                <a:spcPct val="0"/>
              </a:spcBef>
              <a:buFontTx/>
              <a:buNone/>
            </a:pPr>
            <a:r>
              <a:rPr lang="is-IS" altLang="en-US" sz="2000" dirty="0">
                <a:solidFill>
                  <a:srgbClr val="0432FF"/>
                </a:solidFill>
                <a:latin typeface="Courier New" panose="02070309020205020404" pitchFamily="49" charset="0"/>
                <a:cs typeface="Courier New" panose="02070309020205020404" pitchFamily="49" charset="0"/>
              </a:rPr>
              <a:t>		// shortened Lambda expression to iterate a list</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someList.forEach</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System.out</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println</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pPr>
            <a:r>
              <a:rPr lang="en-US" sz="2400" dirty="0"/>
              <a:t>The above example demonstrates a </a:t>
            </a:r>
            <a:r>
              <a:rPr lang="en-US" sz="2400" b="1" dirty="0"/>
              <a:t>method reference</a:t>
            </a:r>
          </a:p>
          <a:p>
            <a:pPr>
              <a:spcBef>
                <a:spcPct val="0"/>
              </a:spcBef>
            </a:pPr>
            <a:r>
              <a:rPr lang="en-US" sz="2400" dirty="0"/>
              <a:t>In a case where a method already exists to perform an operation on the class, this syntax can be used instead of the normal lambda expression syntax</a:t>
            </a:r>
            <a:endParaRPr lang="en-US" altLang="en-US" sz="24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91850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Runnable</a:t>
            </a:r>
          </a:p>
        </p:txBody>
      </p:sp>
      <p:sp>
        <p:nvSpPr>
          <p:cNvPr id="3" name="Content Placeholder 2"/>
          <p:cNvSpPr>
            <a:spLocks noGrp="1"/>
          </p:cNvSpPr>
          <p:nvPr>
            <p:ph idx="1"/>
          </p:nvPr>
        </p:nvSpPr>
        <p:spPr>
          <a:xfrm>
            <a:off x="838200" y="1825624"/>
            <a:ext cx="10515600" cy="4884458"/>
          </a:xfrm>
        </p:spPr>
        <p:txBody>
          <a:bodyPr>
            <a:noAutofit/>
          </a:bodyPr>
          <a:lstStyle/>
          <a:p>
            <a:pPr marL="0" indent="0">
              <a:buNone/>
            </a:pPr>
            <a:r>
              <a:rPr lang="is-IS" altLang="en-US" sz="2600" dirty="0">
                <a:solidFill>
                  <a:srgbClr val="0432FF"/>
                </a:solidFill>
                <a:latin typeface="Courier New" panose="02070309020205020404" pitchFamily="49" charset="0"/>
                <a:cs typeface="Courier New" panose="02070309020205020404" pitchFamily="49" charset="0"/>
              </a:rPr>
              <a:t> // Lambda expressions for Threads</a:t>
            </a:r>
          </a:p>
          <a:p>
            <a:pPr lvl="0">
              <a:spcBef>
                <a:spcPct val="0"/>
              </a:spcBef>
              <a:buNone/>
            </a:pPr>
            <a:r>
              <a:rPr lang="is-IS" altLang="en-US" sz="2600" dirty="0">
                <a:solidFill>
                  <a:srgbClr val="000000"/>
                </a:solidFill>
                <a:latin typeface="Courier New" panose="02070309020205020404" pitchFamily="49" charset="0"/>
                <a:cs typeface="Courier New" panose="02070309020205020404" pitchFamily="49" charset="0"/>
              </a:rPr>
              <a:t> 	</a:t>
            </a:r>
            <a:r>
              <a:rPr lang="en-US" altLang="en-US" sz="2600" dirty="0">
                <a:solidFill>
                  <a:srgbClr val="000000"/>
                </a:solidFill>
                <a:latin typeface="Courier New" panose="02070309020205020404" pitchFamily="49" charset="0"/>
                <a:cs typeface="Courier New" panose="02070309020205020404" pitchFamily="49" charset="0"/>
              </a:rPr>
              <a:t>Runnable task2 = () -&gt;</a:t>
            </a:r>
          </a:p>
          <a:p>
            <a:pPr lvl="0">
              <a:spcBef>
                <a:spcPct val="0"/>
              </a:spcBef>
              <a:buNone/>
            </a:pPr>
            <a:r>
              <a:rPr lang="en-US" altLang="en-US" sz="2600" dirty="0">
                <a:solidFill>
                  <a:srgbClr val="000000"/>
                </a:solidFill>
                <a:latin typeface="Courier New" panose="02070309020205020404" pitchFamily="49" charset="0"/>
                <a:cs typeface="Courier New" panose="02070309020205020404" pitchFamily="49" charset="0"/>
              </a:rPr>
              <a:t>		{</a:t>
            </a:r>
            <a:r>
              <a:rPr lang="en-US" altLang="en-US" sz="2600" dirty="0" err="1">
                <a:solidFill>
                  <a:srgbClr val="000000"/>
                </a:solidFill>
                <a:latin typeface="Courier New" panose="02070309020205020404" pitchFamily="49" charset="0"/>
                <a:cs typeface="Courier New" panose="02070309020205020404" pitchFamily="49" charset="0"/>
              </a:rPr>
              <a:t>System.out.println</a:t>
            </a:r>
            <a:r>
              <a:rPr lang="en-US" altLang="en-US" sz="2600" dirty="0">
                <a:solidFill>
                  <a:srgbClr val="000000"/>
                </a:solidFill>
                <a:latin typeface="Courier New" panose="02070309020205020404" pitchFamily="49" charset="0"/>
                <a:cs typeface="Courier New" panose="02070309020205020404" pitchFamily="49" charset="0"/>
              </a:rPr>
              <a:t>("Task #2 is running");};</a:t>
            </a:r>
          </a:p>
          <a:p>
            <a:pPr lvl="0">
              <a:spcBef>
                <a:spcPct val="0"/>
              </a:spcBef>
              <a:buNone/>
            </a:pPr>
            <a:r>
              <a:rPr lang="en-US" altLang="en-US" sz="2600" dirty="0">
                <a:solidFill>
                  <a:srgbClr val="000000"/>
                </a:solidFill>
                <a:latin typeface="Courier New" panose="02070309020205020404" pitchFamily="49" charset="0"/>
                <a:cs typeface="Courier New" panose="02070309020205020404" pitchFamily="49" charset="0"/>
              </a:rPr>
              <a:t> 	new Thread(task2).start();</a:t>
            </a:r>
          </a:p>
          <a:p>
            <a:pPr lvl="0">
              <a:spcBef>
                <a:spcPct val="0"/>
              </a:spcBef>
              <a:buNone/>
            </a:pPr>
            <a:r>
              <a:rPr lang="en-US" altLang="en-US" dirty="0">
                <a:solidFill>
                  <a:srgbClr val="000000"/>
                </a:solidFill>
                <a:latin typeface="Times New Roman" charset="0"/>
              </a:rPr>
              <a:t>				</a:t>
            </a:r>
            <a:endParaRPr lang="en-US" altLang="en-US" sz="3200" dirty="0">
              <a:solidFill>
                <a:srgbClr val="000000"/>
              </a:solidFill>
              <a:latin typeface="Times New Roman" charset="0"/>
            </a:endParaRPr>
          </a:p>
          <a:p>
            <a:pPr marL="228600" lvl="1">
              <a:spcBef>
                <a:spcPct val="0"/>
              </a:spcBef>
            </a:pPr>
            <a:r>
              <a:rPr lang="en-US" altLang="en-US" sz="2800" dirty="0">
                <a:ea typeface="MS PGothic" charset="-128"/>
              </a:rPr>
              <a:t>Creates a task object from the Runnable Interface</a:t>
            </a:r>
          </a:p>
          <a:p>
            <a:pPr marL="228600" lvl="1">
              <a:spcBef>
                <a:spcPct val="0"/>
              </a:spcBef>
            </a:pPr>
            <a:r>
              <a:rPr lang="en-US" altLang="en-US" sz="2800" dirty="0">
                <a:ea typeface="MS PGothic" charset="-128"/>
              </a:rPr>
              <a:t>Creates a thread and the task states how the thread will run</a:t>
            </a:r>
          </a:p>
        </p:txBody>
      </p:sp>
    </p:spTree>
    <p:extLst>
      <p:ext uri="{BB962C8B-B14F-4D97-AF65-F5344CB8AC3E}">
        <p14:creationId xmlns:p14="http://schemas.microsoft.com/office/powerpoint/2010/main" val="2038722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Runnable</a:t>
            </a:r>
          </a:p>
        </p:txBody>
      </p:sp>
      <p:sp>
        <p:nvSpPr>
          <p:cNvPr id="3" name="Content Placeholder 2"/>
          <p:cNvSpPr>
            <a:spLocks noGrp="1"/>
          </p:cNvSpPr>
          <p:nvPr>
            <p:ph idx="1"/>
          </p:nvPr>
        </p:nvSpPr>
        <p:spPr>
          <a:xfrm>
            <a:off x="838199" y="1825624"/>
            <a:ext cx="11081658" cy="4884458"/>
          </a:xfrm>
        </p:spPr>
        <p:txBody>
          <a:bodyPr>
            <a:noAutofit/>
          </a:bodyPr>
          <a:lstStyle/>
          <a:p>
            <a:pPr>
              <a:spcBef>
                <a:spcPct val="0"/>
              </a:spcBef>
              <a:buNone/>
            </a:pPr>
            <a:r>
              <a:rPr lang="is-IS" altLang="en-US" dirty="0">
                <a:solidFill>
                  <a:srgbClr val="0432FF"/>
                </a:solidFill>
                <a:latin typeface="Courier New" panose="02070309020205020404" pitchFamily="49" charset="0"/>
                <a:cs typeface="Courier New" panose="02070309020205020404" pitchFamily="49" charset="0"/>
              </a:rPr>
              <a:t>// Lambda expressions for Threads</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new Thread(()-&gt; {</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try {</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while (true){</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System.out.println</a:t>
            </a:r>
            <a:r>
              <a:rPr lang="en-US" altLang="en-US" dirty="0">
                <a:solidFill>
                  <a:srgbClr val="000000"/>
                </a:solidFill>
                <a:latin typeface="Courier New" panose="02070309020205020404" pitchFamily="49" charset="0"/>
                <a:cs typeface="Courier New" panose="02070309020205020404" pitchFamily="49" charset="0"/>
              </a:rPr>
              <a:t>("Task #1 is running");</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a:t>
            </a:r>
            <a:r>
              <a:rPr lang="en-US" altLang="en-US" dirty="0" err="1">
                <a:solidFill>
                  <a:srgbClr val="000000"/>
                </a:solidFill>
                <a:latin typeface="Courier New" panose="02070309020205020404" pitchFamily="49" charset="0"/>
                <a:cs typeface="Courier New" panose="02070309020205020404" pitchFamily="49" charset="0"/>
              </a:rPr>
              <a:t>Thread.sleep</a:t>
            </a:r>
            <a:r>
              <a:rPr lang="en-US" altLang="en-US" dirty="0">
                <a:solidFill>
                  <a:srgbClr val="000000"/>
                </a:solidFill>
                <a:latin typeface="Courier New" panose="02070309020205020404" pitchFamily="49" charset="0"/>
                <a:cs typeface="Courier New" panose="02070309020205020404" pitchFamily="49" charset="0"/>
              </a:rPr>
              <a:t>(200);</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catch (</a:t>
            </a:r>
            <a:r>
              <a:rPr lang="en-US" altLang="en-US" dirty="0" err="1">
                <a:solidFill>
                  <a:srgbClr val="000000"/>
                </a:solidFill>
                <a:latin typeface="Courier New" panose="02070309020205020404" pitchFamily="49" charset="0"/>
                <a:cs typeface="Courier New" panose="02070309020205020404" pitchFamily="49" charset="0"/>
              </a:rPr>
              <a:t>InterruptedException</a:t>
            </a:r>
            <a:r>
              <a:rPr lang="en-US" altLang="en-US" dirty="0">
                <a:solidFill>
                  <a:srgbClr val="000000"/>
                </a:solidFill>
                <a:latin typeface="Courier New" panose="02070309020205020404" pitchFamily="49" charset="0"/>
                <a:cs typeface="Courier New" panose="02070309020205020404" pitchFamily="49" charset="0"/>
              </a:rPr>
              <a:t> ex) {}</a:t>
            </a:r>
          </a:p>
          <a:p>
            <a:pPr lvl="0">
              <a:spcBef>
                <a:spcPct val="0"/>
              </a:spcBef>
              <a:buNone/>
            </a:pPr>
            <a:r>
              <a:rPr lang="en-US" altLang="en-US" dirty="0">
                <a:solidFill>
                  <a:srgbClr val="000000"/>
                </a:solidFill>
                <a:latin typeface="Courier New" panose="02070309020205020404" pitchFamily="49" charset="0"/>
                <a:cs typeface="Courier New" panose="02070309020205020404" pitchFamily="49" charset="0"/>
              </a:rPr>
              <a:t>    }).start();</a:t>
            </a:r>
          </a:p>
          <a:p>
            <a:pPr>
              <a:spcBef>
                <a:spcPct val="0"/>
              </a:spcBef>
            </a:pPr>
            <a:r>
              <a:rPr lang="en-US" altLang="en-US" dirty="0">
                <a:solidFill>
                  <a:srgbClr val="000000"/>
                </a:solidFill>
                <a:cs typeface="Courier New" panose="02070309020205020404" pitchFamily="49" charset="0"/>
              </a:rPr>
              <a:t>Creates a runnable object in an anonymous inner class</a:t>
            </a:r>
          </a:p>
        </p:txBody>
      </p:sp>
    </p:spTree>
    <p:extLst>
      <p:ext uri="{BB962C8B-B14F-4D97-AF65-F5344CB8AC3E}">
        <p14:creationId xmlns:p14="http://schemas.microsoft.com/office/powerpoint/2010/main" val="1606150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Streams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ea typeface="MS PGothic" charset="-128"/>
              </a:rPr>
              <a:t>The </a:t>
            </a:r>
            <a:r>
              <a:rPr lang="en-US" altLang="en-US" b="1" dirty="0">
                <a:ea typeface="MS PGothic" charset="-128"/>
              </a:rPr>
              <a:t>stream</a:t>
            </a:r>
            <a:r>
              <a:rPr lang="en-US" altLang="en-US" dirty="0">
                <a:ea typeface="MS PGothic" charset="-128"/>
              </a:rPr>
              <a:t> is a key abstraction used in lambda expressions</a:t>
            </a:r>
          </a:p>
          <a:p>
            <a:r>
              <a:rPr lang="en-US" dirty="0"/>
              <a:t>A stream is not a data structure that stores elements; instead, it conveys elements from a source such as a data structure, an array, a generator function, or an I/O channel, through a pipeline of computational operations</a:t>
            </a:r>
          </a:p>
          <a:p>
            <a:r>
              <a:rPr lang="en-US" altLang="en-US" dirty="0">
                <a:ea typeface="MS PGothic" charset="-128"/>
              </a:rPr>
              <a:t>Streams are functional in nature. An operation on a stream produces a result, but does not modify its source.</a:t>
            </a:r>
          </a:p>
          <a:p>
            <a:pPr lvl="1"/>
            <a:r>
              <a:rPr lang="en-US" altLang="en-US" sz="2800" dirty="0">
                <a:ea typeface="MS PGothic" charset="-128"/>
              </a:rPr>
              <a:t>Filtering does not modify the original source, but creates a new Stream without the filtered elements</a:t>
            </a:r>
          </a:p>
          <a:p>
            <a:r>
              <a:rPr lang="en-US" altLang="en-US" dirty="0">
                <a:ea typeface="MS PGothic" charset="-128"/>
              </a:rPr>
              <a:t>Many stream operations such as filtering, mapping, or duplicate removal can be implemented lazily, allowing for optimization</a:t>
            </a:r>
          </a:p>
        </p:txBody>
      </p:sp>
    </p:spTree>
    <p:extLst>
      <p:ext uri="{BB962C8B-B14F-4D97-AF65-F5344CB8AC3E}">
        <p14:creationId xmlns:p14="http://schemas.microsoft.com/office/powerpoint/2010/main" val="3114282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Maps</a:t>
            </a:r>
          </a:p>
        </p:txBody>
      </p:sp>
      <p:sp>
        <p:nvSpPr>
          <p:cNvPr id="5" name="Content Placeholder 2">
            <a:extLst>
              <a:ext uri="{FF2B5EF4-FFF2-40B4-BE49-F238E27FC236}">
                <a16:creationId xmlns:a16="http://schemas.microsoft.com/office/drawing/2014/main" id="{6C0F9AE5-264D-624A-836B-F2C66DC460FB}"/>
              </a:ext>
            </a:extLst>
          </p:cNvPr>
          <p:cNvSpPr>
            <a:spLocks noGrp="1"/>
          </p:cNvSpPr>
          <p:nvPr>
            <p:ph idx="1"/>
          </p:nvPr>
        </p:nvSpPr>
        <p:spPr>
          <a:xfrm>
            <a:off x="838200" y="1825625"/>
            <a:ext cx="10515600" cy="488473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map</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someList.stream</a:t>
            </a:r>
            <a:r>
              <a:rPr lang="en-US" sz="2000" dirty="0">
                <a:latin typeface="Courier New" panose="02070309020205020404" pitchFamily="49" charset="0"/>
                <a:cs typeface="Courier New" panose="02070309020205020404" pitchFamily="49" charset="0"/>
              </a:rPr>
              <a:t>().map(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(String s) -&gt; </a:t>
            </a:r>
            <a:r>
              <a:rPr lang="en-US" sz="2000" dirty="0" err="1">
                <a:latin typeface="Courier New" panose="02070309020205020404" pitchFamily="49" charset="0"/>
                <a:cs typeface="Courier New" panose="02070309020205020404" pitchFamily="49" charset="0"/>
              </a:rPr>
              <a:t>s.toUpperCase</a:t>
            </a:r>
            <a:r>
              <a:rPr lang="en-US" sz="2000" dirty="0">
                <a:latin typeface="Courier New" panose="02070309020205020404" pitchFamily="49" charset="0"/>
                <a:cs typeface="Courier New" panose="02070309020205020404" pitchFamily="49" charset="0"/>
              </a:rPr>
              <a:t>()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forEach</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System.out</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println</a:t>
            </a:r>
            <a:r>
              <a:rPr lang="en-US" sz="2000" dirty="0">
                <a:latin typeface="Courier New" panose="02070309020205020404" pitchFamily="49" charset="0"/>
                <a:cs typeface="Courier New" panose="02070309020205020404" pitchFamily="49" charset="0"/>
              </a:rPr>
              <a:t>);</a:t>
            </a:r>
          </a:p>
          <a:p>
            <a:pPr>
              <a:spcBef>
                <a:spcPct val="0"/>
              </a:spcBef>
              <a:buNone/>
            </a:pPr>
            <a:endParaRPr lang="en-US" sz="2000" dirty="0">
              <a:latin typeface="Courier New" panose="02070309020205020404" pitchFamily="49" charset="0"/>
              <a:cs typeface="Courier New" panose="02070309020205020404" pitchFamily="49" charset="0"/>
            </a:endParaRP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p>
          <a:p>
            <a:pPr lvl="1">
              <a:spcBef>
                <a:spcPct val="0"/>
              </a:spcBef>
              <a:buFontTx/>
              <a:buNone/>
            </a:pPr>
            <a:endParaRPr lang="en-US" altLang="en-US" sz="2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52786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Maps</a:t>
            </a:r>
          </a:p>
        </p:txBody>
      </p:sp>
      <p:sp>
        <p:nvSpPr>
          <p:cNvPr id="5" name="Content Placeholder 2">
            <a:extLst>
              <a:ext uri="{FF2B5EF4-FFF2-40B4-BE49-F238E27FC236}">
                <a16:creationId xmlns:a16="http://schemas.microsoft.com/office/drawing/2014/main" id="{6C0F9AE5-264D-624A-836B-F2C66DC460FB}"/>
              </a:ext>
            </a:extLst>
          </p:cNvPr>
          <p:cNvSpPr>
            <a:spLocks noGrp="1"/>
          </p:cNvSpPr>
          <p:nvPr>
            <p:ph idx="1"/>
          </p:nvPr>
        </p:nvSpPr>
        <p:spPr>
          <a:xfrm>
            <a:off x="838200" y="1825625"/>
            <a:ext cx="10515600" cy="488473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map</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someList.stream</a:t>
            </a:r>
            <a:r>
              <a:rPr lang="en-US" sz="2000" dirty="0">
                <a:latin typeface="Courier New" panose="02070309020205020404" pitchFamily="49" charset="0"/>
                <a:cs typeface="Courier New" panose="02070309020205020404" pitchFamily="49" charset="0"/>
              </a:rPr>
              <a:t>().map(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(String s) -&gt; </a:t>
            </a:r>
            <a:r>
              <a:rPr lang="en-US" sz="2000" dirty="0" err="1">
                <a:latin typeface="Courier New" panose="02070309020205020404" pitchFamily="49" charset="0"/>
                <a:cs typeface="Courier New" panose="02070309020205020404" pitchFamily="49" charset="0"/>
              </a:rPr>
              <a:t>s.toUpperCase</a:t>
            </a:r>
            <a:r>
              <a:rPr lang="en-US" sz="2000" dirty="0">
                <a:latin typeface="Courier New" panose="02070309020205020404" pitchFamily="49" charset="0"/>
                <a:cs typeface="Courier New" panose="02070309020205020404" pitchFamily="49" charset="0"/>
              </a:rPr>
              <a:t>()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forEach</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System.out</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println</a:t>
            </a:r>
            <a:r>
              <a:rPr lang="en-US" sz="2000" dirty="0">
                <a:latin typeface="Courier New" panose="02070309020205020404" pitchFamily="49" charset="0"/>
                <a:cs typeface="Courier New" panose="02070309020205020404" pitchFamily="49" charset="0"/>
              </a:rPr>
              <a:t>);</a:t>
            </a:r>
          </a:p>
          <a:p>
            <a:pPr>
              <a:spcBef>
                <a:spcPct val="0"/>
              </a:spcBef>
              <a:buNone/>
            </a:pPr>
            <a:endParaRPr lang="en-US" sz="2000" dirty="0">
              <a:latin typeface="Courier New" panose="02070309020205020404" pitchFamily="49" charset="0"/>
              <a:cs typeface="Courier New" panose="02070309020205020404" pitchFamily="49" charset="0"/>
            </a:endParaRP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pPr>
            <a:r>
              <a:rPr lang="en-US" altLang="en-US" sz="2400" dirty="0">
                <a:solidFill>
                  <a:srgbClr val="000000"/>
                </a:solidFill>
                <a:latin typeface="Calibri" panose="020F0502020204030204" pitchFamily="34" charset="0"/>
                <a:cs typeface="Calibri" panose="020F0502020204030204" pitchFamily="34" charset="0"/>
              </a:rPr>
              <a:t>Does this mean Lambda expressions can create functions as data?</a:t>
            </a:r>
          </a:p>
          <a:p>
            <a:pPr>
              <a:spcBef>
                <a:spcPct val="0"/>
              </a:spcBef>
            </a:pPr>
            <a:r>
              <a:rPr lang="en-US" altLang="en-US" sz="2400" dirty="0">
                <a:solidFill>
                  <a:srgbClr val="000000"/>
                </a:solidFill>
                <a:latin typeface="Calibri" panose="020F0502020204030204" pitchFamily="34" charset="0"/>
                <a:cs typeface="Calibri" panose="020F0502020204030204" pitchFamily="34" charset="0"/>
              </a:rPr>
              <a:t>To the API!</a:t>
            </a:r>
          </a:p>
        </p:txBody>
      </p:sp>
    </p:spTree>
    <p:extLst>
      <p:ext uri="{BB962C8B-B14F-4D97-AF65-F5344CB8AC3E}">
        <p14:creationId xmlns:p14="http://schemas.microsoft.com/office/powerpoint/2010/main" val="571151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Filters</a:t>
            </a:r>
          </a:p>
        </p:txBody>
      </p:sp>
      <p:sp>
        <p:nvSpPr>
          <p:cNvPr id="5" name="Content Placeholder 2">
            <a:extLst>
              <a:ext uri="{FF2B5EF4-FFF2-40B4-BE49-F238E27FC236}">
                <a16:creationId xmlns:a16="http://schemas.microsoft.com/office/drawing/2014/main" id="{6C0F9AE5-264D-624A-836B-F2C66DC460FB}"/>
              </a:ext>
            </a:extLst>
          </p:cNvPr>
          <p:cNvSpPr>
            <a:spLocks noGrp="1"/>
          </p:cNvSpPr>
          <p:nvPr>
            <p:ph idx="1"/>
          </p:nvPr>
        </p:nvSpPr>
        <p:spPr>
          <a:xfrm>
            <a:off x="838200" y="1830386"/>
            <a:ext cx="10515600" cy="488473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filter</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someList.stream</a:t>
            </a:r>
            <a:r>
              <a:rPr lang="en-US" sz="2000" dirty="0">
                <a:latin typeface="Courier New" panose="02070309020205020404" pitchFamily="49" charset="0"/>
                <a:cs typeface="Courier New" panose="02070309020205020404" pitchFamily="49" charset="0"/>
              </a:rPr>
              <a:t>().filter(</a:t>
            </a:r>
          </a:p>
          <a:p>
            <a:pPr>
              <a:spcBef>
                <a:spcPct val="0"/>
              </a:spcBef>
              <a:buNone/>
            </a:pPr>
            <a:r>
              <a:rPr lang="en-US" sz="2000" dirty="0">
                <a:latin typeface="Courier New" panose="02070309020205020404" pitchFamily="49" charset="0"/>
                <a:cs typeface="Courier New" panose="02070309020205020404" pitchFamily="49" charset="0"/>
              </a:rPr>
              <a:t>			(String s) -&gt; </a:t>
            </a:r>
            <a:r>
              <a:rPr lang="en-US" sz="2000" dirty="0" err="1">
                <a:latin typeface="Courier New" panose="02070309020205020404" pitchFamily="49" charset="0"/>
                <a:cs typeface="Courier New" panose="02070309020205020404" pitchFamily="49" charset="0"/>
              </a:rPr>
              <a:t>s.length</a:t>
            </a:r>
            <a:r>
              <a:rPr lang="en-US" sz="2000" dirty="0">
                <a:latin typeface="Courier New" panose="02070309020205020404" pitchFamily="49" charset="0"/>
                <a:cs typeface="Courier New" panose="02070309020205020404" pitchFamily="49" charset="0"/>
              </a:rPr>
              <a:t>() &gt; 3         	).</a:t>
            </a:r>
            <a:r>
              <a:rPr lang="en-US" sz="2000" dirty="0" err="1">
                <a:latin typeface="Courier New" panose="02070309020205020404" pitchFamily="49" charset="0"/>
                <a:cs typeface="Courier New" panose="02070309020205020404" pitchFamily="49" charset="0"/>
              </a:rPr>
              <a:t>forEach</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System.out</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println</a:t>
            </a:r>
            <a:r>
              <a:rPr lang="en-US" sz="2000" dirty="0">
                <a:latin typeface="Courier New" panose="02070309020205020404" pitchFamily="49" charset="0"/>
                <a:cs typeface="Courier New" panose="02070309020205020404" pitchFamily="49" charset="0"/>
              </a:rPr>
              <a:t>);</a:t>
            </a:r>
          </a:p>
          <a:p>
            <a:pPr>
              <a:spcBef>
                <a:spcPct val="0"/>
              </a:spcBef>
              <a:buNone/>
            </a:pPr>
            <a:endParaRPr lang="en-US" sz="2000" dirty="0">
              <a:latin typeface="Courier New" panose="02070309020205020404" pitchFamily="49" charset="0"/>
              <a:cs typeface="Courier New" panose="02070309020205020404" pitchFamily="49" charset="0"/>
            </a:endParaRPr>
          </a:p>
          <a:p>
            <a:pPr>
              <a:spcBef>
                <a:spcPct val="0"/>
              </a:spcBef>
              <a:buNone/>
            </a:pPr>
            <a:r>
              <a:rPr lang="is-IS" altLang="en-US" sz="2000" dirty="0">
                <a:solidFill>
                  <a:srgbClr val="0432FF"/>
                </a:solidFill>
                <a:latin typeface="Courier New" panose="02070309020205020404" pitchFamily="49" charset="0"/>
                <a:cs typeface="Courier New" panose="02070309020205020404" pitchFamily="49" charset="0"/>
              </a:rPr>
              <a:t>		//With a code block</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someList.stream</a:t>
            </a:r>
            <a:r>
              <a:rPr lang="en-US" sz="2000" dirty="0">
                <a:latin typeface="Courier New" panose="02070309020205020404" pitchFamily="49" charset="0"/>
                <a:cs typeface="Courier New" panose="02070309020205020404" pitchFamily="49" charset="0"/>
              </a:rPr>
              <a:t>().filter(          </a:t>
            </a:r>
          </a:p>
          <a:p>
            <a:pPr>
              <a:spcBef>
                <a:spcPct val="0"/>
              </a:spcBef>
              <a:buNone/>
            </a:pPr>
            <a:r>
              <a:rPr lang="en-US" sz="2000" dirty="0">
                <a:latin typeface="Courier New" panose="02070309020205020404" pitchFamily="49" charset="0"/>
                <a:cs typeface="Courier New" panose="02070309020205020404" pitchFamily="49" charset="0"/>
              </a:rPr>
              <a:t>			(s) -&gt; { 	         	</a:t>
            </a:r>
          </a:p>
          <a:p>
            <a:pPr>
              <a:spcBef>
                <a:spcPct val="0"/>
              </a:spcBef>
              <a:buNone/>
            </a:pPr>
            <a:r>
              <a:rPr lang="en-US" sz="2000" dirty="0">
                <a:latin typeface="Courier New" panose="02070309020205020404" pitchFamily="49" charset="0"/>
                <a:cs typeface="Courier New" panose="02070309020205020404" pitchFamily="49" charset="0"/>
              </a:rPr>
              <a:t>				String z=</a:t>
            </a:r>
            <a:r>
              <a:rPr lang="en-US" sz="2000" dirty="0" err="1">
                <a:latin typeface="Courier New" panose="02070309020205020404" pitchFamily="49" charset="0"/>
                <a:cs typeface="Courier New" panose="02070309020205020404" pitchFamily="49" charset="0"/>
              </a:rPr>
              <a:t>s.toUpperCase</a:t>
            </a:r>
            <a:r>
              <a:rPr lang="en-US" sz="2000" dirty="0">
                <a:latin typeface="Courier New" panose="02070309020205020404" pitchFamily="49" charset="0"/>
                <a:cs typeface="Courier New" panose="02070309020205020404" pitchFamily="49" charset="0"/>
              </a:rPr>
              <a:t>();</a:t>
            </a:r>
          </a:p>
          <a:p>
            <a:pPr>
              <a:spcBef>
                <a:spcPct val="0"/>
              </a:spcBef>
              <a:buNone/>
            </a:pPr>
            <a:r>
              <a:rPr lang="en-US" sz="2000" dirty="0">
                <a:latin typeface="Courier New" panose="02070309020205020404" pitchFamily="49" charset="0"/>
                <a:cs typeface="Courier New" panose="02070309020205020404" pitchFamily="49" charset="0"/>
              </a:rPr>
              <a:t>  	         	return (</a:t>
            </a:r>
            <a:r>
              <a:rPr lang="en-US" sz="2000" dirty="0" err="1">
                <a:latin typeface="Courier New" panose="02070309020205020404" pitchFamily="49" charset="0"/>
                <a:cs typeface="Courier New" panose="02070309020205020404" pitchFamily="49" charset="0"/>
              </a:rPr>
              <a:t>z.substring</a:t>
            </a:r>
            <a:r>
              <a:rPr lang="en-US" sz="2000" dirty="0">
                <a:latin typeface="Courier New" panose="02070309020205020404" pitchFamily="49" charset="0"/>
                <a:cs typeface="Courier New" panose="02070309020205020404" pitchFamily="49" charset="0"/>
              </a:rPr>
              <a:t>(1,3).</a:t>
            </a:r>
            <a:r>
              <a:rPr lang="en-US" sz="2000" dirty="0" err="1">
                <a:latin typeface="Courier New" panose="02070309020205020404" pitchFamily="49" charset="0"/>
                <a:cs typeface="Courier New" panose="02070309020205020404" pitchFamily="49" charset="0"/>
              </a:rPr>
              <a:t>compareTo</a:t>
            </a:r>
            <a:r>
              <a:rPr lang="en-US" sz="2000" dirty="0">
                <a:latin typeface="Courier New" panose="02070309020205020404" pitchFamily="49" charset="0"/>
                <a:cs typeface="Courier New" panose="02070309020205020404" pitchFamily="49" charset="0"/>
              </a:rPr>
              <a:t>("ON") == 0);              		}</a:t>
            </a:r>
          </a:p>
          <a:p>
            <a:pPr>
              <a:spcBef>
                <a:spcPct val="0"/>
              </a:spcBef>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forEach</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System.out</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println</a:t>
            </a:r>
            <a:r>
              <a:rPr lang="en-US" sz="2000" dirty="0">
                <a:latin typeface="Courier New" panose="02070309020205020404" pitchFamily="49" charset="0"/>
                <a:cs typeface="Courier New" panose="02070309020205020404" pitchFamily="49" charset="0"/>
              </a:rPr>
              <a: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362106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Filters</a:t>
            </a:r>
          </a:p>
        </p:txBody>
      </p:sp>
      <p:sp>
        <p:nvSpPr>
          <p:cNvPr id="5" name="Content Placeholder 2">
            <a:extLst>
              <a:ext uri="{FF2B5EF4-FFF2-40B4-BE49-F238E27FC236}">
                <a16:creationId xmlns:a16="http://schemas.microsoft.com/office/drawing/2014/main" id="{6C0F9AE5-264D-624A-836B-F2C66DC460FB}"/>
              </a:ext>
            </a:extLst>
          </p:cNvPr>
          <p:cNvSpPr>
            <a:spLocks noGrp="1"/>
          </p:cNvSpPr>
          <p:nvPr>
            <p:ph idx="1"/>
          </p:nvPr>
        </p:nvSpPr>
        <p:spPr>
          <a:xfrm>
            <a:off x="838200" y="1830386"/>
            <a:ext cx="10515600" cy="488473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filter</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someList.stream</a:t>
            </a:r>
            <a:r>
              <a:rPr lang="en-US" sz="2000" dirty="0">
                <a:latin typeface="Courier New" panose="02070309020205020404" pitchFamily="49" charset="0"/>
                <a:cs typeface="Courier New" panose="02070309020205020404" pitchFamily="49" charset="0"/>
              </a:rPr>
              <a:t>().filter(</a:t>
            </a:r>
          </a:p>
          <a:p>
            <a:pPr>
              <a:spcBef>
                <a:spcPct val="0"/>
              </a:spcBef>
              <a:buNone/>
            </a:pPr>
            <a:r>
              <a:rPr lang="en-US" sz="2000" dirty="0">
                <a:latin typeface="Courier New" panose="02070309020205020404" pitchFamily="49" charset="0"/>
                <a:cs typeface="Courier New" panose="02070309020205020404" pitchFamily="49" charset="0"/>
              </a:rPr>
              <a:t>			(String s) -&gt; </a:t>
            </a:r>
            <a:r>
              <a:rPr lang="en-US" sz="2000" dirty="0" err="1">
                <a:latin typeface="Courier New" panose="02070309020205020404" pitchFamily="49" charset="0"/>
                <a:cs typeface="Courier New" panose="02070309020205020404" pitchFamily="49" charset="0"/>
              </a:rPr>
              <a:t>s.length</a:t>
            </a:r>
            <a:r>
              <a:rPr lang="en-US" sz="2000" dirty="0">
                <a:latin typeface="Courier New" panose="02070309020205020404" pitchFamily="49" charset="0"/>
                <a:cs typeface="Courier New" panose="02070309020205020404" pitchFamily="49" charset="0"/>
              </a:rPr>
              <a:t>() &gt; 3         	).</a:t>
            </a:r>
            <a:r>
              <a:rPr lang="en-US" sz="2000" dirty="0" err="1">
                <a:latin typeface="Courier New" panose="02070309020205020404" pitchFamily="49" charset="0"/>
                <a:cs typeface="Courier New" panose="02070309020205020404" pitchFamily="49" charset="0"/>
              </a:rPr>
              <a:t>forEach</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System.out</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println</a:t>
            </a:r>
            <a:r>
              <a:rPr lang="en-US" sz="2000" dirty="0">
                <a:latin typeface="Courier New" panose="02070309020205020404" pitchFamily="49" charset="0"/>
                <a:cs typeface="Courier New" panose="02070309020205020404" pitchFamily="49" charset="0"/>
              </a:rPr>
              <a: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pPr>
            <a:r>
              <a:rPr lang="en-US" sz="2200" dirty="0"/>
              <a:t>The filter method takes a single predicate object</a:t>
            </a:r>
          </a:p>
          <a:p>
            <a:pPr>
              <a:spcBef>
                <a:spcPct val="0"/>
              </a:spcBef>
            </a:pPr>
            <a:r>
              <a:rPr lang="en-US" sz="2200" dirty="0"/>
              <a:t>Predicate is a functional interface </a:t>
            </a:r>
          </a:p>
          <a:p>
            <a:pPr lvl="1">
              <a:spcBef>
                <a:spcPct val="0"/>
              </a:spcBef>
            </a:pPr>
            <a:r>
              <a:rPr lang="en-US" sz="2000" dirty="0"/>
              <a:t>A predicate always returns a Boolean value</a:t>
            </a:r>
          </a:p>
          <a:p>
            <a:pPr>
              <a:spcBef>
                <a:spcPct val="0"/>
              </a:spcBef>
            </a:pPr>
            <a:r>
              <a:rPr lang="en-US" sz="2200" dirty="0"/>
              <a:t>The filter will return a stream object with all elements which return true for the given predicate</a:t>
            </a:r>
          </a:p>
          <a:p>
            <a:pPr>
              <a:spcBef>
                <a:spcPct val="0"/>
              </a:spcBef>
            </a:pPr>
            <a:r>
              <a:rPr lang="en-US" sz="2200" dirty="0"/>
              <a:t>Although predicate is a functional interface in Java, the concept of a predicate is more universal </a:t>
            </a:r>
          </a:p>
          <a:p>
            <a:pPr>
              <a:spcBef>
                <a:spcPct val="0"/>
              </a:spcBef>
              <a:buNone/>
            </a:pPr>
            <a:endParaRPr lang="en-US" altLang="en-US" sz="2000" dirty="0">
              <a:solidFill>
                <a:srgbClr val="00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521820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Reduce</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filter</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int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totalLength</a:t>
            </a:r>
            <a:r>
              <a:rPr lang="en-US" altLang="en-US" sz="2000" dirty="0">
                <a:solidFill>
                  <a:srgbClr val="000000"/>
                </a:solidFill>
                <a:latin typeface="Courier New" panose="02070309020205020404" pitchFamily="49" charset="0"/>
                <a:cs typeface="Courier New" panose="02070309020205020404" pitchFamily="49" charset="0"/>
              </a:rPr>
              <a:t> = </a:t>
            </a:r>
            <a:r>
              <a:rPr lang="en-US" altLang="en-US" sz="2000" dirty="0" err="1">
                <a:solidFill>
                  <a:srgbClr val="000000"/>
                </a:solidFill>
                <a:latin typeface="Courier New" panose="02070309020205020404" pitchFamily="49" charset="0"/>
                <a:cs typeface="Courier New" panose="02070309020205020404" pitchFamily="49" charset="0"/>
              </a:rPr>
              <a:t>someList</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.stream()</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.map(s -&gt; </a:t>
            </a:r>
            <a:r>
              <a:rPr lang="en-US" altLang="en-US" sz="2000" dirty="0" err="1">
                <a:solidFill>
                  <a:srgbClr val="000000"/>
                </a:solidFill>
                <a:latin typeface="Courier New" panose="02070309020205020404" pitchFamily="49" charset="0"/>
                <a:cs typeface="Courier New" panose="02070309020205020404" pitchFamily="49" charset="0"/>
              </a:rPr>
              <a:t>s.length</a:t>
            </a:r>
            <a:r>
              <a:rPr lang="en-US" altLang="en-US" sz="2000" dirty="0">
                <a:solidFill>
                  <a:srgbClr val="000000"/>
                </a:solidFill>
                <a:latin typeface="Courier New" panose="02070309020205020404" pitchFamily="49" charset="0"/>
                <a:cs typeface="Courier New" panose="02070309020205020404" pitchFamily="49" charset="0"/>
              </a:rPr>
              <a:t>())</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.reduce(0, (a, b) -&gt; a + b);          	</a:t>
            </a:r>
          </a:p>
          <a:p>
            <a:pPr>
              <a:spcBef>
                <a:spcPct val="0"/>
              </a:spcBef>
              <a:buNone/>
            </a:pP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totalLength</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pPr>
            <a:endParaRPr lang="en-US" altLang="en-US" sz="3200" dirty="0">
              <a:solidFill>
                <a:srgbClr val="000000"/>
              </a:solidFill>
              <a:latin typeface="Times New Roman" charset="0"/>
            </a:endParaRPr>
          </a:p>
          <a:p>
            <a:pPr marL="228600" lvl="1">
              <a:spcBef>
                <a:spcPct val="0"/>
              </a:spcBef>
            </a:pPr>
            <a:r>
              <a:rPr lang="en-US" altLang="en-US" sz="2800" dirty="0">
                <a:ea typeface="MS PGothic" charset="-128"/>
              </a:rPr>
              <a:t>Reduce takes in initial value, and a function of two elements of the same type (partial result, next element) that produces a new value</a:t>
            </a:r>
            <a:r>
              <a:rPr lang="en-US" altLang="en-US" sz="3200" dirty="0">
                <a:solidFill>
                  <a:srgbClr val="000000"/>
                </a:solidFill>
                <a:latin typeface="Times New Roman" charset="0"/>
              </a:rPr>
              <a:t>	</a:t>
            </a:r>
            <a:endParaRPr lang="en-US" altLang="en-US" sz="3200" dirty="0">
              <a:ea typeface="MS PGothic" charset="-128"/>
            </a:endParaRPr>
          </a:p>
        </p:txBody>
      </p:sp>
    </p:spTree>
    <p:extLst>
      <p:ext uri="{BB962C8B-B14F-4D97-AF65-F5344CB8AC3E}">
        <p14:creationId xmlns:p14="http://schemas.microsoft.com/office/powerpoint/2010/main" val="3588427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Reduce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ea typeface="MS PGothic" charset="-128"/>
              </a:rPr>
              <a:t>The </a:t>
            </a:r>
            <a:r>
              <a:rPr lang="en-US" altLang="en-US" b="1" dirty="0">
                <a:ea typeface="MS PGothic" charset="-128"/>
              </a:rPr>
              <a:t>r</a:t>
            </a:r>
            <a:r>
              <a:rPr lang="en-US" altLang="en-US" sz="2800" b="1" dirty="0">
                <a:ea typeface="MS PGothic" charset="-128"/>
              </a:rPr>
              <a:t>educe</a:t>
            </a:r>
            <a:r>
              <a:rPr lang="en-US" altLang="en-US" sz="2800" dirty="0">
                <a:ea typeface="MS PGothic" charset="-128"/>
              </a:rPr>
              <a:t> method expects two arguments: an identify element and a lambda expression. The identify element can be </a:t>
            </a:r>
            <a:r>
              <a:rPr lang="en-US" altLang="en-US" dirty="0">
                <a:ea typeface="MS PGothic" charset="-128"/>
              </a:rPr>
              <a:t>thought of as an element that does not alter the result of the reduction operation</a:t>
            </a:r>
          </a:p>
          <a:p>
            <a:pPr lvl="1"/>
            <a:r>
              <a:rPr lang="en-US" altLang="en-US" sz="2800" dirty="0">
                <a:ea typeface="MS PGothic" charset="-128"/>
              </a:rPr>
              <a:t>Example: if you are trying to find the product of all the elements in a stream of number, the identity element would be the number 1</a:t>
            </a:r>
          </a:p>
          <a:p>
            <a:r>
              <a:rPr lang="en-US" altLang="en-US" dirty="0">
                <a:ea typeface="MS PGothic" charset="-128"/>
              </a:rPr>
              <a:t>The lambda expression you pass to the reduce method must be capable of handling two inputs: a partial result of the reduction operation and the current element of the stream. The partial result is the result obtained after processing all the elements of the stream that came before the current element.</a:t>
            </a:r>
          </a:p>
          <a:p>
            <a:pPr marL="0" indent="0">
              <a:buNone/>
            </a:pPr>
            <a:endParaRPr lang="en-US" altLang="en-US" dirty="0">
              <a:ea typeface="MS PGothic" charset="-128"/>
            </a:endParaRPr>
          </a:p>
        </p:txBody>
      </p:sp>
    </p:spTree>
    <p:extLst>
      <p:ext uri="{BB962C8B-B14F-4D97-AF65-F5344CB8AC3E}">
        <p14:creationId xmlns:p14="http://schemas.microsoft.com/office/powerpoint/2010/main" val="591335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Reduce</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filter</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int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totalLength</a:t>
            </a:r>
            <a:r>
              <a:rPr lang="en-US" altLang="en-US" sz="2000" dirty="0">
                <a:solidFill>
                  <a:srgbClr val="000000"/>
                </a:solidFill>
                <a:latin typeface="Courier New" panose="02070309020205020404" pitchFamily="49" charset="0"/>
                <a:cs typeface="Courier New" panose="02070309020205020404" pitchFamily="49" charset="0"/>
              </a:rPr>
              <a:t> = </a:t>
            </a:r>
            <a:r>
              <a:rPr lang="en-US" altLang="en-US" sz="2000" dirty="0" err="1">
                <a:solidFill>
                  <a:srgbClr val="000000"/>
                </a:solidFill>
                <a:latin typeface="Courier New" panose="02070309020205020404" pitchFamily="49" charset="0"/>
                <a:cs typeface="Courier New" panose="02070309020205020404" pitchFamily="49" charset="0"/>
              </a:rPr>
              <a:t>someList</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.stream()</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.map(s -&gt; </a:t>
            </a:r>
            <a:r>
              <a:rPr lang="en-US" altLang="en-US" sz="2000" dirty="0" err="1">
                <a:solidFill>
                  <a:srgbClr val="000000"/>
                </a:solidFill>
                <a:latin typeface="Courier New" panose="02070309020205020404" pitchFamily="49" charset="0"/>
                <a:cs typeface="Courier New" panose="02070309020205020404" pitchFamily="49" charset="0"/>
              </a:rPr>
              <a:t>s.length</a:t>
            </a:r>
            <a:r>
              <a:rPr lang="en-US" altLang="en-US" sz="2000" dirty="0">
                <a:solidFill>
                  <a:srgbClr val="000000"/>
                </a:solidFill>
                <a:latin typeface="Courier New" panose="02070309020205020404" pitchFamily="49" charset="0"/>
                <a:cs typeface="Courier New" panose="02070309020205020404" pitchFamily="49" charset="0"/>
              </a:rPr>
              <a:t>())</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.reduce(0, (a, b) -&gt; a + b);          	</a:t>
            </a:r>
          </a:p>
          <a:p>
            <a:pPr>
              <a:spcBef>
                <a:spcPct val="0"/>
              </a:spcBef>
              <a:buNone/>
            </a:pP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totalLength</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endParaRPr lang="en-US" altLang="en-US" sz="3200" dirty="0">
              <a:solidFill>
                <a:srgbClr val="000000"/>
              </a:solidFill>
              <a:latin typeface="Times New Roman" charset="0"/>
            </a:endParaRPr>
          </a:p>
          <a:p>
            <a:pPr marL="228600" lvl="1">
              <a:spcBef>
                <a:spcPct val="0"/>
              </a:spcBef>
            </a:pPr>
            <a:r>
              <a:rPr lang="en-US" altLang="en-US" sz="2800" dirty="0">
                <a:ea typeface="MS PGothic" charset="-128"/>
              </a:rPr>
              <a:t>Reduce takes 0 as the initial value, and a function of two elements of the same type (a as the partial result, b as the next element) that produces a new value stored in </a:t>
            </a:r>
            <a:r>
              <a:rPr lang="en-US" altLang="en-US" sz="2800" dirty="0" err="1">
                <a:ea typeface="MS PGothic" charset="-128"/>
              </a:rPr>
              <a:t>totalLength</a:t>
            </a:r>
            <a:endParaRPr lang="en-US" altLang="en-US" sz="2800" dirty="0">
              <a:ea typeface="MS PGothic" charset="-128"/>
            </a:endParaRPr>
          </a:p>
        </p:txBody>
      </p:sp>
    </p:spTree>
    <p:extLst>
      <p:ext uri="{BB962C8B-B14F-4D97-AF65-F5344CB8AC3E}">
        <p14:creationId xmlns:p14="http://schemas.microsoft.com/office/powerpoint/2010/main" val="1948631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Reduce</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filter</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int</a:t>
            </a: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totalLength</a:t>
            </a:r>
            <a:r>
              <a:rPr lang="en-US" altLang="en-US" sz="2000" dirty="0">
                <a:solidFill>
                  <a:srgbClr val="000000"/>
                </a:solidFill>
                <a:latin typeface="Courier New" panose="02070309020205020404" pitchFamily="49" charset="0"/>
                <a:cs typeface="Courier New" panose="02070309020205020404" pitchFamily="49" charset="0"/>
              </a:rPr>
              <a:t> = </a:t>
            </a:r>
            <a:r>
              <a:rPr lang="en-US" altLang="en-US" sz="2000" dirty="0" err="1">
                <a:solidFill>
                  <a:srgbClr val="000000"/>
                </a:solidFill>
                <a:latin typeface="Courier New" panose="02070309020205020404" pitchFamily="49" charset="0"/>
                <a:cs typeface="Courier New" panose="02070309020205020404" pitchFamily="49" charset="0"/>
              </a:rPr>
              <a:t>someList</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.stream()</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mapToInt</a:t>
            </a:r>
            <a:r>
              <a:rPr lang="en-US" altLang="en-US" sz="2000" dirty="0">
                <a:solidFill>
                  <a:srgbClr val="000000"/>
                </a:solidFill>
                <a:latin typeface="Courier New" panose="02070309020205020404" pitchFamily="49" charset="0"/>
                <a:cs typeface="Courier New" panose="02070309020205020404" pitchFamily="49" charset="0"/>
              </a:rPr>
              <a:t>(String::length)</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.reduce(0, (a, b) -&gt; a + b);          	</a:t>
            </a:r>
          </a:p>
          <a:p>
            <a:pPr>
              <a:spcBef>
                <a:spcPct val="0"/>
              </a:spcBef>
              <a:buNone/>
            </a:pP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totalLength</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endParaRPr lang="en-US" altLang="en-US" sz="3200" dirty="0">
              <a:solidFill>
                <a:srgbClr val="000000"/>
              </a:solidFill>
              <a:latin typeface="Times New Roman" charset="0"/>
            </a:endParaRPr>
          </a:p>
          <a:p>
            <a:pPr marL="228600" lvl="1">
              <a:spcBef>
                <a:spcPct val="0"/>
              </a:spcBef>
            </a:pPr>
            <a:r>
              <a:rPr lang="en-US" altLang="en-US" sz="2800" dirty="0" err="1">
                <a:ea typeface="MS PGothic" charset="-128"/>
              </a:rPr>
              <a:t>mapToInt</a:t>
            </a:r>
            <a:r>
              <a:rPr lang="en-US" altLang="en-US" sz="2800" dirty="0">
                <a:ea typeface="MS PGothic" charset="-128"/>
              </a:rPr>
              <a:t> is more efficient than general map </a:t>
            </a:r>
          </a:p>
        </p:txBody>
      </p:sp>
    </p:spTree>
    <p:extLst>
      <p:ext uri="{BB962C8B-B14F-4D97-AF65-F5344CB8AC3E}">
        <p14:creationId xmlns:p14="http://schemas.microsoft.com/office/powerpoint/2010/main" val="19513132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Reduce</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filter</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String </a:t>
            </a:r>
            <a:r>
              <a:rPr lang="en-US" altLang="en-US" sz="2000" dirty="0" err="1">
                <a:solidFill>
                  <a:srgbClr val="000000"/>
                </a:solidFill>
                <a:latin typeface="Courier New" panose="02070309020205020404" pitchFamily="49" charset="0"/>
                <a:cs typeface="Courier New" panose="02070309020205020404" pitchFamily="49" charset="0"/>
              </a:rPr>
              <a:t>totalString</a:t>
            </a:r>
            <a:r>
              <a:rPr lang="en-US" altLang="en-US" sz="2000" dirty="0">
                <a:solidFill>
                  <a:srgbClr val="000000"/>
                </a:solidFill>
                <a:latin typeface="Courier New" panose="02070309020205020404" pitchFamily="49" charset="0"/>
                <a:cs typeface="Courier New" panose="02070309020205020404" pitchFamily="49" charset="0"/>
              </a:rPr>
              <a:t> = </a:t>
            </a:r>
            <a:r>
              <a:rPr lang="en-US" altLang="en-US" sz="2000" dirty="0" err="1">
                <a:solidFill>
                  <a:srgbClr val="000000"/>
                </a:solidFill>
                <a:latin typeface="Courier New" panose="02070309020205020404" pitchFamily="49" charset="0"/>
                <a:cs typeface="Courier New" panose="02070309020205020404" pitchFamily="49" charset="0"/>
              </a:rPr>
              <a:t>someList</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.stream()</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.reduce("", (a, b) -&gt; a + " " + b); 	</a:t>
            </a:r>
          </a:p>
          <a:p>
            <a:pPr>
              <a:spcBef>
                <a:spcPct val="0"/>
              </a:spcBef>
              <a:buNone/>
            </a:pP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totalString</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endParaRPr lang="en-US" altLang="en-US" sz="3200" dirty="0">
              <a:solidFill>
                <a:srgbClr val="000000"/>
              </a:solidFill>
              <a:latin typeface="Times New Roman" charset="0"/>
            </a:endParaRPr>
          </a:p>
          <a:p>
            <a:pPr marL="228600" lvl="1">
              <a:spcBef>
                <a:spcPct val="0"/>
              </a:spcBef>
            </a:pPr>
            <a:r>
              <a:rPr lang="en-US" altLang="en-US" sz="2800" dirty="0">
                <a:ea typeface="MS PGothic" charset="-128"/>
              </a:rPr>
              <a:t>Reduce takes "" as the initial value, and a function of two elements of the same type (a as the partial result, b as the next element) that produces a new value stored as total</a:t>
            </a:r>
          </a:p>
        </p:txBody>
      </p:sp>
    </p:spTree>
    <p:extLst>
      <p:ext uri="{BB962C8B-B14F-4D97-AF65-F5344CB8AC3E}">
        <p14:creationId xmlns:p14="http://schemas.microsoft.com/office/powerpoint/2010/main" val="16238203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Use of Collections</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lvl="1">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 Lambda expression to specify a comparator</a:t>
            </a:r>
          </a:p>
          <a:p>
            <a:pPr>
              <a:spcBef>
                <a:spcPct val="0"/>
              </a:spcBef>
              <a:buFontTx/>
              <a:buNone/>
            </a:pPr>
            <a:r>
              <a:rPr lang="is-I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Collections.sort</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(String s1, String s2)-&gt;s1.compareTo(s2));</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for (String </a:t>
            </a:r>
            <a:r>
              <a:rPr lang="en-US" altLang="en-US" sz="2000" dirty="0" err="1">
                <a:solidFill>
                  <a:srgbClr val="000000"/>
                </a:solidFill>
                <a:latin typeface="Courier New" panose="02070309020205020404" pitchFamily="49" charset="0"/>
                <a:cs typeface="Courier New" panose="02070309020205020404" pitchFamily="49" charset="0"/>
              </a:rPr>
              <a:t>s:someList</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(s);}</a:t>
            </a:r>
          </a:p>
          <a:p>
            <a:pPr>
              <a:spcBef>
                <a:spcPct val="0"/>
              </a:spcBef>
              <a:buFontTx/>
              <a:buNone/>
            </a:pPr>
            <a:endParaRPr lang="en-US" altLang="en-US" sz="2000" dirty="0">
              <a:solidFill>
                <a:srgbClr val="000000"/>
              </a:solidFill>
              <a:latin typeface="Courier New" panose="02070309020205020404" pitchFamily="49" charset="0"/>
              <a:cs typeface="Courier New" panose="02070309020205020404" pitchFamily="49" charset="0"/>
            </a:endParaRPr>
          </a:p>
          <a:p>
            <a:pPr lvl="1">
              <a:spcBef>
                <a:spcPct val="0"/>
              </a:spcBef>
              <a:buFontTx/>
              <a:buNone/>
            </a:pPr>
            <a:r>
              <a:rPr lang="is-I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 Lambda expression to specify a comparator</a:t>
            </a:r>
          </a:p>
          <a:p>
            <a:pPr>
              <a:spcBef>
                <a:spcPct val="0"/>
              </a:spcBef>
              <a:buFontTx/>
              <a:buNone/>
            </a:pPr>
            <a:r>
              <a:rPr lang="is-I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Collections.sort</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(s1, s2)-&gt;s2.compareTo(s1));</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endParaRPr lang="en-US" altLang="en-US" sz="3200" dirty="0">
              <a:solidFill>
                <a:srgbClr val="000000"/>
              </a:solidFill>
              <a:latin typeface="Times New Roman" charset="0"/>
            </a:endParaRPr>
          </a:p>
          <a:p>
            <a:pPr marL="228600" lvl="1">
              <a:spcBef>
                <a:spcPct val="0"/>
              </a:spcBef>
            </a:pPr>
            <a:r>
              <a:rPr lang="en-US" altLang="en-US" sz="2300" dirty="0">
                <a:ea typeface="MS PGothic" charset="-128"/>
              </a:rPr>
              <a:t>Declares the parameter type passed to the expression, optional since Lambda supports “target typing”, which infers the object type from the context</a:t>
            </a:r>
          </a:p>
          <a:p>
            <a:pPr marL="228600" lvl="1">
              <a:spcBef>
                <a:spcPct val="0"/>
              </a:spcBef>
            </a:pPr>
            <a:r>
              <a:rPr lang="en-US" altLang="en-US" sz="2300" dirty="0">
                <a:ea typeface="MS PGothic" charset="-128"/>
              </a:rPr>
              <a:t>Switching s2 for s1 and s1 for s2 in the </a:t>
            </a:r>
            <a:r>
              <a:rPr lang="en-US" altLang="en-US" sz="2300" dirty="0" err="1">
                <a:ea typeface="MS PGothic" charset="-128"/>
              </a:rPr>
              <a:t>compareTo</a:t>
            </a:r>
            <a:r>
              <a:rPr lang="en-US" altLang="en-US" sz="2300" dirty="0">
                <a:ea typeface="MS PGothic" charset="-128"/>
              </a:rPr>
              <a:t> statement allows the list to be sorted in the reverse direction.</a:t>
            </a:r>
          </a:p>
          <a:p>
            <a:pPr marL="228600" lvl="1">
              <a:spcBef>
                <a:spcPct val="0"/>
              </a:spcBef>
            </a:pPr>
            <a:endParaRPr lang="en-US" altLang="en-US" sz="2800" dirty="0">
              <a:ea typeface="MS PGothic" charset="-128"/>
            </a:endParaRPr>
          </a:p>
        </p:txBody>
      </p:sp>
    </p:spTree>
    <p:extLst>
      <p:ext uri="{BB962C8B-B14F-4D97-AF65-F5344CB8AC3E}">
        <p14:creationId xmlns:p14="http://schemas.microsoft.com/office/powerpoint/2010/main" val="3729812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Use of Collectors</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is-IS" altLang="en-US" sz="2000" dirty="0">
                <a:solidFill>
                  <a:srgbClr val="0432FF"/>
                </a:solidFill>
                <a:latin typeface="Courier New" panose="02070309020205020404" pitchFamily="49" charset="0"/>
                <a:cs typeface="Courier New" panose="02070309020205020404" pitchFamily="49" charset="0"/>
              </a:rPr>
              <a:t>//Lambda expression to specify a new collection using Collector</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List&lt;String&gt; collect = </a:t>
            </a:r>
            <a:r>
              <a:rPr lang="en-US" altLang="en-US" sz="2000" dirty="0" err="1">
                <a:solidFill>
                  <a:srgbClr val="000000"/>
                </a:solidFill>
                <a:latin typeface="Courier New" panose="02070309020205020404" pitchFamily="49" charset="0"/>
                <a:cs typeface="Courier New" panose="02070309020205020404" pitchFamily="49" charset="0"/>
              </a:rPr>
              <a:t>someList.stream</a:t>
            </a:r>
            <a:r>
              <a:rPr lang="en-US" altLang="en-US" sz="2000" dirty="0">
                <a:solidFill>
                  <a:srgbClr val="000000"/>
                </a:solidFill>
                <a:latin typeface="Courier New" panose="02070309020205020404" pitchFamily="49" charset="0"/>
                <a:cs typeface="Courier New" panose="02070309020205020404" pitchFamily="49" charset="0"/>
              </a:rPr>
              <a:t>().map(String </a:t>
            </a:r>
            <a:r>
              <a:rPr lang="en-US" altLang="en-US" sz="2000" dirty="0" err="1">
                <a:solidFill>
                  <a:srgbClr val="000000"/>
                </a:solidFill>
                <a:latin typeface="Courier New" panose="02070309020205020404" pitchFamily="49" charset="0"/>
                <a:cs typeface="Courier New" panose="02070309020205020404" pitchFamily="49" charset="0"/>
              </a:rPr>
              <a:t>toUpperCase</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.collect(</a:t>
            </a:r>
            <a:r>
              <a:rPr lang="en-US" altLang="en-US" sz="2000" dirty="0" err="1">
                <a:solidFill>
                  <a:srgbClr val="000000"/>
                </a:solidFill>
                <a:latin typeface="Courier New" panose="02070309020205020404" pitchFamily="49" charset="0"/>
                <a:cs typeface="Courier New" panose="02070309020205020404" pitchFamily="49" charset="0"/>
              </a:rPr>
              <a:t>Collectors.toList</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(collect);</a:t>
            </a:r>
          </a:p>
          <a:p>
            <a:pPr>
              <a:spcBef>
                <a:spcPct val="0"/>
              </a:spcBef>
              <a:buFontTx/>
              <a:buNone/>
            </a:pPr>
            <a:endParaRPr lang="en-US" altLang="en-US" sz="2000" dirty="0">
              <a:solidFill>
                <a:srgbClr val="000000"/>
              </a:solidFill>
              <a:latin typeface="Courier New" panose="02070309020205020404" pitchFamily="49" charset="0"/>
              <a:cs typeface="Courier New" panose="02070309020205020404" pitchFamily="49" charset="0"/>
            </a:endParaRP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//Lambda expression to specify a new collection using Collector</a:t>
            </a:r>
          </a:p>
          <a:p>
            <a:pPr>
              <a:spcBef>
                <a:spcPct val="0"/>
              </a:spcBef>
              <a:buFontTx/>
              <a:buNone/>
            </a:pPr>
            <a:r>
              <a:rPr lang="is-I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String total = </a:t>
            </a:r>
            <a:r>
              <a:rPr lang="en-US" altLang="en-US" sz="2000" dirty="0" err="1">
                <a:solidFill>
                  <a:srgbClr val="000000"/>
                </a:solidFill>
                <a:latin typeface="Courier New" panose="02070309020205020404" pitchFamily="49" charset="0"/>
                <a:cs typeface="Courier New" panose="02070309020205020404" pitchFamily="49" charset="0"/>
              </a:rPr>
              <a:t>someList.stream</a:t>
            </a:r>
            <a:r>
              <a:rPr lang="en-US" altLang="en-US" sz="2000" dirty="0">
                <a:solidFill>
                  <a:srgbClr val="000000"/>
                </a:solidFill>
                <a:latin typeface="Courier New" panose="02070309020205020404" pitchFamily="49" charset="0"/>
                <a:cs typeface="Courier New" panose="02070309020205020404" pitchFamily="49" charset="0"/>
              </a:rPr>
              <a:t>()</a:t>
            </a:r>
          </a:p>
          <a:p>
            <a:pPr>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.collect(</a:t>
            </a:r>
            <a:r>
              <a:rPr lang="en-US" altLang="en-US" sz="2000" dirty="0" err="1">
                <a:solidFill>
                  <a:srgbClr val="000000"/>
                </a:solidFill>
                <a:latin typeface="Courier New" panose="02070309020205020404" pitchFamily="49" charset="0"/>
                <a:cs typeface="Courier New" panose="02070309020205020404" pitchFamily="49" charset="0"/>
              </a:rPr>
              <a:t>Collectors.joining</a:t>
            </a:r>
            <a:r>
              <a:rPr lang="en-US" altLang="en-US" sz="2000" dirty="0">
                <a:solidFill>
                  <a:srgbClr val="000000"/>
                </a:solidFill>
                <a:latin typeface="Courier New" panose="02070309020205020404" pitchFamily="49" charset="0"/>
                <a:cs typeface="Courier New" panose="02070309020205020404" pitchFamily="49" charset="0"/>
              </a:rPr>
              <a:t>(“, “));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(total);</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endParaRPr lang="en-US" altLang="en-US" sz="3200" dirty="0">
              <a:solidFill>
                <a:srgbClr val="000000"/>
              </a:solidFill>
              <a:latin typeface="Times New Roman" charset="0"/>
            </a:endParaRPr>
          </a:p>
          <a:p>
            <a:pPr marL="228600" lvl="1">
              <a:spcBef>
                <a:spcPct val="0"/>
              </a:spcBef>
            </a:pPr>
            <a:r>
              <a:rPr lang="en-US" altLang="en-US" dirty="0">
                <a:ea typeface="MS PGothic" charset="-128"/>
              </a:rPr>
              <a:t>Collector creates a new collection or data element implementing various reduction operations to summarize elements according to the various criteria</a:t>
            </a:r>
          </a:p>
          <a:p>
            <a:pPr marL="228600" lvl="1">
              <a:spcBef>
                <a:spcPct val="0"/>
              </a:spcBef>
            </a:pPr>
            <a:endParaRPr lang="en-US" altLang="en-US" sz="2800" dirty="0">
              <a:ea typeface="MS PGothic" charset="-128"/>
            </a:endParaRPr>
          </a:p>
        </p:txBody>
      </p:sp>
    </p:spTree>
    <p:extLst>
      <p:ext uri="{BB962C8B-B14F-4D97-AF65-F5344CB8AC3E}">
        <p14:creationId xmlns:p14="http://schemas.microsoft.com/office/powerpoint/2010/main" val="611685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Use of Collectors</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br>
              <a:rPr lang="en-US" altLang="en-US" sz="2000" dirty="0">
                <a:solidFill>
                  <a:srgbClr val="000000"/>
                </a:solidFill>
                <a:latin typeface="Courier New" panose="02070309020205020404" pitchFamily="49" charset="0"/>
                <a:cs typeface="Courier New" panose="02070309020205020404" pitchFamily="49" charset="0"/>
              </a:rPr>
            </a:b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is-I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 Lambda expression to specify a specific collection </a:t>
            </a:r>
          </a:p>
          <a:p>
            <a:pPr lvl="0">
              <a:spcBef>
                <a:spcPct val="0"/>
              </a:spcBef>
              <a:buNone/>
            </a:pPr>
            <a:r>
              <a:rPr lang="is-I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List&lt;String&gt; collect = </a:t>
            </a:r>
            <a:r>
              <a:rPr lang="en-US" altLang="en-US" sz="2000" dirty="0" err="1">
                <a:solidFill>
                  <a:srgbClr val="000000"/>
                </a:solidFill>
                <a:latin typeface="Courier New" panose="02070309020205020404" pitchFamily="49" charset="0"/>
                <a:cs typeface="Courier New" panose="02070309020205020404" pitchFamily="49" charset="0"/>
              </a:rPr>
              <a:t>someList.stream</a:t>
            </a:r>
            <a:r>
              <a:rPr lang="en-US" altLang="en-US" sz="2000" dirty="0">
                <a:solidFill>
                  <a:srgbClr val="000000"/>
                </a:solidFill>
                <a:latin typeface="Courier New" panose="02070309020205020404" pitchFamily="49" charset="0"/>
                <a:cs typeface="Courier New" panose="02070309020205020404" pitchFamily="49" charset="0"/>
              </a:rPr>
              <a:t>()</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.map (String </a:t>
            </a:r>
            <a:r>
              <a:rPr lang="en-US" altLang="en-US" sz="2000" dirty="0" err="1">
                <a:solidFill>
                  <a:srgbClr val="000000"/>
                </a:solidFill>
                <a:latin typeface="Courier New" panose="02070309020205020404" pitchFamily="49" charset="0"/>
                <a:cs typeface="Courier New" panose="02070309020205020404" pitchFamily="49" charset="0"/>
              </a:rPr>
              <a:t>toUpperCase</a:t>
            </a:r>
            <a:r>
              <a:rPr lang="en-US" altLang="en-US" sz="2000" dirty="0">
                <a:solidFill>
                  <a:srgbClr val="000000"/>
                </a:solidFill>
                <a:latin typeface="Courier New" panose="02070309020205020404" pitchFamily="49" charset="0"/>
                <a:cs typeface="Courier New" panose="02070309020205020404" pitchFamily="49" charset="0"/>
              </a:rPr>
              <a:t>)</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.collect(</a:t>
            </a:r>
            <a:r>
              <a:rPr lang="en-US" altLang="en-US" sz="2000" dirty="0" err="1">
                <a:solidFill>
                  <a:srgbClr val="000000"/>
                </a:solidFill>
                <a:latin typeface="Courier New" panose="02070309020205020404" pitchFamily="49" charset="0"/>
                <a:cs typeface="Courier New" panose="02070309020205020404" pitchFamily="49" charset="0"/>
              </a:rPr>
              <a:t>Collectors.toCollection</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::new));				       	</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(collect);</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endParaRPr lang="en-US" altLang="en-US" sz="3200" dirty="0">
              <a:solidFill>
                <a:srgbClr val="000000"/>
              </a:solidFill>
              <a:latin typeface="Times New Roman" charset="0"/>
            </a:endParaRPr>
          </a:p>
          <a:p>
            <a:pPr marL="228600" lvl="1">
              <a:spcBef>
                <a:spcPct val="0"/>
              </a:spcBef>
            </a:pPr>
            <a:r>
              <a:rPr lang="en-US" altLang="en-US" dirty="0">
                <a:ea typeface="MS PGothic" charset="-128"/>
              </a:rPr>
              <a:t>Collector can create a specific collection</a:t>
            </a:r>
            <a:endParaRPr lang="en-US" altLang="en-US" sz="2800" dirty="0">
              <a:ea typeface="MS PGothic" charset="-128"/>
            </a:endParaRPr>
          </a:p>
        </p:txBody>
      </p:sp>
    </p:spTree>
    <p:extLst>
      <p:ext uri="{BB962C8B-B14F-4D97-AF65-F5344CB8AC3E}">
        <p14:creationId xmlns:p14="http://schemas.microsoft.com/office/powerpoint/2010/main" val="1177509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Example</a:t>
            </a:r>
          </a:p>
        </p:txBody>
      </p:sp>
      <p:sp>
        <p:nvSpPr>
          <p:cNvPr id="3" name="Content Placeholder 2"/>
          <p:cNvSpPr>
            <a:spLocks noGrp="1"/>
          </p:cNvSpPr>
          <p:nvPr>
            <p:ph idx="1"/>
          </p:nvPr>
        </p:nvSpPr>
        <p:spPr/>
        <p:txBody>
          <a:bodyPr>
            <a:normAutofit/>
          </a:bodyPr>
          <a:lstStyle/>
          <a:p>
            <a:r>
              <a:rPr lang="en-US" altLang="en-US" dirty="0">
                <a:ea typeface="MS PGothic" charset="-128"/>
              </a:rPr>
              <a:t>Given the list: Barb, Cal, Abe, Fred, Dan. How would you create a collection to print only the names sorted that start with “A”, “B”, or “C”?</a:t>
            </a:r>
          </a:p>
        </p:txBody>
      </p:sp>
    </p:spTree>
    <p:extLst>
      <p:ext uri="{BB962C8B-B14F-4D97-AF65-F5344CB8AC3E}">
        <p14:creationId xmlns:p14="http://schemas.microsoft.com/office/powerpoint/2010/main" val="33491653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Example</a:t>
            </a:r>
          </a:p>
        </p:txBody>
      </p:sp>
      <p:sp>
        <p:nvSpPr>
          <p:cNvPr id="3" name="Content Placeholder 2"/>
          <p:cNvSpPr>
            <a:spLocks noGrp="1"/>
          </p:cNvSpPr>
          <p:nvPr>
            <p:ph idx="1"/>
          </p:nvPr>
        </p:nvSpPr>
        <p:spPr/>
        <p:txBody>
          <a:bodyPr>
            <a:normAutofit fontScale="55000" lnSpcReduction="20000"/>
          </a:bodyPr>
          <a:lstStyle/>
          <a:p>
            <a:r>
              <a:rPr lang="en-US" altLang="en-US" sz="3600" dirty="0">
                <a:ea typeface="MS PGothic" charset="-128"/>
              </a:rPr>
              <a:t>Given the list: Barb, Cal, Abe, Fred, Dan. How would you create a collection to print only the names sorted that start with “A”, “B”, or “C”?</a:t>
            </a:r>
          </a:p>
          <a:p>
            <a:pPr marL="914400" lvl="2" indent="0">
              <a:buNone/>
            </a:pPr>
            <a:r>
              <a:rPr lang="en-US" sz="3300" dirty="0">
                <a:latin typeface="Courier New" panose="02070309020205020404" pitchFamily="49" charset="0"/>
                <a:cs typeface="Courier New" panose="02070309020205020404" pitchFamily="49" charset="0"/>
              </a:rPr>
              <a:t>List&lt;String&gt; </a:t>
            </a:r>
            <a:r>
              <a:rPr lang="en-US" sz="3300" dirty="0" err="1">
                <a:latin typeface="Courier New" panose="02070309020205020404" pitchFamily="49" charset="0"/>
                <a:cs typeface="Courier New" panose="02070309020205020404" pitchFamily="49" charset="0"/>
              </a:rPr>
              <a:t>someList</a:t>
            </a:r>
            <a:r>
              <a:rPr lang="en-US" sz="3300" dirty="0">
                <a:latin typeface="Courier New" panose="02070309020205020404" pitchFamily="49" charset="0"/>
                <a:cs typeface="Courier New" panose="02070309020205020404" pitchFamily="49" charset="0"/>
              </a:rPr>
              <a:t> = new </a:t>
            </a:r>
            <a:r>
              <a:rPr lang="en-US" sz="3300" dirty="0" err="1">
                <a:latin typeface="Courier New" panose="02070309020205020404" pitchFamily="49" charset="0"/>
                <a:cs typeface="Courier New" panose="02070309020205020404" pitchFamily="49" charset="0"/>
              </a:rPr>
              <a:t>ArrayList</a:t>
            </a:r>
            <a:r>
              <a:rPr lang="en-US" sz="3300" dirty="0">
                <a:latin typeface="Courier New" panose="02070309020205020404" pitchFamily="49" charset="0"/>
                <a:cs typeface="Courier New" panose="02070309020205020404" pitchFamily="49" charset="0"/>
              </a:rPr>
              <a:t>&lt;String&gt;();</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r>
              <a:rPr lang="en-US" sz="3300" dirty="0" err="1">
                <a:latin typeface="Courier New" panose="02070309020205020404" pitchFamily="49" charset="0"/>
                <a:cs typeface="Courier New" panose="02070309020205020404" pitchFamily="49" charset="0"/>
              </a:rPr>
              <a:t>someList.add</a:t>
            </a:r>
            <a:r>
              <a:rPr lang="en-US" sz="3300" dirty="0">
                <a:latin typeface="Courier New" panose="02070309020205020404" pitchFamily="49" charset="0"/>
                <a:cs typeface="Courier New" panose="02070309020205020404" pitchFamily="49" charset="0"/>
              </a:rPr>
              <a:t>("Barb");</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r>
              <a:rPr lang="en-US" sz="3300" dirty="0" err="1">
                <a:latin typeface="Courier New" panose="02070309020205020404" pitchFamily="49" charset="0"/>
                <a:cs typeface="Courier New" panose="02070309020205020404" pitchFamily="49" charset="0"/>
              </a:rPr>
              <a:t>someList.add</a:t>
            </a:r>
            <a:r>
              <a:rPr lang="en-US" sz="3300" dirty="0">
                <a:latin typeface="Courier New" panose="02070309020205020404" pitchFamily="49" charset="0"/>
                <a:cs typeface="Courier New" panose="02070309020205020404" pitchFamily="49" charset="0"/>
              </a:rPr>
              <a:t>("Cal");</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r>
              <a:rPr lang="en-US" sz="3300" dirty="0" err="1">
                <a:latin typeface="Courier New" panose="02070309020205020404" pitchFamily="49" charset="0"/>
                <a:cs typeface="Courier New" panose="02070309020205020404" pitchFamily="49" charset="0"/>
              </a:rPr>
              <a:t>someList.add</a:t>
            </a:r>
            <a:r>
              <a:rPr lang="en-US" sz="3300" dirty="0">
                <a:latin typeface="Courier New" panose="02070309020205020404" pitchFamily="49" charset="0"/>
                <a:cs typeface="Courier New" panose="02070309020205020404" pitchFamily="49" charset="0"/>
              </a:rPr>
              <a:t>("Abe");</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r>
              <a:rPr lang="en-US" sz="3300" dirty="0" err="1">
                <a:latin typeface="Courier New" panose="02070309020205020404" pitchFamily="49" charset="0"/>
                <a:cs typeface="Courier New" panose="02070309020205020404" pitchFamily="49" charset="0"/>
              </a:rPr>
              <a:t>someList.add</a:t>
            </a:r>
            <a:r>
              <a:rPr lang="en-US" sz="3300" dirty="0">
                <a:latin typeface="Courier New" panose="02070309020205020404" pitchFamily="49" charset="0"/>
                <a:cs typeface="Courier New" panose="02070309020205020404" pitchFamily="49" charset="0"/>
              </a:rPr>
              <a:t>("Fred");</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r>
              <a:rPr lang="en-US" sz="3300" dirty="0" err="1">
                <a:latin typeface="Courier New" panose="02070309020205020404" pitchFamily="49" charset="0"/>
                <a:cs typeface="Courier New" panose="02070309020205020404" pitchFamily="49" charset="0"/>
              </a:rPr>
              <a:t>someList.add</a:t>
            </a:r>
            <a:r>
              <a:rPr lang="en-US" sz="3300" dirty="0">
                <a:latin typeface="Courier New" panose="02070309020205020404" pitchFamily="49" charset="0"/>
                <a:cs typeface="Courier New" panose="02070309020205020404" pitchFamily="49" charset="0"/>
              </a:rPr>
              <a:t>("Dan");      </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List&lt;String&gt; collect = </a:t>
            </a:r>
            <a:r>
              <a:rPr lang="en-US" sz="3300" dirty="0" err="1">
                <a:latin typeface="Courier New" panose="02070309020205020404" pitchFamily="49" charset="0"/>
                <a:cs typeface="Courier New" panose="02070309020205020404" pitchFamily="49" charset="0"/>
              </a:rPr>
              <a:t>someList.stream</a:t>
            </a:r>
            <a:r>
              <a:rPr lang="en-US" sz="3300" dirty="0">
                <a:latin typeface="Courier New" panose="02070309020205020404" pitchFamily="49" charset="0"/>
                <a:cs typeface="Courier New" panose="02070309020205020404" pitchFamily="49" charset="0"/>
              </a:rPr>
              <a:t>().filter(</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(s)-&gt;{</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String z=</a:t>
            </a:r>
            <a:r>
              <a:rPr lang="en-US" sz="3300" dirty="0" err="1">
                <a:latin typeface="Courier New" panose="02070309020205020404" pitchFamily="49" charset="0"/>
                <a:cs typeface="Courier New" panose="02070309020205020404" pitchFamily="49" charset="0"/>
              </a:rPr>
              <a:t>s.toUpperCase</a:t>
            </a:r>
            <a:r>
              <a:rPr lang="en-US" sz="3300" dirty="0">
                <a:latin typeface="Courier New" panose="02070309020205020404" pitchFamily="49" charset="0"/>
                <a:cs typeface="Courier New" panose="02070309020205020404" pitchFamily="49" charset="0"/>
              </a:rPr>
              <a:t>();</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if(</a:t>
            </a:r>
            <a:r>
              <a:rPr lang="en-US" sz="3300" dirty="0" err="1">
                <a:latin typeface="Courier New" panose="02070309020205020404" pitchFamily="49" charset="0"/>
                <a:cs typeface="Courier New" panose="02070309020205020404" pitchFamily="49" charset="0"/>
              </a:rPr>
              <a:t>z.substring</a:t>
            </a:r>
            <a:r>
              <a:rPr lang="en-US" sz="3300" dirty="0">
                <a:latin typeface="Courier New" panose="02070309020205020404" pitchFamily="49" charset="0"/>
                <a:cs typeface="Courier New" panose="02070309020205020404" pitchFamily="49" charset="0"/>
              </a:rPr>
              <a:t>(0,1).</a:t>
            </a:r>
            <a:r>
              <a:rPr lang="en-US" sz="3300" dirty="0" err="1">
                <a:latin typeface="Courier New" panose="02070309020205020404" pitchFamily="49" charset="0"/>
                <a:cs typeface="Courier New" panose="02070309020205020404" pitchFamily="49" charset="0"/>
              </a:rPr>
              <a:t>compareTo</a:t>
            </a:r>
            <a:r>
              <a:rPr lang="en-US" sz="3300" dirty="0">
                <a:latin typeface="Courier New" panose="02070309020205020404" pitchFamily="49" charset="0"/>
                <a:cs typeface="Courier New" panose="02070309020205020404" pitchFamily="49" charset="0"/>
              </a:rPr>
              <a:t>("D")&lt;0)</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return true;</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else </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return false;</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).collect(</a:t>
            </a:r>
            <a:r>
              <a:rPr lang="en-US" sz="3300" dirty="0" err="1">
                <a:latin typeface="Courier New" panose="02070309020205020404" pitchFamily="49" charset="0"/>
                <a:cs typeface="Courier New" panose="02070309020205020404" pitchFamily="49" charset="0"/>
              </a:rPr>
              <a:t>Collectors.toCollection</a:t>
            </a:r>
            <a:r>
              <a:rPr lang="en-US" sz="3300" dirty="0">
                <a:latin typeface="Courier New" panose="02070309020205020404" pitchFamily="49" charset="0"/>
                <a:cs typeface="Courier New" panose="02070309020205020404" pitchFamily="49" charset="0"/>
              </a:rPr>
              <a:t>(</a:t>
            </a:r>
            <a:r>
              <a:rPr lang="en-US" sz="3300" dirty="0" err="1">
                <a:latin typeface="Courier New" panose="02070309020205020404" pitchFamily="49" charset="0"/>
                <a:cs typeface="Courier New" panose="02070309020205020404" pitchFamily="49" charset="0"/>
              </a:rPr>
              <a:t>ArrayList</a:t>
            </a:r>
            <a:r>
              <a:rPr lang="en-US" sz="3300" dirty="0">
                <a:latin typeface="Courier New" panose="02070309020205020404" pitchFamily="49" charset="0"/>
                <a:cs typeface="Courier New" panose="02070309020205020404" pitchFamily="49" charset="0"/>
              </a:rPr>
              <a:t>::new));</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r>
              <a:rPr lang="en-US" sz="3300" dirty="0" err="1">
                <a:latin typeface="Courier New" panose="02070309020205020404" pitchFamily="49" charset="0"/>
                <a:cs typeface="Courier New" panose="02070309020205020404" pitchFamily="49" charset="0"/>
              </a:rPr>
              <a:t>Collections.sort</a:t>
            </a:r>
            <a:r>
              <a:rPr lang="en-US" sz="3300" dirty="0">
                <a:latin typeface="Courier New" panose="02070309020205020404" pitchFamily="49" charset="0"/>
                <a:cs typeface="Courier New" panose="02070309020205020404" pitchFamily="49" charset="0"/>
              </a:rPr>
              <a:t>(collect, (s1, s2)-&gt;s1.compareTo(s2));</a:t>
            </a:r>
            <a:br>
              <a:rPr lang="en-US" sz="3300" dirty="0">
                <a:latin typeface="Courier New" panose="02070309020205020404" pitchFamily="49" charset="0"/>
                <a:cs typeface="Courier New" panose="02070309020205020404" pitchFamily="49" charset="0"/>
              </a:rPr>
            </a:br>
            <a:r>
              <a:rPr lang="en-US" sz="3300" dirty="0">
                <a:latin typeface="Courier New" panose="02070309020205020404" pitchFamily="49" charset="0"/>
                <a:cs typeface="Courier New" panose="02070309020205020404" pitchFamily="49" charset="0"/>
              </a:rPr>
              <a:t>      </a:t>
            </a:r>
            <a:r>
              <a:rPr lang="en-US" sz="3300" dirty="0" err="1">
                <a:latin typeface="Courier New" panose="02070309020205020404" pitchFamily="49" charset="0"/>
                <a:cs typeface="Courier New" panose="02070309020205020404" pitchFamily="49" charset="0"/>
              </a:rPr>
              <a:t>System.out.println</a:t>
            </a:r>
            <a:r>
              <a:rPr lang="en-US" sz="3300" dirty="0">
                <a:latin typeface="Courier New" panose="02070309020205020404" pitchFamily="49" charset="0"/>
                <a:cs typeface="Courier New" panose="02070309020205020404" pitchFamily="49" charset="0"/>
              </a:rPr>
              <a:t>(collect);</a:t>
            </a:r>
            <a:endParaRPr lang="en-US" altLang="en-US" sz="3300" dirty="0">
              <a:latin typeface="Courier New" panose="02070309020205020404" pitchFamily="49" charset="0"/>
              <a:ea typeface="MS PGothic" charset="-128"/>
              <a:cs typeface="Courier New" panose="02070309020205020404" pitchFamily="49" charset="0"/>
            </a:endParaRPr>
          </a:p>
        </p:txBody>
      </p:sp>
    </p:spTree>
    <p:extLst>
      <p:ext uri="{BB962C8B-B14F-4D97-AF65-F5344CB8AC3E}">
        <p14:creationId xmlns:p14="http://schemas.microsoft.com/office/powerpoint/2010/main" val="758679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Parallel Streams</a:t>
            </a:r>
          </a:p>
        </p:txBody>
      </p:sp>
      <p:sp>
        <p:nvSpPr>
          <p:cNvPr id="3" name="Content Placeholder 2"/>
          <p:cNvSpPr>
            <a:spLocks noGrp="1"/>
          </p:cNvSpPr>
          <p:nvPr>
            <p:ph idx="1"/>
          </p:nvPr>
        </p:nvSpPr>
        <p:spPr>
          <a:xfrm>
            <a:off x="838200" y="1825624"/>
            <a:ext cx="10515600" cy="4884458"/>
          </a:xfrm>
        </p:spPr>
        <p:txBody>
          <a:bodyPr>
            <a:noAutofit/>
          </a:bodyPr>
          <a:lstStyle/>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public static void main(String[] </a:t>
            </a:r>
            <a:r>
              <a:rPr lang="en-US" altLang="en-US" sz="2000" dirty="0" err="1">
                <a:solidFill>
                  <a:srgbClr val="000000"/>
                </a:solidFill>
                <a:latin typeface="Courier New" panose="02070309020205020404" pitchFamily="49" charset="0"/>
                <a:cs typeface="Courier New" panose="02070309020205020404" pitchFamily="49" charset="0"/>
              </a:rPr>
              <a:t>args</a:t>
            </a:r>
            <a:r>
              <a:rPr lang="en-US" altLang="en-US" sz="2000" dirty="0">
                <a:solidFill>
                  <a:srgbClr val="000000"/>
                </a:solidFill>
                <a:latin typeface="Courier New" panose="02070309020205020404" pitchFamily="49" charset="0"/>
                <a:cs typeface="Courier New" panose="02070309020205020404" pitchFamily="49"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List&lt;String&gt; </a:t>
            </a:r>
            <a:r>
              <a:rPr lang="en-US" altLang="en-US" sz="2000" dirty="0" err="1">
                <a:solidFill>
                  <a:srgbClr val="000000"/>
                </a:solidFill>
                <a:latin typeface="Courier New" panose="02070309020205020404" pitchFamily="49" charset="0"/>
                <a:cs typeface="Courier New" panose="02070309020205020404" pitchFamily="49" charset="0"/>
              </a:rPr>
              <a:t>someList</a:t>
            </a:r>
            <a:r>
              <a:rPr lang="en-US" altLang="en-US" sz="2000" dirty="0">
                <a:solidFill>
                  <a:srgbClr val="000000"/>
                </a:solidFill>
                <a:latin typeface="Courier New" panose="02070309020205020404" pitchFamily="49" charset="0"/>
                <a:cs typeface="Courier New" panose="02070309020205020404" pitchFamily="49" charset="0"/>
              </a:rPr>
              <a:t> = new </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&lt;String&gt;();</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("Jane");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("Joe"); </a:t>
            </a:r>
          </a:p>
          <a:p>
            <a:pPr lvl="1">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("Mark"); </a:t>
            </a:r>
            <a:r>
              <a:rPr lang="en-US" altLang="en-US" sz="2000" dirty="0" err="1">
                <a:solidFill>
                  <a:srgbClr val="000000"/>
                </a:solidFill>
                <a:latin typeface="Courier New" panose="02070309020205020404" pitchFamily="49" charset="0"/>
                <a:cs typeface="Courier New" panose="02070309020205020404" pitchFamily="49" charset="0"/>
              </a:rPr>
              <a:t>someList.add</a:t>
            </a:r>
            <a:r>
              <a:rPr lang="en-US" altLang="en-US" sz="2000" dirty="0">
                <a:solidFill>
                  <a:srgbClr val="000000"/>
                </a:solidFill>
                <a:latin typeface="Courier New" panose="02070309020205020404" pitchFamily="49" charset="0"/>
                <a:cs typeface="Courier New" panose="02070309020205020404" pitchFamily="49" charset="0"/>
              </a:rPr>
              <a:t>("Donna")</a:t>
            </a:r>
          </a:p>
          <a:p>
            <a:pPr lvl="1">
              <a:spcBef>
                <a:spcPct val="0"/>
              </a:spcBef>
              <a:buFontTx/>
              <a:buNone/>
            </a:pPr>
            <a:r>
              <a:rPr lang="en-US" altLang="en-US" sz="2000" dirty="0">
                <a:solidFill>
                  <a:srgbClr val="000000"/>
                </a:solidFill>
                <a:latin typeface="Courier New" panose="02070309020205020404" pitchFamily="49" charset="0"/>
                <a:cs typeface="Courier New" panose="02070309020205020404" pitchFamily="49" charset="0"/>
              </a:rPr>
              <a:t>		</a:t>
            </a:r>
            <a:br>
              <a:rPr lang="en-US" altLang="en-US" sz="2000" dirty="0">
                <a:solidFill>
                  <a:srgbClr val="000000"/>
                </a:solidFill>
                <a:latin typeface="Courier New" panose="02070309020205020404" pitchFamily="49" charset="0"/>
                <a:cs typeface="Courier New" panose="02070309020205020404" pitchFamily="49" charset="0"/>
              </a:rPr>
            </a:br>
            <a:r>
              <a:rPr lang="is-IS" altLang="en-US" sz="2000" dirty="0">
                <a:solidFill>
                  <a:srgbClr val="000000"/>
                </a:solidFill>
                <a:latin typeface="Courier New" panose="02070309020205020404" pitchFamily="49" charset="0"/>
                <a:cs typeface="Courier New" panose="02070309020205020404" pitchFamily="49" charset="0"/>
              </a:rPr>
              <a:t>	</a:t>
            </a:r>
            <a:r>
              <a:rPr lang="is-IS" altLang="en-US" sz="2000" dirty="0">
                <a:solidFill>
                  <a:srgbClr val="0432FF"/>
                </a:solidFill>
                <a:latin typeface="Courier New" panose="02070309020205020404" pitchFamily="49" charset="0"/>
                <a:cs typeface="Courier New" panose="02070309020205020404" pitchFamily="49" charset="0"/>
              </a:rPr>
              <a:t>// Lambda expressions running in parallel</a:t>
            </a:r>
          </a:p>
          <a:p>
            <a:pPr lvl="0">
              <a:spcBef>
                <a:spcPct val="0"/>
              </a:spcBef>
              <a:buNone/>
            </a:pPr>
            <a:r>
              <a:rPr lang="is-IS" altLang="en-US" sz="2000" dirty="0">
                <a:solidFill>
                  <a:srgbClr val="000000"/>
                </a:solidFill>
                <a:latin typeface="Courier New" panose="02070309020205020404" pitchFamily="49" charset="0"/>
                <a:cs typeface="Courier New" panose="02070309020205020404" pitchFamily="49" charset="0"/>
              </a:rPr>
              <a:t> 		</a:t>
            </a:r>
            <a:r>
              <a:rPr lang="en-US" altLang="en-US" sz="2000" dirty="0">
                <a:solidFill>
                  <a:srgbClr val="000000"/>
                </a:solidFill>
                <a:latin typeface="Courier New" panose="02070309020205020404" pitchFamily="49" charset="0"/>
                <a:cs typeface="Courier New" panose="02070309020205020404" pitchFamily="49" charset="0"/>
              </a:rPr>
              <a:t>List&lt;String&gt; collect = </a:t>
            </a:r>
            <a:r>
              <a:rPr lang="en-US" altLang="en-US" sz="2000" dirty="0" err="1">
                <a:solidFill>
                  <a:srgbClr val="000000"/>
                </a:solidFill>
                <a:latin typeface="Courier New" panose="02070309020205020404" pitchFamily="49" charset="0"/>
                <a:cs typeface="Courier New" panose="02070309020205020404" pitchFamily="49" charset="0"/>
              </a:rPr>
              <a:t>someList.stream</a:t>
            </a:r>
            <a:r>
              <a:rPr lang="en-US" altLang="en-US" sz="2000" dirty="0">
                <a:solidFill>
                  <a:srgbClr val="000000"/>
                </a:solidFill>
                <a:latin typeface="Courier New" panose="02070309020205020404" pitchFamily="49" charset="0"/>
                <a:cs typeface="Courier New" panose="02070309020205020404" pitchFamily="49" charset="0"/>
              </a:rPr>
              <a:t>()</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.parallel()</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.filter ((String s) -&gt; </a:t>
            </a:r>
            <a:r>
              <a:rPr lang="en-US" altLang="en-US" sz="2000" dirty="0" err="1">
                <a:solidFill>
                  <a:srgbClr val="000000"/>
                </a:solidFill>
                <a:latin typeface="Courier New" panose="02070309020205020404" pitchFamily="49" charset="0"/>
                <a:cs typeface="Courier New" panose="02070309020205020404" pitchFamily="49" charset="0"/>
              </a:rPr>
              <a:t>s.length</a:t>
            </a:r>
            <a:r>
              <a:rPr lang="en-US" altLang="en-US" sz="2000" dirty="0">
                <a:solidFill>
                  <a:srgbClr val="000000"/>
                </a:solidFill>
                <a:latin typeface="Courier New" panose="02070309020205020404" pitchFamily="49" charset="0"/>
                <a:cs typeface="Courier New" panose="02070309020205020404" pitchFamily="49" charset="0"/>
              </a:rPr>
              <a:t>()&gt;3)</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.sequential()</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.map (String::</a:t>
            </a:r>
            <a:r>
              <a:rPr lang="en-US" altLang="en-US" sz="2000" dirty="0" err="1">
                <a:solidFill>
                  <a:srgbClr val="000000"/>
                </a:solidFill>
                <a:latin typeface="Courier New" panose="02070309020205020404" pitchFamily="49" charset="0"/>
                <a:cs typeface="Courier New" panose="02070309020205020404" pitchFamily="49" charset="0"/>
              </a:rPr>
              <a:t>toUpperCase</a:t>
            </a:r>
            <a:r>
              <a:rPr lang="en-US" altLang="en-US" sz="2000" dirty="0">
                <a:solidFill>
                  <a:srgbClr val="000000"/>
                </a:solidFill>
                <a:latin typeface="Courier New" panose="02070309020205020404" pitchFamily="49" charset="0"/>
                <a:cs typeface="Courier New" panose="02070309020205020404" pitchFamily="49" charset="0"/>
              </a:rPr>
              <a:t>)</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.collect(</a:t>
            </a:r>
            <a:r>
              <a:rPr lang="en-US" altLang="en-US" sz="2000" dirty="0" err="1">
                <a:solidFill>
                  <a:srgbClr val="000000"/>
                </a:solidFill>
                <a:latin typeface="Courier New" panose="02070309020205020404" pitchFamily="49" charset="0"/>
                <a:cs typeface="Courier New" panose="02070309020205020404" pitchFamily="49" charset="0"/>
              </a:rPr>
              <a:t>Collectors.toCollection</a:t>
            </a:r>
            <a:r>
              <a:rPr lang="en-US" altLang="en-US" sz="2000" dirty="0">
                <a:solidFill>
                  <a:srgbClr val="000000"/>
                </a:solidFill>
                <a:latin typeface="Courier New" panose="02070309020205020404" pitchFamily="49" charset="0"/>
                <a:cs typeface="Courier New" panose="02070309020205020404" pitchFamily="49" charset="0"/>
              </a:rPr>
              <a:t>(</a:t>
            </a:r>
            <a:r>
              <a:rPr lang="en-US" altLang="en-US" sz="2000" dirty="0" err="1">
                <a:solidFill>
                  <a:srgbClr val="000000"/>
                </a:solidFill>
                <a:latin typeface="Courier New" panose="02070309020205020404" pitchFamily="49" charset="0"/>
                <a:cs typeface="Courier New" panose="02070309020205020404" pitchFamily="49" charset="0"/>
              </a:rPr>
              <a:t>ArrayList</a:t>
            </a:r>
            <a:r>
              <a:rPr lang="en-US" altLang="en-US" sz="2000" dirty="0">
                <a:solidFill>
                  <a:srgbClr val="000000"/>
                </a:solidFill>
                <a:latin typeface="Courier New" panose="02070309020205020404" pitchFamily="49" charset="0"/>
                <a:cs typeface="Courier New" panose="02070309020205020404" pitchFamily="49" charset="0"/>
              </a:rPr>
              <a:t>::new));	       </a:t>
            </a:r>
          </a:p>
          <a:p>
            <a:pPr lvl="0">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		</a:t>
            </a:r>
            <a:r>
              <a:rPr lang="en-US" altLang="en-US" sz="2000" dirty="0" err="1">
                <a:solidFill>
                  <a:srgbClr val="000000"/>
                </a:solidFill>
                <a:latin typeface="Courier New" panose="02070309020205020404" pitchFamily="49" charset="0"/>
                <a:cs typeface="Courier New" panose="02070309020205020404" pitchFamily="49" charset="0"/>
              </a:rPr>
              <a:t>System.out.println</a:t>
            </a:r>
            <a:r>
              <a:rPr lang="en-US" altLang="en-US" sz="2000" dirty="0">
                <a:solidFill>
                  <a:srgbClr val="000000"/>
                </a:solidFill>
                <a:latin typeface="Courier New" panose="02070309020205020404" pitchFamily="49" charset="0"/>
                <a:cs typeface="Courier New" panose="02070309020205020404" pitchFamily="49" charset="0"/>
              </a:rPr>
              <a:t>(collect);</a:t>
            </a:r>
            <a:r>
              <a:rPr lang="en-US" altLang="en-US" dirty="0">
                <a:solidFill>
                  <a:srgbClr val="000000"/>
                </a:solidFill>
                <a:latin typeface="Times New Roman" charset="0"/>
              </a:rPr>
              <a:t>	</a:t>
            </a:r>
          </a:p>
          <a:p>
            <a:pPr>
              <a:spcBef>
                <a:spcPct val="0"/>
              </a:spcBef>
              <a:buNone/>
            </a:pPr>
            <a:r>
              <a:rPr lang="en-US" altLang="en-US" sz="2000" dirty="0">
                <a:solidFill>
                  <a:srgbClr val="000000"/>
                </a:solidFill>
                <a:latin typeface="Courier New" panose="02070309020205020404" pitchFamily="49" charset="0"/>
                <a:cs typeface="Courier New" panose="02070309020205020404" pitchFamily="49" charset="0"/>
              </a:rPr>
              <a:t>}</a:t>
            </a:r>
            <a:endParaRPr lang="en-US" altLang="en-US" sz="3200" dirty="0">
              <a:solidFill>
                <a:srgbClr val="000000"/>
              </a:solidFill>
              <a:latin typeface="Times New Roman" charset="0"/>
            </a:endParaRPr>
          </a:p>
          <a:p>
            <a:pPr marL="228600" lvl="1">
              <a:spcBef>
                <a:spcPct val="0"/>
              </a:spcBef>
            </a:pPr>
            <a:r>
              <a:rPr lang="en-US" dirty="0"/>
              <a:t>Except for operations identified as explicitly nondeterministic, such as </a:t>
            </a:r>
            <a:r>
              <a:rPr lang="en-US" dirty="0" err="1"/>
              <a:t>findAny</a:t>
            </a:r>
            <a:r>
              <a:rPr lang="en-US" dirty="0"/>
              <a:t>(), whether a stream executes sequentially or in parallel should not change the result of the computation. </a:t>
            </a:r>
            <a:endParaRPr lang="en-US" altLang="en-US" sz="2800" dirty="0">
              <a:ea typeface="MS PGothic" charset="-128"/>
            </a:endParaRPr>
          </a:p>
        </p:txBody>
      </p:sp>
    </p:spTree>
    <p:extLst>
      <p:ext uri="{BB962C8B-B14F-4D97-AF65-F5344CB8AC3E}">
        <p14:creationId xmlns:p14="http://schemas.microsoft.com/office/powerpoint/2010/main" val="201613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Parallel Streams</a:t>
            </a:r>
          </a:p>
        </p:txBody>
      </p:sp>
      <p:sp>
        <p:nvSpPr>
          <p:cNvPr id="3" name="Content Placeholder 2"/>
          <p:cNvSpPr>
            <a:spLocks noGrp="1"/>
          </p:cNvSpPr>
          <p:nvPr>
            <p:ph idx="1"/>
          </p:nvPr>
        </p:nvSpPr>
        <p:spPr>
          <a:xfrm>
            <a:off x="838200" y="1825624"/>
            <a:ext cx="10515600" cy="4884458"/>
          </a:xfrm>
        </p:spPr>
        <p:txBody>
          <a:bodyPr>
            <a:noAutofit/>
          </a:bodyPr>
          <a:lstStyle/>
          <a:p>
            <a:r>
              <a:rPr lang="en-US" dirty="0"/>
              <a:t>By default streams are sequential</a:t>
            </a:r>
          </a:p>
          <a:p>
            <a:r>
              <a:rPr lang="en-US" dirty="0"/>
              <a:t>The parallel() and sequential() methods change the execution paradigm of a stream</a:t>
            </a:r>
          </a:p>
          <a:p>
            <a:r>
              <a:rPr lang="en-US" dirty="0"/>
              <a:t>The collections interface provides the </a:t>
            </a:r>
            <a:r>
              <a:rPr lang="en-US" dirty="0" err="1"/>
              <a:t>parallelStream</a:t>
            </a:r>
            <a:r>
              <a:rPr lang="en-US" dirty="0"/>
              <a:t>() method</a:t>
            </a:r>
          </a:p>
          <a:p>
            <a:r>
              <a:rPr lang="en-US" dirty="0"/>
              <a:t>Most stream operations accept parameters that describe user-specified behavior, which are often lambda expressions</a:t>
            </a:r>
          </a:p>
          <a:p>
            <a:r>
              <a:rPr lang="en-US" dirty="0"/>
              <a:t>To preserve correct behavior, these </a:t>
            </a:r>
            <a:r>
              <a:rPr lang="en-US" i="1" dirty="0"/>
              <a:t>behavioral parameters</a:t>
            </a:r>
            <a:r>
              <a:rPr lang="en-US" dirty="0"/>
              <a:t> must be </a:t>
            </a:r>
            <a:r>
              <a:rPr lang="en-US" i="1" dirty="0"/>
              <a:t>non-interfering</a:t>
            </a:r>
            <a:r>
              <a:rPr lang="en-US" dirty="0"/>
              <a:t>, and in most cases must be </a:t>
            </a:r>
            <a:r>
              <a:rPr lang="en-US" i="1" dirty="0"/>
              <a:t>stateless</a:t>
            </a:r>
            <a:r>
              <a:rPr lang="en-US" dirty="0"/>
              <a:t>. Such parameters are always instances of a </a:t>
            </a:r>
            <a:r>
              <a:rPr lang="en-US" dirty="0">
                <a:hlinkClick r:id="rId3"/>
              </a:rPr>
              <a:t>functional interface</a:t>
            </a:r>
            <a:r>
              <a:rPr lang="en-US" dirty="0"/>
              <a:t> such as </a:t>
            </a:r>
            <a:r>
              <a:rPr lang="en-US" dirty="0">
                <a:hlinkClick r:id="rId4" tooltip="interface in java.util.function"/>
              </a:rPr>
              <a:t>Function</a:t>
            </a:r>
            <a:r>
              <a:rPr lang="en-US" dirty="0"/>
              <a:t>, and are often lambda expressions or method references. </a:t>
            </a:r>
          </a:p>
        </p:txBody>
      </p:sp>
    </p:spTree>
    <p:extLst>
      <p:ext uri="{BB962C8B-B14F-4D97-AF65-F5344CB8AC3E}">
        <p14:creationId xmlns:p14="http://schemas.microsoft.com/office/powerpoint/2010/main" val="3864401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Parallel Streams</a:t>
            </a:r>
          </a:p>
        </p:txBody>
      </p:sp>
      <p:sp>
        <p:nvSpPr>
          <p:cNvPr id="3" name="Content Placeholder 2"/>
          <p:cNvSpPr>
            <a:spLocks noGrp="1"/>
          </p:cNvSpPr>
          <p:nvPr>
            <p:ph idx="1"/>
          </p:nvPr>
        </p:nvSpPr>
        <p:spPr>
          <a:xfrm>
            <a:off x="838200" y="1825624"/>
            <a:ext cx="10515600" cy="4884458"/>
          </a:xfrm>
        </p:spPr>
        <p:txBody>
          <a:bodyPr>
            <a:noAutofit/>
          </a:bodyPr>
          <a:lstStyle/>
          <a:p>
            <a:r>
              <a:rPr lang="en-US" dirty="0"/>
              <a:t>To preserve correct behavior, these </a:t>
            </a:r>
            <a:r>
              <a:rPr lang="en-US" i="1" dirty="0"/>
              <a:t>behavioral parameters</a:t>
            </a:r>
            <a:r>
              <a:rPr lang="en-US" dirty="0"/>
              <a:t> must be </a:t>
            </a:r>
            <a:r>
              <a:rPr lang="en-US" i="1" dirty="0"/>
              <a:t>non-interfering</a:t>
            </a:r>
            <a:r>
              <a:rPr lang="en-US" dirty="0"/>
              <a:t>, and in most cases must be </a:t>
            </a:r>
            <a:r>
              <a:rPr lang="en-US" i="1" dirty="0"/>
              <a:t>stateless</a:t>
            </a:r>
            <a:r>
              <a:rPr lang="en-US" dirty="0"/>
              <a:t>. Such parameters are always instances of a </a:t>
            </a:r>
            <a:r>
              <a:rPr lang="en-US" dirty="0">
                <a:hlinkClick r:id="rId3"/>
              </a:rPr>
              <a:t>functional interface</a:t>
            </a:r>
            <a:r>
              <a:rPr lang="en-US" dirty="0"/>
              <a:t> such as </a:t>
            </a:r>
            <a:r>
              <a:rPr lang="en-US" dirty="0">
                <a:hlinkClick r:id="rId4" tooltip="interface in java.util.function"/>
              </a:rPr>
              <a:t>Function</a:t>
            </a:r>
            <a:r>
              <a:rPr lang="en-US" dirty="0"/>
              <a:t>, and are often lambda expressions or method references. </a:t>
            </a:r>
          </a:p>
          <a:p>
            <a:r>
              <a:rPr lang="en-US" dirty="0"/>
              <a:t>For most data sources, preventing interference means ensuring that the data source is </a:t>
            </a:r>
            <a:r>
              <a:rPr lang="en-US" i="1" dirty="0"/>
              <a:t>not modified at all</a:t>
            </a:r>
            <a:r>
              <a:rPr lang="en-US" dirty="0"/>
              <a:t> during the execution of the stream pipeline.</a:t>
            </a:r>
          </a:p>
          <a:p>
            <a:pPr lvl="1"/>
            <a:r>
              <a:rPr lang="en-US" dirty="0"/>
              <a:t>This is because most data sources are not designed to handle concurrent modification (i.e. they are not thread safe. Like </a:t>
            </a:r>
            <a:r>
              <a:rPr lang="en-US" dirty="0" err="1"/>
              <a:t>ArrayList</a:t>
            </a:r>
            <a:r>
              <a:rPr lang="en-US" dirty="0"/>
              <a:t>) </a:t>
            </a:r>
          </a:p>
          <a:p>
            <a:pPr lvl="1"/>
            <a:r>
              <a:rPr lang="en-US" dirty="0"/>
              <a:t>The exception to this rule is data sources which are concurrent collections </a:t>
            </a:r>
          </a:p>
          <a:p>
            <a:endParaRPr lang="en-US" dirty="0"/>
          </a:p>
          <a:p>
            <a:endParaRPr lang="en-US" dirty="0"/>
          </a:p>
        </p:txBody>
      </p:sp>
    </p:spTree>
    <p:extLst>
      <p:ext uri="{BB962C8B-B14F-4D97-AF65-F5344CB8AC3E}">
        <p14:creationId xmlns:p14="http://schemas.microsoft.com/office/powerpoint/2010/main" val="3837611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Functional Programming - Parallel Streams</a:t>
            </a:r>
          </a:p>
        </p:txBody>
      </p:sp>
      <p:sp>
        <p:nvSpPr>
          <p:cNvPr id="3" name="Content Placeholder 2"/>
          <p:cNvSpPr>
            <a:spLocks noGrp="1"/>
          </p:cNvSpPr>
          <p:nvPr>
            <p:ph idx="1"/>
          </p:nvPr>
        </p:nvSpPr>
        <p:spPr>
          <a:xfrm>
            <a:off x="838200" y="1825624"/>
            <a:ext cx="10515600" cy="4884458"/>
          </a:xfrm>
        </p:spPr>
        <p:txBody>
          <a:bodyPr>
            <a:noAutofit/>
          </a:bodyPr>
          <a:lstStyle/>
          <a:p>
            <a:r>
              <a:rPr lang="en-US" dirty="0"/>
              <a:t>To preserve correct behavior, these </a:t>
            </a:r>
            <a:r>
              <a:rPr lang="en-US" i="1" dirty="0"/>
              <a:t>behavioral parameters</a:t>
            </a:r>
            <a:r>
              <a:rPr lang="en-US" dirty="0"/>
              <a:t> must be </a:t>
            </a:r>
            <a:r>
              <a:rPr lang="en-US" i="1" dirty="0"/>
              <a:t>non-interfering</a:t>
            </a:r>
            <a:r>
              <a:rPr lang="en-US" dirty="0"/>
              <a:t>, and in most cases must be </a:t>
            </a:r>
            <a:r>
              <a:rPr lang="en-US" i="1" dirty="0"/>
              <a:t>stateless</a:t>
            </a:r>
            <a:r>
              <a:rPr lang="en-US" dirty="0"/>
              <a:t>. Such parameters are always instances of a </a:t>
            </a:r>
            <a:r>
              <a:rPr lang="en-US" dirty="0">
                <a:hlinkClick r:id="rId3"/>
              </a:rPr>
              <a:t>functional interface</a:t>
            </a:r>
            <a:r>
              <a:rPr lang="en-US" dirty="0"/>
              <a:t> such as </a:t>
            </a:r>
            <a:r>
              <a:rPr lang="en-US" dirty="0">
                <a:hlinkClick r:id="rId4" tooltip="interface in java.util.function"/>
              </a:rPr>
              <a:t>Function</a:t>
            </a:r>
            <a:r>
              <a:rPr lang="en-US" dirty="0"/>
              <a:t>, and are often lambda expressions or method references. </a:t>
            </a:r>
          </a:p>
          <a:p>
            <a:r>
              <a:rPr lang="en-US" dirty="0"/>
              <a:t>A behavioral parameter is said to </a:t>
            </a:r>
            <a:r>
              <a:rPr lang="en-US" i="1" dirty="0"/>
              <a:t>interfere</a:t>
            </a:r>
            <a:r>
              <a:rPr lang="en-US" dirty="0"/>
              <a:t> with a non-concurrent data source if it modifies, or causes to be modified, the stream's data source. The need for non-interference applies to all pipelines, not just parallel ones.</a:t>
            </a:r>
          </a:p>
          <a:p>
            <a:pPr marL="0" indent="0">
              <a:buNone/>
            </a:pPr>
            <a:endParaRPr lang="en-US" dirty="0"/>
          </a:p>
          <a:p>
            <a:endParaRPr lang="en-US" dirty="0"/>
          </a:p>
        </p:txBody>
      </p:sp>
    </p:spTree>
    <p:extLst>
      <p:ext uri="{BB962C8B-B14F-4D97-AF65-F5344CB8AC3E}">
        <p14:creationId xmlns:p14="http://schemas.microsoft.com/office/powerpoint/2010/main" val="1710087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39917</TotalTime>
  <Words>2026</Words>
  <Application>Microsoft Macintosh PowerPoint</Application>
  <PresentationFormat>Widescreen</PresentationFormat>
  <Paragraphs>383</Paragraphs>
  <Slides>42</Slides>
  <Notes>18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MS PGothic</vt:lpstr>
      <vt:lpstr>Arial</vt:lpstr>
      <vt:lpstr>Calibri</vt:lpstr>
      <vt:lpstr>Calibri Light</vt:lpstr>
      <vt:lpstr>Courier New</vt:lpstr>
      <vt:lpstr>Times New Roman</vt:lpstr>
      <vt:lpstr>Wingdings</vt:lpstr>
      <vt:lpstr>Office Theme</vt:lpstr>
      <vt:lpstr>CMSC 304</vt:lpstr>
      <vt:lpstr>Functional Programming</vt:lpstr>
      <vt:lpstr>Functional Programming</vt:lpstr>
      <vt:lpstr>Python’s Functional Paradigm</vt:lpstr>
      <vt:lpstr>Lambda in Python</vt:lpstr>
      <vt:lpstr>Map in Python</vt:lpstr>
      <vt:lpstr>Map in Python</vt:lpstr>
      <vt:lpstr>Map in Python</vt:lpstr>
      <vt:lpstr>Map in Python</vt:lpstr>
      <vt:lpstr>Python Closure</vt:lpstr>
      <vt:lpstr>Functional Programming in Java</vt:lpstr>
      <vt:lpstr>Functional Programming in Java</vt:lpstr>
      <vt:lpstr>Functional Programming in Java</vt:lpstr>
      <vt:lpstr>Functional Programming in Java</vt:lpstr>
      <vt:lpstr>Anonymous Inner Class</vt:lpstr>
      <vt:lpstr>Anonymous Inner Class</vt:lpstr>
      <vt:lpstr>Lambda Expressions</vt:lpstr>
      <vt:lpstr>Lambda Expressions</vt:lpstr>
      <vt:lpstr>Lambda Expressions</vt:lpstr>
      <vt:lpstr>Functional Programming in Java</vt:lpstr>
      <vt:lpstr>Functional Programming in Java 8</vt:lpstr>
      <vt:lpstr>Functional Programming - Runnable</vt:lpstr>
      <vt:lpstr>Functional Programming - Runnable</vt:lpstr>
      <vt:lpstr>Functional Programming - Streams</vt:lpstr>
      <vt:lpstr>Functional Programming - Maps</vt:lpstr>
      <vt:lpstr>Functional Programming - Maps</vt:lpstr>
      <vt:lpstr>Functional Programming - Filters</vt:lpstr>
      <vt:lpstr>Functional Programming - Filters</vt:lpstr>
      <vt:lpstr>Functional Programming - Reduce</vt:lpstr>
      <vt:lpstr>Functional Programming - Reduce</vt:lpstr>
      <vt:lpstr>Functional Programming - Reduce</vt:lpstr>
      <vt:lpstr>Functional Programming - Reduce</vt:lpstr>
      <vt:lpstr>Functional Programming - Reduce</vt:lpstr>
      <vt:lpstr>Functional Programming - Use of Collections</vt:lpstr>
      <vt:lpstr>Functional Programming - Use of Collectors</vt:lpstr>
      <vt:lpstr>Functional Programming - Use of Collectors</vt:lpstr>
      <vt:lpstr>Example</vt:lpstr>
      <vt:lpstr>Example</vt:lpstr>
      <vt:lpstr>Functional Programming - Parallel Streams</vt:lpstr>
      <vt:lpstr>Functional Programming - Parallel Streams</vt:lpstr>
      <vt:lpstr>Functional Programming - Parallel Streams</vt:lpstr>
      <vt:lpstr>Functional Programming - Parallel Streams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403</dc:title>
  <dc:creator>Microsoft Office User</dc:creator>
  <cp:lastModifiedBy>Microsoft Office User</cp:lastModifiedBy>
  <cp:revision>198</cp:revision>
  <cp:lastPrinted>2017-09-07T16:13:53Z</cp:lastPrinted>
  <dcterms:created xsi:type="dcterms:W3CDTF">2017-05-31T17:26:26Z</dcterms:created>
  <dcterms:modified xsi:type="dcterms:W3CDTF">2025-01-06T21:04:36Z</dcterms:modified>
</cp:coreProperties>
</file>