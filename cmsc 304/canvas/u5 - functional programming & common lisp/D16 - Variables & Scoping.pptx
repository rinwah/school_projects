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90" r:id="rId11"/>
    <p:sldId id="373" r:id="rId12"/>
    <p:sldId id="392" r:id="rId13"/>
    <p:sldId id="393" r:id="rId14"/>
    <p:sldId id="328" r:id="rId15"/>
    <p:sldId id="363" r:id="rId16"/>
    <p:sldId id="375" r:id="rId17"/>
    <p:sldId id="327" r:id="rId18"/>
    <p:sldId id="396" r:id="rId19"/>
    <p:sldId id="374" r:id="rId20"/>
    <p:sldId id="391" r:id="rId21"/>
    <p:sldId id="394" r:id="rId22"/>
    <p:sldId id="405" r:id="rId23"/>
    <p:sldId id="476" r:id="rId24"/>
    <p:sldId id="477" r:id="rId25"/>
    <p:sldId id="462" r:id="rId26"/>
    <p:sldId id="408" r:id="rId27"/>
    <p:sldId id="410" r:id="rId28"/>
    <p:sldId id="463" r:id="rId29"/>
    <p:sldId id="47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29"/>
    <p:restoredTop sz="71825"/>
  </p:normalViewPr>
  <p:slideViewPr>
    <p:cSldViewPr snapToGrid="0" snapToObjects="1">
      <p:cViewPr varScale="1">
        <p:scale>
          <a:sx n="109" d="100"/>
          <a:sy n="109" d="100"/>
        </p:scale>
        <p:origin x="10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EFD23-2776-814D-8099-E93FB59840B0}" type="datetimeFigureOut">
              <a:rPr lang="en-US" smtClean="0"/>
              <a:t>1/6/25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50B27B-5F0E-5743-AAEA-7355C5A14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914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0B27B-5F0E-5743-AAEA-7355C5A1456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215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570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100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2922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66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55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419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Rather than 314.0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0B27B-5F0E-5743-AAEA-7355C5A1456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8465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STATIC SCOPING!!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0B27B-5F0E-5743-AAEA-7355C5A1456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6949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895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4912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948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 is not closed</a:t>
            </a:r>
          </a:p>
          <a:p>
            <a:r>
              <a:rPr lang="en-US" dirty="0"/>
              <a:t>y is closed</a:t>
            </a:r>
          </a:p>
          <a:p>
            <a:r>
              <a:rPr lang="en-US"/>
              <a:t>z is not closed </a:t>
            </a:r>
          </a:p>
          <a:p>
            <a:endParaRPr lang="en-US" dirty="0"/>
          </a:p>
          <a:p>
            <a:r>
              <a:rPr lang="en-US" dirty="0"/>
              <a:t>f takes</a:t>
            </a:r>
            <a:r>
              <a:rPr lang="en-US" baseline="0" dirty="0"/>
              <a:t> a single parameter y and returns a function which takes a single parameter z and returns z + y + (y+1)</a:t>
            </a:r>
          </a:p>
          <a:p>
            <a:r>
              <a:rPr lang="en-US" baseline="0" dirty="0"/>
              <a:t>g is a function which takes a parameter z and returns z+4+5 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259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 takes</a:t>
            </a:r>
            <a:r>
              <a:rPr lang="en-US" baseline="0" dirty="0"/>
              <a:t> a single parameter y and returns a function which takes a single parameter z and returns z + y + (y+1)</a:t>
            </a:r>
          </a:p>
          <a:p>
            <a:r>
              <a:rPr lang="en-US" baseline="0" dirty="0"/>
              <a:t>g is a function which takes a parameter z and returns x+4+z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292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C40F-0CAE-1E4B-8945-9B83BFB1B71A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9641B-5DEA-1A49-8150-7B38BFC38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796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C40F-0CAE-1E4B-8945-9B83BFB1B71A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9641B-5DEA-1A49-8150-7B38BFC38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689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C40F-0CAE-1E4B-8945-9B83BFB1B71A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9641B-5DEA-1A49-8150-7B38BFC38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819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C40F-0CAE-1E4B-8945-9B83BFB1B71A}" type="datetimeFigureOut">
              <a:rPr lang="en-US" smtClean="0"/>
              <a:t>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9641B-5DEA-1A49-8150-7B38BFC38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182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C40F-0CAE-1E4B-8945-9B83BFB1B71A}" type="datetimeFigureOut">
              <a:rPr lang="en-US" smtClean="0"/>
              <a:t>1/6/25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9641B-5DEA-1A49-8150-7B38BFC38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41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C40F-0CAE-1E4B-8945-9B83BFB1B71A}" type="datetimeFigureOut">
              <a:rPr lang="en-US" smtClean="0"/>
              <a:t>1/6/25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9641B-5DEA-1A49-8150-7B38BFC38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414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C40F-0CAE-1E4B-8945-9B83BFB1B71A}" type="datetimeFigureOut">
              <a:rPr lang="en-US" smtClean="0"/>
              <a:t>1/6/25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9641B-5DEA-1A49-8150-7B38BFC38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152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C40F-0CAE-1E4B-8945-9B83BFB1B71A}" type="datetimeFigureOut">
              <a:rPr lang="en-US" smtClean="0"/>
              <a:t>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9641B-5DEA-1A49-8150-7B38BFC38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014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C40F-0CAE-1E4B-8945-9B83BFB1B71A}" type="datetimeFigureOut">
              <a:rPr lang="en-US" smtClean="0"/>
              <a:t>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9641B-5DEA-1A49-8150-7B38BFC38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749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C40F-0CAE-1E4B-8945-9B83BFB1B71A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9641B-5DEA-1A49-8150-7B38BFC38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523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C40F-0CAE-1E4B-8945-9B83BFB1B71A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9641B-5DEA-1A49-8150-7B38BFC38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824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F2C40F-0CAE-1E4B-8945-9B83BFB1B71A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9641B-5DEA-1A49-8150-7B38BFC38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565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clhs.lisp.se/Body/f_nump.htm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gamonkeys.com/book/a-few-format-recipes.html" TargetMode="External"/><Relationship Id="rId2" Type="http://schemas.openxmlformats.org/officeDocument/2006/relationships/hyperlink" Target="http://clhs.lisp.se/Body/f_typep.htm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CMSC 304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Variables &amp; Scoping</a:t>
            </a:r>
          </a:p>
          <a:p>
            <a:r>
              <a:rPr lang="en-US"/>
              <a:t>Claire Sparks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529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A major difference between imperative programming and functional programming is the concept of a variable</a:t>
            </a:r>
          </a:p>
          <a:p>
            <a:r>
              <a:rPr lang="en-US" altLang="en-US" sz="2800" dirty="0">
                <a:ea typeface="MS PGothic" charset="-128"/>
              </a:rPr>
              <a:t>In math, variables always stand for actual values</a:t>
            </a:r>
          </a:p>
          <a:p>
            <a:r>
              <a:rPr lang="en-US" altLang="en-US" sz="2800" b="1" dirty="0">
                <a:ea typeface="MS PGothic" charset="-128"/>
              </a:rPr>
              <a:t>In imperative programming languages, variables refer to memory locations that store values</a:t>
            </a:r>
          </a:p>
          <a:p>
            <a:r>
              <a:rPr lang="en-US" altLang="en-US" dirty="0">
                <a:ea typeface="MS PGothic" charset="-128"/>
              </a:rPr>
              <a:t>In math, there is no assignment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We learned in mathematics that = stands for “is equal”</a:t>
            </a:r>
            <a:endParaRPr lang="en-US" altLang="ja-JP" sz="2800" dirty="0">
              <a:ea typeface="MS PGothic" charset="-128"/>
            </a:endParaRPr>
          </a:p>
          <a:p>
            <a:pPr lvl="1"/>
            <a:r>
              <a:rPr lang="en-US" altLang="en-US" sz="2800" dirty="0">
                <a:ea typeface="MS PGothic" charset="-128"/>
              </a:rPr>
              <a:t>Imperative languages like Java have to work around this:</a:t>
            </a:r>
          </a:p>
          <a:p>
            <a:pPr lvl="2"/>
            <a:r>
              <a:rPr lang="en-US" altLang="en-US" sz="2800" dirty="0">
                <a:ea typeface="MS PGothic" charset="-128"/>
              </a:rPr>
              <a:t>Introduce == to mean “is equal” </a:t>
            </a:r>
          </a:p>
          <a:p>
            <a:pPr lvl="2"/>
            <a:r>
              <a:rPr lang="en-US" altLang="en-US" sz="2800" dirty="0">
                <a:ea typeface="MS PGothic" charset="-128"/>
              </a:rPr>
              <a:t>Redefine = to mean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173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Assignment statements allow memory locations to be reset with new values</a:t>
            </a:r>
          </a:p>
          <a:p>
            <a:r>
              <a:rPr lang="en-US" altLang="en-US" dirty="0">
                <a:ea typeface="MS PGothic" charset="-128"/>
              </a:rPr>
              <a:t>In math, there are no concepts of memory location and assignment</a:t>
            </a:r>
          </a:p>
          <a:p>
            <a:r>
              <a:rPr lang="en-US" altLang="en-US" dirty="0">
                <a:ea typeface="MS PGothic" charset="-128"/>
              </a:rPr>
              <a:t>Functional programming takes a mathematical approach to the concept of a variable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Variables are bound to values, not memory locations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A variable’</a:t>
            </a:r>
            <a:r>
              <a:rPr lang="en-US" altLang="ja-JP" sz="2800" dirty="0">
                <a:ea typeface="MS PGothic" charset="-128"/>
              </a:rPr>
              <a:t>s value cannot change, which eliminates assignment as an available operation</a:t>
            </a:r>
          </a:p>
          <a:p>
            <a:endParaRPr lang="en-US" altLang="en-US" dirty="0">
              <a:ea typeface="MS PGothic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762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Have </a:t>
            </a:r>
            <a:r>
              <a:rPr lang="en-US" altLang="en-US" b="1" dirty="0">
                <a:ea typeface="MS PGothic" charset="-128"/>
              </a:rPr>
              <a:t>global</a:t>
            </a:r>
            <a:r>
              <a:rPr lang="en-US" altLang="en-US" dirty="0">
                <a:ea typeface="MS PGothic" charset="-128"/>
              </a:rPr>
              <a:t> declaration of identifier and its binding to a value using define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latin typeface="Times New Roman" charset="0"/>
              </a:rPr>
              <a:t>      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defvar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MyList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'("a" "b" ("c" "d")))</a:t>
            </a:r>
          </a:p>
          <a:p>
            <a:r>
              <a:rPr lang="en-US" altLang="en-US" dirty="0">
                <a:ea typeface="MS PGothic" charset="-128"/>
              </a:rPr>
              <a:t>Using special form let, we can do </a:t>
            </a:r>
            <a:r>
              <a:rPr lang="en-US" altLang="en-US" b="1" dirty="0">
                <a:ea typeface="MS PGothic" charset="-128"/>
              </a:rPr>
              <a:t>local</a:t>
            </a:r>
            <a:r>
              <a:rPr lang="en-US" altLang="en-US" dirty="0">
                <a:ea typeface="MS PGothic" charset="-128"/>
              </a:rPr>
              <a:t> binding of an identifier with a value </a:t>
            </a:r>
          </a:p>
          <a:p>
            <a:pPr marL="0" indent="0"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 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let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MyList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'("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" "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" ("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c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" "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d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")))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) </a:t>
            </a:r>
            <a:endParaRPr lang="en-US" altLang="en-US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	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MyList</a:t>
            </a:r>
            <a:endParaRPr lang="en-US" altLang="en-US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)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		</a:t>
            </a:r>
          </a:p>
          <a:p>
            <a:pPr marL="0" indent="0"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  ; prints </a:t>
            </a:r>
            <a:r>
              <a:rPr lang="pt-BR" altLang="en-US" dirty="0">
                <a:latin typeface="Courier New" charset="0"/>
                <a:ea typeface="Courier New" charset="0"/>
                <a:cs typeface="Courier New" charset="0"/>
              </a:rPr>
              <a:t>'("a" "</a:t>
            </a:r>
            <a:r>
              <a:rPr lang="pt-BR" altLang="en-US" dirty="0" err="1"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pt-BR" altLang="en-US" dirty="0">
                <a:latin typeface="Courier New" charset="0"/>
                <a:ea typeface="Courier New" charset="0"/>
                <a:cs typeface="Courier New" charset="0"/>
              </a:rPr>
              <a:t>" ("</a:t>
            </a:r>
            <a:r>
              <a:rPr lang="pt-BR" altLang="en-US" dirty="0" err="1">
                <a:latin typeface="Courier New" charset="0"/>
                <a:ea typeface="Courier New" charset="0"/>
                <a:cs typeface="Courier New" charset="0"/>
              </a:rPr>
              <a:t>c</a:t>
            </a:r>
            <a:r>
              <a:rPr lang="pt-BR" altLang="en-US" dirty="0">
                <a:latin typeface="Courier New" charset="0"/>
                <a:ea typeface="Courier New" charset="0"/>
                <a:cs typeface="Courier New" charset="0"/>
              </a:rPr>
              <a:t>" "</a:t>
            </a:r>
            <a:r>
              <a:rPr lang="pt-BR" altLang="en-US" dirty="0" err="1">
                <a:latin typeface="Courier New" charset="0"/>
                <a:ea typeface="Courier New" charset="0"/>
                <a:cs typeface="Courier New" charset="0"/>
              </a:rPr>
              <a:t>d</a:t>
            </a:r>
            <a:r>
              <a:rPr lang="pt-BR" altLang="en-US" dirty="0">
                <a:latin typeface="Courier New" charset="0"/>
                <a:ea typeface="Courier New" charset="0"/>
                <a:cs typeface="Courier New" charset="0"/>
              </a:rPr>
              <a:t>"))</a:t>
            </a:r>
          </a:p>
          <a:p>
            <a:pPr marL="0" indent="0">
              <a:buNone/>
            </a:pPr>
            <a:r>
              <a:rPr lang="pt-BR" altLang="en-US" dirty="0"/>
              <a:t>      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(car 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MyList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)   ; cause error: 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MyList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unknown</a:t>
            </a:r>
          </a:p>
          <a:p>
            <a:pPr marL="0" indent="0">
              <a:buNone/>
            </a:pPr>
            <a:endParaRPr lang="pt-BR" altLang="en-US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602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2681"/>
          </a:xfrm>
        </p:spPr>
        <p:txBody>
          <a:bodyPr>
            <a:normAutofit/>
          </a:bodyPr>
          <a:lstStyle/>
          <a:p>
            <a:r>
              <a:rPr lang="en-US" altLang="en-US" dirty="0">
                <a:latin typeface="Courier New" pitchFamily="49" charset="0"/>
                <a:cs typeface="Courier New" pitchFamily="49" charset="0"/>
              </a:rPr>
              <a:t>let</a:t>
            </a:r>
            <a:endParaRPr lang="en-US" altLang="ja-JP" dirty="0">
              <a:ea typeface="MS PGothic" charset="-128"/>
            </a:endParaRPr>
          </a:p>
          <a:p>
            <a:pPr lvl="1"/>
            <a:r>
              <a:rPr lang="en-US" altLang="en-US" sz="2800" dirty="0">
                <a:ea typeface="MS PGothic" charset="-128"/>
              </a:rPr>
              <a:t>Allows variable names to be bound to values within an expression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(</a:t>
            </a:r>
            <a:r>
              <a:rPr lang="en-US" altLang="en-US" sz="2800" dirty="0">
                <a:latin typeface="Courier New" pitchFamily="49" charset="0"/>
                <a:cs typeface="Courier New" pitchFamily="49" charset="0"/>
              </a:rPr>
              <a:t>let </a:t>
            </a:r>
            <a:r>
              <a:rPr lang="en-US" altLang="en-US" sz="2800" dirty="0">
                <a:ea typeface="MS PGothic" charset="-128"/>
              </a:rPr>
              <a:t>(variables) body)</a:t>
            </a:r>
          </a:p>
          <a:p>
            <a:pPr lvl="1"/>
            <a:r>
              <a:rPr lang="en-US" altLang="en-US" sz="2800" dirty="0">
                <a:latin typeface="Calibri" charset="0"/>
                <a:ea typeface="Calibri" charset="0"/>
                <a:cs typeface="Calibri" charset="0"/>
              </a:rPr>
              <a:t>Ex: </a:t>
            </a:r>
            <a:r>
              <a:rPr lang="en-US" altLang="en-US" sz="2800" dirty="0">
                <a:latin typeface="Courier New" charset="0"/>
                <a:ea typeface="Courier New" charset="0"/>
                <a:cs typeface="Courier New" charset="0"/>
              </a:rPr>
              <a:t>(let ((a 2) (b 3)) (+ a b))</a:t>
            </a:r>
          </a:p>
          <a:p>
            <a:pPr lvl="2"/>
            <a:r>
              <a:rPr lang="en-US" altLang="en-US" sz="2800" b="1" dirty="0">
                <a:latin typeface="Calibri" charset="0"/>
                <a:ea typeface="Calibri" charset="0"/>
                <a:cs typeface="Calibri" charset="0"/>
              </a:rPr>
              <a:t>Binding list </a:t>
            </a:r>
            <a:r>
              <a:rPr lang="en-US" altLang="en-US" sz="2800" dirty="0">
                <a:latin typeface="Calibri" charset="0"/>
                <a:ea typeface="Calibri" charset="0"/>
                <a:cs typeface="Calibri" charset="0"/>
              </a:rPr>
              <a:t>associates names to values</a:t>
            </a:r>
          </a:p>
          <a:p>
            <a:pPr lvl="3"/>
            <a:r>
              <a:rPr lang="en-US" altLang="en-US" sz="2600" dirty="0">
                <a:latin typeface="Calibri" charset="0"/>
                <a:ea typeface="Calibri" charset="0"/>
                <a:cs typeface="Calibri" charset="0"/>
              </a:rPr>
              <a:t>Similar syntax to parameter lists</a:t>
            </a:r>
          </a:p>
          <a:p>
            <a:pPr lvl="2"/>
            <a:r>
              <a:rPr lang="en-US" altLang="en-US" sz="2800" dirty="0">
                <a:latin typeface="Calibri" charset="0"/>
                <a:ea typeface="Calibri" charset="0"/>
                <a:cs typeface="Calibri" charset="0"/>
              </a:rPr>
              <a:t>a is given the value of 2, b is given the value of 3, which are then  used in the expression </a:t>
            </a:r>
            <a:r>
              <a:rPr lang="en-US" altLang="en-US" sz="2800" dirty="0">
                <a:latin typeface="Courier New" charset="0"/>
                <a:ea typeface="Courier New" charset="0"/>
                <a:cs typeface="Courier New" charset="0"/>
              </a:rPr>
              <a:t>(+ a b)</a:t>
            </a:r>
          </a:p>
          <a:p>
            <a:pPr lvl="1"/>
            <a:r>
              <a:rPr lang="en-US" altLang="en-US" sz="2800" dirty="0">
                <a:latin typeface="Courier New" charset="0"/>
                <a:ea typeface="Courier New" charset="0"/>
                <a:cs typeface="Courier New" charset="0"/>
              </a:rPr>
              <a:t>let</a:t>
            </a:r>
            <a:r>
              <a:rPr lang="en-US" altLang="en-US" sz="2800" dirty="0">
                <a:latin typeface="Calibri" charset="0"/>
                <a:ea typeface="Calibri" charset="0"/>
                <a:cs typeface="Calibri" charset="0"/>
              </a:rPr>
              <a:t> returns the final result of its expression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594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921369" cy="4351338"/>
          </a:xfrm>
        </p:spPr>
        <p:txBody>
          <a:bodyPr>
            <a:normAutofit/>
          </a:bodyPr>
          <a:lstStyle/>
          <a:p>
            <a:r>
              <a:rPr lang="en-US" altLang="en-US" dirty="0">
                <a:latin typeface="Courier New" pitchFamily="49" charset="0"/>
                <a:cs typeface="Courier New" pitchFamily="49" charset="0"/>
              </a:rPr>
              <a:t>let</a:t>
            </a:r>
            <a:r>
              <a:rPr lang="en-US" altLang="en-US" dirty="0">
                <a:cs typeface="Courier New" pitchFamily="49" charset="0"/>
              </a:rPr>
              <a:t> </a:t>
            </a:r>
            <a:r>
              <a:rPr lang="en-US" altLang="en-US" dirty="0">
                <a:latin typeface="Calibri" charset="0"/>
                <a:ea typeface="Calibri" charset="0"/>
                <a:cs typeface="Calibri" charset="0"/>
              </a:rPr>
              <a:t>provides a local environment and scope for a set of variable names</a:t>
            </a:r>
          </a:p>
          <a:p>
            <a:pPr lvl="1"/>
            <a:r>
              <a:rPr lang="en-US" altLang="en-US" dirty="0">
                <a:latin typeface="Calibri" charset="0"/>
                <a:ea typeface="Calibri" charset="0"/>
                <a:cs typeface="Calibri" charset="0"/>
              </a:rPr>
              <a:t>Similar to local </a:t>
            </a:r>
            <a:r>
              <a:rPr lang="en-US" altLang="en-US" dirty="0">
                <a:ea typeface="MS PGothic" charset="-128"/>
              </a:rPr>
              <a:t>variable declarations in block-structured languages</a:t>
            </a:r>
          </a:p>
          <a:p>
            <a:pPr lvl="1"/>
            <a:r>
              <a:rPr lang="en-US" altLang="en-US" dirty="0">
                <a:ea typeface="MS PGothic" charset="-128"/>
              </a:rPr>
              <a:t>Values of the variables can be accessed only within the </a:t>
            </a:r>
            <a:r>
              <a:rPr lang="en-US" altLang="en-US" dirty="0">
                <a:latin typeface="Courier New" charset="0"/>
                <a:ea typeface="MS PGothic" charset="-128"/>
              </a:rPr>
              <a:t>let</a:t>
            </a:r>
            <a:r>
              <a:rPr lang="en-US" altLang="en-US" dirty="0">
                <a:ea typeface="MS PGothic" charset="-128"/>
              </a:rPr>
              <a:t> form, not outside it</a:t>
            </a:r>
          </a:p>
          <a:p>
            <a:pPr marL="0" indent="0">
              <a:buNone/>
            </a:pPr>
            <a:endParaRPr lang="pt-BR" altLang="en-US" dirty="0"/>
          </a:p>
          <a:p>
            <a:pPr marL="914400" lvl="2" indent="0">
              <a:buNone/>
            </a:pPr>
            <a:endParaRPr lang="en-US" altLang="en-US" sz="2800" dirty="0">
              <a:ea typeface="MS PGothic" charset="-128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436AEE-4619-B546-8691-A460BEA5CD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59569" y="1825625"/>
            <a:ext cx="743243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let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altLang="en-US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MyList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 '("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" "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" ("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c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" "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d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")))</a:t>
            </a:r>
            <a:r>
              <a:rPr lang="en-US" altLang="en-US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) </a:t>
            </a:r>
            <a:endParaRPr lang="en-US" altLang="en-US" sz="2400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altLang="en-US" sz="2400" dirty="0">
                <a:latin typeface="Courier New" charset="0"/>
                <a:ea typeface="Courier New" charset="0"/>
                <a:cs typeface="Courier New" charset="0"/>
              </a:rPr>
              <a:t>	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MyList</a:t>
            </a:r>
            <a:endParaRPr lang="en-US" altLang="en-US" sz="2400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altLang="en-US" sz="2400" dirty="0">
                <a:latin typeface="Courier New" charset="0"/>
                <a:ea typeface="Courier New" charset="0"/>
                <a:cs typeface="Courier New" charset="0"/>
              </a:rPr>
              <a:t>  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)</a:t>
            </a:r>
            <a:r>
              <a:rPr lang="en-US" altLang="en-US" sz="2400" dirty="0">
                <a:latin typeface="Courier New" charset="0"/>
                <a:ea typeface="Courier New" charset="0"/>
                <a:cs typeface="Courier New" charset="0"/>
              </a:rPr>
              <a:t>		</a:t>
            </a:r>
          </a:p>
          <a:p>
            <a:pPr marL="0" indent="0">
              <a:buNone/>
            </a:pPr>
            <a:r>
              <a:rPr lang="en-US" altLang="en-US" sz="2400" dirty="0">
                <a:latin typeface="Courier New" charset="0"/>
                <a:ea typeface="Courier New" charset="0"/>
                <a:cs typeface="Courier New" charset="0"/>
              </a:rPr>
              <a:t>  ;</a:t>
            </a:r>
            <a:r>
              <a:rPr lang="en-US" altLang="en-US" sz="2400" dirty="0" err="1">
                <a:latin typeface="Courier New" charset="0"/>
                <a:ea typeface="Courier New" charset="0"/>
                <a:cs typeface="Courier New" charset="0"/>
              </a:rPr>
              <a:t>evals</a:t>
            </a:r>
            <a:r>
              <a:rPr lang="en-US" altLang="en-US" sz="2400" dirty="0">
                <a:latin typeface="Courier New" charset="0"/>
                <a:ea typeface="Courier New" charset="0"/>
                <a:cs typeface="Courier New" charset="0"/>
              </a:rPr>
              <a:t> to </a:t>
            </a:r>
            <a:r>
              <a:rPr lang="pt-BR" altLang="en-US" sz="2400" dirty="0">
                <a:latin typeface="Courier New" charset="0"/>
                <a:ea typeface="Courier New" charset="0"/>
                <a:cs typeface="Courier New" charset="0"/>
              </a:rPr>
              <a:t>'("a" "</a:t>
            </a:r>
            <a:r>
              <a:rPr lang="pt-BR" altLang="en-US" sz="2400" dirty="0" err="1"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pt-BR" altLang="en-US" sz="2400" dirty="0">
                <a:latin typeface="Courier New" charset="0"/>
                <a:ea typeface="Courier New" charset="0"/>
                <a:cs typeface="Courier New" charset="0"/>
              </a:rPr>
              <a:t>" ("</a:t>
            </a:r>
            <a:r>
              <a:rPr lang="pt-BR" altLang="en-US" sz="2400" dirty="0" err="1">
                <a:latin typeface="Courier New" charset="0"/>
                <a:ea typeface="Courier New" charset="0"/>
                <a:cs typeface="Courier New" charset="0"/>
              </a:rPr>
              <a:t>c</a:t>
            </a:r>
            <a:r>
              <a:rPr lang="pt-BR" altLang="en-US" sz="2400" dirty="0">
                <a:latin typeface="Courier New" charset="0"/>
                <a:ea typeface="Courier New" charset="0"/>
                <a:cs typeface="Courier New" charset="0"/>
              </a:rPr>
              <a:t>" "</a:t>
            </a:r>
            <a:r>
              <a:rPr lang="pt-BR" altLang="en-US" sz="2400" dirty="0" err="1">
                <a:latin typeface="Courier New" charset="0"/>
                <a:ea typeface="Courier New" charset="0"/>
                <a:cs typeface="Courier New" charset="0"/>
              </a:rPr>
              <a:t>d</a:t>
            </a:r>
            <a:r>
              <a:rPr lang="pt-BR" altLang="en-US" sz="2400" dirty="0">
                <a:latin typeface="Courier New" charset="0"/>
                <a:ea typeface="Courier New" charset="0"/>
                <a:cs typeface="Courier New" charset="0"/>
              </a:rPr>
              <a:t>"))</a:t>
            </a:r>
          </a:p>
          <a:p>
            <a:pPr marL="0" indent="0">
              <a:buNone/>
            </a:pPr>
            <a:r>
              <a:rPr lang="pt-BR" altLang="en-US" sz="2400" dirty="0"/>
              <a:t>      </a:t>
            </a:r>
            <a:r>
              <a:rPr lang="en-US" altLang="en-US" sz="2400" dirty="0">
                <a:latin typeface="Courier New" charset="0"/>
                <a:ea typeface="Courier New" charset="0"/>
                <a:cs typeface="Courier New" charset="0"/>
              </a:rPr>
              <a:t>(car </a:t>
            </a:r>
            <a:r>
              <a:rPr lang="en-US" altLang="en-US" sz="2400" dirty="0" err="1">
                <a:latin typeface="Courier New" charset="0"/>
                <a:ea typeface="Courier New" charset="0"/>
                <a:cs typeface="Courier New" charset="0"/>
              </a:rPr>
              <a:t>MyList</a:t>
            </a:r>
            <a:r>
              <a:rPr lang="en-US" altLang="en-US" sz="2400" dirty="0">
                <a:latin typeface="Courier New" charset="0"/>
                <a:ea typeface="Courier New" charset="0"/>
                <a:cs typeface="Courier New" charset="0"/>
              </a:rPr>
              <a:t>) ;error: </a:t>
            </a:r>
            <a:r>
              <a:rPr lang="en-US" altLang="en-US" sz="2400" dirty="0" err="1">
                <a:latin typeface="Courier New" charset="0"/>
                <a:ea typeface="Courier New" charset="0"/>
                <a:cs typeface="Courier New" charset="0"/>
              </a:rPr>
              <a:t>MyList</a:t>
            </a:r>
            <a:r>
              <a:rPr lang="en-US" altLang="en-US" sz="2400" dirty="0">
                <a:latin typeface="Courier New" charset="0"/>
                <a:ea typeface="Courier New" charset="0"/>
                <a:cs typeface="Courier New" charset="0"/>
              </a:rPr>
              <a:t> unbound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171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Local vs Global Binding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2681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The </a:t>
            </a:r>
            <a:r>
              <a:rPr lang="en-US" altLang="en-US" dirty="0">
                <a:latin typeface="Courier New" charset="0"/>
                <a:ea typeface="MS PGothic" charset="-128"/>
              </a:rPr>
              <a:t>let</a:t>
            </a:r>
            <a:r>
              <a:rPr lang="en-US" altLang="en-US" dirty="0">
                <a:ea typeface="MS PGothic" charset="-128"/>
              </a:rPr>
              <a:t> block creates variables visible within the scope and lifetime of the </a:t>
            </a:r>
            <a:r>
              <a:rPr lang="en-US" altLang="en-US" dirty="0">
                <a:latin typeface="Courier New" charset="0"/>
                <a:ea typeface="MS PGothic" charset="-128"/>
              </a:rPr>
              <a:t>let</a:t>
            </a:r>
          </a:p>
          <a:p>
            <a:pPr marL="400050" lvl="2" indent="0">
              <a:buFontTx/>
              <a:buNone/>
            </a:pPr>
            <a:r>
              <a:rPr lang="mr-IN" altLang="en-US" sz="28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sz="2800" dirty="0" err="1">
                <a:latin typeface="Courier New" charset="0"/>
                <a:ea typeface="Courier New" charset="0"/>
                <a:cs typeface="Courier New" charset="0"/>
              </a:rPr>
              <a:t>let</a:t>
            </a:r>
            <a:r>
              <a:rPr lang="mr-IN" altLang="en-US" sz="2800" dirty="0">
                <a:latin typeface="Courier New" charset="0"/>
                <a:ea typeface="Courier New" charset="0"/>
                <a:cs typeface="Courier New" charset="0"/>
              </a:rPr>
              <a:t> ((</a:t>
            </a:r>
            <a:r>
              <a:rPr lang="mr-IN" altLang="en-US" sz="2800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altLang="en-US" sz="2800" dirty="0">
                <a:latin typeface="Courier New" charset="0"/>
                <a:ea typeface="Courier New" charset="0"/>
                <a:cs typeface="Courier New" charset="0"/>
              </a:rPr>
              <a:t> 2) (</a:t>
            </a:r>
            <a:r>
              <a:rPr lang="mr-IN" altLang="en-US" sz="2800" dirty="0" err="1"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mr-IN" altLang="en-US" sz="2800" dirty="0">
                <a:latin typeface="Courier New" charset="0"/>
                <a:ea typeface="Courier New" charset="0"/>
                <a:cs typeface="Courier New" charset="0"/>
              </a:rPr>
              <a:t> 3))  </a:t>
            </a:r>
            <a:endParaRPr lang="en-US" altLang="en-US" sz="2800" dirty="0">
              <a:latin typeface="Courier New" charset="0"/>
              <a:ea typeface="Courier New" charset="0"/>
              <a:cs typeface="Courier New" charset="0"/>
            </a:endParaRPr>
          </a:p>
          <a:p>
            <a:pPr marL="400050" lvl="2" indent="0">
              <a:buFontTx/>
              <a:buNone/>
            </a:pPr>
            <a:r>
              <a:rPr lang="en-US" altLang="en-US" sz="2800" dirty="0">
                <a:latin typeface="Courier New" charset="0"/>
                <a:ea typeface="Courier New" charset="0"/>
                <a:cs typeface="Courier New" charset="0"/>
              </a:rPr>
              <a:t>  </a:t>
            </a:r>
            <a:r>
              <a:rPr lang="mr-IN" altLang="en-US" sz="28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sz="2800" dirty="0" err="1">
                <a:latin typeface="Courier New" charset="0"/>
                <a:ea typeface="Courier New" charset="0"/>
                <a:cs typeface="Courier New" charset="0"/>
              </a:rPr>
              <a:t>print</a:t>
            </a:r>
            <a:r>
              <a:rPr lang="mr-IN" altLang="en-US" sz="2800" dirty="0">
                <a:latin typeface="Courier New" charset="0"/>
                <a:ea typeface="Courier New" charset="0"/>
                <a:cs typeface="Courier New" charset="0"/>
              </a:rPr>
              <a:t> (+ 1 </a:t>
            </a:r>
            <a:r>
              <a:rPr lang="mr-IN" altLang="en-US" sz="2800" dirty="0" err="1"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mr-IN" altLang="en-US" sz="2800" dirty="0">
                <a:latin typeface="Courier New" charset="0"/>
                <a:ea typeface="Courier New" charset="0"/>
                <a:cs typeface="Courier New" charset="0"/>
              </a:rPr>
              <a:t>))  </a:t>
            </a:r>
            <a:endParaRPr lang="en-US" altLang="en-US" sz="2800" dirty="0">
              <a:latin typeface="Courier New" charset="0"/>
              <a:ea typeface="Courier New" charset="0"/>
              <a:cs typeface="Courier New" charset="0"/>
            </a:endParaRPr>
          </a:p>
          <a:p>
            <a:pPr marL="400050" lvl="2" indent="0">
              <a:buFontTx/>
              <a:buNone/>
            </a:pPr>
            <a:r>
              <a:rPr lang="en-US" altLang="en-US" sz="2800" dirty="0">
                <a:latin typeface="Courier New" charset="0"/>
                <a:ea typeface="Courier New" charset="0"/>
                <a:cs typeface="Courier New" charset="0"/>
              </a:rPr>
              <a:t>  </a:t>
            </a:r>
            <a:r>
              <a:rPr lang="mr-IN" altLang="en-US" sz="28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sz="2800" dirty="0" err="1">
                <a:latin typeface="Courier New" charset="0"/>
                <a:ea typeface="Courier New" charset="0"/>
                <a:cs typeface="Courier New" charset="0"/>
              </a:rPr>
              <a:t>print</a:t>
            </a:r>
            <a:r>
              <a:rPr lang="mr-IN" altLang="en-US" sz="2800" dirty="0">
                <a:latin typeface="Courier New" charset="0"/>
                <a:ea typeface="Courier New" charset="0"/>
                <a:cs typeface="Courier New" charset="0"/>
              </a:rPr>
              <a:t> (+ 6 </a:t>
            </a:r>
            <a:r>
              <a:rPr lang="mr-IN" altLang="en-US" sz="2800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altLang="en-US" sz="2800" dirty="0">
                <a:latin typeface="Courier New" charset="0"/>
                <a:ea typeface="Courier New" charset="0"/>
                <a:cs typeface="Courier New" charset="0"/>
              </a:rPr>
              <a:t>))</a:t>
            </a:r>
            <a:endParaRPr lang="en-US" altLang="en-US" sz="2800" dirty="0">
              <a:latin typeface="Courier New" charset="0"/>
              <a:ea typeface="Courier New" charset="0"/>
              <a:cs typeface="Courier New" charset="0"/>
            </a:endParaRPr>
          </a:p>
          <a:p>
            <a:pPr marL="400050" lvl="2" indent="0">
              <a:buFontTx/>
              <a:buNone/>
            </a:pPr>
            <a:r>
              <a:rPr lang="mr-IN" altLang="en-US" sz="2800" dirty="0">
                <a:latin typeface="Courier New" charset="0"/>
                <a:ea typeface="Courier New" charset="0"/>
                <a:cs typeface="Courier New" charset="0"/>
              </a:rPr>
              <a:t>)</a:t>
            </a:r>
            <a:r>
              <a:rPr lang="en-US" altLang="en-US" sz="2800" dirty="0">
                <a:latin typeface="Courier New" charset="0"/>
                <a:ea typeface="MS PGothic" charset="-128"/>
              </a:rPr>
              <a:t>		;prints 4 8</a:t>
            </a:r>
            <a:endParaRPr lang="en-US" altLang="en-US" sz="2800" dirty="0">
              <a:ea typeface="MS PGothic" charset="-128"/>
            </a:endParaRPr>
          </a:p>
          <a:p>
            <a:r>
              <a:rPr lang="en-US" altLang="en-US" dirty="0" err="1">
                <a:latin typeface="Courier New" charset="0"/>
                <a:ea typeface="MS PGothic" charset="-128"/>
              </a:rPr>
              <a:t>defvar</a:t>
            </a:r>
            <a:r>
              <a:rPr lang="en-US" altLang="en-US" dirty="0">
                <a:ea typeface="MS PGothic" charset="-128"/>
              </a:rPr>
              <a:t>: creates a global binding of a variable visible in the top-level environment</a:t>
            </a:r>
          </a:p>
          <a:p>
            <a:r>
              <a:rPr lang="en-US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let</a:t>
            </a:r>
            <a:r>
              <a:rPr lang="en-US" dirty="0">
                <a:ea typeface="ＭＳ Ｐゴシック" charset="0"/>
                <a:cs typeface="Courier New" pitchFamily="49" charset="0"/>
              </a:rPr>
              <a:t> </a:t>
            </a:r>
            <a:r>
              <a:rPr lang="en-US" dirty="0"/>
              <a:t>cannot be used to define recursive functions since </a:t>
            </a:r>
            <a:r>
              <a:rPr lang="en-US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let</a:t>
            </a:r>
            <a:r>
              <a:rPr lang="en-US" dirty="0">
                <a:ea typeface="ＭＳ Ｐゴシック" charset="0"/>
                <a:cs typeface="Courier New" pitchFamily="49" charset="0"/>
              </a:rPr>
              <a:t> </a:t>
            </a:r>
            <a:r>
              <a:rPr lang="en-US" dirty="0"/>
              <a:t>bindings cannot refer to themselves or each other</a:t>
            </a:r>
          </a:p>
          <a:p>
            <a:endParaRPr lang="en-US" altLang="en-US" dirty="0">
              <a:ea typeface="MS PGothic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10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Let and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882745" cy="48126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We can bind an anonymous function to a variable name within a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let</a:t>
            </a:r>
            <a:r>
              <a:rPr lang="en-US" dirty="0"/>
              <a:t>:</a:t>
            </a:r>
          </a:p>
          <a:p>
            <a:pPr marL="741363" lvl="2" indent="-341313">
              <a:buFontTx/>
              <a:buNone/>
              <a:defRPr/>
            </a:pPr>
            <a:r>
              <a:rPr lang="en-US" sz="24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(let </a:t>
            </a:r>
          </a:p>
          <a:p>
            <a:pPr marL="741363" lvl="2" indent="-341313">
              <a:buFontTx/>
              <a:buNone/>
              <a:defRPr/>
            </a:pPr>
            <a:r>
              <a:rPr lang="en-US" sz="24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	( (</a:t>
            </a:r>
            <a:r>
              <a:rPr lang="en-US" sz="2400" dirty="0" err="1">
                <a:latin typeface="Courier New" pitchFamily="49" charset="0"/>
                <a:ea typeface="ＭＳ Ｐゴシック" charset="0"/>
                <a:cs typeface="Courier New" pitchFamily="49" charset="0"/>
              </a:rPr>
              <a:t>circleArea</a:t>
            </a:r>
            <a:r>
              <a:rPr lang="en-US" sz="24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(lambda (r) (* 3.14 (* r r)))) )   </a:t>
            </a:r>
          </a:p>
          <a:p>
            <a:pPr marL="741363" lvl="2" indent="-341313">
              <a:buFontTx/>
              <a:buNone/>
              <a:defRPr/>
            </a:pPr>
            <a:r>
              <a:rPr lang="en-US" sz="24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 (</a:t>
            </a:r>
            <a:r>
              <a:rPr lang="en-US" sz="2400" dirty="0" err="1">
                <a:latin typeface="Courier New" pitchFamily="49" charset="0"/>
                <a:ea typeface="ＭＳ Ｐゴシック" charset="0"/>
                <a:cs typeface="Courier New" pitchFamily="49" charset="0"/>
              </a:rPr>
              <a:t>funcall</a:t>
            </a:r>
            <a:r>
              <a:rPr lang="en-US" sz="24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</a:t>
            </a:r>
            <a:r>
              <a:rPr lang="en-US" sz="2400" dirty="0" err="1">
                <a:latin typeface="Courier New" pitchFamily="49" charset="0"/>
                <a:ea typeface="ＭＳ Ｐゴシック" charset="0"/>
                <a:cs typeface="Courier New" pitchFamily="49" charset="0"/>
              </a:rPr>
              <a:t>circleArea</a:t>
            </a:r>
            <a:r>
              <a:rPr lang="en-US" sz="24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10) ;returns 314.0</a:t>
            </a:r>
          </a:p>
          <a:p>
            <a:pPr marL="741363" lvl="2" indent="-341313">
              <a:buFontTx/>
              <a:buNone/>
              <a:defRPr/>
            </a:pPr>
            <a:r>
              <a:rPr lang="en-US" sz="24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)</a:t>
            </a:r>
          </a:p>
          <a:p>
            <a:pPr marL="741363" lvl="2" indent="-341313">
              <a:buFontTx/>
              <a:buNone/>
              <a:defRPr/>
            </a:pPr>
            <a:endParaRPr lang="en-US" sz="2400" dirty="0">
              <a:latin typeface="Courier New" pitchFamily="49" charset="0"/>
              <a:ea typeface="ＭＳ Ｐゴシック" charset="0"/>
              <a:cs typeface="Courier New" pitchFamily="49" charset="0"/>
            </a:endParaRPr>
          </a:p>
          <a:p>
            <a:pPr marL="741363" lvl="2" indent="-341313">
              <a:buFontTx/>
              <a:buNone/>
              <a:defRPr/>
            </a:pPr>
            <a:r>
              <a:rPr lang="en-US" sz="24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(</a:t>
            </a:r>
            <a:r>
              <a:rPr lang="en-US" sz="2400" dirty="0" err="1">
                <a:latin typeface="Courier New" pitchFamily="49" charset="0"/>
                <a:ea typeface="ＭＳ Ｐゴシック" charset="0"/>
                <a:cs typeface="Courier New" pitchFamily="49" charset="0"/>
              </a:rPr>
              <a:t>circleArea</a:t>
            </a:r>
            <a:r>
              <a:rPr lang="en-US" sz="24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10) ;error, </a:t>
            </a:r>
            <a:r>
              <a:rPr lang="en-US" sz="2400" dirty="0" err="1">
                <a:latin typeface="Courier New" pitchFamily="49" charset="0"/>
                <a:ea typeface="ＭＳ Ｐゴシック" charset="0"/>
                <a:cs typeface="Courier New" pitchFamily="49" charset="0"/>
              </a:rPr>
              <a:t>circleArea</a:t>
            </a:r>
            <a:r>
              <a:rPr lang="en-US" sz="24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undefined</a:t>
            </a:r>
            <a:endParaRPr lang="en-US" altLang="en-US" sz="2400" dirty="0">
              <a:ea typeface="MS PGothic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951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Let and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2681"/>
          </a:xfrm>
        </p:spPr>
        <p:txBody>
          <a:bodyPr>
            <a:noAutofit/>
          </a:bodyPr>
          <a:lstStyle/>
          <a:p>
            <a:pPr marL="457200" lvl="1" indent="-457200">
              <a:defRPr/>
            </a:pPr>
            <a:r>
              <a:rPr lang="en-US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let*</a:t>
            </a:r>
          </a:p>
          <a:p>
            <a:pPr marL="457200" lvl="1" indent="-457200">
              <a:defRPr/>
            </a:pPr>
            <a:r>
              <a:rPr lang="en-US" sz="2800" dirty="0">
                <a:latin typeface="Calibri" charset="0"/>
                <a:ea typeface="Calibri" charset="0"/>
                <a:cs typeface="Calibri" charset="0"/>
              </a:rPr>
              <a:t>The difference is that in a </a:t>
            </a:r>
            <a:r>
              <a:rPr lang="en-US" sz="2800" dirty="0">
                <a:latin typeface="Courier New" charset="0"/>
                <a:ea typeface="Courier New" charset="0"/>
                <a:cs typeface="Courier New" charset="0"/>
              </a:rPr>
              <a:t>let</a:t>
            </a:r>
            <a:r>
              <a:rPr lang="en-US" sz="2800" dirty="0">
                <a:latin typeface="Calibri" charset="0"/>
                <a:ea typeface="Calibri" charset="0"/>
                <a:cs typeface="Calibri" charset="0"/>
              </a:rPr>
              <a:t>, the variable names can be used only in the body of the </a:t>
            </a:r>
            <a:r>
              <a:rPr lang="en-US" sz="2800" dirty="0">
                <a:latin typeface="Courier New" charset="0"/>
                <a:ea typeface="Courier New" charset="0"/>
                <a:cs typeface="Courier New" charset="0"/>
              </a:rPr>
              <a:t>let</a:t>
            </a:r>
          </a:p>
          <a:p>
            <a:pPr marL="457200" lvl="1" indent="-457200">
              <a:defRPr/>
            </a:pPr>
            <a:r>
              <a:rPr lang="en-US" sz="2800" dirty="0">
                <a:latin typeface="Calibri" charset="0"/>
                <a:ea typeface="Calibri" charset="0"/>
                <a:cs typeface="Calibri" charset="0"/>
              </a:rPr>
              <a:t>In a </a:t>
            </a:r>
            <a:r>
              <a:rPr lang="en-US" sz="2800" dirty="0">
                <a:latin typeface="Courier New" charset="0"/>
                <a:ea typeface="Courier New" charset="0"/>
                <a:cs typeface="Courier New" charset="0"/>
              </a:rPr>
              <a:t>let*</a:t>
            </a:r>
            <a:r>
              <a:rPr lang="en-US" sz="2800" dirty="0">
                <a:latin typeface="Calibri" charset="0"/>
                <a:ea typeface="Calibri" charset="0"/>
                <a:cs typeface="Calibri" charset="0"/>
              </a:rPr>
              <a:t>, the initial value forms for each variable can refer to variables introduced earlier in the variables list</a:t>
            </a:r>
          </a:p>
          <a:p>
            <a:pPr marL="457200" lvl="1" indent="-457200">
              <a:defRPr/>
            </a:pPr>
            <a:r>
              <a:rPr lang="en-US" sz="2800" dirty="0">
                <a:latin typeface="Calibri" charset="0"/>
                <a:ea typeface="Calibri" charset="0"/>
                <a:cs typeface="Calibri" charset="0"/>
              </a:rPr>
              <a:t>Ex: </a:t>
            </a:r>
          </a:p>
          <a:p>
            <a:pPr marL="457200" lvl="2" indent="0">
              <a:buNone/>
              <a:defRPr/>
            </a:pPr>
            <a:r>
              <a:rPr lang="en-US" sz="2400" dirty="0">
                <a:latin typeface="Calibri" charset="0"/>
                <a:ea typeface="Calibri" charset="0"/>
                <a:cs typeface="Calibri" charset="0"/>
              </a:rPr>
              <a:t>	</a:t>
            </a:r>
            <a:r>
              <a:rPr lang="en-US" sz="2400" dirty="0">
                <a:latin typeface="Courier New" charset="0"/>
                <a:ea typeface="Courier New" charset="0"/>
                <a:cs typeface="Courier New" charset="0"/>
              </a:rPr>
              <a:t>(let* ((x 10) (y (+ x 10)))  </a:t>
            </a:r>
          </a:p>
          <a:p>
            <a:pPr marL="457200" lvl="2" indent="0">
              <a:buNone/>
              <a:defRPr/>
            </a:pPr>
            <a:r>
              <a:rPr lang="en-US" sz="2400" dirty="0">
                <a:latin typeface="Courier New" charset="0"/>
                <a:ea typeface="Courier New" charset="0"/>
                <a:cs typeface="Courier New" charset="0"/>
              </a:rPr>
              <a:t>    (list x y))</a:t>
            </a:r>
          </a:p>
          <a:p>
            <a:pPr marL="457200" lvl="1" indent="-457200">
              <a:defRPr/>
            </a:pPr>
            <a:r>
              <a:rPr lang="en-US" sz="2800" dirty="0">
                <a:latin typeface="Calibri" charset="0"/>
                <a:ea typeface="Calibri" charset="0"/>
                <a:cs typeface="Calibri" charset="0"/>
              </a:rPr>
              <a:t>But this is is illegal:</a:t>
            </a:r>
          </a:p>
          <a:p>
            <a:pPr marL="457200" lvl="2" indent="0">
              <a:buNone/>
              <a:defRPr/>
            </a:pPr>
            <a:r>
              <a:rPr lang="en-US" sz="2400" dirty="0">
                <a:latin typeface="Calibri" charset="0"/>
                <a:ea typeface="Calibri" charset="0"/>
                <a:cs typeface="Calibri" charset="0"/>
              </a:rPr>
              <a:t>	</a:t>
            </a:r>
            <a:r>
              <a:rPr lang="en-US" sz="2400" dirty="0">
                <a:latin typeface="Courier New" charset="0"/>
                <a:ea typeface="Courier New" charset="0"/>
                <a:cs typeface="Courier New" charset="0"/>
              </a:rPr>
              <a:t>(let ((x 10) (y (+ x 10)))  </a:t>
            </a:r>
          </a:p>
          <a:p>
            <a:pPr marL="457200" lvl="2" indent="0">
              <a:buNone/>
              <a:defRPr/>
            </a:pPr>
            <a:r>
              <a:rPr lang="en-US" sz="2400" dirty="0">
                <a:latin typeface="Courier New" charset="0"/>
                <a:ea typeface="Courier New" charset="0"/>
                <a:cs typeface="Courier New" charset="0"/>
              </a:rPr>
              <a:t>   (list x y))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836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Dynamic Type Checking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15798"/>
          </a:xfrm>
        </p:spPr>
        <p:txBody>
          <a:bodyPr>
            <a:noAutofit/>
          </a:bodyPr>
          <a:lstStyle/>
          <a:p>
            <a:pPr>
              <a:spcBef>
                <a:spcPts val="500"/>
              </a:spcBef>
            </a:pPr>
            <a:r>
              <a:rPr lang="en-US" altLang="x-none" dirty="0"/>
              <a:t>Common Lisp is dynamically typed and provides </a:t>
            </a:r>
            <a:r>
              <a:rPr lang="en-US" altLang="x-none" b="1" dirty="0"/>
              <a:t>latent type checking</a:t>
            </a:r>
          </a:p>
          <a:p>
            <a:pPr lvl="1"/>
            <a:r>
              <a:rPr lang="en-US" altLang="x-none" sz="2800" dirty="0"/>
              <a:t>Only values, not variables, have data types</a:t>
            </a:r>
          </a:p>
          <a:p>
            <a:pPr lvl="1"/>
            <a:r>
              <a:rPr lang="en-US" altLang="x-none" sz="2800" dirty="0"/>
              <a:t>Types of values are not checked until necessary at runtime</a:t>
            </a:r>
          </a:p>
          <a:p>
            <a:pPr>
              <a:spcBef>
                <a:spcPts val="500"/>
              </a:spcBef>
            </a:pPr>
            <a:r>
              <a:rPr lang="en-US" altLang="x-none" dirty="0"/>
              <a:t>Automatic type checking happens right before a primitive function, such as </a:t>
            </a:r>
            <a:r>
              <a:rPr lang="en-US" altLang="x-none" dirty="0">
                <a:latin typeface="Courier New" charset="0"/>
                <a:ea typeface="Courier New" charset="0"/>
                <a:cs typeface="Courier New" charset="0"/>
              </a:rPr>
              <a:t>+</a:t>
            </a:r>
          </a:p>
          <a:p>
            <a:pPr>
              <a:spcBef>
                <a:spcPts val="500"/>
              </a:spcBef>
            </a:pPr>
            <a:r>
              <a:rPr lang="en-US" altLang="x-none" dirty="0"/>
              <a:t>Arguments to programmer-defined functions are not automatically checked</a:t>
            </a:r>
          </a:p>
          <a:p>
            <a:pPr lvl="1"/>
            <a:r>
              <a:rPr lang="en-US" altLang="x-none" sz="2800" dirty="0"/>
              <a:t>Ex: </a:t>
            </a:r>
            <a:r>
              <a:rPr lang="en-US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(</a:t>
            </a:r>
            <a:r>
              <a:rPr lang="en-US" sz="2800" dirty="0" err="1">
                <a:latin typeface="Courier New" pitchFamily="49" charset="0"/>
                <a:ea typeface="ＭＳ Ｐゴシック" charset="0"/>
                <a:cs typeface="Courier New" pitchFamily="49" charset="0"/>
              </a:rPr>
              <a:t>defun</a:t>
            </a:r>
            <a:r>
              <a:rPr lang="en-US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square (n) (* n n))					  (square “hello”) ;runtime error		</a:t>
            </a:r>
            <a:endParaRPr lang="en-US" altLang="x-none" sz="2800" dirty="0"/>
          </a:p>
          <a:p>
            <a:pPr lvl="1"/>
            <a:r>
              <a:rPr lang="en-US" altLang="x-none" sz="2800" dirty="0"/>
              <a:t>Fix??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843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Dynamic Type Checking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15798"/>
          </a:xfrm>
        </p:spPr>
        <p:txBody>
          <a:bodyPr>
            <a:noAutofit/>
          </a:bodyPr>
          <a:lstStyle/>
          <a:p>
            <a:pPr>
              <a:spcBef>
                <a:spcPts val="500"/>
              </a:spcBef>
            </a:pPr>
            <a:r>
              <a:rPr lang="en-US" altLang="x-none" dirty="0"/>
              <a:t>Ex: Dynamic type checking using built in functions</a:t>
            </a:r>
            <a:endParaRPr lang="en-US" altLang="x-none" sz="2800" dirty="0"/>
          </a:p>
          <a:p>
            <a:pPr marL="457200" lvl="1" indent="0">
              <a:buNone/>
            </a:pPr>
            <a:r>
              <a:rPr lang="en-US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(</a:t>
            </a:r>
            <a:r>
              <a:rPr lang="en-US" sz="2800" dirty="0" err="1">
                <a:latin typeface="Courier New" pitchFamily="49" charset="0"/>
                <a:ea typeface="ＭＳ Ｐゴシック" charset="0"/>
                <a:cs typeface="Courier New" pitchFamily="49" charset="0"/>
              </a:rPr>
              <a:t>defun</a:t>
            </a:r>
            <a:r>
              <a:rPr lang="en-US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square (n)</a:t>
            </a:r>
          </a:p>
          <a:p>
            <a:pPr marL="457200" lvl="1" indent="0">
              <a:buNone/>
            </a:pPr>
            <a:r>
              <a:rPr lang="en-US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 (if (</a:t>
            </a:r>
            <a:r>
              <a:rPr lang="en-US" sz="2800" dirty="0" err="1">
                <a:latin typeface="Courier New" pitchFamily="49" charset="0"/>
                <a:ea typeface="ＭＳ Ｐゴシック" charset="0"/>
                <a:cs typeface="Courier New" pitchFamily="49" charset="0"/>
                <a:hlinkClick r:id="rId2"/>
              </a:rPr>
              <a:t>numberp</a:t>
            </a:r>
            <a:r>
              <a:rPr lang="en-US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n) </a:t>
            </a:r>
          </a:p>
          <a:p>
            <a:pPr marL="457200" lvl="1" indent="0">
              <a:buNone/>
            </a:pPr>
            <a:r>
              <a:rPr lang="en-US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   (* n n) </a:t>
            </a:r>
          </a:p>
          <a:p>
            <a:pPr marL="457200" lvl="1" indent="0">
              <a:buNone/>
            </a:pPr>
            <a:r>
              <a:rPr lang="en-US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   </a:t>
            </a:r>
            <a:r>
              <a:rPr lang="mr-IN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"</a:t>
            </a:r>
            <a:r>
              <a:rPr lang="en-US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wrong input"</a:t>
            </a:r>
          </a:p>
          <a:p>
            <a:pPr marL="457200" lvl="1" indent="0">
              <a:buNone/>
            </a:pPr>
            <a:r>
              <a:rPr lang="en-US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  )</a:t>
            </a:r>
          </a:p>
          <a:p>
            <a:pPr marL="457200" lvl="1" indent="0">
              <a:buNone/>
            </a:pPr>
            <a:r>
              <a:rPr lang="en-US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)			</a:t>
            </a:r>
          </a:p>
          <a:p>
            <a:pPr marL="457200" lvl="1" indent="0">
              <a:buNone/>
            </a:pPr>
            <a:r>
              <a:rPr lang="en-US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(square </a:t>
            </a:r>
            <a:r>
              <a:rPr lang="mr-IN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"</a:t>
            </a:r>
            <a:r>
              <a:rPr lang="en-US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hello</a:t>
            </a:r>
            <a:r>
              <a:rPr lang="mr-IN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"</a:t>
            </a:r>
            <a:r>
              <a:rPr lang="en-US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)	</a:t>
            </a:r>
            <a:r>
              <a:rPr lang="en-US" sz="2800" dirty="0">
                <a:latin typeface="Courier New" charset="0"/>
                <a:ea typeface="Courier New" charset="0"/>
                <a:cs typeface="Courier New" charset="0"/>
              </a:rPr>
              <a:t>; prints "wrong input"</a:t>
            </a:r>
            <a:endParaRPr lang="en-US" altLang="x-none" sz="2800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798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Dynamic Type Checking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15798"/>
          </a:xfrm>
        </p:spPr>
        <p:txBody>
          <a:bodyPr>
            <a:noAutofit/>
          </a:bodyPr>
          <a:lstStyle/>
          <a:p>
            <a:pPr>
              <a:spcBef>
                <a:spcPts val="500"/>
              </a:spcBef>
            </a:pPr>
            <a:r>
              <a:rPr lang="en-US" altLang="x-none" dirty="0"/>
              <a:t>Ex: Dynamic type checking using built in functions</a:t>
            </a:r>
          </a:p>
          <a:p>
            <a:pPr marL="457200" lvl="1" indent="0">
              <a:buNone/>
            </a:pPr>
            <a:r>
              <a:rPr lang="es-ES_tradnl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(</a:t>
            </a:r>
            <a:r>
              <a:rPr lang="es-ES_tradnl" sz="2800" dirty="0" err="1">
                <a:latin typeface="Courier New" pitchFamily="49" charset="0"/>
                <a:ea typeface="ＭＳ Ｐゴシック" charset="0"/>
                <a:cs typeface="Courier New" pitchFamily="49" charset="0"/>
              </a:rPr>
              <a:t>defvar</a:t>
            </a:r>
            <a:r>
              <a:rPr lang="es-ES_tradnl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a "a")</a:t>
            </a:r>
          </a:p>
          <a:p>
            <a:pPr marL="457200" lvl="1" indent="0">
              <a:buNone/>
            </a:pPr>
            <a:r>
              <a:rPr lang="es-ES_tradnl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(</a:t>
            </a:r>
            <a:r>
              <a:rPr lang="es-ES_tradnl" sz="2800" dirty="0" err="1">
                <a:latin typeface="Courier New" pitchFamily="49" charset="0"/>
                <a:ea typeface="ＭＳ Ｐゴシック" charset="0"/>
                <a:cs typeface="Courier New" pitchFamily="49" charset="0"/>
              </a:rPr>
              <a:t>defun</a:t>
            </a:r>
            <a:r>
              <a:rPr lang="es-ES_tradnl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</a:t>
            </a:r>
            <a:r>
              <a:rPr lang="es-ES_tradnl" sz="2800" dirty="0" err="1">
                <a:latin typeface="Courier New" pitchFamily="49" charset="0"/>
                <a:ea typeface="ＭＳ Ｐゴシック" charset="0"/>
                <a:cs typeface="Courier New" pitchFamily="49" charset="0"/>
              </a:rPr>
              <a:t>add</a:t>
            </a:r>
            <a:r>
              <a:rPr lang="es-ES_tradnl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-a (x) (+ x a))</a:t>
            </a:r>
          </a:p>
          <a:p>
            <a:pPr marL="457200" lvl="1" indent="0">
              <a:buNone/>
            </a:pPr>
            <a:r>
              <a:rPr lang="es-ES_tradnl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(</a:t>
            </a:r>
            <a:r>
              <a:rPr lang="es-ES_tradnl" sz="2800" dirty="0" err="1">
                <a:latin typeface="Courier New" pitchFamily="49" charset="0"/>
                <a:ea typeface="ＭＳ Ｐゴシック" charset="0"/>
                <a:cs typeface="Courier New" pitchFamily="49" charset="0"/>
              </a:rPr>
              <a:t>add</a:t>
            </a:r>
            <a:r>
              <a:rPr lang="es-ES_tradnl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-a 5) 				</a:t>
            </a:r>
            <a:r>
              <a:rPr lang="es-ES_tradnl" sz="2800" dirty="0">
                <a:latin typeface="Courier New" charset="0"/>
                <a:ea typeface="Courier New" charset="0"/>
                <a:cs typeface="Courier New" charset="0"/>
              </a:rPr>
              <a:t>;ERROR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539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Dynamic Type Checking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15798"/>
          </a:xfrm>
        </p:spPr>
        <p:txBody>
          <a:bodyPr>
            <a:noAutofit/>
          </a:bodyPr>
          <a:lstStyle/>
          <a:p>
            <a:pPr>
              <a:spcBef>
                <a:spcPts val="500"/>
              </a:spcBef>
            </a:pPr>
            <a:r>
              <a:rPr lang="en-US" altLang="x-none" dirty="0"/>
              <a:t>Ex: Dynamic type checking using built in functions</a:t>
            </a:r>
          </a:p>
          <a:p>
            <a:pPr marL="0" indent="0">
              <a:buNone/>
            </a:pPr>
            <a:r>
              <a:rPr lang="en-US" sz="24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(</a:t>
            </a:r>
            <a:r>
              <a:rPr lang="en-US" sz="2400" dirty="0" err="1">
                <a:latin typeface="Courier New" pitchFamily="49" charset="0"/>
                <a:ea typeface="ＭＳ Ｐゴシック" charset="0"/>
                <a:cs typeface="Courier New" pitchFamily="49" charset="0"/>
              </a:rPr>
              <a:t>defvar</a:t>
            </a:r>
            <a:r>
              <a:rPr lang="en-US" sz="24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a "a")</a:t>
            </a:r>
          </a:p>
          <a:p>
            <a:pPr marL="0" indent="0">
              <a:buNone/>
            </a:pPr>
            <a:r>
              <a:rPr lang="en-US" sz="24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(</a:t>
            </a:r>
            <a:r>
              <a:rPr lang="en-US" sz="2400" dirty="0" err="1">
                <a:latin typeface="Courier New" pitchFamily="49" charset="0"/>
                <a:ea typeface="ＭＳ Ｐゴシック" charset="0"/>
                <a:cs typeface="Courier New" pitchFamily="49" charset="0"/>
              </a:rPr>
              <a:t>defun</a:t>
            </a:r>
            <a:r>
              <a:rPr lang="en-US" sz="24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add-a (x)   </a:t>
            </a:r>
          </a:p>
          <a:p>
            <a:pPr marL="0" indent="0">
              <a:buNone/>
            </a:pPr>
            <a:r>
              <a:rPr lang="en-US" sz="24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  (if (and (</a:t>
            </a:r>
            <a:r>
              <a:rPr lang="en-US" sz="2400" dirty="0">
                <a:latin typeface="Courier New" pitchFamily="49" charset="0"/>
                <a:ea typeface="ＭＳ Ｐゴシック" charset="0"/>
                <a:cs typeface="Courier New" pitchFamily="49" charset="0"/>
                <a:hlinkClick r:id="rId2"/>
              </a:rPr>
              <a:t>typep</a:t>
            </a:r>
            <a:r>
              <a:rPr lang="en-US" sz="2400" dirty="0">
                <a:latin typeface="Courier New" panose="02070309020205020404" pitchFamily="49" charset="0"/>
                <a:ea typeface="ＭＳ Ｐゴシック" charset="0"/>
                <a:cs typeface="Courier New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'integer</a:t>
            </a:r>
            <a:r>
              <a:rPr lang="en-US" sz="2400" dirty="0">
                <a:latin typeface="Courier New" panose="02070309020205020404" pitchFamily="49" charset="0"/>
                <a:ea typeface="ＭＳ Ｐゴシック" charset="0"/>
                <a:cs typeface="Courier New" pitchFamily="49" charset="0"/>
              </a:rPr>
              <a:t> a) (</a:t>
            </a:r>
            <a:r>
              <a:rPr lang="en-US" sz="2400" dirty="0">
                <a:latin typeface="Courier New" pitchFamily="49" charset="0"/>
                <a:ea typeface="ＭＳ Ｐゴシック" charset="0"/>
                <a:cs typeface="Courier New" pitchFamily="49" charset="0"/>
                <a:hlinkClick r:id="rId2"/>
              </a:rPr>
              <a:t>typep</a:t>
            </a:r>
            <a:r>
              <a:rPr lang="en-US" sz="2400" dirty="0">
                <a:latin typeface="Courier New" panose="02070309020205020404" pitchFamily="49" charset="0"/>
                <a:ea typeface="ＭＳ Ｐゴシック" charset="0"/>
                <a:cs typeface="Courier New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'integer</a:t>
            </a:r>
            <a:r>
              <a:rPr lang="en-US" sz="24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x)) </a:t>
            </a:r>
          </a:p>
          <a:p>
            <a:pPr marL="0" indent="0">
              <a:buNone/>
            </a:pPr>
            <a:r>
              <a:rPr lang="en-US" sz="24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     (+ x a)</a:t>
            </a:r>
          </a:p>
          <a:p>
            <a:pPr marL="0" indent="0">
              <a:buNone/>
            </a:pPr>
            <a:r>
              <a:rPr lang="en-US" sz="24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     (</a:t>
            </a:r>
            <a:r>
              <a:rPr lang="en-US" sz="2400" dirty="0">
                <a:latin typeface="Courier New" pitchFamily="49" charset="0"/>
                <a:ea typeface="ＭＳ Ｐゴシック" charset="0"/>
                <a:cs typeface="Courier New" pitchFamily="49" charset="0"/>
                <a:hlinkClick r:id="rId3"/>
              </a:rPr>
              <a:t>format</a:t>
            </a:r>
            <a:r>
              <a:rPr lang="en-US" sz="24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t "add-a: x or a is not a number x:~S     		a:~S" x a)</a:t>
            </a:r>
          </a:p>
          <a:p>
            <a:pPr marL="0" indent="0">
              <a:buNone/>
            </a:pPr>
            <a:r>
              <a:rPr lang="en-US" sz="24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  )</a:t>
            </a:r>
          </a:p>
          <a:p>
            <a:pPr marL="0" indent="0">
              <a:buNone/>
            </a:pPr>
            <a:r>
              <a:rPr lang="en-US" sz="24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(add-a 5) </a:t>
            </a:r>
            <a:r>
              <a:rPr lang="en-US" sz="2400" dirty="0">
                <a:latin typeface="Courier New" charset="0"/>
                <a:ea typeface="Courier New" charset="0"/>
                <a:cs typeface="Courier New" charset="0"/>
              </a:rPr>
              <a:t>;add-a: x or a is not a number x:5 </a:t>
            </a:r>
            <a:r>
              <a:rPr lang="en-US" sz="2400" dirty="0" err="1">
                <a:latin typeface="Courier New" charset="0"/>
                <a:ea typeface="Courier New" charset="0"/>
                <a:cs typeface="Courier New" charset="0"/>
              </a:rPr>
              <a:t>a:"a</a:t>
            </a:r>
            <a:r>
              <a:rPr lang="en-US" sz="2400" dirty="0">
                <a:latin typeface="Courier New" charset="0"/>
                <a:ea typeface="Courier New" charset="0"/>
                <a:cs typeface="Courier New" charset="0"/>
              </a:rPr>
              <a:t>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435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Variables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ea typeface="MS PGothic" charset="-128"/>
              </a:rPr>
              <a:t>Referential transparency</a:t>
            </a:r>
            <a:r>
              <a:rPr lang="en-US" altLang="en-US" dirty="0">
                <a:ea typeface="MS PGothic" charset="-128"/>
              </a:rPr>
              <a:t>: the property whereby a function’</a:t>
            </a:r>
            <a:r>
              <a:rPr lang="en-US" altLang="ja-JP" dirty="0">
                <a:ea typeface="MS PGothic" charset="-128"/>
              </a:rPr>
              <a:t>s value depends </a:t>
            </a:r>
            <a:r>
              <a:rPr lang="en-US" altLang="ja-JP" u="sng" dirty="0">
                <a:ea typeface="MS PGothic" charset="-128"/>
              </a:rPr>
              <a:t>only</a:t>
            </a:r>
            <a:r>
              <a:rPr lang="en-US" altLang="ja-JP" dirty="0">
                <a:ea typeface="MS PGothic" charset="-128"/>
              </a:rPr>
              <a:t> on the values of its variables (and nonlocal variables)</a:t>
            </a:r>
          </a:p>
          <a:p>
            <a:r>
              <a:rPr lang="en-US" altLang="en-US" dirty="0">
                <a:ea typeface="MS PGothic" charset="-128"/>
              </a:rPr>
              <a:t>Examples:</a:t>
            </a:r>
          </a:p>
          <a:p>
            <a:pPr lvl="1"/>
            <a:r>
              <a:rPr lang="en-US" altLang="en-US" sz="2800" dirty="0">
                <a:latin typeface="Courier New" charset="0"/>
                <a:ea typeface="MS PGothic" charset="-128"/>
              </a:rPr>
              <a:t>map </a:t>
            </a:r>
            <a:r>
              <a:rPr lang="en-US" altLang="en-US" sz="2800" dirty="0">
                <a:ea typeface="MS PGothic" charset="-128"/>
              </a:rPr>
              <a:t>function is referentially transparent</a:t>
            </a:r>
          </a:p>
          <a:p>
            <a:pPr lvl="1"/>
            <a:r>
              <a:rPr lang="en-US" altLang="en-US" sz="2800" dirty="0">
                <a:latin typeface="Courier New" charset="0"/>
                <a:ea typeface="MS PGothic" charset="-128"/>
              </a:rPr>
              <a:t>rand</a:t>
            </a:r>
            <a:r>
              <a:rPr lang="en-US" altLang="en-US" sz="2800" dirty="0">
                <a:ea typeface="MS PGothic" charset="-128"/>
              </a:rPr>
              <a:t> function is not because it depends on the state of the machine and previous calls to itself</a:t>
            </a:r>
          </a:p>
          <a:p>
            <a:r>
              <a:rPr lang="en-US" altLang="en-US" dirty="0">
                <a:ea typeface="MS PGothic" charset="-128"/>
              </a:rPr>
              <a:t>A referentially transparent function with no parameters must always return the same value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Thus it is no different than a constant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259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Variables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Referential transparency (and the lack of assignment) make the semantics straightforward</a:t>
            </a:r>
          </a:p>
          <a:p>
            <a:r>
              <a:rPr lang="en-US" altLang="en-US" b="1" dirty="0">
                <a:ea typeface="MS PGothic" charset="-128"/>
              </a:rPr>
              <a:t>Value semantics</a:t>
            </a:r>
            <a:r>
              <a:rPr lang="en-US" altLang="en-US" dirty="0">
                <a:ea typeface="MS PGothic" charset="-128"/>
              </a:rPr>
              <a:t>: semantics in which names are associated only to values, not memory locations </a:t>
            </a:r>
          </a:p>
          <a:p>
            <a:r>
              <a:rPr lang="en-US" altLang="en-US" dirty="0">
                <a:ea typeface="MS PGothic" charset="-128"/>
              </a:rPr>
              <a:t>Lack of local state in functional programming makes it opposite of OO programming, wherein computation proceeds by changing the local state of objects</a:t>
            </a:r>
          </a:p>
          <a:p>
            <a:r>
              <a:rPr lang="en-US" altLang="en-US" dirty="0">
                <a:ea typeface="MS PGothic" charset="-128"/>
              </a:rPr>
              <a:t>In functional programming, </a:t>
            </a:r>
            <a:r>
              <a:rPr lang="en-US" altLang="en-US" u="sng" dirty="0">
                <a:ea typeface="MS PGothic" charset="-128"/>
              </a:rPr>
              <a:t>functions must be general language objects, viewed as values themselves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449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Variables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15798"/>
          </a:xfrm>
        </p:spPr>
        <p:txBody>
          <a:bodyPr>
            <a:noAutofit/>
          </a:bodyPr>
          <a:lstStyle/>
          <a:p>
            <a:pPr>
              <a:spcBef>
                <a:spcPts val="500"/>
              </a:spcBef>
            </a:pPr>
            <a:r>
              <a:rPr lang="en-US" altLang="x-none" b="1" dirty="0"/>
              <a:t>Referential transparency</a:t>
            </a:r>
            <a:r>
              <a:rPr lang="en-US" altLang="x-none" dirty="0"/>
              <a:t>: the property whereby a function’s value depends </a:t>
            </a:r>
            <a:r>
              <a:rPr lang="en-US" altLang="x-none" u="sng" dirty="0"/>
              <a:t>only</a:t>
            </a:r>
            <a:r>
              <a:rPr lang="en-US" altLang="x-none" dirty="0"/>
              <a:t> on the values of its variables (and nonlocal variables)</a:t>
            </a:r>
          </a:p>
          <a:p>
            <a:pPr>
              <a:spcBef>
                <a:spcPts val="500"/>
              </a:spcBef>
            </a:pPr>
            <a:r>
              <a:rPr lang="en-US" altLang="en-US" b="1" dirty="0">
                <a:ea typeface="MS PGothic" charset="-128"/>
              </a:rPr>
              <a:t>Value semantics</a:t>
            </a:r>
            <a:r>
              <a:rPr lang="en-US" altLang="en-US" dirty="0">
                <a:ea typeface="MS PGothic" charset="-128"/>
              </a:rPr>
              <a:t>: names are associated only to values, not memory locations </a:t>
            </a:r>
            <a:endParaRPr lang="en-US" altLang="x-none" dirty="0"/>
          </a:p>
          <a:p>
            <a:pPr>
              <a:spcBef>
                <a:spcPts val="500"/>
              </a:spcBef>
            </a:pPr>
            <a:r>
              <a:rPr lang="en-US" altLang="x-none" dirty="0"/>
              <a:t>Examples:</a:t>
            </a:r>
          </a:p>
          <a:p>
            <a:pPr marL="457200" lvl="1" indent="0">
              <a:buNone/>
            </a:pPr>
            <a:r>
              <a:rPr lang="mr-IN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(</a:t>
            </a:r>
            <a:r>
              <a:rPr lang="mr-IN" sz="2800" dirty="0" err="1">
                <a:latin typeface="Courier New" pitchFamily="49" charset="0"/>
                <a:ea typeface="ＭＳ Ｐゴシック" charset="0"/>
                <a:cs typeface="Courier New" pitchFamily="49" charset="0"/>
              </a:rPr>
              <a:t>defun</a:t>
            </a:r>
            <a:r>
              <a:rPr lang="mr-IN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</a:t>
            </a:r>
            <a:r>
              <a:rPr lang="mr-IN" sz="2800" dirty="0" err="1">
                <a:latin typeface="Courier New" pitchFamily="49" charset="0"/>
                <a:ea typeface="ＭＳ Ｐゴシック" charset="0"/>
                <a:cs typeface="Courier New" pitchFamily="49" charset="0"/>
              </a:rPr>
              <a:t>gcd</a:t>
            </a:r>
            <a:r>
              <a:rPr lang="mr-IN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- (</a:t>
            </a:r>
            <a:r>
              <a:rPr lang="mr-IN" sz="2800" dirty="0" err="1">
                <a:latin typeface="Courier New" pitchFamily="49" charset="0"/>
                <a:ea typeface="ＭＳ Ｐゴシック" charset="0"/>
                <a:cs typeface="Courier New" pitchFamily="49" charset="0"/>
              </a:rPr>
              <a:t>u</a:t>
            </a:r>
            <a:r>
              <a:rPr lang="mr-IN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</a:t>
            </a:r>
            <a:r>
              <a:rPr lang="mr-IN" sz="2800" dirty="0" err="1">
                <a:latin typeface="Courier New" pitchFamily="49" charset="0"/>
                <a:ea typeface="ＭＳ Ｐゴシック" charset="0"/>
                <a:cs typeface="Courier New" pitchFamily="49" charset="0"/>
              </a:rPr>
              <a:t>v</a:t>
            </a:r>
            <a:r>
              <a:rPr lang="mr-IN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)</a:t>
            </a:r>
            <a:endParaRPr lang="en-US" sz="2800" dirty="0">
              <a:latin typeface="Courier New" pitchFamily="49" charset="0"/>
              <a:ea typeface="ＭＳ Ｐゴシック" charset="0"/>
              <a:cs typeface="Courier New" pitchFamily="49" charset="0"/>
            </a:endParaRPr>
          </a:p>
          <a:p>
            <a:pPr marL="457200" lvl="1" indent="0">
              <a:buNone/>
            </a:pPr>
            <a:r>
              <a:rPr lang="mr-IN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(</a:t>
            </a:r>
            <a:r>
              <a:rPr lang="mr-IN" sz="2800" dirty="0" err="1">
                <a:latin typeface="Courier New" pitchFamily="49" charset="0"/>
                <a:ea typeface="ＭＳ Ｐゴシック" charset="0"/>
                <a:cs typeface="Courier New" pitchFamily="49" charset="0"/>
              </a:rPr>
              <a:t>if</a:t>
            </a:r>
            <a:r>
              <a:rPr lang="mr-IN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(= </a:t>
            </a:r>
            <a:r>
              <a:rPr lang="mr-IN" sz="2800" dirty="0" err="1">
                <a:latin typeface="Courier New" pitchFamily="49" charset="0"/>
                <a:ea typeface="ＭＳ Ｐゴシック" charset="0"/>
                <a:cs typeface="Courier New" pitchFamily="49" charset="0"/>
              </a:rPr>
              <a:t>v</a:t>
            </a:r>
            <a:r>
              <a:rPr lang="mr-IN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0)   </a:t>
            </a:r>
            <a:endParaRPr lang="en-US" sz="2800" dirty="0">
              <a:latin typeface="Courier New" pitchFamily="49" charset="0"/>
              <a:ea typeface="ＭＳ Ｐゴシック" charset="0"/>
              <a:cs typeface="Courier New" pitchFamily="49" charset="0"/>
            </a:endParaRPr>
          </a:p>
          <a:p>
            <a:pPr marL="457200" lvl="1" indent="0">
              <a:buNone/>
            </a:pPr>
            <a:r>
              <a:rPr lang="en-US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 </a:t>
            </a:r>
            <a:r>
              <a:rPr lang="mr-IN" sz="2800" dirty="0" err="1">
                <a:latin typeface="Courier New" pitchFamily="49" charset="0"/>
                <a:ea typeface="ＭＳ Ｐゴシック" charset="0"/>
                <a:cs typeface="Courier New" pitchFamily="49" charset="0"/>
              </a:rPr>
              <a:t>u</a:t>
            </a:r>
            <a:r>
              <a:rPr lang="mr-IN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 </a:t>
            </a:r>
            <a:endParaRPr lang="en-US" sz="2800" dirty="0">
              <a:latin typeface="Courier New" pitchFamily="49" charset="0"/>
              <a:ea typeface="ＭＳ Ｐゴシック" charset="0"/>
              <a:cs typeface="Courier New" pitchFamily="49" charset="0"/>
            </a:endParaRPr>
          </a:p>
          <a:p>
            <a:pPr marL="457200" lvl="1" indent="0">
              <a:buNone/>
            </a:pPr>
            <a:r>
              <a:rPr lang="en-US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</a:t>
            </a:r>
            <a:r>
              <a:rPr lang="mr-IN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(</a:t>
            </a:r>
            <a:r>
              <a:rPr lang="mr-IN" sz="2800" dirty="0" err="1">
                <a:latin typeface="Courier New" pitchFamily="49" charset="0"/>
                <a:ea typeface="ＭＳ Ｐゴシック" charset="0"/>
                <a:cs typeface="Courier New" pitchFamily="49" charset="0"/>
              </a:rPr>
              <a:t>gcd</a:t>
            </a:r>
            <a:r>
              <a:rPr lang="mr-IN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- </a:t>
            </a:r>
            <a:r>
              <a:rPr lang="mr-IN" sz="2800" dirty="0" err="1">
                <a:latin typeface="Courier New" pitchFamily="49" charset="0"/>
                <a:ea typeface="ＭＳ Ｐゴシック" charset="0"/>
                <a:cs typeface="Courier New" pitchFamily="49" charset="0"/>
              </a:rPr>
              <a:t>v</a:t>
            </a:r>
            <a:r>
              <a:rPr lang="mr-IN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(</a:t>
            </a:r>
            <a:r>
              <a:rPr lang="mr-IN" sz="2800" dirty="0" err="1">
                <a:latin typeface="Courier New" pitchFamily="49" charset="0"/>
                <a:ea typeface="ＭＳ Ｐゴシック" charset="0"/>
                <a:cs typeface="Courier New" pitchFamily="49" charset="0"/>
              </a:rPr>
              <a:t>mod</a:t>
            </a:r>
            <a:r>
              <a:rPr lang="mr-IN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</a:t>
            </a:r>
            <a:r>
              <a:rPr lang="mr-IN" sz="2800" dirty="0" err="1">
                <a:latin typeface="Courier New" pitchFamily="49" charset="0"/>
                <a:ea typeface="ＭＳ Ｐゴシック" charset="0"/>
                <a:cs typeface="Courier New" pitchFamily="49" charset="0"/>
              </a:rPr>
              <a:t>u</a:t>
            </a:r>
            <a:r>
              <a:rPr lang="mr-IN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 </a:t>
            </a:r>
            <a:r>
              <a:rPr lang="mr-IN" sz="2800" dirty="0" err="1">
                <a:latin typeface="Courier New" pitchFamily="49" charset="0"/>
                <a:ea typeface="ＭＳ Ｐゴシック" charset="0"/>
                <a:cs typeface="Courier New" pitchFamily="49" charset="0"/>
              </a:rPr>
              <a:t>v</a:t>
            </a:r>
            <a:r>
              <a:rPr lang="mr-IN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)))) </a:t>
            </a:r>
            <a:r>
              <a:rPr lang="en-US" sz="2800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					  								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493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Variables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Functional programming takes the mathematical approach to concept of variable.  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Variables are bound to values not memory locations and their values cannot change.  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There is no concept of assignment, which can reset the value of a variable</a:t>
            </a:r>
          </a:p>
          <a:p>
            <a:r>
              <a:rPr lang="en-US" altLang="en-US" dirty="0">
                <a:ea typeface="MS PGothic" charset="-128"/>
              </a:rPr>
              <a:t>Most functional programming languages retain some notion of assignment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It is possible to create a </a:t>
            </a:r>
            <a:r>
              <a:rPr lang="en-US" altLang="en-US" sz="2800" b="1" dirty="0">
                <a:ea typeface="MS PGothic" charset="-128"/>
              </a:rPr>
              <a:t>pure functional program </a:t>
            </a:r>
            <a:r>
              <a:rPr lang="en-US" altLang="en-US" sz="2800" dirty="0">
                <a:ea typeface="MS PGothic" charset="-128"/>
              </a:rPr>
              <a:t>that takes a strictly mathematical approach to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441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Variables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Referential transparency and the lack of assignment make the semantics straightforward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Once created, a value is constant</a:t>
            </a:r>
          </a:p>
          <a:p>
            <a:pPr lvl="2"/>
            <a:r>
              <a:rPr lang="en-US" altLang="en-US" sz="2800" dirty="0">
                <a:ea typeface="MS PGothic" charset="-128"/>
              </a:rPr>
              <a:t>E.g. in Common Lisp, we cannot change the head of a list, or any other element in it</a:t>
            </a:r>
          </a:p>
          <a:p>
            <a:pPr lvl="2"/>
            <a:r>
              <a:rPr lang="en-US" altLang="en-US" sz="2800" dirty="0">
                <a:ea typeface="MS PGothic" charset="-128"/>
              </a:rPr>
              <a:t>It is </a:t>
            </a:r>
            <a:r>
              <a:rPr lang="en-US" altLang="en-US" sz="2800" b="1" dirty="0">
                <a:ea typeface="MS PGothic" charset="-128"/>
              </a:rPr>
              <a:t>immutable </a:t>
            </a:r>
          </a:p>
          <a:p>
            <a:pPr lvl="2"/>
            <a:r>
              <a:rPr lang="en-US" altLang="en-US" sz="2800" dirty="0">
                <a:ea typeface="MS PGothic" charset="-128"/>
              </a:rPr>
              <a:t>Objects that can change are </a:t>
            </a:r>
            <a:r>
              <a:rPr lang="en-US" altLang="en-US" sz="2800" b="1" dirty="0">
                <a:ea typeface="MS PGothic" charset="-128"/>
              </a:rPr>
              <a:t>mutable </a:t>
            </a:r>
            <a:r>
              <a:rPr lang="en-US" altLang="en-US" sz="2800" dirty="0">
                <a:ea typeface="MS PGothic" charset="-128"/>
              </a:rPr>
              <a:t>(e.g. typical objects in Java)</a:t>
            </a:r>
          </a:p>
          <a:p>
            <a:r>
              <a:rPr lang="en-US" altLang="en-US" dirty="0">
                <a:ea typeface="MS PGothic" charset="-128"/>
              </a:rPr>
              <a:t>Common Lisp does possess non functional elements which are ignored in this unit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410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Static (Lexical) Scoping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1579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Early dialects of Lisp were dynamically scoped</a:t>
            </a:r>
          </a:p>
          <a:p>
            <a:r>
              <a:rPr lang="en-US" altLang="en-US" dirty="0">
                <a:ea typeface="MS PGothic" charset="-128"/>
              </a:rPr>
              <a:t>Modern dialects, including Scheme and Common Lisp, are statically scoped</a:t>
            </a:r>
          </a:p>
          <a:p>
            <a:r>
              <a:rPr lang="en-US" altLang="en-US" b="1" dirty="0">
                <a:ea typeface="MS PGothic" charset="-128"/>
              </a:rPr>
              <a:t>Static scope</a:t>
            </a:r>
            <a:r>
              <a:rPr lang="en-US" altLang="en-US" dirty="0">
                <a:ea typeface="MS PGothic" charset="-128"/>
              </a:rPr>
              <a:t>: the area of a program in which a variable declaration is visible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For static scoping, the meaning or value of a variable can be determined by reading the source code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For dynamic scoping, the meaning depends on the runtime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820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Static (Lexical) Scoping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1579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Declaration of variables can be nested in block-structured languages</a:t>
            </a:r>
          </a:p>
          <a:p>
            <a:r>
              <a:rPr lang="en-US" altLang="en-US" dirty="0">
                <a:ea typeface="MS PGothic" charset="-128"/>
              </a:rPr>
              <a:t>Scope of a variable extends to the end of the block in which it is declared, including any nested blocks (unless it is re-declared within a nesting block)</a:t>
            </a:r>
          </a:p>
          <a:p>
            <a:endParaRPr lang="en-US" altLang="en-US" dirty="0">
              <a:ea typeface="MS PGothic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083813"/>
            <a:ext cx="4724400" cy="199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4045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Dynamic Scoping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1579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In dynamic scoping, the meaning depends on the runtime context</a:t>
            </a:r>
          </a:p>
          <a:p>
            <a:pPr marL="0" indent="0">
              <a:buNone/>
            </a:pP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let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 ((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pi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- 3.14)) </a:t>
            </a:r>
            <a:endParaRPr lang="en-US" altLang="en-US" sz="2400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altLang="en-US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let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 ((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circleArea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lambda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r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) (* 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pi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- (* 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r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r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)))))  </a:t>
            </a:r>
            <a:endParaRPr lang="en-US" altLang="en-US" sz="2400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altLang="en-US" sz="2400" dirty="0">
                <a:latin typeface="Courier New" charset="0"/>
                <a:ea typeface="Courier New" charset="0"/>
                <a:cs typeface="Courier New" charset="0"/>
              </a:rPr>
              <a:t>  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let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 ((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pi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- 3.1416)) (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funcall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circleArea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 10))))</a:t>
            </a:r>
            <a:r>
              <a:rPr lang="en-US" altLang="en-US" sz="2400" dirty="0">
                <a:latin typeface="Courier New" charset="0"/>
                <a:ea typeface="Courier New" charset="0"/>
                <a:cs typeface="Courier New" charset="0"/>
              </a:rPr>
              <a:t>		    </a:t>
            </a:r>
          </a:p>
          <a:p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pi-</a:t>
            </a:r>
            <a:r>
              <a:rPr lang="en-US" altLang="en-US" dirty="0">
                <a:ea typeface="Courier New" charset="0"/>
                <a:cs typeface="Courier New" charset="0"/>
              </a:rPr>
              <a:t> is a </a:t>
            </a:r>
            <a:r>
              <a:rPr lang="en-US" altLang="en-US" b="1" dirty="0">
                <a:ea typeface="Courier New" charset="0"/>
                <a:cs typeface="Courier New" charset="0"/>
              </a:rPr>
              <a:t>free variable</a:t>
            </a:r>
          </a:p>
          <a:p>
            <a:r>
              <a:rPr lang="en-US" altLang="en-US" dirty="0">
                <a:ea typeface="Courier New" charset="0"/>
                <a:cs typeface="Courier New" charset="0"/>
              </a:rPr>
              <a:t>If Common Lisp were dynamically scoped, the result would be 314.16 </a:t>
            </a:r>
          </a:p>
          <a:p>
            <a:pPr lvl="1"/>
            <a:r>
              <a:rPr lang="en-US" altLang="en-US" dirty="0">
                <a:ea typeface="Courier New" charset="0"/>
                <a:cs typeface="Courier New" charset="0"/>
              </a:rPr>
              <a:t>The value of pi- would be determined when the function is called</a:t>
            </a:r>
          </a:p>
          <a:p>
            <a:pPr lvl="1"/>
            <a:r>
              <a:rPr lang="en-US" altLang="en-US" dirty="0">
                <a:ea typeface="Courier New" charset="0"/>
                <a:cs typeface="Courier New" charset="0"/>
              </a:rPr>
              <a:t>pi-’s value when the function was defined would be irrelevant </a:t>
            </a:r>
          </a:p>
          <a:p>
            <a:endParaRPr lang="en-US" altLang="en-US" dirty="0">
              <a:ea typeface="MS PGothic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4957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Higher-Order Functions and Closures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en-US" b="1" dirty="0">
                <a:ea typeface="MS PGothic" charset="-128"/>
              </a:rPr>
              <a:t>Free variables: </a:t>
            </a:r>
            <a:r>
              <a:rPr lang="en-US" altLang="en-US" dirty="0">
                <a:ea typeface="MS PGothic" charset="-128"/>
              </a:rPr>
              <a:t>variables that are not globally bound nor parameters of the function</a:t>
            </a:r>
            <a:endParaRPr lang="en-US" dirty="0"/>
          </a:p>
          <a:p>
            <a:pPr>
              <a:defRPr/>
            </a:pPr>
            <a:r>
              <a:rPr lang="en-US" b="1" dirty="0"/>
              <a:t>Closure:</a:t>
            </a:r>
            <a:r>
              <a:rPr lang="en-US" dirty="0"/>
              <a:t> an implementation technique for representing functions with free variables</a:t>
            </a:r>
          </a:p>
          <a:p>
            <a:pPr lvl="1">
              <a:defRPr/>
            </a:pPr>
            <a:r>
              <a:rPr lang="en-US" dirty="0"/>
              <a:t>i.e. a closure attaches a representation of the environment the function was defined in </a:t>
            </a:r>
            <a:r>
              <a:rPr lang="en-US" altLang="en-US" dirty="0">
                <a:ea typeface="MS PGothic" charset="-128"/>
              </a:rPr>
              <a:t>to the function</a:t>
            </a:r>
            <a:endParaRPr lang="en-US" dirty="0"/>
          </a:p>
          <a:p>
            <a:pPr lvl="1">
              <a:defRPr/>
            </a:pPr>
            <a:r>
              <a:rPr lang="en-US" dirty="0"/>
              <a:t>Necessary in static scoping for safety reasons</a:t>
            </a:r>
          </a:p>
          <a:p>
            <a:pPr>
              <a:defRPr/>
            </a:pPr>
            <a:r>
              <a:rPr lang="en-US" dirty="0"/>
              <a:t>A major task of the run-time environment is to compute closures for all functions for which they are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2220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Higher-Order Functions and Closures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b="1" dirty="0">
                <a:ea typeface="MS PGothic" charset="-128"/>
              </a:rPr>
              <a:t>Free variables: </a:t>
            </a:r>
            <a:r>
              <a:rPr lang="en-US" altLang="en-US" dirty="0">
                <a:ea typeface="MS PGothic" charset="-128"/>
              </a:rPr>
              <a:t>variables that are not globally bound nor parameters of the function</a:t>
            </a:r>
          </a:p>
          <a:p>
            <a:pPr marL="0" indent="0">
              <a:buNone/>
            </a:pP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let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 ((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pi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- 3.14)) </a:t>
            </a:r>
            <a:endParaRPr lang="en-US" altLang="en-US" sz="2400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altLang="en-US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let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 ((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circleArea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lambda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r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) (* 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pi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- (* 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r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r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)))))  </a:t>
            </a:r>
            <a:endParaRPr lang="en-US" altLang="en-US" sz="2400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altLang="en-US" sz="2400" dirty="0">
                <a:latin typeface="Courier New" charset="0"/>
                <a:ea typeface="Courier New" charset="0"/>
                <a:cs typeface="Courier New" charset="0"/>
              </a:rPr>
              <a:t>  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let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 ((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pi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- 3.1416)) (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funcall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circleArea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 10))))</a:t>
            </a:r>
            <a:endParaRPr lang="en-US" altLang="en-US" sz="2800" b="1" dirty="0">
              <a:ea typeface="MS PGothic" charset="-128"/>
            </a:endParaRPr>
          </a:p>
          <a:p>
            <a:r>
              <a:rPr lang="en-US" altLang="en-US" dirty="0">
                <a:ea typeface="MS PGothic" charset="-128"/>
              </a:rPr>
              <a:t>Common Lisp is statically scoped</a:t>
            </a:r>
          </a:p>
          <a:p>
            <a:r>
              <a:rPr lang="en-US" altLang="en-US" dirty="0">
                <a:ea typeface="MS PGothic" charset="-128"/>
              </a:rPr>
              <a:t>So when we bind a function</a:t>
            </a:r>
            <a:r>
              <a:rPr lang="en-US" altLang="en-US" b="1" dirty="0">
                <a:ea typeface="MS PGothic" charset="-128"/>
              </a:rPr>
              <a:t> </a:t>
            </a:r>
            <a:r>
              <a:rPr lang="en-US" altLang="en-US" dirty="0">
                <a:ea typeface="MS PGothic" charset="-128"/>
              </a:rPr>
              <a:t>to an identifier, what happens to the free variables?</a:t>
            </a:r>
          </a:p>
          <a:p>
            <a:r>
              <a:rPr lang="en-US" altLang="en-US" dirty="0">
                <a:ea typeface="MS PGothic" charset="-128"/>
              </a:rPr>
              <a:t>Could </a:t>
            </a:r>
            <a:r>
              <a:rPr lang="en-US" altLang="en-US" dirty="0">
                <a:latin typeface="Courier New" panose="02070309020205020404" pitchFamily="49" charset="0"/>
                <a:ea typeface="MS PGothic" charset="-128"/>
                <a:cs typeface="Courier New" panose="02070309020205020404" pitchFamily="49" charset="0"/>
              </a:rPr>
              <a:t>pi-</a:t>
            </a:r>
            <a:r>
              <a:rPr lang="en-US" altLang="en-US" dirty="0">
                <a:ea typeface="MS PGothic" charset="-128"/>
              </a:rPr>
              <a:t> ever be unbound?</a:t>
            </a:r>
          </a:p>
          <a:p>
            <a:pPr marL="0" indent="0">
              <a:buNone/>
            </a:pPr>
            <a:endParaRPr lang="en-US" altLang="en-US" sz="2800" dirty="0">
              <a:ea typeface="MS PGothic" charset="-128"/>
            </a:endParaRPr>
          </a:p>
          <a:p>
            <a:pPr marL="0" indent="0">
              <a:buFontTx/>
              <a:buNone/>
              <a:defRPr/>
            </a:pP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endParaRPr lang="en-US" dirty="0">
              <a:ea typeface="ＭＳ Ｐゴシック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5652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Higher-Order Functions and Closures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b="1" dirty="0">
                <a:ea typeface="MS PGothic" charset="-128"/>
              </a:rPr>
              <a:t>Free variables: </a:t>
            </a:r>
            <a:r>
              <a:rPr lang="en-US" altLang="en-US" dirty="0">
                <a:ea typeface="MS PGothic" charset="-128"/>
              </a:rPr>
              <a:t>variables that are not globally bound nor parameters of the function</a:t>
            </a:r>
          </a:p>
          <a:p>
            <a:pPr marL="0" indent="0">
              <a:buNone/>
            </a:pP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let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 ((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pi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- 3.14)) </a:t>
            </a:r>
            <a:endParaRPr lang="en-US" altLang="en-US" sz="2400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altLang="en-US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let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 ((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circleArea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lambda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r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) (* 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pi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- (* 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r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r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)))))  </a:t>
            </a:r>
            <a:endParaRPr lang="en-US" altLang="en-US" sz="2400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altLang="en-US" sz="2400" dirty="0">
                <a:latin typeface="Courier New" charset="0"/>
                <a:ea typeface="Courier New" charset="0"/>
                <a:cs typeface="Courier New" charset="0"/>
              </a:rPr>
              <a:t>  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let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 ((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pi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- 3.1416)) (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funcall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400" dirty="0" err="1">
                <a:latin typeface="Courier New" charset="0"/>
                <a:ea typeface="Courier New" charset="0"/>
                <a:cs typeface="Courier New" charset="0"/>
              </a:rPr>
              <a:t>circleArea</a:t>
            </a:r>
            <a:r>
              <a:rPr lang="mr-IN" altLang="en-US" sz="2400" dirty="0">
                <a:latin typeface="Courier New" charset="0"/>
                <a:ea typeface="Courier New" charset="0"/>
                <a:cs typeface="Courier New" charset="0"/>
              </a:rPr>
              <a:t> 10))))</a:t>
            </a:r>
            <a:endParaRPr lang="en-US" altLang="en-US" sz="2400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altLang="en-US" dirty="0">
                <a:latin typeface="Courier New" panose="02070309020205020404" pitchFamily="49" charset="0"/>
                <a:ea typeface="MS PGothic" charset="-128"/>
                <a:cs typeface="Courier New" panose="02070309020205020404" pitchFamily="49" charset="0"/>
              </a:rPr>
              <a:t>	;prints 314.0</a:t>
            </a:r>
            <a:endParaRPr lang="en-US" altLang="en-US" b="1" dirty="0">
              <a:ea typeface="MS PGothic" charset="-128"/>
            </a:endParaRPr>
          </a:p>
          <a:p>
            <a:r>
              <a:rPr lang="en-US" altLang="en-US" dirty="0">
                <a:ea typeface="MS PGothic" charset="-128"/>
              </a:rPr>
              <a:t>To guarantee all free variables will always be bound to a value, a closure is created for the defined function </a:t>
            </a:r>
          </a:p>
          <a:p>
            <a:pPr lvl="1"/>
            <a:r>
              <a:rPr lang="en-US" altLang="en-US" dirty="0">
                <a:ea typeface="MS PGothic" charset="-128"/>
              </a:rPr>
              <a:t>Free variables are permanently bound to their value at function definition</a:t>
            </a:r>
          </a:p>
          <a:p>
            <a:r>
              <a:rPr lang="en-US" altLang="en-US" dirty="0">
                <a:ea typeface="MS PGothic" charset="-128"/>
              </a:rPr>
              <a:t>Creating a closure </a:t>
            </a:r>
            <a:r>
              <a:rPr lang="en-US" altLang="en-US" i="1" dirty="0">
                <a:ea typeface="MS PGothic" charset="-128"/>
              </a:rPr>
              <a:t>closes</a:t>
            </a:r>
            <a:r>
              <a:rPr lang="en-US" altLang="en-US" dirty="0">
                <a:ea typeface="MS PGothic" charset="-128"/>
              </a:rPr>
              <a:t> up the function with everything it needs for later application</a:t>
            </a:r>
          </a:p>
          <a:p>
            <a:pPr lvl="1"/>
            <a:endParaRPr lang="en-US" altLang="en-US" dirty="0">
              <a:ea typeface="MS PGothic" charset="-128"/>
            </a:endParaRPr>
          </a:p>
          <a:p>
            <a:pPr marL="0" indent="0">
              <a:buFontTx/>
              <a:buNone/>
              <a:defRPr/>
            </a:pP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endParaRPr lang="en-US" dirty="0">
              <a:ea typeface="ＭＳ Ｐゴシック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429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Higher-Order Functions and Closures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b="1" dirty="0">
                <a:ea typeface="MS PGothic" charset="-128"/>
              </a:rPr>
              <a:t>Free variables: </a:t>
            </a:r>
            <a:r>
              <a:rPr lang="en-US" altLang="en-US" dirty="0">
                <a:ea typeface="MS PGothic" charset="-128"/>
              </a:rPr>
              <a:t>variables that are not globally bound nor parameters of the function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altLang="en-US" sz="2800" dirty="0" err="1">
                <a:latin typeface="Courier New" charset="0"/>
                <a:ea typeface="Courier New" charset="0"/>
                <a:cs typeface="Courier New" charset="0"/>
              </a:rPr>
              <a:t>defvar</a:t>
            </a:r>
            <a:r>
              <a:rPr lang="en-US" altLang="en-US" sz="2800" dirty="0">
                <a:latin typeface="Courier New" charset="0"/>
                <a:ea typeface="Courier New" charset="0"/>
                <a:cs typeface="Courier New" charset="0"/>
              </a:rPr>
              <a:t> x 5)				</a:t>
            </a:r>
            <a:r>
              <a:rPr lang="en-US" altLang="en-US" sz="2800" dirty="0">
                <a:ea typeface="Courier New" charset="0"/>
                <a:cs typeface="Courier New" charset="0"/>
              </a:rPr>
              <a:t>; x is a global variable </a:t>
            </a:r>
            <a:r>
              <a:rPr lang="en-US" altLang="en-US" sz="2800" dirty="0">
                <a:latin typeface="Courier New" charset="0"/>
                <a:ea typeface="Courier New" charset="0"/>
                <a:cs typeface="Courier New" charset="0"/>
              </a:rPr>
              <a:t>	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altLang="en-US" sz="2800" dirty="0" err="1">
                <a:latin typeface="Courier New" charset="0"/>
                <a:ea typeface="Courier New" charset="0"/>
                <a:cs typeface="Courier New" charset="0"/>
              </a:rPr>
              <a:t>defun</a:t>
            </a:r>
            <a:r>
              <a:rPr lang="en-US" altLang="en-US" sz="28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en-US" sz="2800" dirty="0" err="1">
                <a:latin typeface="Courier New" charset="0"/>
                <a:ea typeface="Courier New" charset="0"/>
                <a:cs typeface="Courier New" charset="0"/>
              </a:rPr>
              <a:t>addx</a:t>
            </a:r>
            <a:r>
              <a:rPr lang="en-US" altLang="en-US" sz="2800" dirty="0">
                <a:latin typeface="Courier New" charset="0"/>
                <a:ea typeface="Courier New" charset="0"/>
                <a:cs typeface="Courier New" charset="0"/>
              </a:rPr>
              <a:t> (a) (+ a x))   </a:t>
            </a:r>
            <a:r>
              <a:rPr lang="en-US" altLang="en-US" sz="2800" dirty="0">
                <a:ea typeface="Courier New" charset="0"/>
                <a:cs typeface="Courier New" charset="0"/>
              </a:rPr>
              <a:t>  ; function </a:t>
            </a:r>
            <a:r>
              <a:rPr lang="en-US" altLang="en-US" sz="2800" dirty="0" err="1">
                <a:ea typeface="Courier New" charset="0"/>
                <a:cs typeface="Courier New" charset="0"/>
              </a:rPr>
              <a:t>addx</a:t>
            </a:r>
            <a:endParaRPr lang="en-US" altLang="en-US" sz="2800" dirty="0">
              <a:latin typeface="Courier New" charset="0"/>
              <a:ea typeface="Courier New" charset="0"/>
              <a:cs typeface="Courier New" charset="0"/>
            </a:endParaRP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altLang="en-US" sz="2800" dirty="0" err="1">
                <a:latin typeface="Courier New" charset="0"/>
                <a:ea typeface="Courier New" charset="0"/>
                <a:cs typeface="Courier New" charset="0"/>
              </a:rPr>
              <a:t>addx</a:t>
            </a:r>
            <a:r>
              <a:rPr lang="en-US" altLang="en-US" sz="2800" dirty="0">
                <a:latin typeface="Courier New" charset="0"/>
                <a:ea typeface="Courier New" charset="0"/>
                <a:cs typeface="Courier New" charset="0"/>
              </a:rPr>
              <a:t> 3) </a:t>
            </a:r>
            <a:r>
              <a:rPr lang="en-US" altLang="en-US" sz="2800" dirty="0">
                <a:latin typeface="Times New Roman" charset="0"/>
              </a:rPr>
              <a:t>    					</a:t>
            </a:r>
            <a:r>
              <a:rPr lang="en-US" altLang="en-US" sz="2800" dirty="0"/>
              <a:t>; result: 8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Courier New" charset="0"/>
                <a:ea typeface="Courier New" charset="0"/>
                <a:cs typeface="Courier New" charset="0"/>
              </a:rPr>
              <a:t>(let ((x 4)) (</a:t>
            </a:r>
            <a:r>
              <a:rPr lang="en-US" altLang="en-US" sz="2800" dirty="0" err="1">
                <a:latin typeface="Courier New" charset="0"/>
                <a:ea typeface="Courier New" charset="0"/>
                <a:cs typeface="Courier New" charset="0"/>
              </a:rPr>
              <a:t>addx</a:t>
            </a:r>
            <a:r>
              <a:rPr lang="en-US" altLang="en-US" sz="2800" dirty="0">
                <a:latin typeface="Courier New" charset="0"/>
                <a:ea typeface="Courier New" charset="0"/>
                <a:cs typeface="Courier New" charset="0"/>
              </a:rPr>
              <a:t> 3))</a:t>
            </a:r>
            <a:r>
              <a:rPr lang="en-US" altLang="en-US" sz="2800" dirty="0">
                <a:latin typeface="Times New Roman" charset="0"/>
              </a:rPr>
              <a:t>		</a:t>
            </a:r>
            <a:r>
              <a:rPr lang="en-US" altLang="en-US" sz="2800" dirty="0"/>
              <a:t>; result: 7</a:t>
            </a:r>
          </a:p>
          <a:p>
            <a:pPr lvl="1">
              <a:spcBef>
                <a:spcPct val="0"/>
              </a:spcBef>
              <a:buNone/>
            </a:pPr>
            <a:r>
              <a:rPr lang="en-US" altLang="en-US" sz="2800" dirty="0">
                <a:latin typeface="Courier New" charset="0"/>
                <a:ea typeface="Courier New" charset="0"/>
                <a:cs typeface="Courier New" charset="0"/>
              </a:rPr>
              <a:t>(let ((x 4)) (+ x 3))</a:t>
            </a:r>
            <a:r>
              <a:rPr lang="en-US" altLang="en-US" sz="2800" dirty="0">
                <a:latin typeface="Times New Roman" charset="0"/>
              </a:rPr>
              <a:t>		</a:t>
            </a:r>
            <a:r>
              <a:rPr lang="en-US" altLang="en-US" sz="2800" dirty="0"/>
              <a:t>; result: 7</a:t>
            </a:r>
            <a:endParaRPr lang="en-US" altLang="en-US" sz="2800" b="1" dirty="0">
              <a:ea typeface="MS PGothic" charset="-128"/>
            </a:endParaRPr>
          </a:p>
          <a:p>
            <a:r>
              <a:rPr lang="en-US" dirty="0"/>
              <a:t>If a function does not have an environment attached, it takes the in scope value of the required variables </a:t>
            </a:r>
          </a:p>
          <a:p>
            <a:pPr marL="0" indent="0">
              <a:buFontTx/>
              <a:buNone/>
              <a:defRPr/>
            </a:pP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endParaRPr lang="en-US" dirty="0">
              <a:ea typeface="ＭＳ Ｐゴシック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294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Higher-Order Functions and Closures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b="1" dirty="0">
                <a:ea typeface="MS PGothic" charset="-128"/>
              </a:rPr>
              <a:t>Closure of a function</a:t>
            </a:r>
            <a:r>
              <a:rPr lang="en-US" altLang="en-US" dirty="0">
                <a:ea typeface="MS PGothic" charset="-128"/>
              </a:rPr>
              <a:t>: attaching an environment to a function – free variables become bound</a:t>
            </a:r>
          </a:p>
          <a:p>
            <a:r>
              <a:rPr lang="en-US" altLang="en-US" dirty="0">
                <a:ea typeface="MS PGothic" charset="-128"/>
              </a:rPr>
              <a:t>Creating a closure </a:t>
            </a:r>
            <a:r>
              <a:rPr lang="en-US" altLang="en-US" b="1" dirty="0">
                <a:ea typeface="MS PGothic" charset="-128"/>
              </a:rPr>
              <a:t>closes</a:t>
            </a:r>
            <a:r>
              <a:rPr lang="en-US" altLang="en-US" dirty="0">
                <a:ea typeface="MS PGothic" charset="-128"/>
              </a:rPr>
              <a:t> up the function with everything it needs for later application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en-US" dirty="0">
                <a:latin typeface="Courier New" charset="0"/>
                <a:ea typeface="Courier New" charset="0"/>
                <a:cs typeface="Courier New" charset="0"/>
              </a:rPr>
              <a:t>  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let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((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1))</a:t>
            </a:r>
            <a:endParaRPr lang="en-US" altLang="en-US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 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let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((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f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lambda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x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) (+ 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x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))))    </a:t>
            </a:r>
            <a:endParaRPr lang="en-US" altLang="en-US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let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((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2))       </a:t>
            </a:r>
            <a:endParaRPr lang="en-US" altLang="en-US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    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funcall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f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2))))</a:t>
            </a:r>
            <a:r>
              <a:rPr lang="pt-BR" altLang="en-US" dirty="0">
                <a:latin typeface="Courier New" charset="0"/>
                <a:ea typeface="Courier New" charset="0"/>
                <a:cs typeface="Courier New" charset="0"/>
              </a:rPr>
              <a:t>	 ;</a:t>
            </a:r>
            <a:r>
              <a:rPr lang="pt-BR" altLang="en-US" dirty="0" err="1">
                <a:latin typeface="Courier New" charset="0"/>
                <a:ea typeface="Courier New" charset="0"/>
                <a:cs typeface="Courier New" charset="0"/>
              </a:rPr>
              <a:t>print</a:t>
            </a:r>
            <a:r>
              <a:rPr lang="pt-BR" altLang="en-US" dirty="0">
                <a:latin typeface="Courier New" charset="0"/>
                <a:ea typeface="Courier New" charset="0"/>
                <a:cs typeface="Courier New" charset="0"/>
              </a:rPr>
              <a:t> 3</a:t>
            </a:r>
            <a:endParaRPr lang="en-US" altLang="en-US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defRPr/>
            </a:pPr>
            <a:r>
              <a:rPr lang="en-US" dirty="0">
                <a:cs typeface="Courier New" pitchFamily="49" charset="0"/>
              </a:rPr>
              <a:t>a is bound to 1 when lambda is invoked, so the resulting function will always use 1 as the value of a</a:t>
            </a:r>
          </a:p>
          <a:p>
            <a:pPr>
              <a:defRPr/>
            </a:pPr>
            <a:r>
              <a:rPr lang="en-US" dirty="0">
                <a:cs typeface="Courier New" pitchFamily="49" charset="0"/>
              </a:rPr>
              <a:t>Statically scoped</a:t>
            </a:r>
          </a:p>
          <a:p>
            <a:pPr>
              <a:defRPr/>
            </a:pPr>
            <a:endParaRPr lang="en-US" dirty="0">
              <a:ea typeface="ＭＳ Ｐゴシック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8830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Higher-Order Functions and Closures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Creating a closure </a:t>
            </a:r>
            <a:r>
              <a:rPr lang="en-US" altLang="en-US" b="1" dirty="0">
                <a:ea typeface="MS PGothic" charset="-128"/>
              </a:rPr>
              <a:t>closes</a:t>
            </a:r>
            <a:r>
              <a:rPr lang="en-US" altLang="en-US" dirty="0">
                <a:ea typeface="MS PGothic" charset="-128"/>
              </a:rPr>
              <a:t> up the function with everything it needs for later application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defvar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x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1)</a:t>
            </a:r>
            <a:endParaRPr lang="en-US" altLang="en-US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defun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f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y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) 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let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((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x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(+ 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y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1))) </a:t>
            </a:r>
            <a:endParaRPr lang="en-US" altLang="en-US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lambda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z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) (+ 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x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y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z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))))</a:t>
            </a:r>
            <a:endParaRPr lang="en-US" altLang="en-US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defvar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z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endParaRPr lang="en-US" altLang="en-US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let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((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x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3) 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g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f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4)) 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y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5)) 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funcall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g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6)))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					</a:t>
            </a:r>
            <a:r>
              <a:rPr lang="pt-BR" altLang="en-US" dirty="0">
                <a:latin typeface="Courier New" charset="0"/>
                <a:ea typeface="Courier New" charset="0"/>
                <a:cs typeface="Courier New" charset="0"/>
              </a:rPr>
              <a:t>;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what does this return?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9896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Higher-Order Functions and Closures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Creating a closure </a:t>
            </a:r>
            <a:r>
              <a:rPr lang="en-US" altLang="en-US" b="1" dirty="0">
                <a:ea typeface="MS PGothic" charset="-128"/>
              </a:rPr>
              <a:t>closes</a:t>
            </a:r>
            <a:r>
              <a:rPr lang="en-US" altLang="en-US" dirty="0">
                <a:ea typeface="MS PGothic" charset="-128"/>
              </a:rPr>
              <a:t> up the function with everything it needs for later application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defvar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x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1)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					;x = 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defun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f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y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) 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let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((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x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(+ 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y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1))) 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	;x = y + 1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lambda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z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) (+ 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x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y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z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))))</a:t>
            </a:r>
            <a:endParaRPr lang="en-US" altLang="en-US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defvar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z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endParaRPr lang="en-US" altLang="en-US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let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((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x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3) 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g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f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4)) 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y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5)) 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funcall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g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6)))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							;returns 13</a:t>
            </a:r>
            <a:endParaRPr lang="en-US" altLang="en-US" dirty="0">
              <a:ea typeface="MS PGothic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8348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7A510B-D979-DD41-8AE7-2BF33E0AE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277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3528</TotalTime>
  <Words>1677</Words>
  <Application>Microsoft Macintosh PowerPoint</Application>
  <PresentationFormat>Widescreen</PresentationFormat>
  <Paragraphs>238</Paragraphs>
  <Slides>29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ＭＳ Ｐゴシック</vt:lpstr>
      <vt:lpstr>ＭＳ Ｐゴシック</vt:lpstr>
      <vt:lpstr>Arial</vt:lpstr>
      <vt:lpstr>Calibri</vt:lpstr>
      <vt:lpstr>Calibri Light</vt:lpstr>
      <vt:lpstr>Courier New</vt:lpstr>
      <vt:lpstr>Times New Roman</vt:lpstr>
      <vt:lpstr>Office Theme</vt:lpstr>
      <vt:lpstr>CMSC 304</vt:lpstr>
      <vt:lpstr>Variables</vt:lpstr>
      <vt:lpstr>Variables</vt:lpstr>
      <vt:lpstr>Variables</vt:lpstr>
      <vt:lpstr>Variables</vt:lpstr>
      <vt:lpstr>Variables</vt:lpstr>
      <vt:lpstr>Local vs Global Binding</vt:lpstr>
      <vt:lpstr>Let and Functions</vt:lpstr>
      <vt:lpstr>Let and Functions</vt:lpstr>
      <vt:lpstr>Dynamic Type Checking</vt:lpstr>
      <vt:lpstr>Dynamic Type Checking</vt:lpstr>
      <vt:lpstr>Dynamic Type Checking</vt:lpstr>
      <vt:lpstr>Dynamic Type Checking</vt:lpstr>
      <vt:lpstr>Variables Review</vt:lpstr>
      <vt:lpstr>Variables Review</vt:lpstr>
      <vt:lpstr>Variables Review</vt:lpstr>
      <vt:lpstr>Variables Review</vt:lpstr>
      <vt:lpstr>Variables Review</vt:lpstr>
      <vt:lpstr>Static (Lexical) Scoping</vt:lpstr>
      <vt:lpstr>Static (Lexical) Scoping</vt:lpstr>
      <vt:lpstr>Dynamic Scoping</vt:lpstr>
      <vt:lpstr>Higher-Order Functions and Closures</vt:lpstr>
      <vt:lpstr>Higher-Order Functions and Closures</vt:lpstr>
      <vt:lpstr>Higher-Order Functions and Closures</vt:lpstr>
      <vt:lpstr>Higher-Order Functions and Closures</vt:lpstr>
      <vt:lpstr>Higher-Order Functions and Closures</vt:lpstr>
      <vt:lpstr>Higher-Order Functions and Closures</vt:lpstr>
      <vt:lpstr>Higher-Order Functions and Closures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CMSC 403</dc:title>
  <dc:creator>Microsoft Office User</dc:creator>
  <cp:lastModifiedBy>Microsoft Office User</cp:lastModifiedBy>
  <cp:revision>70</cp:revision>
  <dcterms:created xsi:type="dcterms:W3CDTF">2018-09-23T21:37:57Z</dcterms:created>
  <dcterms:modified xsi:type="dcterms:W3CDTF">2025-01-06T20:45:16Z</dcterms:modified>
</cp:coreProperties>
</file>