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37"/>
  </p:notesMasterIdLst>
  <p:sldIdLst>
    <p:sldId id="256" r:id="rId2"/>
    <p:sldId id="464" r:id="rId3"/>
    <p:sldId id="432" r:id="rId4"/>
    <p:sldId id="433" r:id="rId5"/>
    <p:sldId id="434" r:id="rId6"/>
    <p:sldId id="435" r:id="rId7"/>
    <p:sldId id="436" r:id="rId8"/>
    <p:sldId id="471" r:id="rId9"/>
    <p:sldId id="472" r:id="rId10"/>
    <p:sldId id="473" r:id="rId11"/>
    <p:sldId id="437" r:id="rId12"/>
    <p:sldId id="438" r:id="rId13"/>
    <p:sldId id="439" r:id="rId14"/>
    <p:sldId id="440" r:id="rId15"/>
    <p:sldId id="465" r:id="rId16"/>
    <p:sldId id="466" r:id="rId17"/>
    <p:sldId id="467" r:id="rId18"/>
    <p:sldId id="468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475" r:id="rId30"/>
    <p:sldId id="474" r:id="rId31"/>
    <p:sldId id="267" r:id="rId32"/>
    <p:sldId id="268" r:id="rId33"/>
    <p:sldId id="269" r:id="rId34"/>
    <p:sldId id="470" r:id="rId35"/>
    <p:sldId id="27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29"/>
    <a:srgbClr val="FF91E9"/>
    <a:srgbClr val="E992AF"/>
    <a:srgbClr val="3AE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9"/>
    <p:restoredTop sz="82481"/>
  </p:normalViewPr>
  <p:slideViewPr>
    <p:cSldViewPr snapToGrid="0" snapToObjects="1">
      <p:cViewPr varScale="1">
        <p:scale>
          <a:sx n="132" d="100"/>
          <a:sy n="132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2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treated as a function,</a:t>
            </a:r>
            <a:r>
              <a:rPr lang="en-US" baseline="0" dirty="0"/>
              <a:t> would print out: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“true”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“false”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“true”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As the print function both prints and returns it’s print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61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79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8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41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25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Lots</a:t>
            </a:r>
            <a:r>
              <a:rPr lang="en-US" baseline="0" dirty="0"/>
              <a:t> of functions will return T when you’re expecting some kind of Boolean result back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6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58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48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55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95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69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5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5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We’re doing a demo at the end of lecture, don’t get too stuck going </a:t>
            </a:r>
            <a:r>
              <a:rPr lang="en-US"/>
              <a:t>over the demos here!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91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80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69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2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7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90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77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95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963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958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200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72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b-supplied-p is given a value of true when b is given a value</a:t>
            </a:r>
            <a:r>
              <a:rPr lang="en-US" baseline="0" dirty="0"/>
              <a:t> from an argument and false when it possess the default value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82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608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Perhaps even worse, if the function had had two </a:t>
            </a:r>
            <a:r>
              <a:rPr lang="en-US" b="1" dirty="0"/>
              <a:t>&amp;optional</a:t>
            </a:r>
            <a:r>
              <a:rPr lang="en-US" dirty="0"/>
              <a:t> parameters, this last call would have resulted in the values :z and 3 being bound to the two </a:t>
            </a:r>
            <a:r>
              <a:rPr lang="en-US" b="1" dirty="0"/>
              <a:t>&amp;optional</a:t>
            </a:r>
            <a:r>
              <a:rPr lang="en-US" dirty="0"/>
              <a:t> parameters and the </a:t>
            </a:r>
            <a:r>
              <a:rPr lang="en-US" b="1" dirty="0"/>
              <a:t>&amp;key</a:t>
            </a:r>
            <a:r>
              <a:rPr lang="en-US" dirty="0"/>
              <a:t> parameter z getting the default value </a:t>
            </a:r>
            <a:r>
              <a:rPr lang="en-US" b="1" dirty="0"/>
              <a:t>NIL</a:t>
            </a:r>
            <a:r>
              <a:rPr lang="en-US" dirty="0"/>
              <a:t> with no indication that anything was amiss.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26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413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 how you must specify the function you’re returning from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545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Can’t do it currently</a:t>
            </a:r>
            <a:r>
              <a:rPr lang="en-US" baseline="0" dirty="0"/>
              <a:t>, need to talk </a:t>
            </a:r>
            <a:r>
              <a:rPr lang="en-US" baseline="0"/>
              <a:t>about recursion next lecture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F738-7F99-094E-94FC-2CA9890F09B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56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5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9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Selection Statements &amp; Functions</a:t>
            </a:r>
          </a:p>
          <a:p>
            <a:r>
              <a:rPr lang="en-US"/>
              <a:t>Claire Sparks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In Common Lisp, not all operations can be defined as functions</a:t>
            </a:r>
          </a:p>
          <a:p>
            <a:r>
              <a:rPr lang="en-US" altLang="en-US" sz="2800" dirty="0">
                <a:ea typeface="MS PGothic" charset="-128"/>
              </a:rPr>
              <a:t>Arguments to a function are evaluated before the function is called</a:t>
            </a:r>
          </a:p>
          <a:p>
            <a:pPr lvl="1"/>
            <a:r>
              <a:rPr lang="en-US" altLang="en-US" sz="2600" dirty="0">
                <a:ea typeface="MS PGothic" charset="-128"/>
              </a:rPr>
              <a:t>There’s no way to write a function which behaves like the traditional if statement</a:t>
            </a:r>
          </a:p>
          <a:p>
            <a:pPr marL="0" indent="0" algn="ctr"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(if (= 3 3) (print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true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) (print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false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))</a:t>
            </a:r>
          </a:p>
          <a:p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To address the issue, Common Lisp defines several special operators</a:t>
            </a:r>
          </a:p>
          <a:p>
            <a:r>
              <a:rPr lang="en-US" altLang="en-US" b="1" dirty="0">
                <a:latin typeface="Calibri" charset="0"/>
                <a:ea typeface="Calibri" charset="0"/>
                <a:cs typeface="Calibri" charset="0"/>
              </a:rPr>
              <a:t>Special Operators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: A type of </a:t>
            </a:r>
            <a:r>
              <a:rPr lang="en-US" dirty="0"/>
              <a:t>atomic operator defined to behave in ways a function cannot </a:t>
            </a:r>
          </a:p>
          <a:p>
            <a:pPr lvl="1"/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Each special operator is defined differently </a:t>
            </a:r>
          </a:p>
        </p:txBody>
      </p:sp>
    </p:spTree>
    <p:extLst>
      <p:ext uri="{BB962C8B-B14F-4D97-AF65-F5344CB8AC3E}">
        <p14:creationId xmlns:p14="http://schemas.microsoft.com/office/powerpoint/2010/main" val="263411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The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altLang="en-US" dirty="0">
                <a:ea typeface="MS PGothic" charset="-128"/>
              </a:rPr>
              <a:t> special operator is defined to provide an if-else construct</a:t>
            </a:r>
          </a:p>
          <a:p>
            <a:pPr marL="0" indent="0" algn="ctr"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(if (condition) (true branch) (false branch))</a:t>
            </a:r>
          </a:p>
          <a:p>
            <a:r>
              <a:rPr lang="en-US" altLang="en-US" dirty="0">
                <a:ea typeface="MS PGothic" charset="-128"/>
              </a:rPr>
              <a:t>The if-else construct is limiting </a:t>
            </a:r>
          </a:p>
          <a:p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The if-</a:t>
            </a:r>
            <a:r>
              <a:rPr lang="en-US" altLang="en-US" dirty="0" err="1">
                <a:latin typeface="Calibri" charset="0"/>
                <a:ea typeface="Calibri" charset="0"/>
                <a:cs typeface="Calibri" charset="0"/>
              </a:rPr>
              <a:t>elseif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 construct is much more robust</a:t>
            </a:r>
          </a:p>
          <a:p>
            <a:pPr lvl="1"/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Allows us to have an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arbitrary</a:t>
            </a:r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number of branches</a:t>
            </a:r>
          </a:p>
          <a:p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if-</a:t>
            </a:r>
            <a:r>
              <a:rPr lang="en-US" altLang="en-US" dirty="0" err="1">
                <a:latin typeface="Calibri" charset="0"/>
                <a:ea typeface="Calibri" charset="0"/>
                <a:cs typeface="Calibri" charset="0"/>
              </a:rPr>
              <a:t>elseif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 functionality can be achieved by chaining multiple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altLang="en-US" b="1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operators </a:t>
            </a:r>
          </a:p>
          <a:p>
            <a:endParaRPr lang="en-US" alt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7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(if (condition) (true branch) (		;if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 (if (condition) (true branch) (	;else if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   (if (condition) (true branch) 	;else if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     (false branch))				;else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  ))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))</a:t>
            </a:r>
          </a:p>
          <a:p>
            <a:r>
              <a:rPr lang="en-US" altLang="en-US" sz="2600" dirty="0">
                <a:latin typeface="Calibri" charset="0"/>
                <a:ea typeface="Calibri" charset="0"/>
                <a:cs typeface="Calibri" charset="0"/>
              </a:rPr>
              <a:t>Issues: </a:t>
            </a:r>
          </a:p>
          <a:p>
            <a:pPr lvl="1"/>
            <a:r>
              <a:rPr lang="en-US" altLang="en-US" sz="2600" dirty="0">
                <a:latin typeface="Calibri" charset="0"/>
                <a:ea typeface="Calibri" charset="0"/>
                <a:cs typeface="Calibri" charset="0"/>
              </a:rPr>
              <a:t>Tedious to write</a:t>
            </a:r>
          </a:p>
          <a:p>
            <a:pPr lvl="1"/>
            <a:r>
              <a:rPr lang="en-US" altLang="en-US" sz="2600" dirty="0">
                <a:latin typeface="Calibri" charset="0"/>
                <a:ea typeface="Calibri" charset="0"/>
                <a:cs typeface="Calibri" charset="0"/>
              </a:rPr>
              <a:t>Hard to read</a:t>
            </a:r>
          </a:p>
        </p:txBody>
      </p:sp>
    </p:spTree>
    <p:extLst>
      <p:ext uri="{BB962C8B-B14F-4D97-AF65-F5344CB8AC3E}">
        <p14:creationId xmlns:p14="http://schemas.microsoft.com/office/powerpoint/2010/main" val="4238209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Solution: the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cond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 macro</a:t>
            </a:r>
          </a:p>
          <a:p>
            <a:pPr lvl="1"/>
            <a:r>
              <a:rPr lang="en-US" altLang="en-US" sz="2800" dirty="0" err="1">
                <a:latin typeface="Courier New" charset="0"/>
                <a:ea typeface="Courier New" charset="0"/>
                <a:cs typeface="Courier New" charset="0"/>
              </a:rPr>
              <a:t>cond</a:t>
            </a:r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 is a macro and not a special operator because it is not part of the “core language” </a:t>
            </a:r>
          </a:p>
          <a:p>
            <a:pPr lvl="1"/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Rather it is built from components of the core language </a:t>
            </a:r>
          </a:p>
          <a:p>
            <a:pPr lvl="2"/>
            <a:r>
              <a:rPr lang="en-US" altLang="en-US" sz="2400" dirty="0">
                <a:latin typeface="Calibri" charset="0"/>
                <a:ea typeface="Calibri" charset="0"/>
                <a:cs typeface="Calibri" charset="0"/>
              </a:rPr>
              <a:t>Similar to built in libraries in Java </a:t>
            </a: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We will discuss macros in later lectures</a:t>
            </a:r>
          </a:p>
          <a:p>
            <a:pPr marL="0" indent="0">
              <a:buNone/>
            </a:pP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600" dirty="0" err="1">
                <a:latin typeface="Courier New" charset="0"/>
                <a:ea typeface="Courier New" charset="0"/>
                <a:cs typeface="Courier New" charset="0"/>
              </a:rPr>
              <a:t>cond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endParaRPr 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conditional-1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(branch-1-1) )      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conditional-2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(branch-2-1)(branch-2-2)... )      (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conditional-3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)(</a:t>
            </a: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branch-3-1) )  </a:t>
            </a:r>
            <a:br>
              <a:rPr lang="en-US" sz="26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...</a:t>
            </a:r>
            <a:br>
              <a:rPr lang="en-US" sz="26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mr-IN" sz="2600" dirty="0"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sz="2600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62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mr-IN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cond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solidFill>
                  <a:srgbClr val="FFC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FFC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3AE9DA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conditional-1</a:t>
            </a:r>
            <a:r>
              <a:rPr lang="en-US" dirty="0">
                <a:solidFill>
                  <a:srgbClr val="3AE9DA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solidFill>
                  <a:srgbClr val="54FF91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branch-1-1</a:t>
            </a:r>
            <a:r>
              <a:rPr lang="mr-IN" dirty="0">
                <a:solidFill>
                  <a:srgbClr val="54FF91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mr-IN" dirty="0">
                <a:solidFill>
                  <a:srgbClr val="92D05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92D05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E992AF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conditional-2</a:t>
            </a:r>
            <a:r>
              <a:rPr lang="en-US" dirty="0">
                <a:solidFill>
                  <a:srgbClr val="E992AF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solidFill>
                  <a:srgbClr val="00B0F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branch-2-1</a:t>
            </a:r>
            <a:r>
              <a:rPr lang="mr-IN" dirty="0">
                <a:solidFill>
                  <a:srgbClr val="00B0F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branch-2-2)... </a:t>
            </a:r>
            <a:r>
              <a:rPr lang="mr-IN" dirty="0">
                <a:solidFill>
                  <a:srgbClr val="92D05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dirty="0">
              <a:solidFill>
                <a:srgbClr val="92D05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FFFE29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conditional-3</a:t>
            </a:r>
            <a:r>
              <a:rPr lang="en-US" dirty="0">
                <a:solidFill>
                  <a:srgbClr val="FFFE29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branch-3-1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 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542A6"/>
                </a:solidFill>
                <a:latin typeface="Courier New" charset="0"/>
                <a:ea typeface="Courier New" charset="0"/>
                <a:cs typeface="Courier New" charset="0"/>
              </a:rPr>
              <a:t>( 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T</a:t>
            </a:r>
            <a:r>
              <a:rPr lang="en-US" dirty="0">
                <a:solidFill>
                  <a:srgbClr val="D542A6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branch-4-1</a:t>
            </a:r>
            <a:r>
              <a:rPr lang="en-US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dirty="0">
                <a:solidFill>
                  <a:srgbClr val="D542A6"/>
                </a:solidFill>
                <a:latin typeface="Courier New" charset="0"/>
                <a:ea typeface="Courier New" charset="0"/>
                <a:cs typeface="Courier New" charset="0"/>
              </a:rPr>
              <a:t> )</a:t>
            </a:r>
            <a:r>
              <a:rPr lang="en-US" sz="1500" dirty="0">
                <a:latin typeface="Courier New" charset="0"/>
                <a:ea typeface="Courier New" charset="0"/>
                <a:cs typeface="Courier New" charset="0"/>
              </a:rPr>
              <a:t>;Having the last condition be true provides else functionality </a:t>
            </a:r>
          </a:p>
          <a:p>
            <a:pPr marL="0" indent="0">
              <a:buNone/>
            </a:pPr>
            <a:r>
              <a:rPr lang="mr-IN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12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True and 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NIL</a:t>
            </a:r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is the only false value in Common Lisp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Is used to represent an empty list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and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NIL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are completely interchangeable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All other atomics are true values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Similar to how all non zero numeric values are truthy in C 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T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is a special symbol for true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Used when no other value is available </a:t>
            </a:r>
          </a:p>
        </p:txBody>
      </p:sp>
    </p:spTree>
    <p:extLst>
      <p:ext uri="{BB962C8B-B14F-4D97-AF65-F5344CB8AC3E}">
        <p14:creationId xmlns:p14="http://schemas.microsoft.com/office/powerpoint/2010/main" val="152538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and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function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Can take multiple arguments which are evaluated left to right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all arguments are non-NIL, then the value of the last argument is returned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one of the arguments is NIL, NIL is returned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(and 1 2 3 4 5)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5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(and "Hello" () "World") 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(and T NIL NIL T)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56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charset="0"/>
                <a:ea typeface="Calibri" charset="0"/>
                <a:cs typeface="Courier New" charset="0"/>
              </a:rPr>
              <a:t>or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function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Can take multiple arguments which are evaluated left to right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an arguments is non-NIL, then its value is returned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all arguments are NIL, NIL is returned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(or 1 2 3 4 5)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1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(or () "Hello" "World") 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"Hello"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(or NIL NIL)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4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not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function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Takes a single argument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the argument is non-NIL, then NIL is returned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the argument are NIL, T is returned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(not 3)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(not () ) 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T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(not NIL)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T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(not T)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</a:p>
          <a:p>
            <a:pPr lvl="1"/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69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Numeric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EQL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function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(EQL 3 3)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T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(EQL #\b #\r) 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(EQL 3.0 3)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An EQ function exists, but us not guaranteed to produce the correct output for numbers and characters 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function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Returns true if given arguments are mathematically equal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Can take multiple arguments, only returns true if they are all equal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(= 1/2 2/4)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T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(= 3 3.0 3 3) 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T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(= 6 6.0 6/6) 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323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Numeric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/=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function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Can take multiple arguments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Returns true if </a:t>
            </a:r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all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arguments are different mathematical values 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&lt; &lt;= &gt; &gt;=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functions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Can take multiple arguments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more than two arguments are given, they are evaluated from left to right 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(&lt; 2 3 4)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T</a:t>
            </a:r>
          </a:p>
          <a:p>
            <a:pPr lvl="1"/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(&lt; 2 4 3) 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NIL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min </a:t>
            </a:r>
            <a:r>
              <a:rPr lang="en-US" dirty="0">
                <a:latin typeface="Calibri" charset="0"/>
                <a:ea typeface="Calibri" charset="0"/>
                <a:cs typeface="Calibri" charset="0"/>
                <a:sym typeface="Wingdings"/>
              </a:rPr>
              <a:t>&amp;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 max</a:t>
            </a:r>
            <a:r>
              <a:rPr lang="en-US" dirty="0">
                <a:latin typeface="Calibri" charset="0"/>
                <a:ea typeface="Calibri" charset="0"/>
                <a:cs typeface="Calibri" charset="0"/>
                <a:sym typeface="Wingdings"/>
              </a:rPr>
              <a:t> functions also provided by Common Lisp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554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Character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In Common Lisp characters are not numbers, rather they are their own distinct data type </a:t>
            </a:r>
          </a:p>
          <a:p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Use 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#\</a:t>
            </a:r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 to identify the following symbol as </a:t>
            </a:r>
            <a:r>
              <a:rPr lang="en-US" sz="2600">
                <a:latin typeface="Calibri" charset="0"/>
                <a:ea typeface="Calibri" charset="0"/>
                <a:cs typeface="Calibri" charset="0"/>
              </a:rPr>
              <a:t>an atomic </a:t>
            </a:r>
            <a:endParaRPr lang="en-US" sz="2600" dirty="0">
              <a:latin typeface="Calibri" charset="0"/>
              <a:ea typeface="Calibri" charset="0"/>
              <a:cs typeface="Calibri" charset="0"/>
            </a:endParaRP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Ex: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#\x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represents the character x, rather than a variable or a function  </a:t>
            </a:r>
          </a:p>
          <a:p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Because characters are their own data type, we need a special set of character comparator operators </a:t>
            </a:r>
          </a:p>
          <a:p>
            <a:pPr marL="0" indent="0">
              <a:buNone/>
            </a:pP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38200" y="4297680"/>
          <a:ext cx="10515600" cy="2560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472">
                <a:tc>
                  <a:txBody>
                    <a:bodyPr/>
                    <a:lstStyle/>
                    <a:p>
                      <a:r>
                        <a:rPr lang="en-US" b="1" dirty="0"/>
                        <a:t>Numeric Analog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Case-Sensitive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Case-Insensitive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 dirty="0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CHAR=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CHAR-EQUAL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 dirty="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CHAR/=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CHAR-NOT-EQUAL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CHAR&lt;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CHAR-LESSP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CHAR&gt;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CHAR-GREATERP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CHAR&lt;=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CHAR-NOT-GREATERP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CHAR&gt;=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CHAR-NOT-LESSP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380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String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In Common Lisp String literals are enclosed in </a:t>
            </a:r>
            <a:r>
              <a:rPr lang="mr-IN" sz="2600" dirty="0">
                <a:latin typeface="Calibri" charset="0"/>
                <a:ea typeface="Calibri" charset="0"/>
                <a:cs typeface="Calibri" charset="0"/>
              </a:rPr>
              <a:t>"</a:t>
            </a:r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 characters </a:t>
            </a:r>
          </a:p>
          <a:p>
            <a:pPr lvl="1"/>
            <a:r>
              <a:rPr lang="en-US" sz="2200" dirty="0">
                <a:latin typeface="Calibri" charset="0"/>
                <a:ea typeface="Calibri" charset="0"/>
                <a:cs typeface="Calibri" charset="0"/>
              </a:rPr>
              <a:t>use the \ character as an escape character </a:t>
            </a:r>
          </a:p>
          <a:p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Strings have their own comparison functions as well </a:t>
            </a:r>
          </a:p>
          <a:p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Check for logical equivalence, not object equality </a:t>
            </a:r>
          </a:p>
          <a:p>
            <a:pPr marL="0" indent="0">
              <a:buNone/>
            </a:pP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38200" y="3616643"/>
          <a:ext cx="10515600" cy="2560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472">
                <a:tc>
                  <a:txBody>
                    <a:bodyPr/>
                    <a:lstStyle/>
                    <a:p>
                      <a:r>
                        <a:rPr lang="en-US" b="1" dirty="0"/>
                        <a:t>Numeric Analog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Case-Sensitive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Case-Insensitive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 dirty="0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STRING-EQUAL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STRING-NOT-EQUAL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 dirty="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STRING-LESSP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STRING&gt;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STRING-GREATERP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STRING&lt;=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STRING-NOT-GREATERP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472">
                <a:tc>
                  <a:txBody>
                    <a:bodyPr/>
                    <a:lstStyle/>
                    <a:p>
                      <a:r>
                        <a:rPr lang="mr-IN" b="0" dirty="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STRING&gt;=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STRING-NOT-LESSP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949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;is even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(print "Enter a number")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(if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(= 0 (mod (parse-integer (read-line)) 2 ))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(print "is even")	;true branch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(print "is odd")		;false branch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7559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;larger string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(print "Enter two strings to be compared")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(if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;conditional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(STRING&gt; (read-line) (read-line))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;true branch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(print "Second is lexicographically larger")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;false branch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(print "First is lexicographically larger")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9684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(print "Enter two numbers to be compared")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(if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(&gt; (parse-integer (read-line)) (parse-integer (read-line)))				;conditional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(print "First is larger") 	;true branch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(print "Second is larger")	;false branch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7204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*input* (read-char))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((CHAR-EQUAL #\M *input*) (print #\M))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((CHAR-EQUAL #\S *input*) (print #\S))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((CHAR-EQUAL #\I *input*) (print #\I))</a:t>
            </a:r>
          </a:p>
          <a:p>
            <a:pPr marL="0" indent="0">
              <a:buNone/>
            </a:pPr>
            <a:r>
              <a:rPr lang="en-US">
                <a:latin typeface="Courier New" charset="0"/>
                <a:ea typeface="Courier New" charset="0"/>
                <a:cs typeface="Courier New" charset="0"/>
              </a:rPr>
              <a:t>  (T(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print "Error, incorrect char </a:t>
            </a:r>
            <a:r>
              <a:rPr lang="en-US">
                <a:latin typeface="Courier New" charset="0"/>
                <a:ea typeface="Courier New" charset="0"/>
                <a:cs typeface="Courier New" charset="0"/>
              </a:rPr>
              <a:t>input")) 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90099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Defining Functions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defun</a:t>
            </a:r>
            <a:endParaRPr lang="en-US" altLang="ja-JP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Provides ability to make a new global binding of a function visible in the top-level environment of Common Lisp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(</a:t>
            </a:r>
            <a:r>
              <a:rPr lang="en-US" altLang="en-US" sz="2800" dirty="0" err="1">
                <a:latin typeface="Courier New" pitchFamily="49" charset="0"/>
                <a:cs typeface="Courier New" pitchFamily="49" charset="0"/>
              </a:rPr>
              <a:t>defun</a:t>
            </a:r>
            <a:r>
              <a:rPr lang="en-US" altLang="en-US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name</a:t>
            </a:r>
            <a:r>
              <a:rPr lang="en-US" altLang="en-US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800" dirty="0">
                <a:ea typeface="MS PGothic" charset="-128"/>
              </a:rPr>
              <a:t>(parameters)</a:t>
            </a:r>
          </a:p>
          <a:p>
            <a:pPr marL="457200" lvl="1" indent="0">
              <a:buNone/>
            </a:pPr>
            <a:r>
              <a:rPr lang="en-US" altLang="en-US" sz="2800" dirty="0">
                <a:ea typeface="MS PGothic" charset="-128"/>
              </a:rPr>
              <a:t>   </a:t>
            </a:r>
            <a:r>
              <a:rPr lang="mr-IN" altLang="en-US" sz="2800" dirty="0">
                <a:ea typeface="MS PGothic" charset="-128"/>
              </a:rPr>
              <a:t>"</a:t>
            </a:r>
            <a:r>
              <a:rPr lang="en-US" altLang="en-US" sz="2800" dirty="0">
                <a:ea typeface="MS PGothic" charset="-128"/>
              </a:rPr>
              <a:t>Optional Documentation String</a:t>
            </a:r>
            <a:r>
              <a:rPr lang="mr-IN" altLang="en-US" sz="2800" dirty="0">
                <a:ea typeface="MS PGothic" charset="-128"/>
              </a:rPr>
              <a:t>"</a:t>
            </a:r>
            <a:r>
              <a:rPr lang="en-US" altLang="en-US" sz="2800" dirty="0">
                <a:ea typeface="MS PGothic" charset="-128"/>
              </a:rPr>
              <a:t> </a:t>
            </a:r>
          </a:p>
          <a:p>
            <a:pPr marL="457200" lvl="1" indent="0">
              <a:buNone/>
            </a:pPr>
            <a:r>
              <a:rPr lang="en-US" altLang="en-US" sz="2800" dirty="0">
                <a:ea typeface="MS PGothic" charset="-128"/>
              </a:rPr>
              <a:t>   (body))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hello? (x) "Prints Hello combined with the given parameter" 	(print (concatenate 'string "Hello " x))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99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Function Parameter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 purpose of the parameter list is to declare the variables that will receive the arguments passed to the function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By default, the parameters are called </a:t>
            </a:r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required parameters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	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When a function is called, each parameter must have a corresponding argument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there are too many or too few arguments, an error will occur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Common Lisp provides several symbols to modify the meaning of the parameter list </a:t>
            </a:r>
          </a:p>
        </p:txBody>
      </p:sp>
    </p:spTree>
    <p:extLst>
      <p:ext uri="{BB962C8B-B14F-4D97-AF65-F5344CB8AC3E}">
        <p14:creationId xmlns:p14="http://schemas.microsoft.com/office/powerpoint/2010/main" val="1986859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&amp;optional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To make parameters optional, place them after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&amp;optional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symbol 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All parameters which come before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&amp;optional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symbol will be required parameters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Any optional parameters which are not given an argument value are given the value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NIL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Often times, a different default value is desired for optional parameters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You can specify a specific default value for each optional parameter</a:t>
            </a:r>
          </a:p>
        </p:txBody>
      </p:sp>
    </p:spTree>
    <p:extLst>
      <p:ext uri="{BB962C8B-B14F-4D97-AF65-F5344CB8AC3E}">
        <p14:creationId xmlns:p14="http://schemas.microsoft.com/office/powerpoint/2010/main" val="2959342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&amp;optional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foo (a b &amp;optional c d) (list a b c d))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1 2)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(1 2 NIL NIL)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1 2 3)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(1 2 3 NIL) 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1 2 3 4)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(1 2 3 4)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foo (a &amp;optional (b 10)) (list a b))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1 2)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(1 2) 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(1 10)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480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&amp;rest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Although more flexible than default parameters, optional parameters require a constant number of arguments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But what about a function which takes a variable number of arguments?   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Ex: the + function takes 2 or more arguments  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We have the &amp;rest symbol  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If a function includes a &amp;rest parameter, any arguments remaining after all other parameters have been assigned values are placed into a list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This list becomes the value of the &amp;rest parameter</a:t>
            </a:r>
          </a:p>
        </p:txBody>
      </p:sp>
    </p:spTree>
    <p:extLst>
      <p:ext uri="{BB962C8B-B14F-4D97-AF65-F5344CB8AC3E}">
        <p14:creationId xmlns:p14="http://schemas.microsoft.com/office/powerpoint/2010/main" val="170515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&amp;rest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myFunc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(a b c &amp;rest d) (list a b c d))</a:t>
            </a:r>
          </a:p>
          <a:p>
            <a:pPr marL="0" indent="0">
              <a:buNone/>
            </a:pPr>
            <a:r>
              <a:rPr lang="cs-CZ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cs-CZ" dirty="0" err="1">
                <a:latin typeface="Courier New" charset="0"/>
                <a:ea typeface="Courier New" charset="0"/>
                <a:cs typeface="Courier New" charset="0"/>
              </a:rPr>
              <a:t>myFunc</a:t>
            </a:r>
            <a:r>
              <a:rPr lang="cs-CZ" dirty="0">
                <a:latin typeface="Courier New" charset="0"/>
                <a:ea typeface="Courier New" charset="0"/>
                <a:cs typeface="Courier New" charset="0"/>
              </a:rPr>
              <a:t> 1 2 3 4) </a:t>
            </a:r>
            <a:r>
              <a:rPr lang="cs-CZ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(1 2 3 (4))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cs-CZ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cs-CZ" dirty="0" err="1">
                <a:latin typeface="Courier New" charset="0"/>
                <a:ea typeface="Courier New" charset="0"/>
                <a:cs typeface="Courier New" charset="0"/>
              </a:rPr>
              <a:t>myFunc</a:t>
            </a:r>
            <a:r>
              <a:rPr lang="cs-CZ" dirty="0">
                <a:latin typeface="Courier New" charset="0"/>
                <a:ea typeface="Courier New" charset="0"/>
                <a:cs typeface="Courier New" charset="0"/>
              </a:rPr>
              <a:t> 1 2 3) </a:t>
            </a:r>
            <a:r>
              <a:rPr lang="cs-CZ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cs-CZ" b="1" dirty="0">
                <a:latin typeface="Courier New" charset="0"/>
                <a:ea typeface="Courier New" charset="0"/>
                <a:cs typeface="Courier New" charset="0"/>
              </a:rPr>
              <a:t>(1 2 3 NIL)</a:t>
            </a:r>
          </a:p>
          <a:p>
            <a:pPr marL="0" indent="0">
              <a:buNone/>
            </a:pPr>
            <a:r>
              <a:rPr lang="cs-CZ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cs-CZ" sz="2600" dirty="0" err="1">
                <a:latin typeface="Courier New" charset="0"/>
                <a:ea typeface="Courier New" charset="0"/>
                <a:cs typeface="Courier New" charset="0"/>
              </a:rPr>
              <a:t>myFunc</a:t>
            </a:r>
            <a:r>
              <a:rPr lang="cs-CZ" sz="2600" dirty="0">
                <a:latin typeface="Courier New" charset="0"/>
                <a:ea typeface="Courier New" charset="0"/>
                <a:cs typeface="Courier New" charset="0"/>
              </a:rPr>
              <a:t> 1 2 3 4 5 6 7 8 9) </a:t>
            </a:r>
            <a:r>
              <a:rPr lang="cs-CZ" sz="26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cs-CZ" sz="2600" b="1" dirty="0">
                <a:latin typeface="Courier New" charset="0"/>
                <a:ea typeface="Courier New" charset="0"/>
                <a:cs typeface="Courier New" charset="0"/>
              </a:rPr>
              <a:t>(1 2 3 (4 5 6 7 8 9))</a:t>
            </a:r>
            <a:endParaRPr lang="en-US" sz="2600" b="1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03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&amp;key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An issue with optional parameters is they are positional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There's no way to pass a value to only the second and fourth parameter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 &amp;key symbol allows the caller to specify keyword parameters: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Allow the caller to specify which values go with which parameters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Keyword parameters are also optional, if no argument with the associated keyword is given, then the parameter is given a value of NIL  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Like optional parameters, keyword parameters can be given custom default values </a:t>
            </a:r>
            <a:endParaRPr lang="en-US" sz="2600" b="1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48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&amp;key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foo (&amp;key a b c) (list a b c))</a:t>
            </a: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)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b="1" dirty="0">
                <a:latin typeface="Courier New" charset="0"/>
                <a:ea typeface="Courier New" charset="0"/>
                <a:cs typeface="Courier New" charset="0"/>
              </a:rPr>
              <a:t>(NIL NIL NIL) </a:t>
            </a:r>
            <a:endParaRPr lang="en-US" sz="24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1)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b="1" dirty="0">
                <a:latin typeface="Courier New" charset="0"/>
                <a:ea typeface="Courier New" charset="0"/>
                <a:cs typeface="Courier New" charset="0"/>
              </a:rPr>
              <a:t>(1 NIL NIL)</a:t>
            </a:r>
            <a:endParaRPr lang="en-US" sz="24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1)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b="1" dirty="0">
                <a:latin typeface="Courier New" charset="0"/>
                <a:ea typeface="Courier New" charset="0"/>
                <a:cs typeface="Courier New" charset="0"/>
              </a:rPr>
              <a:t>(NIL NIL 1) </a:t>
            </a:r>
            <a:endParaRPr lang="en-US" sz="24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1 :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3)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b="1" dirty="0">
                <a:latin typeface="Courier New" charset="0"/>
                <a:ea typeface="Courier New" charset="0"/>
                <a:cs typeface="Courier New" charset="0"/>
              </a:rPr>
              <a:t>(1 NIL 3) </a:t>
            </a:r>
            <a:endParaRPr lang="en-US" sz="24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1 :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3 :</a:t>
            </a:r>
            <a:r>
              <a:rPr lang="mr-IN" sz="24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2)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2400" b="1" dirty="0">
                <a:latin typeface="Courier New" charset="0"/>
                <a:ea typeface="Courier New" charset="0"/>
                <a:cs typeface="Courier New" charset="0"/>
              </a:rPr>
              <a:t>(1 2 3)</a:t>
            </a:r>
            <a:endParaRPr lang="en-US" sz="24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en-US" sz="2400" b="1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12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&amp;key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(&amp;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key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0) 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0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b-supplied-p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) 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       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(+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))) 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list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b-supplied-p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)) 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(1 0 1 NIL) 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(0 1 1 </a:t>
            </a:r>
            <a:r>
              <a:rPr lang="mr-IN" b="1" dirty="0" err="1">
                <a:latin typeface="Courier New" charset="0"/>
                <a:ea typeface="Courier New" charset="0"/>
                <a:cs typeface="Courier New" charset="0"/>
              </a:rPr>
              <a:t>T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) 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 :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4)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(0 1 4 </a:t>
            </a:r>
            <a:r>
              <a:rPr lang="mr-IN" b="1" dirty="0" err="1">
                <a:latin typeface="Courier New" charset="0"/>
                <a:ea typeface="Courier New" charset="0"/>
                <a:cs typeface="Courier New" charset="0"/>
              </a:rPr>
              <a:t>T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: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2 :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1 :</a:t>
            </a:r>
            <a:r>
              <a:rPr lang="mr-IN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4)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(2 1 4 </a:t>
            </a:r>
            <a:r>
              <a:rPr lang="mr-IN" b="1" dirty="0" err="1">
                <a:latin typeface="Courier New" charset="0"/>
                <a:ea typeface="Courier New" charset="0"/>
                <a:cs typeface="Courier New" charset="0"/>
              </a:rPr>
              <a:t>T</a:t>
            </a:r>
            <a:r>
              <a:rPr lang="mr-IN" b="1" dirty="0"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sz="32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en-US" sz="2400" b="1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584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Function Parameter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We have now described four types of parameters in Common Lisp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Required, optional, rest, and key parameters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These parameter types can be combined together in a single parameter list 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We’ve already combined required and optional parameter types and required and rest parameter types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To combine parameter types, they must be defined in a specific ordering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Required </a:t>
            </a:r>
            <a:r>
              <a:rPr lang="en-US" dirty="0">
                <a:latin typeface="Calibri" charset="0"/>
                <a:ea typeface="Calibri" charset="0"/>
                <a:cs typeface="Calibri" charset="0"/>
                <a:sym typeface="Wingdings" pitchFamily="2" charset="2"/>
              </a:rPr>
              <a:t> optional  rest  key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Theoretically all four parameter types can be used together </a:t>
            </a:r>
          </a:p>
          <a:p>
            <a:pPr marL="0" indent="0">
              <a:buNone/>
            </a:pP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883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Function Parameter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Typically, no more than two parameter types are combined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 Some combinations, while valid Common Lisp syntax, can produce unexpected results and should be avoided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One example is combining optional and key parameter types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defun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foo (x &amp;optional y &amp;key z) (list x y z))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(foo 1 2 :z 3) 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(1 2 3)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(foo 1) 		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(1 nil nil)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(foo 1 :z 3)	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r>
              <a:rPr lang="en-US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</a:rPr>
              <a:t>The error occurs because :z is taken as the value of the optional y parameter and not as the key associated with parameter z </a:t>
            </a:r>
          </a:p>
        </p:txBody>
      </p:sp>
    </p:spTree>
    <p:extLst>
      <p:ext uri="{BB962C8B-B14F-4D97-AF65-F5344CB8AC3E}">
        <p14:creationId xmlns:p14="http://schemas.microsoft.com/office/powerpoint/2010/main" val="4141702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Function Return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Functions in Common Lisp do not require an explicit return statement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By default, functions return the value of the last expression evaluated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Sometimes it is desirable to return before the function has concluded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Break out of selection statements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 RETURN-FROM special operator provides this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32658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– RETURN-FROM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foo (a b)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(if (&lt; a b) (RETURN-FROM foo (+ a b)))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(print (- a b))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cs-CZ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cs-CZ" dirty="0" err="1">
                <a:latin typeface="Courier New" charset="0"/>
                <a:ea typeface="Courier New" charset="0"/>
                <a:cs typeface="Courier New" charset="0"/>
              </a:rPr>
              <a:t>foo</a:t>
            </a:r>
            <a:r>
              <a:rPr lang="cs-CZ" dirty="0">
                <a:latin typeface="Courier New" charset="0"/>
                <a:ea typeface="Courier New" charset="0"/>
                <a:cs typeface="Courier New" charset="0"/>
              </a:rPr>
              <a:t> 1 2) </a:t>
            </a:r>
            <a:r>
              <a:rPr lang="cs-CZ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cs-CZ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3</a:t>
            </a:r>
            <a:endParaRPr lang="cs-CZ" b="1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(foo 2 1)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1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489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-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Need to distinguish function definition from function application: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Functional definition</a:t>
            </a:r>
            <a:r>
              <a:rPr lang="en-US" altLang="en-US" sz="2800" dirty="0">
                <a:ea typeface="MS PGothic" charset="-128"/>
              </a:rPr>
              <a:t>: describes how a value is to be computed using formal parameters</a:t>
            </a:r>
          </a:p>
          <a:p>
            <a:pPr lvl="2">
              <a:defRPr/>
            </a:pPr>
            <a:r>
              <a:rPr lang="en-US" altLang="en-US" sz="2800" dirty="0">
                <a:ea typeface="MS PGothic" charset="-128"/>
              </a:rPr>
              <a:t>Ex: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(define hello-world () (print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”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Hello World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))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Functional application</a:t>
            </a:r>
            <a:r>
              <a:rPr lang="en-US" altLang="en-US" sz="2800" dirty="0">
                <a:ea typeface="MS PGothic" charset="-128"/>
              </a:rPr>
              <a:t>: a call to a defined function using actual parameters, or the values that the formal parameters assume for a particular computation</a:t>
            </a:r>
            <a:endParaRPr lang="en-US" altLang="en-US" dirty="0">
              <a:ea typeface="MS PGothic" charset="-128"/>
            </a:endParaRPr>
          </a:p>
          <a:p>
            <a:pPr lvl="2">
              <a:defRPr/>
            </a:pPr>
            <a:r>
              <a:rPr lang="en-US" altLang="en-US" sz="2800" dirty="0"/>
              <a:t>Ex: 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(hello-world</a:t>
            </a:r>
            <a:r>
              <a:rPr lang="en-US" altLang="ja-JP" sz="2800" dirty="0"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altLang="en-US" sz="28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74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-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There is no notion of the internal state of a function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Its value depends only on the values of its arguments (and possibly nonlocal variables)</a:t>
            </a:r>
          </a:p>
          <a:p>
            <a:r>
              <a:rPr lang="en-US" altLang="en-US" dirty="0">
                <a:ea typeface="MS PGothic" charset="-128"/>
              </a:rPr>
              <a:t>A function’</a:t>
            </a:r>
            <a:r>
              <a:rPr lang="en-US" altLang="ja-JP" dirty="0">
                <a:ea typeface="MS PGothic" charset="-128"/>
              </a:rPr>
              <a:t>s value cannot depend on the order of evaluation of its arguments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A massive advantage for parallelization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24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-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en-US" sz="2800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701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Common Lisp -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How would you write the code to add the numbers in a list?  </a:t>
            </a:r>
          </a:p>
          <a:p>
            <a:pPr>
              <a:defRPr/>
            </a:pPr>
            <a:endParaRPr lang="en-US" sz="2800" dirty="0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265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65316EAB-7D9D-F44C-9359-5EAF5ACFF67A}" vid="{A314C093-9F88-C04E-9797-11A80E266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2346</Words>
  <Application>Microsoft Macintosh PowerPoint</Application>
  <PresentationFormat>Widescreen</PresentationFormat>
  <Paragraphs>336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MS PGothic</vt:lpstr>
      <vt:lpstr>Arial</vt:lpstr>
      <vt:lpstr>Calibri</vt:lpstr>
      <vt:lpstr>Calibri Light</vt:lpstr>
      <vt:lpstr>Courier New</vt:lpstr>
      <vt:lpstr>Mangal</vt:lpstr>
      <vt:lpstr>Wingdings</vt:lpstr>
      <vt:lpstr>Office Theme</vt:lpstr>
      <vt:lpstr>CMSC 304</vt:lpstr>
      <vt:lpstr>Common Lisp – Selection</vt:lpstr>
      <vt:lpstr>Common Lisp – Selection</vt:lpstr>
      <vt:lpstr>Common Lisp – Selection</vt:lpstr>
      <vt:lpstr>Common Lisp – Selection</vt:lpstr>
      <vt:lpstr>Common Lisp – Selection</vt:lpstr>
      <vt:lpstr>Common Lisp – True and False</vt:lpstr>
      <vt:lpstr>Common Lisp – Logical Operators</vt:lpstr>
      <vt:lpstr>Common Lisp – Logical Operators</vt:lpstr>
      <vt:lpstr>Common Lisp – Logical Operators</vt:lpstr>
      <vt:lpstr>Common Lisp – Numeric Comparisons</vt:lpstr>
      <vt:lpstr>Common Lisp – Numeric Comparisons</vt:lpstr>
      <vt:lpstr>Common Lisp – Character Comparisons</vt:lpstr>
      <vt:lpstr>Common Lisp – String Comparisons</vt:lpstr>
      <vt:lpstr>Common Lisp – Demos</vt:lpstr>
      <vt:lpstr>Common Lisp – Demos</vt:lpstr>
      <vt:lpstr>Common Lisp – Demos</vt:lpstr>
      <vt:lpstr>Common Lisp – Demos</vt:lpstr>
      <vt:lpstr>Common Lisp – Defining Functions </vt:lpstr>
      <vt:lpstr>Common Lisp – Function Parameter Lists</vt:lpstr>
      <vt:lpstr>Common Lisp – &amp;optional</vt:lpstr>
      <vt:lpstr>Common Lisp – &amp;optional</vt:lpstr>
      <vt:lpstr>Common Lisp – &amp;rest</vt:lpstr>
      <vt:lpstr>Common Lisp – &amp;rest</vt:lpstr>
      <vt:lpstr>Common Lisp – &amp;key</vt:lpstr>
      <vt:lpstr>Common Lisp – &amp;key</vt:lpstr>
      <vt:lpstr>Common Lisp – &amp;key</vt:lpstr>
      <vt:lpstr>Common Lisp – Function Parameter Lists</vt:lpstr>
      <vt:lpstr>Common Lisp – Function Parameter Lists</vt:lpstr>
      <vt:lpstr>Common Lisp – Function Return </vt:lpstr>
      <vt:lpstr>Common Lisp – RETURN-FROM </vt:lpstr>
      <vt:lpstr>Common Lisp - Functions</vt:lpstr>
      <vt:lpstr>Common Lisp - Functions</vt:lpstr>
      <vt:lpstr>Common Lisp - Demo</vt:lpstr>
      <vt:lpstr>Common Lisp -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19</cp:revision>
  <dcterms:created xsi:type="dcterms:W3CDTF">2019-08-09T21:34:39Z</dcterms:created>
  <dcterms:modified xsi:type="dcterms:W3CDTF">2025-01-06T17:18:15Z</dcterms:modified>
</cp:coreProperties>
</file>