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8" r:id="rId17"/>
    <p:sldId id="289" r:id="rId18"/>
    <p:sldId id="283" r:id="rId19"/>
    <p:sldId id="284" r:id="rId20"/>
    <p:sldId id="285" r:id="rId21"/>
    <p:sldId id="286" r:id="rId22"/>
    <p:sldId id="287" r:id="rId23"/>
    <p:sldId id="477" r:id="rId24"/>
    <p:sldId id="290" r:id="rId25"/>
    <p:sldId id="478" r:id="rId26"/>
    <p:sldId id="417" r:id="rId27"/>
    <p:sldId id="418" r:id="rId28"/>
    <p:sldId id="464" r:id="rId29"/>
    <p:sldId id="465" r:id="rId30"/>
    <p:sldId id="466" r:id="rId31"/>
    <p:sldId id="467" r:id="rId32"/>
    <p:sldId id="468" r:id="rId33"/>
    <p:sldId id="471" r:id="rId34"/>
    <p:sldId id="472" r:id="rId35"/>
    <p:sldId id="473" r:id="rId36"/>
    <p:sldId id="474" r:id="rId37"/>
    <p:sldId id="475" r:id="rId38"/>
    <p:sldId id="47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8"/>
    <p:restoredTop sz="82753"/>
  </p:normalViewPr>
  <p:slideViewPr>
    <p:cSldViewPr snapToGrid="0" snapToObjects="1">
      <p:cViewPr varScale="1">
        <p:scale>
          <a:sx n="132" d="100"/>
          <a:sy n="132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</a:t>
            </a:r>
            <a:r>
              <a:rPr lang="en-US" dirty="0" err="1"/>
              <a:t>macroexpand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31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084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1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98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87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Curry (&lt; 10 x), </a:t>
            </a:r>
            <a:r>
              <a:rPr lang="en-US" dirty="0" err="1"/>
              <a:t>curryr</a:t>
            </a:r>
            <a:r>
              <a:rPr lang="en-US" dirty="0"/>
              <a:t> (&gt; x 10</a:t>
            </a:r>
            <a:r>
              <a:rPr lang="en-US" baseline="0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23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945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45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912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88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01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5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5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1/6/25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Macros &amp; Partial Application</a:t>
            </a:r>
          </a:p>
          <a:p>
            <a:r>
              <a:rPr lang="en-US"/>
              <a:t>Claire Sparks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3B968-F24A-FE44-9999-5CD4F77ED341}"/>
              </a:ext>
            </a:extLst>
          </p:cNvPr>
          <p:cNvSpPr txBox="1"/>
          <p:nvPr/>
        </p:nvSpPr>
        <p:spPr>
          <a:xfrm>
            <a:off x="1210962" y="2100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x-none" dirty="0"/>
              <a:t>A macro defines its own syntax, determining how the s-expressions it's passed are turned into Lisp code</a:t>
            </a:r>
          </a:p>
          <a:p>
            <a:r>
              <a:rPr lang="en-US" altLang="x-none" dirty="0"/>
              <a:t>With macros as part of the core language it is possible to build new syntax, such as </a:t>
            </a:r>
            <a:r>
              <a:rPr lang="en-US" altLang="x-none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altLang="x-none" dirty="0"/>
              <a:t>, as part of a "standard library" rather than having to hardwire them into the core </a:t>
            </a:r>
          </a:p>
          <a:p>
            <a:r>
              <a:rPr lang="en-US" altLang="x-none" dirty="0"/>
              <a:t>To understand Lisp's macros we must discard preconceptions based on other things that also happen to be called macros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294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x-none" dirty="0"/>
              <a:t>We should first look at various ways languages support extensibility</a:t>
            </a:r>
          </a:p>
          <a:p>
            <a:r>
              <a:rPr lang="en-US" altLang="x-none" dirty="0"/>
              <a:t>The definition of a language can include a standard library of functionality that's implemented in terms of the "core" language</a:t>
            </a:r>
          </a:p>
          <a:p>
            <a:pPr lvl="1"/>
            <a:r>
              <a:rPr lang="en-US" altLang="x-none" sz="2600" dirty="0"/>
              <a:t>functionality that could have been implemented by any programmer on top of the language if it hadn't been defined as part of the standard library</a:t>
            </a:r>
          </a:p>
          <a:p>
            <a:r>
              <a:rPr lang="en-US" dirty="0">
                <a:ea typeface="ＭＳ Ｐゴシック" charset="0"/>
              </a:rPr>
              <a:t>C's standard library, for instance, can be implemented almost entirely in portable C</a:t>
            </a:r>
          </a:p>
          <a:p>
            <a:r>
              <a:rPr lang="en-US" dirty="0">
                <a:ea typeface="ＭＳ Ｐゴシック" charset="0"/>
              </a:rPr>
              <a:t>Similarly, the </a:t>
            </a:r>
            <a:r>
              <a:rPr lang="en-US" dirty="0" err="1"/>
              <a:t>java.lang</a:t>
            </a:r>
            <a:r>
              <a:rPr lang="en-US" dirty="0">
                <a:ea typeface="ＭＳ Ｐゴシック" charset="0"/>
              </a:rPr>
              <a:t> package, which is implicitly imported, is implemented in “pure” Java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50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x-none" dirty="0"/>
              <a:t>One advantage of defining languages in terms of a core plus a standard library is it makes them easier to understand and implement</a:t>
            </a:r>
          </a:p>
          <a:p>
            <a:pPr lvl="1"/>
            <a:r>
              <a:rPr lang="en-US" altLang="x-none" sz="2600" dirty="0"/>
              <a:t>Allows for simpler grammar and language semantics, which in turn allow for a simpler compiler </a:t>
            </a:r>
          </a:p>
          <a:p>
            <a:r>
              <a:rPr lang="en-US" altLang="x-none" dirty="0"/>
              <a:t>But the real benefit is in terms of expressiveness</a:t>
            </a:r>
          </a:p>
          <a:p>
            <a:pPr lvl="1"/>
            <a:r>
              <a:rPr lang="en-US" altLang="x-none" sz="2600" dirty="0"/>
              <a:t>Since much of what is thought of as "the language" is really just a library, the language is easy to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973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If C doesn't have a function to do something you need, you can write that function, resulting in a slightly richer version of C</a:t>
            </a:r>
          </a:p>
          <a:p>
            <a:r>
              <a:rPr lang="en-US" dirty="0"/>
              <a:t>Similarly, in a language such as Java, by defining new classes you extend the language, making it more suited for doing whatever you're trying to do.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5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Standard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Common Lisp comes with numerous built in macros</a:t>
            </a:r>
          </a:p>
          <a:p>
            <a:pPr lvl="1"/>
            <a:r>
              <a:rPr lang="en-US" sz="2600" dirty="0"/>
              <a:t>referred to as standard macros </a:t>
            </a:r>
          </a:p>
          <a:p>
            <a:r>
              <a:rPr lang="en-US" dirty="0"/>
              <a:t>Common Macros are similar to the C standard library or the </a:t>
            </a:r>
            <a:r>
              <a:rPr lang="en-US" dirty="0" err="1"/>
              <a:t>java.lang</a:t>
            </a:r>
            <a:r>
              <a:rPr lang="en-US" dirty="0"/>
              <a:t> Java package because they are included by default with Common Lisp </a:t>
            </a:r>
          </a:p>
          <a:p>
            <a:r>
              <a:rPr lang="en-US" dirty="0"/>
              <a:t>We know Lisp macros receive s-expressions and evaluate to Lisp code</a:t>
            </a:r>
          </a:p>
          <a:p>
            <a:r>
              <a:rPr lang="en-US" dirty="0"/>
              <a:t>But why do we define macros?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588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Standard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Take the IF special operator </a:t>
            </a:r>
          </a:p>
          <a:p>
            <a:pPr marL="0" indent="0" algn="ctr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(if (condition) (true branch) (false branch))</a:t>
            </a:r>
          </a:p>
          <a:p>
            <a:r>
              <a:rPr lang="en-US" dirty="0"/>
              <a:t>IF isn't such a great syntactic construct because the true branch and false branch are each restricted to being a single list</a:t>
            </a:r>
          </a:p>
          <a:p>
            <a:r>
              <a:rPr lang="en-US" dirty="0"/>
              <a:t>This means if you want to perform a sequence of actions in either clause, you need to wrap them in some other syntax.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96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Standard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(if (=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10)      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((print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Error encountered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errorHandler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;Assume that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and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errorHandler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are defined as a variable and function respectively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;Even still, this code will produce an runtime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893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Standard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Is there a work around?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We could use another special operator in conjunction with if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PROGN</a:t>
            </a:r>
          </a:p>
          <a:p>
            <a:pPr lvl="1"/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PROGN</a:t>
            </a:r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 takes an arbitrary number of arguments and evaluates the given arguments sequentially</a:t>
            </a:r>
          </a:p>
          <a:p>
            <a:pPr lvl="1"/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PROGN</a:t>
            </a:r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 returns the value of the last evaluated argument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645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Standard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To achieve the desired result we could do:</a:t>
            </a: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(if (= </a:t>
            </a:r>
            <a:r>
              <a:rPr lang="en-US" sz="2400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10)       </a:t>
            </a: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  (</a:t>
            </a:r>
            <a:r>
              <a:rPr lang="en-US" sz="2400" dirty="0" err="1">
                <a:latin typeface="Courier New" charset="0"/>
                <a:ea typeface="Courier New" charset="0"/>
                <a:cs typeface="Courier New" charset="0"/>
              </a:rPr>
              <a:t>progn</a:t>
            </a:r>
            <a:endParaRPr 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	(print 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Error encountered</a:t>
            </a:r>
            <a:r>
              <a:rPr lang="mr-IN" sz="2400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   	(</a:t>
            </a:r>
            <a:r>
              <a:rPr lang="en-US" sz="2400" dirty="0" err="1">
                <a:latin typeface="Courier New" charset="0"/>
                <a:ea typeface="Courier New" charset="0"/>
                <a:cs typeface="Courier New" charset="0"/>
              </a:rPr>
              <a:t>errorHandler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sz="2400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   )</a:t>
            </a:r>
          </a:p>
          <a:p>
            <a:pPr marL="0" indent="0">
              <a:buNone/>
            </a:pP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endParaRPr lang="en-US" sz="24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en-US" sz="2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776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Standard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 need to execute multiple statements in a single IF is very common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So common that languages like C and Java support the behavior by default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To achieve the desired behavior in Common Lisp we could always use the pattern of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special operator combined with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PROGN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special operator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Rather than writing that pattern each time, could be abstract the pattern away?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We can with macros! </a:t>
            </a:r>
            <a:endParaRPr lang="en-US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endParaRPr lang="en-US" sz="2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966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To abstract away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IF PROGN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pattern, Common Lisp provides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WHEN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standard macro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WHEN takes a condition and an arbitrary number of statements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It evaluates the given statements if the given condition evaluates to true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(when (=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10)      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 (print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Error encountered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errorHandler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US" sz="2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844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UNLESS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 counterpart to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WHEN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macro is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UNLESS</a:t>
            </a:r>
          </a:p>
          <a:p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UNLESS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which reverses the condition, evaluating the given statements only if the condition is false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(unless (not(=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10))      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 (print 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Error encountered</a:t>
            </a:r>
            <a:r>
              <a:rPr lang="mr-IN" dirty="0">
                <a:latin typeface="Courier New" charset="0"/>
                <a:ea typeface="Courier New" charset="0"/>
                <a:cs typeface="Courier New" charset="0"/>
              </a:rPr>
              <a:t>"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  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errorHandler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errorCode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  <a:endParaRPr lang="en-US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US" sz="2600" dirty="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Standard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Another time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IF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expressions can get ugly is when you have a </a:t>
            </a:r>
            <a:r>
              <a:rPr lang="en-US" dirty="0" err="1">
                <a:latin typeface="Calibri" charset="0"/>
                <a:ea typeface="Calibri" charset="0"/>
                <a:cs typeface="Calibri" charset="0"/>
              </a:rPr>
              <a:t>multibranch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conditional</a:t>
            </a:r>
          </a:p>
          <a:p>
            <a:pPr lvl="1"/>
            <a:r>
              <a:rPr lang="en-US" dirty="0">
                <a:latin typeface="Calibri" charset="0"/>
                <a:ea typeface="Calibri" charset="0"/>
                <a:cs typeface="Calibri" charset="0"/>
              </a:rPr>
              <a:t>if a do x, else if b do y; else do z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There's no logical problem writing such a chain of conditional expressions with just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IF</a:t>
            </a:r>
          </a:p>
          <a:p>
            <a:pPr marL="0" indent="0" algn="ctr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(if a (do-x) (if b (do-y) (do-z)))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Issues:</a:t>
            </a:r>
          </a:p>
          <a:p>
            <a:pPr lvl="1"/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Difficult to read, will only get more difficult as complexity increases</a:t>
            </a:r>
          </a:p>
          <a:p>
            <a:pPr lvl="1"/>
            <a:r>
              <a:rPr lang="en-US" sz="2600" dirty="0">
                <a:latin typeface="Calibri" charset="0"/>
                <a:ea typeface="Calibri" charset="0"/>
                <a:cs typeface="Calibri" charset="0"/>
              </a:rPr>
              <a:t>Each branch can only execute a single action unless supplemented with a special operator like 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PROGN</a:t>
            </a:r>
          </a:p>
          <a:p>
            <a:pPr lvl="1"/>
            <a:endParaRPr lang="en-US" sz="26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41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Common Lisp provides the COND standard macro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As stated previously: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cond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(conditional-1 (branch-1-1) )       (conditional-2 (branch-2-1) (branch-2-2)... )      (conditional-3 (branch-3-1) )   ... 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endParaRPr lang="en-US" sz="26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732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Macro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As stated earlier, a macro defines its own syntax, determining how the s-expressions it's passed are turned into Lisp code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 job of the macro is to produce code that will do something rather than do anything directly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When you write macros, you're writing code which will be used by the compiler to generate the code that will then be compiled (!)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800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Macro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Only after all macros have been fully expanded can Lisp code be compiled and run </a:t>
            </a:r>
          </a:p>
          <a:p>
            <a:r>
              <a:rPr lang="en-US" b="1" dirty="0">
                <a:latin typeface="Calibri" charset="0"/>
                <a:ea typeface="Calibri" charset="0"/>
                <a:cs typeface="Calibri" charset="0"/>
              </a:rPr>
              <a:t>Macro expansion time: 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The time when macros are expanded; occurs before runtime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At macro expansion time, there is no way to access the data that will exist at runtime </a:t>
            </a:r>
            <a:endParaRPr lang="en-US" sz="26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711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Defining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defmacro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Provides ability to make a new global binding of a macro visible in the top-level environment of Common Lisp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2800" dirty="0" err="1">
                <a:latin typeface="Courier New" charset="0"/>
                <a:ea typeface="Courier New" charset="0"/>
                <a:cs typeface="Courier New" charset="0"/>
              </a:rPr>
              <a:t>defmacro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name (parameters)   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 "Optional Documentation String"    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 (body))</a:t>
            </a: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Very similar to </a:t>
            </a:r>
            <a:r>
              <a:rPr lang="en-US" sz="28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endParaRPr lang="en-US" sz="2800" dirty="0">
              <a:latin typeface="Calibri" charset="0"/>
              <a:ea typeface="Calibri" charset="0"/>
              <a:cs typeface="Calibri" charset="0"/>
            </a:endParaRP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Ex: A definition for the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WHEN</a:t>
            </a: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 standard macro 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sz="2800" dirty="0" err="1">
                <a:latin typeface="Courier New" charset="0"/>
                <a:ea typeface="Courier New" charset="0"/>
                <a:cs typeface="Courier New" charset="0"/>
              </a:rPr>
              <a:t>defmacro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when (condition &amp;rest body)  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 `(if ,condition (</a:t>
            </a:r>
            <a:r>
              <a:rPr lang="en-US" sz="2800" dirty="0" err="1">
                <a:latin typeface="Courier New" charset="0"/>
                <a:ea typeface="Courier New" charset="0"/>
                <a:cs typeface="Courier New" charset="0"/>
              </a:rPr>
              <a:t>progn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,@body))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pPr marL="914400" lvl="2" indent="0">
              <a:buNone/>
            </a:pPr>
            <a:endParaRPr lang="en-US" sz="2800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53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Quotes and </a:t>
            </a:r>
            <a:r>
              <a:rPr lang="en-US" b="1" dirty="0" err="1">
                <a:solidFill>
                  <a:srgbClr val="0070C0"/>
                </a:solidFill>
              </a:rPr>
              <a:t>Backquotes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Recall the quote special operator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Lists that are passed to the quote special operator are returned without being evaluated. 	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(quote (+ 2 3))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(+ 2 3)	</a:t>
            </a:r>
          </a:p>
          <a:p>
            <a:pPr marL="457200" lvl="1" indent="0">
              <a:buNone/>
            </a:pP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('(+ 2 3))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 (+ 2 3)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Lisp also provides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`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operator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`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operator behaves as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'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operator except you can unquote particular subexpressions by preceding them with a comma.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542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Quotes and </a:t>
            </a:r>
            <a:r>
              <a:rPr lang="en-US" b="1" dirty="0" err="1">
                <a:solidFill>
                  <a:srgbClr val="0070C0"/>
                </a:solidFill>
              </a:rPr>
              <a:t>Backquotes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`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operator behaves as the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'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operator except you can unquote particular subexpressions by preceding them with a comma. </a:t>
            </a: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The comma causes the subexpression to be evaluated and its value included in the expression as is</a:t>
            </a: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You can also unquote subexpressions by preceding them with a comma and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@</a:t>
            </a: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The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,@</a:t>
            </a: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 causes the subexpression to be evaluated and the resulting list value spliced into the expression</a:t>
            </a:r>
          </a:p>
          <a:p>
            <a:pPr lvl="1"/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A subexpression escaped by </a:t>
            </a:r>
            <a:r>
              <a:rPr lang="en-US" sz="2800" dirty="0">
                <a:latin typeface="Courier New" charset="0"/>
                <a:ea typeface="Courier New" charset="0"/>
                <a:cs typeface="Courier New" charset="0"/>
              </a:rPr>
              <a:t>,@</a:t>
            </a:r>
            <a:r>
              <a:rPr lang="en-US" sz="2800" dirty="0">
                <a:latin typeface="Calibri" charset="0"/>
                <a:ea typeface="Calibri" charset="0"/>
                <a:cs typeface="Calibri" charset="0"/>
              </a:rPr>
              <a:t> must return a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4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Quotes and </a:t>
            </a:r>
            <a:r>
              <a:rPr lang="en-US" b="1" dirty="0" err="1">
                <a:solidFill>
                  <a:srgbClr val="0070C0"/>
                </a:solidFill>
              </a:rPr>
              <a:t>Backquotes</a:t>
            </a:r>
            <a:endParaRPr lang="en-US" b="1" dirty="0">
              <a:solidFill>
                <a:srgbClr val="0070C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838200" y="1825621"/>
          <a:ext cx="10515600" cy="4332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2097">
                <a:tc>
                  <a:txBody>
                    <a:bodyPr/>
                    <a:lstStyle/>
                    <a:p>
                      <a:r>
                        <a:rPr lang="en-US" sz="2800" dirty="0" err="1"/>
                        <a:t>Backquote</a:t>
                      </a:r>
                      <a:r>
                        <a:rPr lang="en-US" sz="2800" dirty="0"/>
                        <a:t> 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097">
                <a:tc>
                  <a:txBody>
                    <a:bodyPr/>
                    <a:lstStyle/>
                    <a:p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`(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(+ 1 2) 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(+ 1 2) 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097">
                <a:tc>
                  <a:txBody>
                    <a:bodyPr/>
                    <a:lstStyle/>
                    <a:p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`(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,(+ 1 2) 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3 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097">
                <a:tc>
                  <a:txBody>
                    <a:bodyPr/>
                    <a:lstStyle/>
                    <a:p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`(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list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1 2) 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list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1 2) 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097">
                <a:tc>
                  <a:txBody>
                    <a:bodyPr/>
                    <a:lstStyle/>
                    <a:p>
                      <a:r>
                        <a:rPr lang="is-IS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`(a ,(list 1 2) c)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s-IS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(a (1 2) c)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2097">
                <a:tc>
                  <a:txBody>
                    <a:bodyPr/>
                    <a:lstStyle/>
                    <a:p>
                      <a:r>
                        <a:rPr lang="is-IS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`(a ,@(list 1 2) c)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(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a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 1 2 </a:t>
                      </a:r>
                      <a:r>
                        <a:rPr lang="mr-IN" sz="2600" dirty="0" err="1">
                          <a:latin typeface="Courier New" charset="0"/>
                          <a:ea typeface="Courier New" charset="0"/>
                          <a:cs typeface="Courier New" charset="0"/>
                        </a:rPr>
                        <a:t>c</a:t>
                      </a:r>
                      <a:r>
                        <a:rPr lang="mr-IN" sz="2600" dirty="0">
                          <a:latin typeface="Courier New" charset="0"/>
                          <a:ea typeface="Courier New" charset="0"/>
                          <a:cs typeface="Courier New" charset="0"/>
                        </a:rPr>
                        <a:t>)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625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Defining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Our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WHEN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macro definition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defmacro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when (condition &amp;rest body)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	`(if ,condition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progn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,@body))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If given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(= 3 3)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as the condition and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((+ 3 3)(print "Hello World"))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as the body 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238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Defining 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defmacro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when (condition &amp;rest body) 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	`(if ,condition 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progn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,@body))</a:t>
            </a:r>
          </a:p>
          <a:p>
            <a:pPr marL="0" indent="0">
              <a:buNone/>
            </a:pP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)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If given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(= 3 3)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as the condition and 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((+ 3 3)(print "Hello World"))</a:t>
            </a:r>
            <a:r>
              <a:rPr lang="en-US" dirty="0">
                <a:latin typeface="Calibri" charset="0"/>
                <a:ea typeface="Calibri" charset="0"/>
                <a:cs typeface="Calibri" charset="0"/>
              </a:rPr>
              <a:t> as the body 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We get:</a:t>
            </a:r>
          </a:p>
          <a:p>
            <a:pPr marL="0" indent="0">
              <a:buNone/>
            </a:pP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 (when (= 3 3) ((+ 3 3)(print "Hello World")) 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 </a:t>
            </a:r>
          </a:p>
          <a:p>
            <a:pPr marL="0" indent="0">
              <a:buNone/>
            </a:pPr>
            <a:r>
              <a:rPr lang="en-US" sz="2600" dirty="0">
                <a:latin typeface="Courier New" charset="0"/>
                <a:ea typeface="Courier New" charset="0"/>
                <a:cs typeface="Courier New" charset="0"/>
                <a:sym typeface="Wingdings"/>
              </a:rPr>
              <a:t> 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(if (= 3 3) (</a:t>
            </a:r>
            <a:r>
              <a:rPr lang="en-US" sz="2600" dirty="0" err="1">
                <a:latin typeface="Courier New" charset="0"/>
                <a:ea typeface="Courier New" charset="0"/>
                <a:cs typeface="Courier New" charset="0"/>
              </a:rPr>
              <a:t>progn</a:t>
            </a:r>
            <a:r>
              <a:rPr lang="en-US" sz="2600" dirty="0">
                <a:latin typeface="Courier New" charset="0"/>
                <a:ea typeface="Courier New" charset="0"/>
                <a:cs typeface="Courier New" charset="0"/>
              </a:rPr>
              <a:t> (+ 3 3)(print "Hello World")))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13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Test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charset="0"/>
                <a:cs typeface="Calibri" panose="020F0502020204030204" pitchFamily="34" charset="0"/>
              </a:rPr>
              <a:t>Macros can also provide programmers with syntax which would otherwise be impossible </a:t>
            </a:r>
            <a:endParaRPr lang="en-US" dirty="0">
              <a:latin typeface="Courier New" panose="02070309020205020404" pitchFamily="49" charset="0"/>
              <a:ea typeface="Calibri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defmacro</a:t>
            </a:r>
            <a:r>
              <a:rPr lang="en-US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 test-</a:t>
            </a:r>
            <a:r>
              <a:rPr lang="en-US" dirty="0" err="1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exp</a:t>
            </a:r>
            <a:r>
              <a:rPr lang="en-US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 (form)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  `(format t "~&amp;~S =&gt; ~S~%" ',form ,form)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ea typeface="Calibri" charset="0"/>
                <a:cs typeface="Courier New" panose="02070309020205020404" pitchFamily="49" charset="0"/>
              </a:rPr>
              <a:t> )</a:t>
            </a:r>
          </a:p>
          <a:p>
            <a:pPr marL="0" indent="0">
              <a:buNone/>
            </a:pPr>
            <a:endParaRPr lang="en-US" sz="2600" dirty="0">
              <a:latin typeface="Courier New" panose="02070309020205020404" pitchFamily="49" charset="0"/>
              <a:ea typeface="Courier New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ea typeface="Courier New" charset="0"/>
                <a:cs typeface="Courier New" panose="02070309020205020404" pitchFamily="49" charset="0"/>
              </a:rPr>
              <a:t>(test-</a:t>
            </a:r>
            <a:r>
              <a:rPr lang="en-US" sz="2400" dirty="0" err="1">
                <a:latin typeface="Courier New" panose="02070309020205020404" pitchFamily="49" charset="0"/>
                <a:ea typeface="Courier New" charset="0"/>
                <a:cs typeface="Courier New" panose="02070309020205020404" pitchFamily="49" charset="0"/>
              </a:rPr>
              <a:t>exp</a:t>
            </a:r>
            <a:r>
              <a:rPr lang="en-US" sz="2400" dirty="0">
                <a:latin typeface="Courier New" panose="02070309020205020404" pitchFamily="49" charset="0"/>
                <a:ea typeface="Courier New" charset="0"/>
                <a:cs typeface="Courier New" panose="02070309020205020404" pitchFamily="49" charset="0"/>
              </a:rPr>
              <a:t> (+ 3 5)) </a:t>
            </a:r>
            <a:r>
              <a:rPr lang="en-US" sz="2100" dirty="0">
                <a:latin typeface="Courier New" panose="02070309020205020404" pitchFamily="49" charset="0"/>
                <a:ea typeface="Courier New" charset="0"/>
                <a:cs typeface="Courier New" panose="02070309020205020404" pitchFamily="49" charset="0"/>
              </a:rPr>
              <a:t>;Only possible because test-</a:t>
            </a:r>
            <a:r>
              <a:rPr lang="en-US" sz="2100" dirty="0" err="1">
                <a:latin typeface="Courier New" panose="02070309020205020404" pitchFamily="49" charset="0"/>
                <a:ea typeface="Courier New" charset="0"/>
                <a:cs typeface="Courier New" panose="02070309020205020404" pitchFamily="49" charset="0"/>
              </a:rPr>
              <a:t>exp</a:t>
            </a:r>
            <a:r>
              <a:rPr lang="en-US" sz="2100" dirty="0">
                <a:latin typeface="Courier New" panose="02070309020205020404" pitchFamily="49" charset="0"/>
                <a:ea typeface="Courier New" charset="0"/>
                <a:cs typeface="Courier New" panose="02070309020205020404" pitchFamily="49" charset="0"/>
              </a:rPr>
              <a:t> is a macro</a:t>
            </a:r>
          </a:p>
          <a:p>
            <a:endParaRPr lang="en-US" sz="2600" dirty="0">
              <a:latin typeface="Courier New" panose="02070309020205020404" pitchFamily="49" charset="0"/>
              <a:ea typeface="Courier New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957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US" sz="2600" dirty="0">
              <a:latin typeface="Courier New" panose="02070309020205020404" pitchFamily="49" charset="0"/>
              <a:ea typeface="Courier New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20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and Currying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Currying</a:t>
            </a:r>
            <a:r>
              <a:rPr lang="en-US" altLang="en-US" dirty="0">
                <a:ea typeface="MS PGothic" charset="-128"/>
              </a:rPr>
              <a:t>: a process in which a function of multiple parameters is viewed as a higher-order function of a single parameter that returns a function of the remaining parameters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A function to which this process is applied is said to be </a:t>
            </a:r>
            <a:r>
              <a:rPr lang="en-US" altLang="en-US" sz="2800" b="1" dirty="0">
                <a:ea typeface="MS PGothic" charset="-128"/>
              </a:rPr>
              <a:t>curried</a:t>
            </a:r>
          </a:p>
          <a:p>
            <a:r>
              <a:rPr lang="en-US" altLang="en-US" dirty="0">
                <a:ea typeface="MS PGothic" charset="-128"/>
              </a:rPr>
              <a:t>We can use a tuple in an </a:t>
            </a:r>
            <a:r>
              <a:rPr lang="ja-JP" altLang="en-US" dirty="0">
                <a:ea typeface="MS PGothic" charset="-128"/>
              </a:rPr>
              <a:t>“</a:t>
            </a:r>
            <a:r>
              <a:rPr lang="en-US" altLang="ja-JP" dirty="0" err="1">
                <a:ea typeface="MS PGothic" charset="-128"/>
              </a:rPr>
              <a:t>uncurried</a:t>
            </a:r>
            <a:r>
              <a:rPr lang="ja-JP" altLang="en-US" dirty="0">
                <a:ea typeface="MS PGothic" charset="-128"/>
              </a:rPr>
              <a:t>”</a:t>
            </a:r>
            <a:r>
              <a:rPr lang="en-US" altLang="ja-JP" dirty="0">
                <a:ea typeface="MS PGothic" charset="-128"/>
              </a:rPr>
              <a:t> version of a function or two separate parameters in a curried version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(+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f1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)))</a:t>
            </a: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2 3)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		;returns 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 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dirty="0">
                <a:latin typeface="Courier New" charset="0"/>
                <a:ea typeface="Courier New" charset="0"/>
                <a:cs typeface="Courier New" charset="0"/>
              </a:rPr>
              <a:t> (f1 2) 3)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	;returns 5</a:t>
            </a:r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475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 </a:t>
            </a:r>
            <a:r>
              <a:rPr lang="en-US" b="1">
                <a:solidFill>
                  <a:srgbClr val="0070C0"/>
                </a:solidFill>
              </a:rPr>
              <a:t>and Currying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altLang="en-US" b="1" dirty="0">
                <a:ea typeface="MS PGothic" charset="-128"/>
              </a:rPr>
              <a:t>Currying</a:t>
            </a:r>
            <a:r>
              <a:rPr lang="en-US" altLang="en-US" dirty="0">
                <a:ea typeface="MS PGothic" charset="-128"/>
              </a:rPr>
              <a:t>: a process in which a function of multiple parameters is viewed as a higher-order function of a single parameter that returns a function of the remaining parameters</a:t>
            </a:r>
          </a:p>
          <a:p>
            <a:endParaRPr lang="en-US" altLang="en-US" dirty="0">
              <a:ea typeface="MS PGothic" charset="-128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quadratic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(+ (*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(*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))</a:t>
            </a: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quadratic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1 2 3 4) ;27</a:t>
            </a: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q3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quadratic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)))</a:t>
            </a: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q2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(q3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c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)))</a:t>
            </a: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q1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 (q2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a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b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)))</a:t>
            </a: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600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mr-IN" altLang="en-US" sz="2600" dirty="0">
                <a:latin typeface="Courier New" charset="0"/>
                <a:ea typeface="Courier New" charset="0"/>
                <a:cs typeface="Courier New" charset="0"/>
              </a:rPr>
              <a:t>(q1 1) 2) 3) 4) ;27</a:t>
            </a:r>
            <a:endParaRPr lang="en-US" altLang="en-US" sz="2600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1072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Currying vs. Partial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Currying is the decomposition of a function with more than one parameter into a chain of nested functions with one parameter</a:t>
            </a:r>
          </a:p>
          <a:p>
            <a:r>
              <a:rPr lang="en-US" altLang="en-US" dirty="0">
                <a:ea typeface="MS PGothic" charset="-128"/>
              </a:rPr>
              <a:t>You can partially apply one or more arguments, although the curry operation itself does not apply any arguments to the function</a:t>
            </a:r>
          </a:p>
          <a:p>
            <a:r>
              <a:rPr lang="en-US" altLang="en-US" dirty="0">
                <a:ea typeface="MS PGothic" charset="-128"/>
              </a:rPr>
              <a:t>Partial application is the conversion of a function with more than one parameter into a function taking fewer arguments by providing one or more arguments in advance</a:t>
            </a:r>
          </a:p>
          <a:p>
            <a:pPr marL="0" indent="0">
              <a:buNone/>
            </a:pPr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012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Partial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>
                <a:ea typeface="MS PGothic" charset="0"/>
              </a:rPr>
              <a:t>Why is partial application useful?</a:t>
            </a:r>
          </a:p>
          <a:p>
            <a:pPr lvl="1">
              <a:defRPr/>
            </a:pPr>
            <a:r>
              <a:rPr lang="en-US" sz="2800" dirty="0">
                <a:ea typeface="MS PGothic" charset="0"/>
              </a:rPr>
              <a:t>Many built-in useful functions take e.g. just 1 argument</a:t>
            </a:r>
          </a:p>
          <a:p>
            <a:pPr lvl="1">
              <a:defRPr/>
            </a:pPr>
            <a:r>
              <a:rPr lang="en-US" sz="2800" dirty="0">
                <a:ea typeface="MS PGothic" charset="0"/>
              </a:rPr>
              <a:t>Ex: If we want to add 1 to all elements in the list, what do we do?</a:t>
            </a:r>
          </a:p>
          <a:p>
            <a:pPr lvl="2">
              <a:defRPr/>
            </a:pPr>
            <a:r>
              <a:rPr lang="en-US" sz="2800" dirty="0">
                <a:ea typeface="MS PGothic" charset="0"/>
              </a:rPr>
              <a:t>(map  </a:t>
            </a:r>
            <a:r>
              <a:rPr lang="en-US" sz="2800" dirty="0" err="1">
                <a:ea typeface="MS PGothic" charset="0"/>
              </a:rPr>
              <a:t>resultType</a:t>
            </a:r>
            <a:r>
              <a:rPr lang="en-US" sz="2800" dirty="0">
                <a:ea typeface="MS PGothic" charset="0"/>
              </a:rPr>
              <a:t>  function  list)</a:t>
            </a:r>
          </a:p>
          <a:p>
            <a:pPr lvl="2">
              <a:defRPr/>
            </a:pPr>
            <a:r>
              <a:rPr lang="en-US" sz="2800" b="1" dirty="0" err="1">
                <a:ea typeface="MS PGothic" charset="0"/>
              </a:rPr>
              <a:t>funct</a:t>
            </a:r>
            <a:r>
              <a:rPr lang="en-US" sz="2800" dirty="0">
                <a:ea typeface="MS PGothic" charset="0"/>
              </a:rPr>
              <a:t> takes one element of the list</a:t>
            </a:r>
          </a:p>
          <a:p>
            <a:pPr marL="914400" lvl="2" indent="0">
              <a:buNone/>
              <a:defRPr/>
            </a:pPr>
            <a:r>
              <a:rPr lang="is-IS" sz="2800" dirty="0">
                <a:latin typeface="Courier New" charset="0"/>
                <a:ea typeface="Courier New" charset="0"/>
                <a:cs typeface="Courier New" charset="0"/>
              </a:rPr>
              <a:t>(map </a:t>
            </a:r>
            <a:r>
              <a:rPr lang="it-IT" altLang="en-US" sz="2800" dirty="0">
                <a:latin typeface="Courier New" charset="0"/>
                <a:ea typeface="Courier New" charset="0"/>
                <a:cs typeface="Courier New" charset="0"/>
              </a:rPr>
              <a:t>'</a:t>
            </a:r>
            <a:r>
              <a:rPr lang="is-IS" sz="2800" dirty="0">
                <a:latin typeface="Courier New" charset="0"/>
                <a:ea typeface="Courier New" charset="0"/>
                <a:cs typeface="Courier New" charset="0"/>
              </a:rPr>
              <a:t>list #’+ '(1 2 3))</a:t>
            </a:r>
            <a:r>
              <a:rPr lang="is-IS" sz="2800" dirty="0">
                <a:ea typeface="MS PGothic" charset="0"/>
              </a:rPr>
              <a:t> </a:t>
            </a:r>
          </a:p>
          <a:p>
            <a:pPr marL="914400" lvl="2" indent="0">
              <a:buNone/>
              <a:defRPr/>
            </a:pPr>
            <a:r>
              <a:rPr lang="is-IS" sz="2800" dirty="0">
                <a:ea typeface="MS PGothic" charset="0"/>
              </a:rPr>
              <a:t>	 ;returns '(1 2 3) not what we wanted</a:t>
            </a:r>
          </a:p>
          <a:p>
            <a:pPr marL="914400" lvl="2" indent="0">
              <a:buNone/>
              <a:defRPr/>
            </a:pPr>
            <a:r>
              <a:rPr lang="is-IS" sz="2800" dirty="0">
                <a:latin typeface="Courier New" charset="0"/>
                <a:ea typeface="Courier New" charset="0"/>
                <a:cs typeface="Courier New" charset="0"/>
              </a:rPr>
              <a:t>(map </a:t>
            </a:r>
            <a:r>
              <a:rPr lang="it-IT" altLang="en-US" sz="2800" dirty="0">
                <a:latin typeface="Courier New" charset="0"/>
                <a:ea typeface="Courier New" charset="0"/>
                <a:cs typeface="Courier New" charset="0"/>
              </a:rPr>
              <a:t>'</a:t>
            </a:r>
            <a:r>
              <a:rPr lang="is-IS" sz="2800" dirty="0">
                <a:latin typeface="Courier New" charset="0"/>
                <a:ea typeface="Courier New" charset="0"/>
                <a:cs typeface="Courier New" charset="0"/>
              </a:rPr>
              <a:t>list (+ 1) '(1 2 3))  </a:t>
            </a:r>
          </a:p>
          <a:p>
            <a:pPr marL="914400" lvl="2" indent="0">
              <a:buNone/>
              <a:defRPr/>
            </a:pPr>
            <a:r>
              <a:rPr lang="is-IS" sz="2800" dirty="0">
                <a:ea typeface="MS PGothic" charset="0"/>
              </a:rPr>
              <a:t>            ;</a:t>
            </a:r>
            <a:r>
              <a:rPr lang="en-US" sz="2800" dirty="0">
                <a:ea typeface="MS PGothic" charset="0"/>
              </a:rPr>
              <a:t>map: contract violation, expected: procedure? given: 1</a:t>
            </a:r>
          </a:p>
          <a:p>
            <a:pPr lvl="2">
              <a:defRPr/>
            </a:pPr>
            <a:r>
              <a:rPr lang="en-US" sz="2800" dirty="0">
                <a:ea typeface="MS PGothic" charset="0"/>
              </a:rPr>
              <a:t>How do we fix this?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1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Partial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>
                <a:ea typeface="MS PGothic" charset="0"/>
              </a:rPr>
              <a:t>Why is partial application useful?</a:t>
            </a:r>
          </a:p>
          <a:p>
            <a:pPr lvl="1">
              <a:defRPr/>
            </a:pPr>
            <a:r>
              <a:rPr lang="en-US" sz="2800" dirty="0">
                <a:ea typeface="MS PGothic" charset="0"/>
              </a:rPr>
              <a:t>Many built-in useful functions take e.g. just 1 argument</a:t>
            </a:r>
          </a:p>
          <a:p>
            <a:pPr lvl="1">
              <a:defRPr/>
            </a:pPr>
            <a:r>
              <a:rPr lang="en-US" sz="2800" dirty="0">
                <a:ea typeface="MS PGothic" charset="0"/>
              </a:rPr>
              <a:t>Ex: If we want add 1 to all elements in the list, what do we do?</a:t>
            </a:r>
          </a:p>
          <a:p>
            <a:pPr lvl="2">
              <a:defRPr/>
            </a:pPr>
            <a:r>
              <a:rPr lang="en-US" altLang="en-US" sz="2800" dirty="0">
                <a:ea typeface="MS PGothic" charset="-128"/>
              </a:rPr>
              <a:t>Do a partial application of “+</a:t>
            </a:r>
          </a:p>
          <a:p>
            <a:pPr marL="0" indent="0">
              <a:buNone/>
              <a:defRPr/>
            </a:pPr>
            <a:endParaRPr lang="en-US" altLang="en-US" sz="22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  <a:defRPr/>
            </a:pP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partial (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func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&amp;rest args1) </a:t>
            </a:r>
          </a:p>
          <a:p>
            <a:pPr marL="0" indent="0">
              <a:buNone/>
              <a:defRPr/>
            </a:pP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  (lambda (&amp;rest args2) (apply 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func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(append args1 args2))))</a:t>
            </a:r>
          </a:p>
          <a:p>
            <a:pPr lvl="3">
              <a:buFontTx/>
              <a:buNone/>
            </a:pPr>
            <a:endParaRPr lang="en-US" altLang="en-US" sz="2200" dirty="0">
              <a:latin typeface="Courier New" charset="0"/>
              <a:ea typeface="Courier New" charset="0"/>
              <a:cs typeface="Courier New" charset="0"/>
            </a:endParaRPr>
          </a:p>
          <a:p>
            <a:pPr>
              <a:buFontTx/>
              <a:buNone/>
            </a:pP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(map 'list (partial #'+ 1) '(1 2 3))</a:t>
            </a:r>
            <a:endParaRPr lang="en-US" sz="2200" dirty="0">
              <a:ea typeface="MS PGothic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719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Use partial evaluation to append the string items in a list (assume the function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partial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 is already defined)</a:t>
            </a:r>
          </a:p>
          <a:p>
            <a:endParaRPr lang="en-US" altLang="en-US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814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Use partial evaluation to append the string items in a list (assume the function 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partial</a:t>
            </a:r>
            <a:r>
              <a:rPr lang="en-US" altLang="en-US" dirty="0">
                <a:latin typeface="Calibri" charset="0"/>
                <a:ea typeface="Calibri" charset="0"/>
                <a:cs typeface="Calibri" charset="0"/>
              </a:rPr>
              <a:t> is already defined)</a:t>
            </a:r>
          </a:p>
          <a:p>
            <a:pPr marL="0" indent="0">
              <a:buNone/>
            </a:pP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600" dirty="0" err="1">
                <a:latin typeface="Courier New" charset="0"/>
                <a:ea typeface="Courier New" charset="0"/>
                <a:cs typeface="Courier New" charset="0"/>
              </a:rPr>
              <a:t>defun</a:t>
            </a: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sz="2600" dirty="0" err="1">
                <a:latin typeface="Courier New" charset="0"/>
                <a:ea typeface="Courier New" charset="0"/>
                <a:cs typeface="Courier New" charset="0"/>
              </a:rPr>
              <a:t>makeString</a:t>
            </a: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(L)   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 (if (null L) ()  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 (</a:t>
            </a:r>
            <a:r>
              <a:rPr lang="en-US" altLang="en-US" sz="2600" dirty="0" err="1">
                <a:latin typeface="Courier New" charset="0"/>
                <a:ea typeface="Courier New" charset="0"/>
                <a:cs typeface="Courier New" charset="0"/>
              </a:rPr>
              <a:t>funcall</a:t>
            </a: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(partial #'concatenate 'string (car L))  </a:t>
            </a: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   (</a:t>
            </a:r>
            <a:r>
              <a:rPr lang="en-US" altLang="en-US" sz="2600" dirty="0" err="1">
                <a:latin typeface="Courier New" charset="0"/>
                <a:ea typeface="Courier New" charset="0"/>
                <a:cs typeface="Courier New" charset="0"/>
              </a:rPr>
              <a:t>makeString</a:t>
            </a: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600" dirty="0" err="1">
                <a:latin typeface="Courier New" charset="0"/>
                <a:ea typeface="Courier New" charset="0"/>
                <a:cs typeface="Courier New" charset="0"/>
              </a:rPr>
              <a:t>cdr</a:t>
            </a: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L))))</a:t>
            </a:r>
          </a:p>
          <a:p>
            <a:pPr marL="0" indent="0">
              <a:buNone/>
            </a:pPr>
            <a:endParaRPr lang="en-US" altLang="en-US" sz="2600" dirty="0">
              <a:latin typeface="Courier New" charset="0"/>
              <a:ea typeface="Courier New" charset="0"/>
              <a:cs typeface="Courier New" charset="0"/>
            </a:endParaRPr>
          </a:p>
          <a:p>
            <a:pPr marL="0" indent="0">
              <a:buNone/>
            </a:pP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600" dirty="0" err="1">
                <a:latin typeface="Courier New" charset="0"/>
                <a:ea typeface="Courier New" charset="0"/>
                <a:cs typeface="Courier New" charset="0"/>
              </a:rPr>
              <a:t>makeString</a:t>
            </a:r>
            <a:r>
              <a:rPr lang="en-US" altLang="en-US" sz="2600" dirty="0">
                <a:latin typeface="Courier New" charset="0"/>
                <a:ea typeface="Courier New" charset="0"/>
                <a:cs typeface="Courier New" charset="0"/>
              </a:rPr>
              <a:t> '("Cat " "in " "the " "hat"))</a:t>
            </a:r>
            <a:endParaRPr lang="en-US" altLang="en-US" sz="2600" dirty="0">
              <a:ea typeface="MS PGothic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6803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Partial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1172986" cy="5032375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Why use partial evaluation?</a:t>
            </a:r>
            <a:endParaRPr lang="en-US" altLang="en-US" sz="2800" dirty="0">
              <a:ea typeface="MS PGothic" charset="-128"/>
            </a:endParaRPr>
          </a:p>
          <a:p>
            <a:pPr lvl="1"/>
            <a:r>
              <a:rPr lang="en-US" altLang="en-US" sz="2800" dirty="0">
                <a:ea typeface="MS PGothic" charset="-128"/>
              </a:rPr>
              <a:t>currying / partial can be used to: 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Easy filtering</a:t>
            </a:r>
          </a:p>
          <a:p>
            <a:pPr marL="914400" lvl="2" indent="0">
              <a:buNone/>
            </a:pP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remove-if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) (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&lt;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10)) '(6 8 10 12)) </a:t>
            </a:r>
            <a:r>
              <a:rPr lang="en-US" altLang="en-US" dirty="0">
                <a:ea typeface="MS PGothic" charset="-128"/>
              </a:rPr>
              <a:t>	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;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'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(10 12)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Easy composition and mapping</a:t>
            </a:r>
          </a:p>
          <a:p>
            <a:pPr marL="914400" lvl="2" indent="0">
              <a:buNone/>
            </a:pP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map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'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list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lambda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(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) (* (+ </a:t>
            </a:r>
            <a:r>
              <a:rPr lang="mr-IN" altLang="en-US" sz="2800" dirty="0" err="1">
                <a:latin typeface="Courier New" charset="0"/>
                <a:ea typeface="Courier New" charset="0"/>
                <a:cs typeface="Courier New" charset="0"/>
              </a:rPr>
              <a:t>x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 2) 4)) '(1 2 3)) 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	;</a:t>
            </a:r>
            <a:r>
              <a:rPr lang="mr-IN" altLang="en-US" sz="2800" dirty="0">
                <a:latin typeface="Courier New" charset="0"/>
                <a:ea typeface="Courier New" charset="0"/>
                <a:cs typeface="Courier New" charset="0"/>
              </a:rPr>
              <a:t>'</a:t>
            </a:r>
            <a:r>
              <a:rPr lang="en-US" altLang="en-US" sz="2800" dirty="0">
                <a:latin typeface="Courier New" charset="0"/>
                <a:ea typeface="Courier New" charset="0"/>
                <a:cs typeface="Courier New" charset="0"/>
              </a:rPr>
              <a:t>(12 16 20)</a:t>
            </a:r>
          </a:p>
          <a:p>
            <a:pPr marL="914400" lvl="2" indent="0">
              <a:buNone/>
            </a:pPr>
            <a:endParaRPr lang="en-US" altLang="en-US" sz="2800" dirty="0">
              <a:ea typeface="MS PGothic" charset="-128"/>
            </a:endParaRPr>
          </a:p>
          <a:p>
            <a:pPr marL="914400" lvl="2" indent="0">
              <a:buNone/>
            </a:pPr>
            <a:endParaRPr lang="en-US" altLang="en-US" sz="2800" dirty="0">
              <a:ea typeface="MS PGothic" charset="-128"/>
            </a:endParaRPr>
          </a:p>
          <a:p>
            <a:pPr marL="0" indent="0"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4541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altLang="en-US" dirty="0">
                <a:ea typeface="MS PGothic" charset="-128"/>
              </a:rPr>
              <a:t>Another higher-order function example: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Say we have a list: people-at-the-door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Say we have another list: invited-guests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We want to have a list: </a:t>
            </a:r>
            <a:r>
              <a:rPr lang="en-US" altLang="en-US" sz="2800" i="1" dirty="0">
                <a:ea typeface="MS PGothic" charset="-128"/>
              </a:rPr>
              <a:t>let-them-in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Can use: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(member x list1)  ; returns #f or the tail starting at x</a:t>
            </a:r>
          </a:p>
          <a:p>
            <a:pPr lvl="2"/>
            <a:r>
              <a:rPr lang="en-US" altLang="en-US" sz="2800" dirty="0">
                <a:ea typeface="MS PGothic" charset="-128"/>
              </a:rPr>
              <a:t>(remove-if </a:t>
            </a:r>
            <a:r>
              <a:rPr lang="en-US" altLang="en-US" sz="2800" dirty="0" err="1">
                <a:ea typeface="MS PGothic" charset="-128"/>
              </a:rPr>
              <a:t>funct</a:t>
            </a:r>
            <a:r>
              <a:rPr lang="en-US" altLang="en-US" sz="2800" dirty="0">
                <a:ea typeface="MS PGothic" charset="-128"/>
              </a:rPr>
              <a:t> list2)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but how to combine them?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728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0888579" cy="5032375"/>
          </a:xfrm>
        </p:spPr>
        <p:txBody>
          <a:bodyPr>
            <a:noAutofit/>
          </a:bodyPr>
          <a:lstStyle/>
          <a:p>
            <a:pPr lvl="1"/>
            <a:r>
              <a:rPr lang="en-US" altLang="en-US" sz="2800" dirty="0">
                <a:ea typeface="MS PGothic" charset="-128"/>
              </a:rPr>
              <a:t>Say we have a list: people-at-the-door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Say we have another list: invited-guests</a:t>
            </a:r>
          </a:p>
          <a:p>
            <a:pPr lvl="1"/>
            <a:r>
              <a:rPr lang="en-US" altLang="en-US" sz="2800" dirty="0">
                <a:ea typeface="MS PGothic" charset="-128"/>
              </a:rPr>
              <a:t>We want to have a list: </a:t>
            </a:r>
            <a:r>
              <a:rPr lang="en-US" altLang="en-US" sz="2800" i="1" dirty="0">
                <a:ea typeface="MS PGothic" charset="-128"/>
              </a:rPr>
              <a:t>let-them-in</a:t>
            </a:r>
          </a:p>
          <a:p>
            <a:pPr lvl="1"/>
            <a:endParaRPr lang="en-US" altLang="en-US" sz="800" i="1" dirty="0">
              <a:ea typeface="MS PGothic" charset="-128"/>
            </a:endParaRPr>
          </a:p>
          <a:p>
            <a:pPr lvl="1">
              <a:buFontTx/>
              <a:buNone/>
            </a:pP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peopleAtDoor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'("John" "Jane" "Edith" "Joe"))</a:t>
            </a:r>
          </a:p>
          <a:p>
            <a:pPr lvl="1">
              <a:buFontTx/>
              <a:buNone/>
            </a:pP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'("Jane" "Edith" "Mark"))</a:t>
            </a:r>
          </a:p>
          <a:p>
            <a:pPr lvl="1">
              <a:buFontTx/>
              <a:buNone/>
            </a:pP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(member "Edith" 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:test #'string=)</a:t>
            </a:r>
          </a:p>
          <a:p>
            <a:pPr lvl="1">
              <a:buFontTx/>
              <a:buNone/>
            </a:pP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(member "John" </a:t>
            </a:r>
            <a:r>
              <a:rPr lang="en-US" altLang="en-US" sz="2200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sz="2200" dirty="0">
                <a:latin typeface="Courier New" charset="0"/>
                <a:ea typeface="Courier New" charset="0"/>
                <a:cs typeface="Courier New" charset="0"/>
              </a:rPr>
              <a:t> :test #'string=)</a:t>
            </a:r>
          </a:p>
          <a:p>
            <a:pPr lvl="1"/>
            <a:r>
              <a:rPr lang="en-US" altLang="en-US" sz="2800" dirty="0">
                <a:ea typeface="Courier New" charset="0"/>
                <a:cs typeface="Courier New" charset="0"/>
              </a:rPr>
              <a:t>How do we get what we want?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31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8579" cy="5032375"/>
          </a:xfrm>
        </p:spPr>
        <p:txBody>
          <a:bodyPr>
            <a:noAutofit/>
          </a:bodyPr>
          <a:lstStyle/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peopleAtDoor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'("John" "Jane" "Edith" "Joe"))</a:t>
            </a:r>
            <a:br>
              <a:rPr lang="en-US" altLang="en-US" dirty="0">
                <a:latin typeface="Courier New" charset="0"/>
                <a:ea typeface="Courier New" charset="0"/>
                <a:cs typeface="Courier New" charset="0"/>
              </a:rPr>
            </a:b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'("Jane" "Edith" "Mark"))</a:t>
            </a:r>
          </a:p>
          <a:p>
            <a:pPr lvl="1"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memberInvited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(lambda (guest) (member guest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:test #'string=)))</a:t>
            </a:r>
          </a:p>
          <a:p>
            <a:pPr lvl="1"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letThemIn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(remove-if-not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memberInvited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peopleAtDoor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))</a:t>
            </a:r>
          </a:p>
          <a:p>
            <a:pPr lvl="1"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let-them-in ; '("Jane" "Edith")</a:t>
            </a:r>
          </a:p>
          <a:p>
            <a:pPr lvl="1">
              <a:buFontTx/>
              <a:buNone/>
            </a:pPr>
            <a:endParaRPr lang="en-US" altLang="en-US" sz="2800" dirty="0"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461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Higher-Order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88579" cy="5032375"/>
          </a:xfrm>
        </p:spPr>
        <p:txBody>
          <a:bodyPr>
            <a:noAutofit/>
          </a:bodyPr>
          <a:lstStyle/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peopleAtDoor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'("John" "Jane" "Edith" "Joe"))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'("Jane" "Edith" "Mark"))</a:t>
            </a:r>
          </a:p>
          <a:p>
            <a:pPr lvl="1"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memberInvited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(lambda (guest) (member guest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:test #'string=)))</a:t>
            </a:r>
          </a:p>
          <a:p>
            <a:pPr lvl="1"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defvar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letThemIn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(remove-if-not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memberInvited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	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peopleAtDoor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))</a:t>
            </a:r>
          </a:p>
          <a:p>
            <a:pPr lvl="1">
              <a:buFontTx/>
              <a:buNone/>
            </a:pPr>
            <a:endParaRPr lang="en-US" altLang="en-US" dirty="0">
              <a:latin typeface="Courier New" charset="0"/>
              <a:ea typeface="Courier New" charset="0"/>
              <a:cs typeface="Courier New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(let ((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invitedGuests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'("John" "Mark"))) (remove-if-not 	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memberInvited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</a:t>
            </a:r>
            <a:r>
              <a:rPr lang="en-US" altLang="en-US" dirty="0" err="1">
                <a:latin typeface="Courier New" charset="0"/>
                <a:ea typeface="Courier New" charset="0"/>
                <a:cs typeface="Courier New" charset="0"/>
              </a:rPr>
              <a:t>peopleAtDoor</a:t>
            </a: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))	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charset="0"/>
                <a:ea typeface="Courier New" charset="0"/>
                <a:cs typeface="Courier New" charset="0"/>
              </a:rPr>
              <a:t> 		;return '("John")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0854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DA317C-4DB1-6A48-8D88-6D742E70F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1473737"/>
            <a:ext cx="11615305" cy="36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61792</TotalTime>
  <Words>2111</Words>
  <Application>Microsoft Macintosh PowerPoint</Application>
  <PresentationFormat>Widescreen</PresentationFormat>
  <Paragraphs>270</Paragraphs>
  <Slides>38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ＭＳ Ｐゴシック</vt:lpstr>
      <vt:lpstr>ＭＳ Ｐゴシック</vt:lpstr>
      <vt:lpstr>Arial</vt:lpstr>
      <vt:lpstr>Calibri</vt:lpstr>
      <vt:lpstr>Calibri Light</vt:lpstr>
      <vt:lpstr>Courier New</vt:lpstr>
      <vt:lpstr>Wingdings</vt:lpstr>
      <vt:lpstr>Office Theme</vt:lpstr>
      <vt:lpstr>CMSC 304</vt:lpstr>
      <vt:lpstr>Macros</vt:lpstr>
      <vt:lpstr>Macros</vt:lpstr>
      <vt:lpstr>Macros</vt:lpstr>
      <vt:lpstr>Macros</vt:lpstr>
      <vt:lpstr>Standard Macros</vt:lpstr>
      <vt:lpstr>Standard Macros</vt:lpstr>
      <vt:lpstr>Standard Macros</vt:lpstr>
      <vt:lpstr>Standard Macros</vt:lpstr>
      <vt:lpstr>Standard Macros</vt:lpstr>
      <vt:lpstr>Standard Macros</vt:lpstr>
      <vt:lpstr>WHEN</vt:lpstr>
      <vt:lpstr>UNLESS</vt:lpstr>
      <vt:lpstr>Standard Macros</vt:lpstr>
      <vt:lpstr>COND</vt:lpstr>
      <vt:lpstr>Macro Expansion</vt:lpstr>
      <vt:lpstr>Macro Expansion</vt:lpstr>
      <vt:lpstr>Defining Macros</vt:lpstr>
      <vt:lpstr>Quotes and Backquotes</vt:lpstr>
      <vt:lpstr>Quotes and Backquotes</vt:lpstr>
      <vt:lpstr>Quotes and Backquotes</vt:lpstr>
      <vt:lpstr>Defining Macros</vt:lpstr>
      <vt:lpstr>Defining Macros</vt:lpstr>
      <vt:lpstr>Test Expression</vt:lpstr>
      <vt:lpstr>Demo</vt:lpstr>
      <vt:lpstr>Higher-Order Functions and Currying</vt:lpstr>
      <vt:lpstr>Higher-Order Functions and Currying</vt:lpstr>
      <vt:lpstr>Currying vs. Partial Application</vt:lpstr>
      <vt:lpstr>Partial Application</vt:lpstr>
      <vt:lpstr>Partial Application</vt:lpstr>
      <vt:lpstr>Example</vt:lpstr>
      <vt:lpstr>Example</vt:lpstr>
      <vt:lpstr>Partial Application</vt:lpstr>
      <vt:lpstr>Higher-Order Functions</vt:lpstr>
      <vt:lpstr>Higher-Order Functions</vt:lpstr>
      <vt:lpstr>Higher-Order Functions</vt:lpstr>
      <vt:lpstr>Higher-Order Functions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226</cp:revision>
  <dcterms:created xsi:type="dcterms:W3CDTF">2017-05-31T17:26:26Z</dcterms:created>
  <dcterms:modified xsi:type="dcterms:W3CDTF">2025-01-06T20:59:34Z</dcterms:modified>
</cp:coreProperties>
</file>