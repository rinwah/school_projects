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70" r:id="rId3"/>
    <p:sldId id="326" r:id="rId4"/>
    <p:sldId id="277" r:id="rId5"/>
    <p:sldId id="327" r:id="rId6"/>
    <p:sldId id="328" r:id="rId7"/>
    <p:sldId id="329" r:id="rId8"/>
    <p:sldId id="257" r:id="rId9"/>
    <p:sldId id="363" r:id="rId10"/>
    <p:sldId id="258" r:id="rId11"/>
    <p:sldId id="330" r:id="rId12"/>
    <p:sldId id="259" r:id="rId13"/>
    <p:sldId id="261" r:id="rId14"/>
    <p:sldId id="337" r:id="rId15"/>
    <p:sldId id="340" r:id="rId16"/>
    <p:sldId id="341" r:id="rId17"/>
    <p:sldId id="339" r:id="rId18"/>
    <p:sldId id="364" r:id="rId19"/>
    <p:sldId id="365" r:id="rId20"/>
    <p:sldId id="260" r:id="rId21"/>
    <p:sldId id="367" r:id="rId22"/>
    <p:sldId id="370" r:id="rId23"/>
    <p:sldId id="368" r:id="rId24"/>
    <p:sldId id="338" r:id="rId25"/>
    <p:sldId id="342" r:id="rId26"/>
    <p:sldId id="344" r:id="rId27"/>
    <p:sldId id="345" r:id="rId28"/>
    <p:sldId id="343" r:id="rId29"/>
    <p:sldId id="274" r:id="rId30"/>
    <p:sldId id="275" r:id="rId31"/>
    <p:sldId id="276" r:id="rId32"/>
    <p:sldId id="3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18"/>
    <p:restoredTop sz="79706"/>
  </p:normalViewPr>
  <p:slideViewPr>
    <p:cSldViewPr snapToGrid="0" snapToObjects="1">
      <p:cViewPr varScale="1">
        <p:scale>
          <a:sx n="128" d="100"/>
          <a:sy n="128" d="100"/>
        </p:scale>
        <p:origin x="6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C3FBE-CC6D-C84E-A32C-3E7139D0BEF1}" type="datetimeFigureOut">
              <a:rPr lang="en-US" smtClean="0"/>
              <a:t>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C0DA4-3FAE-DF4B-9554-5D7B5414A6C1}" type="slidenum">
              <a:rPr lang="en-US" smtClean="0"/>
              <a:t>‹#›</a:t>
            </a:fld>
            <a:endParaRPr lang="en-US"/>
          </a:p>
        </p:txBody>
      </p:sp>
    </p:spTree>
    <p:extLst>
      <p:ext uri="{BB962C8B-B14F-4D97-AF65-F5344CB8AC3E}">
        <p14:creationId xmlns:p14="http://schemas.microsoft.com/office/powerpoint/2010/main" val="338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a:t>
            </a:fld>
            <a:endParaRPr lang="en-US" dirty="0"/>
          </a:p>
        </p:txBody>
      </p:sp>
    </p:spTree>
    <p:extLst>
      <p:ext uri="{BB962C8B-B14F-4D97-AF65-F5344CB8AC3E}">
        <p14:creationId xmlns:p14="http://schemas.microsoft.com/office/powerpoint/2010/main" val="1033574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3</a:t>
            </a:fld>
            <a:endParaRPr lang="en-US"/>
          </a:p>
        </p:txBody>
      </p:sp>
    </p:spTree>
    <p:extLst>
      <p:ext uri="{BB962C8B-B14F-4D97-AF65-F5344CB8AC3E}">
        <p14:creationId xmlns:p14="http://schemas.microsoft.com/office/powerpoint/2010/main" val="105910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8</a:t>
            </a:fld>
            <a:endParaRPr lang="en-US"/>
          </a:p>
        </p:txBody>
      </p:sp>
    </p:spTree>
    <p:extLst>
      <p:ext uri="{BB962C8B-B14F-4D97-AF65-F5344CB8AC3E}">
        <p14:creationId xmlns:p14="http://schemas.microsoft.com/office/powerpoint/2010/main" val="1374616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your rant about this to 10 min max!!</a:t>
            </a:r>
          </a:p>
        </p:txBody>
      </p:sp>
      <p:sp>
        <p:nvSpPr>
          <p:cNvPr id="4" name="Slide Number Placeholder 3"/>
          <p:cNvSpPr>
            <a:spLocks noGrp="1"/>
          </p:cNvSpPr>
          <p:nvPr>
            <p:ph type="sldNum" sz="quarter" idx="10"/>
          </p:nvPr>
        </p:nvSpPr>
        <p:spPr/>
        <p:txBody>
          <a:bodyPr/>
          <a:lstStyle/>
          <a:p>
            <a:fld id="{BCAC0DA4-3FAE-DF4B-9554-5D7B5414A6C1}" type="slidenum">
              <a:rPr lang="en-US" smtClean="0"/>
              <a:t>9</a:t>
            </a:fld>
            <a:endParaRPr lang="en-US"/>
          </a:p>
        </p:txBody>
      </p:sp>
    </p:spTree>
    <p:extLst>
      <p:ext uri="{BB962C8B-B14F-4D97-AF65-F5344CB8AC3E}">
        <p14:creationId xmlns:p14="http://schemas.microsoft.com/office/powerpoint/2010/main" val="1697517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Lacked standards</a:t>
            </a:r>
          </a:p>
        </p:txBody>
      </p:sp>
      <p:sp>
        <p:nvSpPr>
          <p:cNvPr id="4" name="Slide Number Placeholder 3"/>
          <p:cNvSpPr>
            <a:spLocks noGrp="1"/>
          </p:cNvSpPr>
          <p:nvPr>
            <p:ph type="sldNum" sz="quarter" idx="10"/>
          </p:nvPr>
        </p:nvSpPr>
        <p:spPr/>
        <p:txBody>
          <a:bodyPr/>
          <a:lstStyle/>
          <a:p>
            <a:fld id="{BCAC0DA4-3FAE-DF4B-9554-5D7B5414A6C1}" type="slidenum">
              <a:rPr lang="en-US" smtClean="0"/>
              <a:t>10</a:t>
            </a:fld>
            <a:endParaRPr lang="en-US"/>
          </a:p>
        </p:txBody>
      </p:sp>
    </p:spTree>
    <p:extLst>
      <p:ext uri="{BB962C8B-B14F-4D97-AF65-F5344CB8AC3E}">
        <p14:creationId xmlns:p14="http://schemas.microsoft.com/office/powerpoint/2010/main" val="187498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Basically</a:t>
            </a:r>
            <a:r>
              <a:rPr lang="en-US" baseline="0"/>
              <a:t>, we can build more complex data structures out of lists </a:t>
            </a:r>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13</a:t>
            </a:fld>
            <a:endParaRPr lang="en-US"/>
          </a:p>
        </p:txBody>
      </p:sp>
    </p:spTree>
    <p:extLst>
      <p:ext uri="{BB962C8B-B14F-4D97-AF65-F5344CB8AC3E}">
        <p14:creationId xmlns:p14="http://schemas.microsoft.com/office/powerpoint/2010/main" val="2097388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14</a:t>
            </a:fld>
            <a:endParaRPr lang="en-US"/>
          </a:p>
        </p:txBody>
      </p:sp>
    </p:spTree>
    <p:extLst>
      <p:ext uri="{BB962C8B-B14F-4D97-AF65-F5344CB8AC3E}">
        <p14:creationId xmlns:p14="http://schemas.microsoft.com/office/powerpoint/2010/main" val="1773534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singly linked list is your god.</a:t>
            </a:r>
          </a:p>
          <a:p>
            <a:r>
              <a:rPr lang="en-US"/>
              <a:t>The two values in a cons cell are called the </a:t>
            </a:r>
            <a:r>
              <a:rPr lang="en-US" b="1"/>
              <a:t>CAR</a:t>
            </a:r>
            <a:r>
              <a:rPr lang="en-US"/>
              <a:t> and the </a:t>
            </a:r>
            <a:r>
              <a:rPr lang="en-US" b="1"/>
              <a:t>CDR</a:t>
            </a:r>
            <a:r>
              <a:rPr lang="en-US"/>
              <a:t> after the names of the functions used to access them. At the dawn of time, these names were mnemonic, at least to the folks implementing the first Lisp on an IBM 704.</a:t>
            </a:r>
          </a:p>
        </p:txBody>
      </p:sp>
      <p:sp>
        <p:nvSpPr>
          <p:cNvPr id="4" name="Slide Number Placeholder 3"/>
          <p:cNvSpPr>
            <a:spLocks noGrp="1"/>
          </p:cNvSpPr>
          <p:nvPr>
            <p:ph type="sldNum" sz="quarter" idx="10"/>
          </p:nvPr>
        </p:nvSpPr>
        <p:spPr/>
        <p:txBody>
          <a:bodyPr/>
          <a:lstStyle/>
          <a:p>
            <a:fld id="{BCAC0DA4-3FAE-DF4B-9554-5D7B5414A6C1}" type="slidenum">
              <a:rPr lang="en-US" smtClean="0"/>
              <a:t>15</a:t>
            </a:fld>
            <a:endParaRPr lang="en-US"/>
          </a:p>
        </p:txBody>
      </p:sp>
    </p:spTree>
    <p:extLst>
      <p:ext uri="{BB962C8B-B14F-4D97-AF65-F5344CB8AC3E}">
        <p14:creationId xmlns:p14="http://schemas.microsoft.com/office/powerpoint/2010/main" val="100080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16</a:t>
            </a:fld>
            <a:endParaRPr lang="en-US"/>
          </a:p>
        </p:txBody>
      </p:sp>
    </p:spTree>
    <p:extLst>
      <p:ext uri="{BB962C8B-B14F-4D97-AF65-F5344CB8AC3E}">
        <p14:creationId xmlns:p14="http://schemas.microsoft.com/office/powerpoint/2010/main" val="895696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 Lisp actually has two namespaces. One for variables</a:t>
            </a:r>
            <a:r>
              <a:rPr lang="en-US" baseline="0"/>
              <a:t> and another for operators </a:t>
            </a:r>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18</a:t>
            </a:fld>
            <a:endParaRPr lang="en-US"/>
          </a:p>
        </p:txBody>
      </p:sp>
    </p:spTree>
    <p:extLst>
      <p:ext uri="{BB962C8B-B14F-4D97-AF65-F5344CB8AC3E}">
        <p14:creationId xmlns:p14="http://schemas.microsoft.com/office/powerpoint/2010/main" val="1825212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19</a:t>
            </a:fld>
            <a:endParaRPr lang="en-US"/>
          </a:p>
        </p:txBody>
      </p:sp>
    </p:spTree>
    <p:extLst>
      <p:ext uri="{BB962C8B-B14F-4D97-AF65-F5344CB8AC3E}">
        <p14:creationId xmlns:p14="http://schemas.microsoft.com/office/powerpoint/2010/main" val="253083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21</a:t>
            </a:fld>
            <a:endParaRPr lang="en-US"/>
          </a:p>
        </p:txBody>
      </p:sp>
    </p:spTree>
    <p:extLst>
      <p:ext uri="{BB962C8B-B14F-4D97-AF65-F5344CB8AC3E}">
        <p14:creationId xmlns:p14="http://schemas.microsoft.com/office/powerpoint/2010/main" val="63844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22</a:t>
            </a:fld>
            <a:endParaRPr lang="en-US"/>
          </a:p>
        </p:txBody>
      </p:sp>
    </p:spTree>
    <p:extLst>
      <p:ext uri="{BB962C8B-B14F-4D97-AF65-F5344CB8AC3E}">
        <p14:creationId xmlns:p14="http://schemas.microsoft.com/office/powerpoint/2010/main" val="3678294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Car here takes behavior similar to C since L is bound to the first cell in 1, 2, 3</a:t>
            </a:r>
          </a:p>
          <a:p>
            <a:r>
              <a:rPr lang="en-US"/>
              <a:t>Car is value, CDR is </a:t>
            </a:r>
            <a:r>
              <a:rPr lang="en-US" err="1"/>
              <a:t>sublist</a:t>
            </a:r>
            <a:r>
              <a:rPr lang="en-US"/>
              <a:t> (everything after head).</a:t>
            </a:r>
          </a:p>
          <a:p>
            <a:r>
              <a:rPr lang="en-US"/>
              <a:t>REMEMBER EVERYTHING IS A SINGLY LINKED LIST</a:t>
            </a:r>
          </a:p>
          <a:p>
            <a:r>
              <a:rPr lang="en-US"/>
              <a:t>(cons 4 nil) gives you a list with one element</a:t>
            </a:r>
          </a:p>
          <a:p>
            <a:endParaRPr lang="en-US"/>
          </a:p>
          <a:p>
            <a:r>
              <a:rPr lang="en-US"/>
              <a:t>(</a:t>
            </a:r>
            <a:r>
              <a:rPr lang="en-US" err="1"/>
              <a:t>defvar</a:t>
            </a:r>
            <a:r>
              <a:rPr lang="en-US"/>
              <a:t> L (list 1 2 3))</a:t>
            </a:r>
          </a:p>
          <a:p>
            <a:endParaRPr lang="en-US"/>
          </a:p>
        </p:txBody>
      </p:sp>
      <p:sp>
        <p:nvSpPr>
          <p:cNvPr id="4" name="Slide Number Placeholder 3"/>
          <p:cNvSpPr>
            <a:spLocks noGrp="1"/>
          </p:cNvSpPr>
          <p:nvPr>
            <p:ph type="sldNum" sz="quarter" idx="5"/>
          </p:nvPr>
        </p:nvSpPr>
        <p:spPr/>
        <p:txBody>
          <a:bodyPr/>
          <a:lstStyle/>
          <a:p>
            <a:fld id="{BCAC0DA4-3FAE-DF4B-9554-5D7B5414A6C1}" type="slidenum">
              <a:rPr lang="en-US" smtClean="0"/>
              <a:t>24</a:t>
            </a:fld>
            <a:endParaRPr lang="en-US"/>
          </a:p>
        </p:txBody>
      </p:sp>
    </p:spTree>
    <p:extLst>
      <p:ext uri="{BB962C8B-B14F-4D97-AF65-F5344CB8AC3E}">
        <p14:creationId xmlns:p14="http://schemas.microsoft.com/office/powerpoint/2010/main" val="410630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you've seen in previous chapters, global variables are conventionally named with names that start and end with *</a:t>
            </a:r>
          </a:p>
        </p:txBody>
      </p:sp>
      <p:sp>
        <p:nvSpPr>
          <p:cNvPr id="4" name="Slide Number Placeholder 3"/>
          <p:cNvSpPr>
            <a:spLocks noGrp="1"/>
          </p:cNvSpPr>
          <p:nvPr>
            <p:ph type="sldNum" sz="quarter" idx="10"/>
          </p:nvPr>
        </p:nvSpPr>
        <p:spPr/>
        <p:txBody>
          <a:bodyPr/>
          <a:lstStyle/>
          <a:p>
            <a:fld id="{BCAC0DA4-3FAE-DF4B-9554-5D7B5414A6C1}" type="slidenum">
              <a:rPr lang="en-US" smtClean="0"/>
              <a:t>25</a:t>
            </a:fld>
            <a:endParaRPr lang="en-US"/>
          </a:p>
        </p:txBody>
      </p:sp>
    </p:spTree>
    <p:extLst>
      <p:ext uri="{BB962C8B-B14F-4D97-AF65-F5344CB8AC3E}">
        <p14:creationId xmlns:p14="http://schemas.microsoft.com/office/powerpoint/2010/main" val="1709534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26</a:t>
            </a:fld>
            <a:endParaRPr lang="en-US"/>
          </a:p>
        </p:txBody>
      </p:sp>
    </p:spTree>
    <p:extLst>
      <p:ext uri="{BB962C8B-B14F-4D97-AF65-F5344CB8AC3E}">
        <p14:creationId xmlns:p14="http://schemas.microsoft.com/office/powerpoint/2010/main" val="310079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SBCL</a:t>
            </a:r>
            <a:r>
              <a:rPr lang="en-US" baseline="0"/>
              <a:t> was forked from a Common Lisp implementation developed by Carnegie Mellon</a:t>
            </a:r>
            <a:br>
              <a:rPr lang="en-US" baseline="0"/>
            </a:br>
            <a:r>
              <a:rPr lang="en-US" baseline="0"/>
              <a:t>Andrew Carnegie was a steel magnate and </a:t>
            </a:r>
            <a:r>
              <a:rPr lang="en-US" b="1"/>
              <a:t>Andrew Mellon</a:t>
            </a:r>
            <a:r>
              <a:rPr lang="en-US" b="0" baseline="0"/>
              <a:t> was an influential banker </a:t>
            </a:r>
            <a:br>
              <a:rPr lang="en-US" b="0" baseline="0"/>
            </a:br>
            <a:r>
              <a:rPr lang="en-US" b="0" baseline="0"/>
              <a:t>Hence Steel Bank Common Lisp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a:p>
        </p:txBody>
      </p:sp>
      <p:sp>
        <p:nvSpPr>
          <p:cNvPr id="4" name="Slide Number Placeholder 3"/>
          <p:cNvSpPr>
            <a:spLocks noGrp="1"/>
          </p:cNvSpPr>
          <p:nvPr>
            <p:ph type="sldNum" sz="quarter" idx="10"/>
          </p:nvPr>
        </p:nvSpPr>
        <p:spPr/>
        <p:txBody>
          <a:bodyPr/>
          <a:lstStyle/>
          <a:p>
            <a:fld id="{B4CED124-B2CF-DC47-B85A-3228507B362C}" type="slidenum">
              <a:rPr lang="en-US" smtClean="0"/>
              <a:t>30</a:t>
            </a:fld>
            <a:endParaRPr lang="en-US"/>
          </a:p>
        </p:txBody>
      </p:sp>
    </p:spTree>
    <p:extLst>
      <p:ext uri="{BB962C8B-B14F-4D97-AF65-F5344CB8AC3E}">
        <p14:creationId xmlns:p14="http://schemas.microsoft.com/office/powerpoint/2010/main" val="2582692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a:p>
        </p:txBody>
      </p:sp>
      <p:sp>
        <p:nvSpPr>
          <p:cNvPr id="4" name="Slide Number Placeholder 3"/>
          <p:cNvSpPr>
            <a:spLocks noGrp="1"/>
          </p:cNvSpPr>
          <p:nvPr>
            <p:ph type="sldNum" sz="quarter" idx="10"/>
          </p:nvPr>
        </p:nvSpPr>
        <p:spPr/>
        <p:txBody>
          <a:bodyPr/>
          <a:lstStyle/>
          <a:p>
            <a:fld id="{B4CED124-B2CF-DC47-B85A-3228507B362C}" type="slidenum">
              <a:rPr lang="en-US" smtClean="0"/>
              <a:t>31</a:t>
            </a:fld>
            <a:endParaRPr lang="en-US"/>
          </a:p>
        </p:txBody>
      </p:sp>
    </p:spTree>
    <p:extLst>
      <p:ext uri="{BB962C8B-B14F-4D97-AF65-F5344CB8AC3E}">
        <p14:creationId xmlns:p14="http://schemas.microsoft.com/office/powerpoint/2010/main" val="1326946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a:p>
        </p:txBody>
      </p:sp>
      <p:sp>
        <p:nvSpPr>
          <p:cNvPr id="4" name="Slide Number Placeholder 3"/>
          <p:cNvSpPr>
            <a:spLocks noGrp="1"/>
          </p:cNvSpPr>
          <p:nvPr>
            <p:ph type="sldNum" sz="quarter" idx="10"/>
          </p:nvPr>
        </p:nvSpPr>
        <p:spPr/>
        <p:txBody>
          <a:bodyPr/>
          <a:lstStyle/>
          <a:p>
            <a:fld id="{B4CED124-B2CF-DC47-B85A-3228507B362C}" type="slidenum">
              <a:rPr lang="en-US" smtClean="0"/>
              <a:t>32</a:t>
            </a:fld>
            <a:endParaRPr lang="en-US"/>
          </a:p>
        </p:txBody>
      </p:sp>
    </p:spTree>
    <p:extLst>
      <p:ext uri="{BB962C8B-B14F-4D97-AF65-F5344CB8AC3E}">
        <p14:creationId xmlns:p14="http://schemas.microsoft.com/office/powerpoint/2010/main" val="723445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2538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53645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788232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197D23-1D1C-734C-9188-3D38F4DBA869}" type="datetimeFigureOut">
              <a:rPr lang="en-US" smtClean="0"/>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90407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197D23-1D1C-734C-9188-3D38F4DBA869}" type="datetimeFigureOut">
              <a:rPr lang="en-US" smtClean="0"/>
              <a:t>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51903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197D23-1D1C-734C-9188-3D38F4DBA869}" type="datetimeFigureOut">
              <a:rPr lang="en-US" smtClean="0"/>
              <a:t>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5583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97D23-1D1C-734C-9188-3D38F4DBA869}" type="datetimeFigureOut">
              <a:rPr lang="en-US" smtClean="0"/>
              <a:t>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07600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18411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373157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80578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72554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97D23-1D1C-734C-9188-3D38F4DBA869}" type="datetimeFigureOut">
              <a:rPr lang="en-US" smtClean="0"/>
              <a:t>1/6/25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6966-79DA-234F-B9D6-D01F1009FBDE}" type="slidenum">
              <a:rPr lang="en-US" smtClean="0"/>
              <a:t>‹#›</a:t>
            </a:fld>
            <a:endParaRPr lang="en-US"/>
          </a:p>
        </p:txBody>
      </p:sp>
    </p:spTree>
    <p:extLst>
      <p:ext uri="{BB962C8B-B14F-4D97-AF65-F5344CB8AC3E}">
        <p14:creationId xmlns:p14="http://schemas.microsoft.com/office/powerpoint/2010/main" val="1408447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rPr>
              <a:t>CMSC 304</a:t>
            </a:r>
          </a:p>
        </p:txBody>
      </p:sp>
      <p:sp>
        <p:nvSpPr>
          <p:cNvPr id="3" name="Subtitle 2"/>
          <p:cNvSpPr>
            <a:spLocks noGrp="1"/>
          </p:cNvSpPr>
          <p:nvPr>
            <p:ph type="subTitle" idx="1"/>
          </p:nvPr>
        </p:nvSpPr>
        <p:spPr/>
        <p:txBody>
          <a:bodyPr/>
          <a:lstStyle/>
          <a:p>
            <a:r>
              <a:rPr lang="en-US" dirty="0"/>
              <a:t>Common Lisp Introduction</a:t>
            </a:r>
          </a:p>
          <a:p>
            <a:r>
              <a:rPr lang="en-US" dirty="0"/>
              <a:t>Claire Sparks</a:t>
            </a:r>
          </a:p>
        </p:txBody>
      </p:sp>
    </p:spTree>
    <p:extLst>
      <p:ext uri="{BB962C8B-B14F-4D97-AF65-F5344CB8AC3E}">
        <p14:creationId xmlns:p14="http://schemas.microsoft.com/office/powerpoint/2010/main" val="7007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Programs as Functions</a:t>
            </a:r>
          </a:p>
        </p:txBody>
      </p:sp>
      <p:sp>
        <p:nvSpPr>
          <p:cNvPr id="3" name="Content Placeholder 2"/>
          <p:cNvSpPr>
            <a:spLocks noGrp="1"/>
          </p:cNvSpPr>
          <p:nvPr>
            <p:ph idx="1"/>
          </p:nvPr>
        </p:nvSpPr>
        <p:spPr/>
        <p:txBody>
          <a:bodyPr>
            <a:normAutofit/>
          </a:bodyPr>
          <a:lstStyle/>
          <a:p>
            <a:r>
              <a:rPr lang="en-US" altLang="en-US" dirty="0">
                <a:ea typeface="MS PGothic" charset="-128"/>
              </a:rPr>
              <a:t>A program is a description of specific computation</a:t>
            </a:r>
          </a:p>
          <a:p>
            <a:r>
              <a:rPr lang="en-US" altLang="en-US" dirty="0">
                <a:ea typeface="MS PGothic" charset="-128"/>
              </a:rPr>
              <a:t>If we ignore the </a:t>
            </a:r>
            <a:r>
              <a:rPr lang="ja-JP" altLang="en-US">
                <a:ea typeface="MS PGothic" charset="-128"/>
              </a:rPr>
              <a:t>“</a:t>
            </a:r>
            <a:r>
              <a:rPr lang="en-US" altLang="ja-JP" dirty="0">
                <a:ea typeface="MS PGothic" charset="-128"/>
              </a:rPr>
              <a:t>how</a:t>
            </a:r>
            <a:r>
              <a:rPr lang="ja-JP" altLang="en-US">
                <a:ea typeface="MS PGothic" charset="-128"/>
              </a:rPr>
              <a:t>”</a:t>
            </a:r>
            <a:r>
              <a:rPr lang="en-US" altLang="ja-JP" dirty="0">
                <a:ea typeface="MS PGothic" charset="-128"/>
              </a:rPr>
              <a:t> and focus on the result, or the </a:t>
            </a:r>
            <a:r>
              <a:rPr lang="ja-JP" altLang="en-US">
                <a:ea typeface="MS PGothic" charset="-128"/>
              </a:rPr>
              <a:t>“</a:t>
            </a:r>
            <a:r>
              <a:rPr lang="en-US" altLang="ja-JP" dirty="0">
                <a:ea typeface="MS PGothic" charset="-128"/>
              </a:rPr>
              <a:t>what</a:t>
            </a:r>
            <a:r>
              <a:rPr lang="ja-JP" altLang="en-US">
                <a:ea typeface="MS PGothic" charset="-128"/>
              </a:rPr>
              <a:t>”</a:t>
            </a:r>
            <a:r>
              <a:rPr lang="en-US" altLang="ja-JP" dirty="0">
                <a:ea typeface="MS PGothic" charset="-128"/>
              </a:rPr>
              <a:t> of the computation, the program becomes a virtual black box that transforms input into output</a:t>
            </a:r>
          </a:p>
          <a:p>
            <a:pPr lvl="1"/>
            <a:r>
              <a:rPr lang="en-US" altLang="en-US" sz="2800" dirty="0">
                <a:ea typeface="MS PGothic" charset="-128"/>
              </a:rPr>
              <a:t>A program is thus essentially equivalent to a mathematical function</a:t>
            </a:r>
          </a:p>
          <a:p>
            <a:r>
              <a:rPr lang="en-US" altLang="en-US" b="1" dirty="0">
                <a:ea typeface="MS PGothic" charset="-128"/>
              </a:rPr>
              <a:t>Function</a:t>
            </a:r>
            <a:r>
              <a:rPr lang="en-US" altLang="en-US" dirty="0">
                <a:ea typeface="MS PGothic" charset="-128"/>
              </a:rPr>
              <a:t>: a rule that associates to each </a:t>
            </a:r>
            <a:r>
              <a:rPr lang="en-US" altLang="en-US" i="1" dirty="0">
                <a:ea typeface="MS PGothic" charset="-128"/>
              </a:rPr>
              <a:t>x</a:t>
            </a:r>
            <a:r>
              <a:rPr lang="en-US" altLang="en-US" dirty="0">
                <a:ea typeface="MS PGothic" charset="-128"/>
              </a:rPr>
              <a:t> from set of </a:t>
            </a:r>
            <a:r>
              <a:rPr lang="en-US" altLang="en-US" i="1" dirty="0">
                <a:ea typeface="MS PGothic" charset="-128"/>
              </a:rPr>
              <a:t>X</a:t>
            </a:r>
            <a:r>
              <a:rPr lang="en-US" altLang="en-US" dirty="0">
                <a:ea typeface="MS PGothic" charset="-128"/>
              </a:rPr>
              <a:t> of values a unique </a:t>
            </a:r>
            <a:r>
              <a:rPr lang="en-US" altLang="en-US" i="1" dirty="0">
                <a:ea typeface="MS PGothic" charset="-128"/>
              </a:rPr>
              <a:t>y</a:t>
            </a:r>
            <a:r>
              <a:rPr lang="en-US" altLang="en-US" dirty="0">
                <a:ea typeface="MS PGothic" charset="-128"/>
              </a:rPr>
              <a:t> from a set </a:t>
            </a:r>
            <a:r>
              <a:rPr lang="en-US" altLang="en-US" i="1" dirty="0">
                <a:ea typeface="MS PGothic" charset="-128"/>
              </a:rPr>
              <a:t>Y</a:t>
            </a:r>
            <a:r>
              <a:rPr lang="en-US" altLang="en-US" dirty="0">
                <a:ea typeface="MS PGothic" charset="-128"/>
              </a:rPr>
              <a:t> of values</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8020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Programs as Functions</a:t>
            </a:r>
          </a:p>
        </p:txBody>
      </p:sp>
      <p:sp>
        <p:nvSpPr>
          <p:cNvPr id="3" name="Content Placeholder 2"/>
          <p:cNvSpPr>
            <a:spLocks noGrp="1"/>
          </p:cNvSpPr>
          <p:nvPr>
            <p:ph idx="1"/>
          </p:nvPr>
        </p:nvSpPr>
        <p:spPr/>
        <p:txBody>
          <a:bodyPr>
            <a:normAutofit/>
          </a:bodyPr>
          <a:lstStyle/>
          <a:p>
            <a:r>
              <a:rPr lang="en-US" altLang="en-US" dirty="0">
                <a:ea typeface="MS PGothic" charset="-128"/>
              </a:rPr>
              <a:t>In mathematical terminology, the function can be written as </a:t>
            </a:r>
            <a:r>
              <a:rPr lang="en-US" altLang="en-US" i="1" dirty="0">
                <a:latin typeface="Cambria Math" charset="0"/>
                <a:ea typeface="MS PGothic" charset="-128"/>
              </a:rPr>
              <a:t>y</a:t>
            </a:r>
            <a:r>
              <a:rPr lang="en-US" altLang="en-US" dirty="0">
                <a:latin typeface="Cambria Math" charset="0"/>
                <a:ea typeface="MS PGothic" charset="-128"/>
              </a:rPr>
              <a:t>=</a:t>
            </a:r>
            <a:r>
              <a:rPr lang="en-US" altLang="en-US" i="1" dirty="0">
                <a:latin typeface="Cambria Math" charset="0"/>
                <a:ea typeface="MS PGothic" charset="-128"/>
              </a:rPr>
              <a:t>f(x)</a:t>
            </a:r>
            <a:r>
              <a:rPr lang="en-US" altLang="en-US" dirty="0">
                <a:ea typeface="MS PGothic" charset="-128"/>
              </a:rPr>
              <a:t> or </a:t>
            </a:r>
            <a:r>
              <a:rPr lang="en-US" altLang="en-US" i="1" dirty="0" err="1">
                <a:ea typeface="MS PGothic" charset="-128"/>
              </a:rPr>
              <a:t>f:X</a:t>
            </a:r>
            <a:r>
              <a:rPr lang="en-US" altLang="en-US" dirty="0" err="1">
                <a:ea typeface="MS PGothic" charset="-128"/>
                <a:sym typeface="Wingdings" charset="2"/>
              </a:rPr>
              <a:t></a:t>
            </a:r>
            <a:r>
              <a:rPr lang="en-US" altLang="en-US" i="1" dirty="0" err="1">
                <a:ea typeface="MS PGothic" charset="-128"/>
                <a:sym typeface="Wingdings" charset="2"/>
              </a:rPr>
              <a:t>Y</a:t>
            </a:r>
            <a:endParaRPr lang="en-US" altLang="en-US" i="1">
              <a:ea typeface="MS PGothic" charset="-128"/>
            </a:endParaRPr>
          </a:p>
          <a:p>
            <a:r>
              <a:rPr lang="en-US" altLang="en-US" b="1">
                <a:ea typeface="MS PGothic" charset="-128"/>
              </a:rPr>
              <a:t>Domain</a:t>
            </a:r>
            <a:r>
              <a:rPr lang="en-US" altLang="en-US">
                <a:ea typeface="MS PGothic" charset="-128"/>
              </a:rPr>
              <a:t> of </a:t>
            </a:r>
            <a:r>
              <a:rPr lang="en-US" altLang="en-US" i="1">
                <a:ea typeface="MS PGothic" charset="-128"/>
              </a:rPr>
              <a:t>f</a:t>
            </a:r>
            <a:r>
              <a:rPr lang="en-US" altLang="en-US">
                <a:ea typeface="MS PGothic" charset="-128"/>
              </a:rPr>
              <a:t>: the set </a:t>
            </a:r>
            <a:r>
              <a:rPr lang="en-US" altLang="en-US" i="1">
                <a:ea typeface="MS PGothic" charset="-128"/>
              </a:rPr>
              <a:t>X    </a:t>
            </a:r>
            <a:r>
              <a:rPr lang="en-US" altLang="en-US" b="1">
                <a:ea typeface="MS PGothic" charset="-128"/>
              </a:rPr>
              <a:t>Range</a:t>
            </a:r>
            <a:r>
              <a:rPr lang="en-US" altLang="en-US">
                <a:ea typeface="MS PGothic" charset="-128"/>
              </a:rPr>
              <a:t> of </a:t>
            </a:r>
            <a:r>
              <a:rPr lang="en-US" altLang="en-US" i="1">
                <a:ea typeface="MS PGothic" charset="-128"/>
              </a:rPr>
              <a:t>f</a:t>
            </a:r>
            <a:r>
              <a:rPr lang="en-US" altLang="en-US">
                <a:ea typeface="MS PGothic" charset="-128"/>
              </a:rPr>
              <a:t>: the set </a:t>
            </a:r>
            <a:r>
              <a:rPr lang="en-US" altLang="en-US" i="1">
                <a:ea typeface="MS PGothic" charset="-128"/>
              </a:rPr>
              <a:t>Y</a:t>
            </a:r>
          </a:p>
          <a:p>
            <a:r>
              <a:rPr lang="en-US" altLang="en-US" b="1">
                <a:ea typeface="MS PGothic" charset="-128"/>
              </a:rPr>
              <a:t>Independent variable</a:t>
            </a:r>
            <a:r>
              <a:rPr lang="en-US" altLang="en-US">
                <a:ea typeface="MS PGothic" charset="-128"/>
              </a:rPr>
              <a:t>: the </a:t>
            </a:r>
            <a:r>
              <a:rPr lang="en-US" altLang="en-US" i="1">
                <a:ea typeface="MS PGothic" charset="-128"/>
              </a:rPr>
              <a:t>x</a:t>
            </a:r>
            <a:r>
              <a:rPr lang="en-US" altLang="en-US">
                <a:ea typeface="MS PGothic" charset="-128"/>
              </a:rPr>
              <a:t> in </a:t>
            </a:r>
            <a:r>
              <a:rPr lang="en-US" altLang="en-US" i="1">
                <a:ea typeface="MS PGothic" charset="-128"/>
              </a:rPr>
              <a:t>f(x)</a:t>
            </a:r>
            <a:r>
              <a:rPr lang="en-US" altLang="en-US">
                <a:ea typeface="MS PGothic" charset="-128"/>
              </a:rPr>
              <a:t>, representing any value from the set </a:t>
            </a:r>
            <a:r>
              <a:rPr lang="en-US" altLang="en-US" i="1">
                <a:ea typeface="MS PGothic" charset="-128"/>
              </a:rPr>
              <a:t>X</a:t>
            </a:r>
          </a:p>
          <a:p>
            <a:r>
              <a:rPr lang="en-US" altLang="en-US" b="1">
                <a:ea typeface="MS PGothic" charset="-128"/>
              </a:rPr>
              <a:t>Dependent variable</a:t>
            </a:r>
            <a:r>
              <a:rPr lang="en-US" altLang="en-US">
                <a:ea typeface="MS PGothic" charset="-128"/>
              </a:rPr>
              <a:t>: the </a:t>
            </a:r>
            <a:r>
              <a:rPr lang="en-US" altLang="en-US" i="1">
                <a:ea typeface="MS PGothic" charset="-128"/>
              </a:rPr>
              <a:t>y</a:t>
            </a:r>
            <a:r>
              <a:rPr lang="en-US" altLang="en-US">
                <a:ea typeface="MS PGothic" charset="-128"/>
              </a:rPr>
              <a:t> from the set </a:t>
            </a:r>
            <a:r>
              <a:rPr lang="en-US" altLang="en-US" i="1">
                <a:ea typeface="MS PGothic" charset="-128"/>
              </a:rPr>
              <a:t>Y</a:t>
            </a:r>
            <a:r>
              <a:rPr lang="en-US" altLang="en-US">
                <a:ea typeface="MS PGothic" charset="-128"/>
              </a:rPr>
              <a:t>, defined by </a:t>
            </a:r>
            <a:r>
              <a:rPr lang="en-US" altLang="en-US" i="1">
                <a:ea typeface="MS PGothic" charset="-128"/>
              </a:rPr>
              <a:t>y=f(x)</a:t>
            </a:r>
            <a:endParaRPr lang="en-US" altLang="en-US">
              <a:ea typeface="MS PGothic" charset="-128"/>
            </a:endParaRPr>
          </a:p>
          <a:p>
            <a:r>
              <a:rPr lang="en-US" altLang="en-US">
                <a:ea typeface="MS PGothic" charset="-128"/>
              </a:rPr>
              <a:t>In terms of a function, x represent the parameters and y represents the returned values</a:t>
            </a:r>
          </a:p>
          <a:p>
            <a:r>
              <a:rPr lang="en-US" altLang="en-US">
                <a:ea typeface="MS PGothic" charset="-128"/>
              </a:rPr>
              <a:t>x is input and y is output</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081175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Programs as Functions</a:t>
            </a:r>
          </a:p>
        </p:txBody>
      </p:sp>
      <p:sp>
        <p:nvSpPr>
          <p:cNvPr id="3" name="Content Placeholder 2"/>
          <p:cNvSpPr>
            <a:spLocks noGrp="1"/>
          </p:cNvSpPr>
          <p:nvPr>
            <p:ph idx="1"/>
          </p:nvPr>
        </p:nvSpPr>
        <p:spPr/>
        <p:txBody>
          <a:bodyPr>
            <a:normAutofit/>
          </a:bodyPr>
          <a:lstStyle/>
          <a:p>
            <a:r>
              <a:rPr lang="en-US" altLang="en-US">
                <a:ea typeface="MS PGothic" charset="-128"/>
              </a:rPr>
              <a:t>Need to distinguish function definition from function application:</a:t>
            </a:r>
          </a:p>
          <a:p>
            <a:pPr lvl="1"/>
            <a:r>
              <a:rPr lang="en-US" altLang="en-US" sz="2800" b="1">
                <a:ea typeface="MS PGothic" charset="-128"/>
              </a:rPr>
              <a:t>Functional definition</a:t>
            </a:r>
            <a:r>
              <a:rPr lang="en-US" altLang="en-US" sz="2800">
                <a:ea typeface="MS PGothic" charset="-128"/>
              </a:rPr>
              <a:t>: describes how a value is to be computed using formal parameters</a:t>
            </a:r>
          </a:p>
          <a:p>
            <a:pPr lvl="1"/>
            <a:r>
              <a:rPr lang="en-US" altLang="en-US" sz="2800" b="1">
                <a:ea typeface="MS PGothic" charset="-128"/>
              </a:rPr>
              <a:t>Functional application</a:t>
            </a:r>
            <a:r>
              <a:rPr lang="en-US" altLang="en-US" sz="2800">
                <a:ea typeface="MS PGothic" charset="-128"/>
              </a:rPr>
              <a:t>: a call to a defined function using actual parameters, or the values that the formal parameters assume for a particular computation</a:t>
            </a:r>
            <a:endParaRPr lang="en-US" altLang="en-US">
              <a:ea typeface="MS PGothic" charset="-128"/>
            </a:endParaRPr>
          </a:p>
          <a:p>
            <a:pPr lvl="1"/>
            <a:r>
              <a:rPr lang="en-US" altLang="en-US" sz="2800">
                <a:ea typeface="MS PGothic" charset="-128"/>
              </a:rPr>
              <a:t>Ex: square (x) = x * x (this is a function definition) If apply 2 to x, then this is a function application.</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101447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Programs as Functions</a:t>
            </a:r>
          </a:p>
        </p:txBody>
      </p:sp>
      <p:sp>
        <p:nvSpPr>
          <p:cNvPr id="3" name="Content Placeholder 2"/>
          <p:cNvSpPr>
            <a:spLocks noGrp="1"/>
          </p:cNvSpPr>
          <p:nvPr>
            <p:ph idx="1"/>
          </p:nvPr>
        </p:nvSpPr>
        <p:spPr/>
        <p:txBody>
          <a:bodyPr>
            <a:normAutofit/>
          </a:bodyPr>
          <a:lstStyle/>
          <a:p>
            <a:r>
              <a:rPr lang="en-US" altLang="en-US">
                <a:ea typeface="MS PGothic" charset="-128"/>
              </a:rPr>
              <a:t>Functional programming takes the mathematical approach to concept of variable.  </a:t>
            </a:r>
          </a:p>
          <a:p>
            <a:pPr lvl="1"/>
            <a:r>
              <a:rPr lang="en-US" altLang="en-US" sz="2800">
                <a:ea typeface="MS PGothic" charset="-128"/>
              </a:rPr>
              <a:t>Variables are bound to values not memory locations and their values cannot change.  </a:t>
            </a:r>
          </a:p>
          <a:p>
            <a:pPr lvl="1"/>
            <a:r>
              <a:rPr lang="en-US" altLang="en-US" sz="2800">
                <a:ea typeface="MS PGothic" charset="-128"/>
              </a:rPr>
              <a:t>There is no concept of assignment, which can reset the value of a variable</a:t>
            </a:r>
          </a:p>
          <a:p>
            <a:pPr lvl="1"/>
            <a:r>
              <a:rPr lang="en-US" altLang="en-US" sz="2800">
                <a:ea typeface="MS PGothic" charset="-128"/>
              </a:rPr>
              <a:t>Lack of assignment makes traditional loops impossible!</a:t>
            </a:r>
            <a:endParaRPr lang="en-US" altLang="en-US">
              <a:ea typeface="MS PGothic" charset="-128"/>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203094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Programs as Functions</a:t>
            </a:r>
          </a:p>
        </p:txBody>
      </p:sp>
      <p:sp>
        <p:nvSpPr>
          <p:cNvPr id="3" name="Content Placeholder 2"/>
          <p:cNvSpPr>
            <a:spLocks noGrp="1"/>
          </p:cNvSpPr>
          <p:nvPr>
            <p:ph idx="1"/>
          </p:nvPr>
        </p:nvSpPr>
        <p:spPr/>
        <p:txBody>
          <a:bodyPr>
            <a:normAutofit/>
          </a:bodyPr>
          <a:lstStyle/>
          <a:p>
            <a:r>
              <a:rPr lang="en-US" altLang="en-US">
                <a:ea typeface="MS PGothic" charset="-128"/>
              </a:rPr>
              <a:t>The property where the value of any function depends only on the values of its arguments is called </a:t>
            </a:r>
            <a:r>
              <a:rPr lang="en-US" altLang="en-US" b="1">
                <a:ea typeface="MS PGothic" charset="-128"/>
              </a:rPr>
              <a:t>referential transparency</a:t>
            </a:r>
            <a:r>
              <a:rPr lang="en-US" altLang="en-US">
                <a:ea typeface="MS PGothic" charset="-128"/>
              </a:rPr>
              <a:t>.</a:t>
            </a:r>
            <a:endParaRPr lang="en-US" altLang="en-US" b="1">
              <a:ea typeface="MS PGothic" charset="-128"/>
            </a:endParaRPr>
          </a:p>
          <a:p>
            <a:pPr lvl="1"/>
            <a:r>
              <a:rPr lang="en-US" altLang="en-US" sz="2800">
                <a:ea typeface="MS PGothic" charset="-128"/>
              </a:rPr>
              <a:t>Ex: </a:t>
            </a:r>
            <a:r>
              <a:rPr lang="en-US" altLang="en-US" sz="2800" err="1">
                <a:ea typeface="MS PGothic" charset="-128"/>
              </a:rPr>
              <a:t>gcd</a:t>
            </a:r>
            <a:r>
              <a:rPr lang="en-US" altLang="en-US" sz="2800">
                <a:ea typeface="MS PGothic" charset="-128"/>
              </a:rPr>
              <a:t> verses rand  </a:t>
            </a:r>
          </a:p>
          <a:p>
            <a:pPr lvl="1"/>
            <a:r>
              <a:rPr lang="en-US" altLang="en-US" sz="2800">
                <a:ea typeface="MS PGothic" charset="-128"/>
              </a:rPr>
              <a:t>There is no notion of state, since there is no concept of memory locations with changing values – referred to as </a:t>
            </a:r>
            <a:r>
              <a:rPr lang="en-US" altLang="en-US" sz="2800" b="1">
                <a:ea typeface="MS PGothic" charset="-128"/>
              </a:rPr>
              <a:t>value semantics</a:t>
            </a:r>
          </a:p>
          <a:p>
            <a:r>
              <a:rPr lang="en-US" altLang="en-US">
                <a:ea typeface="MS PGothic" charset="-128"/>
              </a:rPr>
              <a:t>Functions can be manipulated in arbitrary ways and be general language objects and viewed as values themselves which can be computed by other functions or used as parameters to functions</a:t>
            </a:r>
          </a:p>
          <a:p>
            <a:pPr lvl="1"/>
            <a:r>
              <a:rPr lang="en-US" altLang="en-US" sz="2800">
                <a:ea typeface="MS PGothic" charset="-128"/>
              </a:rPr>
              <a:t>Functions are </a:t>
            </a:r>
            <a:r>
              <a:rPr lang="en-US" altLang="en-US" sz="2800" b="1">
                <a:ea typeface="MS PGothic" charset="-128"/>
              </a:rPr>
              <a:t>first-class data values</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503855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Programs as Functions</a:t>
            </a:r>
          </a:p>
        </p:txBody>
      </p:sp>
      <p:sp>
        <p:nvSpPr>
          <p:cNvPr id="3" name="Content Placeholder 2"/>
          <p:cNvSpPr>
            <a:spLocks noGrp="1"/>
          </p:cNvSpPr>
          <p:nvPr>
            <p:ph idx="1"/>
          </p:nvPr>
        </p:nvSpPr>
        <p:spPr/>
        <p:txBody>
          <a:bodyPr>
            <a:normAutofit/>
          </a:bodyPr>
          <a:lstStyle/>
          <a:p>
            <a:pPr>
              <a:defRPr/>
            </a:pPr>
            <a:r>
              <a:rPr lang="en-US" b="1"/>
              <a:t>Composition</a:t>
            </a:r>
            <a:r>
              <a:rPr lang="en-US"/>
              <a:t>: essential operation on functions</a:t>
            </a:r>
          </a:p>
          <a:p>
            <a:pPr lvl="1">
              <a:defRPr/>
            </a:pPr>
            <a:r>
              <a:rPr lang="en-US">
                <a:ea typeface="ＭＳ Ｐゴシック" charset="0"/>
              </a:rPr>
              <a:t>A function takes two functions as parameters and produces another function as its returned value</a:t>
            </a:r>
          </a:p>
          <a:p>
            <a:pPr>
              <a:defRPr/>
            </a:pPr>
            <a:r>
              <a:rPr lang="en-US"/>
              <a:t>In math, the composition operator </a:t>
            </a:r>
            <a:r>
              <a:rPr lang="en-US" i="1"/>
              <a:t>o</a:t>
            </a:r>
            <a:r>
              <a:rPr lang="en-US"/>
              <a:t> is defined:</a:t>
            </a:r>
          </a:p>
          <a:p>
            <a:pPr marL="0" indent="0">
              <a:buFontTx/>
              <a:buNone/>
              <a:defRPr/>
            </a:pPr>
            <a:r>
              <a:rPr lang="en-US"/>
              <a:t>    If </a:t>
            </a:r>
            <a:r>
              <a:rPr lang="en-US" i="1" err="1"/>
              <a:t>f:X</a:t>
            </a:r>
            <a:r>
              <a:rPr lang="en-US" err="1">
                <a:sym typeface="Wingdings" pitchFamily="2" charset="2"/>
              </a:rPr>
              <a:t></a:t>
            </a:r>
            <a:r>
              <a:rPr lang="en-US" i="1" err="1">
                <a:sym typeface="Wingdings" pitchFamily="2" charset="2"/>
              </a:rPr>
              <a:t>Y</a:t>
            </a:r>
            <a:r>
              <a:rPr lang="en-US">
                <a:sym typeface="Wingdings" pitchFamily="2" charset="2"/>
              </a:rPr>
              <a:t> and </a:t>
            </a:r>
            <a:r>
              <a:rPr lang="en-US" i="1" err="1">
                <a:sym typeface="Wingdings" pitchFamily="2" charset="2"/>
              </a:rPr>
              <a:t>g:Y</a:t>
            </a:r>
            <a:r>
              <a:rPr lang="en-US" err="1">
                <a:sym typeface="Wingdings" pitchFamily="2" charset="2"/>
              </a:rPr>
              <a:t></a:t>
            </a:r>
            <a:r>
              <a:rPr lang="en-US" i="1" err="1">
                <a:sym typeface="Wingdings" pitchFamily="2" charset="2"/>
              </a:rPr>
              <a:t>Z</a:t>
            </a:r>
            <a:r>
              <a:rPr lang="en-US">
                <a:sym typeface="Wingdings" pitchFamily="2" charset="2"/>
              </a:rPr>
              <a:t>, then </a:t>
            </a:r>
            <a:r>
              <a:rPr lang="en-US" i="1">
                <a:sym typeface="Wingdings" pitchFamily="2" charset="2"/>
              </a:rPr>
              <a:t>g o </a:t>
            </a:r>
            <a:r>
              <a:rPr lang="en-US" i="1" err="1">
                <a:sym typeface="Wingdings" pitchFamily="2" charset="2"/>
              </a:rPr>
              <a:t>f:X</a:t>
            </a:r>
            <a:r>
              <a:rPr lang="en-US" err="1">
                <a:sym typeface="Wingdings" pitchFamily="2" charset="2"/>
              </a:rPr>
              <a:t></a:t>
            </a:r>
            <a:r>
              <a:rPr lang="en-US" i="1" err="1">
                <a:sym typeface="Wingdings" pitchFamily="2" charset="2"/>
              </a:rPr>
              <a:t>Z</a:t>
            </a:r>
            <a:r>
              <a:rPr lang="en-US" i="1">
                <a:sym typeface="Wingdings" pitchFamily="2" charset="2"/>
              </a:rPr>
              <a:t> </a:t>
            </a:r>
            <a:r>
              <a:rPr lang="en-US">
                <a:sym typeface="Wingdings" pitchFamily="2" charset="2"/>
              </a:rPr>
              <a:t>is given by</a:t>
            </a:r>
          </a:p>
          <a:p>
            <a:pPr marL="0" indent="0">
              <a:buFontTx/>
              <a:buNone/>
              <a:defRPr/>
            </a:pPr>
            <a:r>
              <a:rPr lang="en-US">
                <a:sym typeface="Wingdings" pitchFamily="2" charset="2"/>
              </a:rPr>
              <a:t>	</a:t>
            </a:r>
            <a:r>
              <a:rPr lang="en-US" i="1">
                <a:sym typeface="Wingdings" pitchFamily="2" charset="2"/>
              </a:rPr>
              <a:t> 					(g o f)(x) = g(f(x))</a:t>
            </a:r>
          </a:p>
          <a:p>
            <a:pPr>
              <a:defRPr/>
            </a:pPr>
            <a:r>
              <a:rPr lang="en-US" b="1">
                <a:solidFill>
                  <a:prstClr val="black"/>
                </a:solidFill>
              </a:rPr>
              <a:t>Higher-order functions</a:t>
            </a:r>
            <a:r>
              <a:rPr lang="en-US">
                <a:solidFill>
                  <a:prstClr val="black"/>
                </a:solidFill>
              </a:rPr>
              <a:t>: function that have parameters that are functions themselves or that produce a result that is a function</a:t>
            </a:r>
            <a:endParaRPr lang="en-US" i="1"/>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521505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Functional Programming</a:t>
            </a:r>
          </a:p>
        </p:txBody>
      </p:sp>
      <p:sp>
        <p:nvSpPr>
          <p:cNvPr id="3" name="Content Placeholder 2"/>
          <p:cNvSpPr>
            <a:spLocks noGrp="1"/>
          </p:cNvSpPr>
          <p:nvPr>
            <p:ph idx="1"/>
          </p:nvPr>
        </p:nvSpPr>
        <p:spPr>
          <a:xfrm>
            <a:off x="838200" y="1825624"/>
            <a:ext cx="10515600" cy="5032376"/>
          </a:xfrm>
        </p:spPr>
        <p:txBody>
          <a:bodyPr>
            <a:normAutofit/>
          </a:bodyPr>
          <a:lstStyle/>
          <a:p>
            <a:r>
              <a:rPr lang="en-US" b="1"/>
              <a:t>Functional Programming</a:t>
            </a:r>
            <a:r>
              <a:rPr lang="en-US"/>
              <a:t>: A programming paradigm which treats computation as the evaluation of mathematical functions</a:t>
            </a:r>
          </a:p>
          <a:p>
            <a:r>
              <a:rPr lang="en-US"/>
              <a:t>An easy example of a functional language is spreadsheet calculation </a:t>
            </a:r>
          </a:p>
          <a:p>
            <a:pPr lvl="1"/>
            <a:r>
              <a:rPr lang="en-US"/>
              <a:t>Data is stored in cells and transformations take place from cell to cell</a:t>
            </a:r>
          </a:p>
          <a:p>
            <a:pPr lvl="1"/>
            <a:r>
              <a:rPr lang="en-US"/>
              <a:t>Ultimately producing a result </a:t>
            </a:r>
          </a:p>
          <a:p>
            <a:r>
              <a:rPr lang="en-US"/>
              <a:t>This paradigm is different from the imperative paradigm</a:t>
            </a:r>
          </a:p>
          <a:p>
            <a:pPr lvl="1"/>
            <a:r>
              <a:rPr lang="en-US"/>
              <a:t>No explicit sequence of steps, just transformations (which may have dependencies)</a:t>
            </a:r>
          </a:p>
          <a:p>
            <a:pPr lvl="1"/>
            <a:r>
              <a:rPr lang="en-US"/>
              <a:t>No memory side effects </a:t>
            </a:r>
          </a:p>
          <a:p>
            <a:r>
              <a:rPr lang="en-US" b="1"/>
              <a:t>Side Effects</a:t>
            </a:r>
            <a:r>
              <a:rPr lang="en-US"/>
              <a:t>: A change in the value of a variable that persists beyond the local scope</a:t>
            </a:r>
            <a:endParaRPr lang="en-US" b="1"/>
          </a:p>
          <a:p>
            <a:pPr lvl="1"/>
            <a:endParaRPr lang="en-US"/>
          </a:p>
        </p:txBody>
      </p:sp>
    </p:spTree>
    <p:extLst>
      <p:ext uri="{BB962C8B-B14F-4D97-AF65-F5344CB8AC3E}">
        <p14:creationId xmlns:p14="http://schemas.microsoft.com/office/powerpoint/2010/main" val="474005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Functional Programming</a:t>
            </a:r>
          </a:p>
        </p:txBody>
      </p:sp>
      <p:sp>
        <p:nvSpPr>
          <p:cNvPr id="3" name="Content Placeholder 2"/>
          <p:cNvSpPr>
            <a:spLocks noGrp="1"/>
          </p:cNvSpPr>
          <p:nvPr>
            <p:ph idx="1"/>
          </p:nvPr>
        </p:nvSpPr>
        <p:spPr>
          <a:xfrm>
            <a:off x="838200" y="1825624"/>
            <a:ext cx="10515600" cy="5032376"/>
          </a:xfrm>
        </p:spPr>
        <p:txBody>
          <a:bodyPr>
            <a:normAutofit/>
          </a:bodyPr>
          <a:lstStyle/>
          <a:p>
            <a:r>
              <a:rPr lang="en-US"/>
              <a:t>Without side effects means:</a:t>
            </a:r>
          </a:p>
          <a:p>
            <a:pPr lvl="1"/>
            <a:r>
              <a:rPr lang="en-US" sz="2800"/>
              <a:t>If the result of a function is not used, it can be removed from the program </a:t>
            </a:r>
          </a:p>
          <a:p>
            <a:pPr lvl="1"/>
            <a:r>
              <a:rPr lang="en-US" sz="2800"/>
              <a:t>Same parameters passed to a function always produce the same results </a:t>
            </a:r>
          </a:p>
          <a:p>
            <a:pPr lvl="1"/>
            <a:r>
              <a:rPr lang="en-US" sz="2800"/>
              <a:t>If there is no data dependency between functions, the functions can be evaluated in any order  </a:t>
            </a:r>
          </a:p>
          <a:p>
            <a:pPr lvl="2"/>
            <a:r>
              <a:rPr lang="en-US" sz="2400"/>
              <a:t>Implicitly parallelizable, unlike imperative languages </a:t>
            </a:r>
          </a:p>
          <a:p>
            <a:pPr lvl="2"/>
            <a:r>
              <a:rPr lang="en-US" sz="2400"/>
              <a:t>In our multicore world, implicit parallelization is extremely valuable!!</a:t>
            </a:r>
          </a:p>
          <a:p>
            <a:pPr lvl="1"/>
            <a:endParaRPr lang="en-US"/>
          </a:p>
          <a:p>
            <a:pPr lvl="1"/>
            <a:endParaRPr lang="en-US"/>
          </a:p>
        </p:txBody>
      </p:sp>
    </p:spTree>
    <p:extLst>
      <p:ext uri="{BB962C8B-B14F-4D97-AF65-F5344CB8AC3E}">
        <p14:creationId xmlns:p14="http://schemas.microsoft.com/office/powerpoint/2010/main" val="579680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A Dialect of Lisp</a:t>
            </a:r>
          </a:p>
        </p:txBody>
      </p:sp>
      <p:sp>
        <p:nvSpPr>
          <p:cNvPr id="3" name="Content Placeholder 2"/>
          <p:cNvSpPr>
            <a:spLocks noGrp="1"/>
          </p:cNvSpPr>
          <p:nvPr>
            <p:ph idx="1"/>
          </p:nvPr>
        </p:nvSpPr>
        <p:spPr/>
        <p:txBody>
          <a:bodyPr>
            <a:normAutofit/>
          </a:bodyPr>
          <a:lstStyle/>
          <a:p>
            <a:r>
              <a:rPr lang="en-US" altLang="en-US" b="1">
                <a:ea typeface="MS PGothic" charset="-128"/>
              </a:rPr>
              <a:t>Lisp</a:t>
            </a:r>
            <a:r>
              <a:rPr lang="en-US" altLang="en-US">
                <a:ea typeface="MS PGothic" charset="-128"/>
              </a:rPr>
              <a:t> (</a:t>
            </a:r>
            <a:r>
              <a:rPr lang="en-US" altLang="en-US" b="1" err="1">
                <a:ea typeface="MS PGothic" charset="-128"/>
              </a:rPr>
              <a:t>LISt</a:t>
            </a:r>
            <a:r>
              <a:rPr lang="en-US" altLang="en-US" b="1">
                <a:ea typeface="MS PGothic" charset="-128"/>
              </a:rPr>
              <a:t> Processing</a:t>
            </a:r>
            <a:r>
              <a:rPr lang="en-US" altLang="en-US">
                <a:ea typeface="MS PGothic" charset="-128"/>
              </a:rPr>
              <a:t>): first language that contained many of the features of modern functional languages</a:t>
            </a:r>
          </a:p>
          <a:p>
            <a:r>
              <a:rPr lang="en-US" altLang="en-US">
                <a:ea typeface="MS PGothic" charset="-128"/>
              </a:rPr>
              <a:t>Features included:</a:t>
            </a:r>
          </a:p>
          <a:p>
            <a:pPr lvl="1"/>
            <a:r>
              <a:rPr lang="en-US" altLang="en-US" sz="2800">
                <a:ea typeface="MS PGothic" charset="-128"/>
              </a:rPr>
              <a:t>Uniform representation of programs and data using a single general structure: the list</a:t>
            </a:r>
          </a:p>
          <a:p>
            <a:pPr lvl="1"/>
            <a:r>
              <a:rPr lang="en-US" altLang="en-US" sz="2800">
                <a:ea typeface="MS PGothic" charset="-128"/>
              </a:rPr>
              <a:t>Definition of the language using an interpreter written in the language itself</a:t>
            </a:r>
          </a:p>
          <a:p>
            <a:pPr lvl="1"/>
            <a:r>
              <a:rPr lang="en-US" altLang="en-US" sz="2800">
                <a:ea typeface="MS PGothic" charset="-128"/>
              </a:rPr>
              <a:t>Automatic memory management by the runtime system</a:t>
            </a:r>
            <a:endParaRPr lang="en-US" altLang="en-US">
              <a:ea typeface="MS PGothic" charset="-128"/>
            </a:endParaRPr>
          </a:p>
          <a:p>
            <a:r>
              <a:rPr lang="en-US" altLang="en-US">
                <a:ea typeface="MS PGothic" charset="-128"/>
              </a:rPr>
              <a:t>In this course we will use Common Lisp, a direct descendent of Lisp</a:t>
            </a:r>
            <a:r>
              <a:rPr lang="en-US" altLang="en-US" sz="1800" kern="0">
                <a:solidFill>
                  <a:srgbClr val="222222"/>
                </a:solidFill>
                <a:latin typeface="Courier New" charset="0"/>
                <a:ea typeface="MS PGothic" charset="-128"/>
              </a:rPr>
              <a:t>	</a:t>
            </a:r>
          </a:p>
        </p:txBody>
      </p:sp>
    </p:spTree>
    <p:extLst>
      <p:ext uri="{BB962C8B-B14F-4D97-AF65-F5344CB8AC3E}">
        <p14:creationId xmlns:p14="http://schemas.microsoft.com/office/powerpoint/2010/main" val="67801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LISP BNF</a:t>
            </a:r>
          </a:p>
        </p:txBody>
      </p:sp>
      <p:sp>
        <p:nvSpPr>
          <p:cNvPr id="3" name="Content Placeholder 2"/>
          <p:cNvSpPr>
            <a:spLocks noGrp="1"/>
          </p:cNvSpPr>
          <p:nvPr>
            <p:ph idx="1"/>
          </p:nvPr>
        </p:nvSpPr>
        <p:spPr/>
        <p:txBody>
          <a:bodyPr>
            <a:noAutofit/>
          </a:bodyPr>
          <a:lstStyle/>
          <a:p>
            <a:pPr marL="0" lvl="0" indent="0">
              <a:lnSpc>
                <a:spcPct val="100000"/>
              </a:lnSpc>
              <a:spcBef>
                <a:spcPts val="0"/>
              </a:spcBef>
              <a:buNone/>
            </a:pPr>
            <a:r>
              <a:rPr lang="en-US" sz="2000" err="1">
                <a:latin typeface="Courier New" charset="0"/>
                <a:ea typeface="Courier New" charset="0"/>
                <a:cs typeface="Courier New" charset="0"/>
              </a:rPr>
              <a:t>s_expression</a:t>
            </a:r>
            <a:r>
              <a:rPr lang="en-US" sz="2000">
                <a:latin typeface="Courier New" charset="0"/>
                <a:ea typeface="Courier New" charset="0"/>
                <a:cs typeface="Courier New" charset="0"/>
              </a:rPr>
              <a:t> = </a:t>
            </a:r>
            <a:r>
              <a:rPr lang="en-US" sz="2000" err="1">
                <a:latin typeface="Courier New" charset="0"/>
                <a:ea typeface="Courier New" charset="0"/>
                <a:cs typeface="Courier New" charset="0"/>
              </a:rPr>
              <a:t>atomic_symbol</a:t>
            </a:r>
            <a:r>
              <a:rPr lang="en-US" sz="2000">
                <a:latin typeface="Courier New" charset="0"/>
                <a:ea typeface="Courier New" charset="0"/>
                <a:cs typeface="Courier New" charset="0"/>
              </a:rPr>
              <a:t> |"(" </a:t>
            </a:r>
            <a:r>
              <a:rPr lang="en-US" sz="2000" err="1">
                <a:latin typeface="Courier New" charset="0"/>
                <a:ea typeface="Courier New" charset="0"/>
                <a:cs typeface="Courier New" charset="0"/>
              </a:rPr>
              <a:t>s_expression</a:t>
            </a:r>
            <a:r>
              <a:rPr lang="en-US" sz="2000">
                <a:latin typeface="Courier New" charset="0"/>
                <a:ea typeface="Courier New" charset="0"/>
                <a:cs typeface="Courier New" charset="0"/>
              </a:rPr>
              <a:t> "." </a:t>
            </a:r>
            <a:r>
              <a:rPr lang="en-US" sz="2000" err="1">
                <a:latin typeface="Courier New" charset="0"/>
                <a:ea typeface="Courier New" charset="0"/>
                <a:cs typeface="Courier New" charset="0"/>
              </a:rPr>
              <a:t>s_expression</a:t>
            </a:r>
            <a:r>
              <a:rPr lang="en-US" sz="2000">
                <a:latin typeface="Courier New" charset="0"/>
                <a:ea typeface="Courier New" charset="0"/>
                <a:cs typeface="Courier New" charset="0"/>
              </a:rPr>
              <a:t> ")" | list </a:t>
            </a:r>
          </a:p>
          <a:p>
            <a:pPr marL="0" lvl="0" indent="0">
              <a:lnSpc>
                <a:spcPct val="100000"/>
              </a:lnSpc>
              <a:spcBef>
                <a:spcPts val="0"/>
              </a:spcBef>
              <a:buNone/>
            </a:pPr>
            <a:endParaRPr lang="en-US" sz="2000">
              <a:latin typeface="Courier New" charset="0"/>
              <a:ea typeface="Courier New" charset="0"/>
              <a:cs typeface="Courier New" charset="0"/>
            </a:endParaRPr>
          </a:p>
          <a:p>
            <a:pPr marL="0" lvl="0" indent="0">
              <a:lnSpc>
                <a:spcPct val="100000"/>
              </a:lnSpc>
              <a:spcBef>
                <a:spcPts val="0"/>
              </a:spcBef>
              <a:buNone/>
            </a:pPr>
            <a:r>
              <a:rPr lang="en-US" sz="2000">
                <a:latin typeface="Courier New" charset="0"/>
                <a:ea typeface="Courier New" charset="0"/>
                <a:cs typeface="Courier New" charset="0"/>
              </a:rPr>
              <a:t>list = "(" </a:t>
            </a:r>
            <a:r>
              <a:rPr lang="en-US" sz="2000" err="1">
                <a:latin typeface="Courier New" charset="0"/>
                <a:ea typeface="Courier New" charset="0"/>
                <a:cs typeface="Courier New" charset="0"/>
              </a:rPr>
              <a:t>s_expression</a:t>
            </a:r>
            <a:r>
              <a:rPr lang="en-US" sz="2000">
                <a:latin typeface="Courier New" charset="0"/>
                <a:ea typeface="Courier New" charset="0"/>
                <a:cs typeface="Courier New" charset="0"/>
              </a:rPr>
              <a:t> &lt; </a:t>
            </a:r>
            <a:r>
              <a:rPr lang="en-US" sz="2000" err="1">
                <a:latin typeface="Courier New" charset="0"/>
                <a:ea typeface="Courier New" charset="0"/>
                <a:cs typeface="Courier New" charset="0"/>
              </a:rPr>
              <a:t>s_expression</a:t>
            </a:r>
            <a:r>
              <a:rPr lang="en-US" sz="2000">
                <a:latin typeface="Courier New" charset="0"/>
                <a:ea typeface="Courier New" charset="0"/>
                <a:cs typeface="Courier New" charset="0"/>
              </a:rPr>
              <a:t> &gt; ")" </a:t>
            </a:r>
          </a:p>
          <a:p>
            <a:pPr marL="0" lvl="0" indent="0">
              <a:lnSpc>
                <a:spcPct val="100000"/>
              </a:lnSpc>
              <a:spcBef>
                <a:spcPts val="0"/>
              </a:spcBef>
              <a:buNone/>
            </a:pPr>
            <a:endParaRPr lang="en-US" sz="2000">
              <a:latin typeface="Courier New" charset="0"/>
              <a:ea typeface="Courier New" charset="0"/>
              <a:cs typeface="Courier New" charset="0"/>
            </a:endParaRPr>
          </a:p>
          <a:p>
            <a:pPr marL="0" lvl="0" indent="0">
              <a:lnSpc>
                <a:spcPct val="100000"/>
              </a:lnSpc>
              <a:spcBef>
                <a:spcPts val="0"/>
              </a:spcBef>
              <a:buNone/>
            </a:pPr>
            <a:r>
              <a:rPr lang="en-US" sz="2000" err="1">
                <a:latin typeface="Courier New" charset="0"/>
                <a:ea typeface="Courier New" charset="0"/>
                <a:cs typeface="Courier New" charset="0"/>
              </a:rPr>
              <a:t>atomic_symbol</a:t>
            </a:r>
            <a:r>
              <a:rPr lang="en-US" sz="2000">
                <a:latin typeface="Courier New" charset="0"/>
                <a:ea typeface="Courier New" charset="0"/>
                <a:cs typeface="Courier New" charset="0"/>
              </a:rPr>
              <a:t> = letter </a:t>
            </a:r>
            <a:r>
              <a:rPr lang="en-US" sz="2000" err="1">
                <a:latin typeface="Courier New" charset="0"/>
                <a:ea typeface="Courier New" charset="0"/>
                <a:cs typeface="Courier New" charset="0"/>
              </a:rPr>
              <a:t>atom_part</a:t>
            </a:r>
            <a:r>
              <a:rPr lang="en-US" sz="2000">
                <a:latin typeface="Courier New" charset="0"/>
                <a:ea typeface="Courier New" charset="0"/>
                <a:cs typeface="Courier New" charset="0"/>
              </a:rPr>
              <a:t> </a:t>
            </a:r>
          </a:p>
          <a:p>
            <a:pPr marL="0" lvl="0" indent="0">
              <a:lnSpc>
                <a:spcPct val="100000"/>
              </a:lnSpc>
              <a:spcBef>
                <a:spcPts val="0"/>
              </a:spcBef>
              <a:buNone/>
            </a:pPr>
            <a:endParaRPr lang="en-US" sz="2000">
              <a:latin typeface="Courier New" charset="0"/>
              <a:ea typeface="Courier New" charset="0"/>
              <a:cs typeface="Courier New" charset="0"/>
            </a:endParaRPr>
          </a:p>
          <a:p>
            <a:pPr marL="0" lvl="0" indent="0">
              <a:lnSpc>
                <a:spcPct val="100000"/>
              </a:lnSpc>
              <a:spcBef>
                <a:spcPts val="0"/>
              </a:spcBef>
              <a:buNone/>
            </a:pPr>
            <a:r>
              <a:rPr lang="en-US" sz="2000" err="1">
                <a:latin typeface="Courier New" charset="0"/>
                <a:ea typeface="Courier New" charset="0"/>
                <a:cs typeface="Courier New" charset="0"/>
              </a:rPr>
              <a:t>atom_part</a:t>
            </a:r>
            <a:r>
              <a:rPr lang="en-US" sz="2000">
                <a:latin typeface="Courier New" charset="0"/>
                <a:ea typeface="Courier New" charset="0"/>
                <a:cs typeface="Courier New" charset="0"/>
              </a:rPr>
              <a:t> = empty | letter </a:t>
            </a:r>
            <a:r>
              <a:rPr lang="en-US" sz="2000" err="1">
                <a:latin typeface="Courier New" charset="0"/>
                <a:ea typeface="Courier New" charset="0"/>
                <a:cs typeface="Courier New" charset="0"/>
              </a:rPr>
              <a:t>atom_part</a:t>
            </a:r>
            <a:r>
              <a:rPr lang="en-US" sz="2000">
                <a:latin typeface="Courier New" charset="0"/>
                <a:ea typeface="Courier New" charset="0"/>
                <a:cs typeface="Courier New" charset="0"/>
              </a:rPr>
              <a:t> | number </a:t>
            </a:r>
            <a:r>
              <a:rPr lang="en-US" sz="2000" err="1">
                <a:latin typeface="Courier New" charset="0"/>
                <a:ea typeface="Courier New" charset="0"/>
                <a:cs typeface="Courier New" charset="0"/>
              </a:rPr>
              <a:t>atom_part</a:t>
            </a:r>
            <a:endParaRPr lang="en-US" sz="2000">
              <a:latin typeface="Courier New" charset="0"/>
              <a:ea typeface="Courier New" charset="0"/>
              <a:cs typeface="Courier New" charset="0"/>
            </a:endParaRPr>
          </a:p>
          <a:p>
            <a:pPr marL="0" lvl="0" indent="0">
              <a:lnSpc>
                <a:spcPct val="100000"/>
              </a:lnSpc>
              <a:spcBef>
                <a:spcPts val="0"/>
              </a:spcBef>
              <a:buNone/>
            </a:pPr>
            <a:endParaRPr lang="en-US" sz="2000">
              <a:latin typeface="Courier New" charset="0"/>
              <a:ea typeface="Courier New" charset="0"/>
              <a:cs typeface="Courier New" charset="0"/>
            </a:endParaRPr>
          </a:p>
          <a:p>
            <a:pPr marL="0" lvl="0" indent="0">
              <a:lnSpc>
                <a:spcPct val="100000"/>
              </a:lnSpc>
              <a:spcBef>
                <a:spcPts val="0"/>
              </a:spcBef>
              <a:buNone/>
            </a:pPr>
            <a:r>
              <a:rPr lang="en-US" sz="2000">
                <a:latin typeface="Courier New" charset="0"/>
                <a:ea typeface="Courier New" charset="0"/>
                <a:cs typeface="Courier New" charset="0"/>
              </a:rPr>
              <a:t>letter = "a" / "b" / " ..." / "z" </a:t>
            </a:r>
          </a:p>
          <a:p>
            <a:pPr marL="0" lvl="0" indent="0">
              <a:lnSpc>
                <a:spcPct val="100000"/>
              </a:lnSpc>
              <a:spcBef>
                <a:spcPts val="0"/>
              </a:spcBef>
              <a:buNone/>
            </a:pPr>
            <a:endParaRPr lang="en-US" sz="2000">
              <a:latin typeface="Courier New" charset="0"/>
              <a:ea typeface="Courier New" charset="0"/>
              <a:cs typeface="Courier New" charset="0"/>
            </a:endParaRPr>
          </a:p>
          <a:p>
            <a:pPr marL="0" lvl="0" indent="0">
              <a:lnSpc>
                <a:spcPct val="100000"/>
              </a:lnSpc>
              <a:spcBef>
                <a:spcPts val="0"/>
              </a:spcBef>
              <a:buNone/>
            </a:pPr>
            <a:r>
              <a:rPr lang="en-US" sz="2000">
                <a:latin typeface="Courier New" charset="0"/>
                <a:ea typeface="Courier New" charset="0"/>
                <a:cs typeface="Courier New" charset="0"/>
              </a:rPr>
              <a:t>number = "1" / "2" / " ..." / "9" </a:t>
            </a:r>
          </a:p>
          <a:p>
            <a:pPr marL="0" lvl="0" indent="0">
              <a:lnSpc>
                <a:spcPct val="100000"/>
              </a:lnSpc>
              <a:spcBef>
                <a:spcPts val="0"/>
              </a:spcBef>
              <a:buNone/>
            </a:pPr>
            <a:endParaRPr lang="en-US" sz="2000">
              <a:latin typeface="Courier New" charset="0"/>
              <a:ea typeface="Courier New" charset="0"/>
              <a:cs typeface="Courier New" charset="0"/>
            </a:endParaRPr>
          </a:p>
          <a:p>
            <a:pPr marL="0" lvl="0" indent="0">
              <a:lnSpc>
                <a:spcPct val="100000"/>
              </a:lnSpc>
              <a:spcBef>
                <a:spcPts val="0"/>
              </a:spcBef>
              <a:buNone/>
            </a:pPr>
            <a:r>
              <a:rPr lang="en-US" sz="2000">
                <a:latin typeface="Courier New" charset="0"/>
                <a:ea typeface="Courier New" charset="0"/>
                <a:cs typeface="Courier New" charset="0"/>
              </a:rPr>
              <a:t>empty = " "</a:t>
            </a:r>
            <a:endParaRPr lang="en-US" sz="2000" b="1">
              <a:latin typeface="Courier New" charset="0"/>
              <a:ea typeface="Courier New" charset="0"/>
              <a:cs typeface="Courier New" charset="0"/>
            </a:endParaRPr>
          </a:p>
        </p:txBody>
      </p:sp>
    </p:spTree>
    <p:extLst>
      <p:ext uri="{BB962C8B-B14F-4D97-AF65-F5344CB8AC3E}">
        <p14:creationId xmlns:p14="http://schemas.microsoft.com/office/powerpoint/2010/main" val="183548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Elements of Common Lisp</a:t>
            </a:r>
          </a:p>
        </p:txBody>
      </p:sp>
      <p:sp>
        <p:nvSpPr>
          <p:cNvPr id="3" name="Content Placeholder 2"/>
          <p:cNvSpPr>
            <a:spLocks noGrp="1"/>
          </p:cNvSpPr>
          <p:nvPr>
            <p:ph idx="1"/>
          </p:nvPr>
        </p:nvSpPr>
        <p:spPr/>
        <p:txBody>
          <a:bodyPr>
            <a:normAutofit/>
          </a:bodyPr>
          <a:lstStyle/>
          <a:p>
            <a:pPr>
              <a:defRPr/>
            </a:pPr>
            <a:r>
              <a:rPr lang="en-US" altLang="en-US"/>
              <a:t>All programs and data in Common Lisp are considered S-expressions</a:t>
            </a:r>
          </a:p>
          <a:p>
            <a:pPr>
              <a:defRPr/>
            </a:pPr>
            <a:r>
              <a:rPr lang="en-US" altLang="en-US"/>
              <a:t>There are two types of S-expressions:</a:t>
            </a:r>
          </a:p>
          <a:p>
            <a:pPr lvl="1">
              <a:defRPr/>
            </a:pPr>
            <a:r>
              <a:rPr lang="en-US" altLang="en-US" sz="2800"/>
              <a:t>Atoms: literal constants such as strings, numbers, and </a:t>
            </a:r>
            <a:r>
              <a:rPr lang="en-US" altLang="en-US" sz="2800" err="1"/>
              <a:t>booleans</a:t>
            </a:r>
            <a:endParaRPr lang="en-US" altLang="en-US" sz="2800"/>
          </a:p>
          <a:p>
            <a:pPr lvl="1">
              <a:defRPr/>
            </a:pPr>
            <a:r>
              <a:rPr lang="en-US" altLang="en-US" sz="2800"/>
              <a:t>Lists: sequence of zero or more expressions separated by spaces and surrounded by parentheses</a:t>
            </a:r>
          </a:p>
          <a:p>
            <a:pPr lvl="1">
              <a:defRPr/>
            </a:pPr>
            <a:r>
              <a:rPr lang="en-US" altLang="en-US" sz="2800"/>
              <a:t>Ex:  </a:t>
            </a:r>
            <a:r>
              <a:rPr lang="en-US" altLang="en-US">
                <a:latin typeface="Courier New" panose="02070309020205020404" pitchFamily="49" charset="0"/>
                <a:cs typeface="Courier New" panose="02070309020205020404" pitchFamily="49" charset="0"/>
              </a:rPr>
              <a:t>( 3 4 5 ) </a:t>
            </a:r>
          </a:p>
          <a:p>
            <a:pPr marL="457200" lvl="1" indent="0">
              <a:buFontTx/>
              <a:buNone/>
              <a:defRPr/>
            </a:pPr>
            <a:r>
              <a:rPr lang="en-US" altLang="en-US">
                <a:latin typeface="Courier New" panose="02070309020205020404" pitchFamily="49" charset="0"/>
                <a:cs typeface="Courier New" panose="02070309020205020404" pitchFamily="49" charset="0"/>
              </a:rPr>
              <a:t>	  (</a:t>
            </a:r>
            <a:r>
              <a:rPr lang="mr-IN" altLang="en-US">
                <a:latin typeface="Courier New" panose="02070309020205020404" pitchFamily="49" charset="0"/>
                <a:cs typeface="Courier New" panose="02070309020205020404" pitchFamily="49" charset="0"/>
              </a:rPr>
              <a:t>"</a:t>
            </a:r>
            <a:r>
              <a:rPr lang="en-US" altLang="en-US" err="1">
                <a:latin typeface="Courier New" panose="02070309020205020404" pitchFamily="49" charset="0"/>
                <a:cs typeface="Courier New" panose="02070309020205020404" pitchFamily="49" charset="0"/>
              </a:rPr>
              <a:t>abc</a:t>
            </a:r>
            <a:r>
              <a:rPr lang="mr-IN" altLang="en-US">
                <a:latin typeface="Courier New" panose="02070309020205020404" pitchFamily="49" charset="0"/>
                <a:cs typeface="Courier New" panose="02070309020205020404" pitchFamily="49" charset="0"/>
              </a:rPr>
              <a:t>"</a:t>
            </a:r>
            <a:r>
              <a:rPr lang="en-US" altLang="en-US">
                <a:latin typeface="Courier New" panose="02070309020205020404" pitchFamily="49" charset="0"/>
                <a:cs typeface="Courier New" panose="02070309020205020404" pitchFamily="49" charset="0"/>
              </a:rPr>
              <a:t> 7 (9 10) )</a:t>
            </a:r>
          </a:p>
        </p:txBody>
      </p:sp>
    </p:spTree>
    <p:extLst>
      <p:ext uri="{BB962C8B-B14F-4D97-AF65-F5344CB8AC3E}">
        <p14:creationId xmlns:p14="http://schemas.microsoft.com/office/powerpoint/2010/main" val="155903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ltLang="en-US">
                <a:ea typeface="MS PGothic" charset="-128"/>
              </a:rPr>
              <a:t>The list data structure supports:</a:t>
            </a:r>
          </a:p>
          <a:p>
            <a:pPr lvl="1">
              <a:defRPr/>
            </a:pPr>
            <a:r>
              <a:rPr lang="en-US" altLang="en-US" sz="2800">
                <a:ea typeface="MS PGothic" charset="-128"/>
              </a:rPr>
              <a:t>structured types for vectors (one-dimensional arrays) </a:t>
            </a:r>
          </a:p>
          <a:p>
            <a:pPr lvl="1">
              <a:defRPr/>
            </a:pPr>
            <a:r>
              <a:rPr lang="en-US" altLang="en-US" sz="2800">
                <a:ea typeface="MS PGothic" charset="-128"/>
              </a:rPr>
              <a:t>strings</a:t>
            </a:r>
          </a:p>
          <a:p>
            <a:pPr>
              <a:defRPr/>
            </a:pPr>
            <a:r>
              <a:rPr lang="en-US" altLang="en-US">
                <a:ea typeface="MS PGothic" charset="-128"/>
              </a:rPr>
              <a:t>It also represents:</a:t>
            </a:r>
          </a:p>
          <a:p>
            <a:pPr lvl="1">
              <a:defRPr/>
            </a:pPr>
            <a:r>
              <a:rPr lang="en-US" altLang="en-US" sz="2800">
                <a:ea typeface="MS PGothic" charset="-128"/>
              </a:rPr>
              <a:t>A sequence</a:t>
            </a:r>
          </a:p>
          <a:p>
            <a:pPr lvl="1">
              <a:defRPr/>
            </a:pPr>
            <a:r>
              <a:rPr lang="en-US" altLang="en-US" sz="2800">
                <a:ea typeface="MS PGothic" charset="-128"/>
              </a:rPr>
              <a:t>A record</a:t>
            </a:r>
          </a:p>
          <a:p>
            <a:pPr lvl="1">
              <a:defRPr/>
            </a:pPr>
            <a:r>
              <a:rPr lang="en-US" altLang="en-US" sz="2800">
                <a:ea typeface="MS PGothic" charset="-128"/>
              </a:rPr>
              <a:t>Or any other structure</a:t>
            </a:r>
          </a:p>
          <a:p>
            <a:pPr>
              <a:defRPr/>
            </a:pPr>
            <a:endParaRPr lang="en-US"/>
          </a:p>
        </p:txBody>
      </p:sp>
    </p:spTree>
    <p:extLst>
      <p:ext uri="{BB962C8B-B14F-4D97-AF65-F5344CB8AC3E}">
        <p14:creationId xmlns:p14="http://schemas.microsoft.com/office/powerpoint/2010/main" val="1584843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ltLang="en-US">
                <a:ea typeface="MS PGothic" charset="-128"/>
              </a:rPr>
              <a:t>Example: a list representation of a binary search tree</a:t>
            </a:r>
          </a:p>
          <a:p>
            <a:pPr marL="400050" lvl="1" indent="0">
              <a:buFontTx/>
              <a:buNone/>
            </a:pPr>
            <a:r>
              <a:rPr lang="en-US" altLang="en-US">
                <a:solidFill>
                  <a:srgbClr val="00B0F0"/>
                </a:solidFill>
                <a:latin typeface="Courier New" charset="0"/>
                <a:ea typeface="MS PGothic" charset="-128"/>
              </a:rPr>
              <a:t>(</a:t>
            </a:r>
            <a:r>
              <a:rPr lang="en-US" altLang="en-US">
                <a:latin typeface="Courier New" charset="0"/>
                <a:ea typeface="MS PGothic" charset="-128"/>
              </a:rPr>
              <a:t>list</a:t>
            </a:r>
            <a:r>
              <a:rPr lang="en-US" altLang="en-US">
                <a:solidFill>
                  <a:srgbClr val="00B0F0"/>
                </a:solidFill>
                <a:latin typeface="Courier New" charset="0"/>
                <a:ea typeface="MS PGothic" charset="-128"/>
              </a:rPr>
              <a:t> </a:t>
            </a:r>
            <a:r>
              <a:rPr lang="en-US" altLang="en-US">
                <a:latin typeface="Courier New" charset="0"/>
                <a:ea typeface="MS PGothic" charset="-128"/>
              </a:rPr>
              <a:t>"horse" </a:t>
            </a:r>
            <a:r>
              <a:rPr lang="en-US" altLang="en-US">
                <a:solidFill>
                  <a:srgbClr val="FF0000"/>
                </a:solidFill>
                <a:latin typeface="Courier New" charset="0"/>
                <a:ea typeface="MS PGothic" charset="-128"/>
              </a:rPr>
              <a:t>(</a:t>
            </a:r>
            <a:r>
              <a:rPr lang="en-US" altLang="en-US">
                <a:latin typeface="Courier New" charset="0"/>
                <a:ea typeface="MS PGothic" charset="-128"/>
              </a:rPr>
              <a:t>list "cow" () </a:t>
            </a:r>
            <a:r>
              <a:rPr lang="en-US" altLang="en-US">
                <a:solidFill>
                  <a:srgbClr val="00B050"/>
                </a:solidFill>
                <a:latin typeface="Courier New" charset="0"/>
                <a:ea typeface="MS PGothic" charset="-128"/>
              </a:rPr>
              <a:t>(</a:t>
            </a:r>
            <a:r>
              <a:rPr lang="en-US" altLang="en-US">
                <a:latin typeface="Courier New" charset="0"/>
                <a:ea typeface="MS PGothic" charset="-128"/>
              </a:rPr>
              <a:t>list</a:t>
            </a:r>
            <a:r>
              <a:rPr lang="en-US" altLang="en-US">
                <a:solidFill>
                  <a:srgbClr val="00B050"/>
                </a:solidFill>
                <a:latin typeface="Courier New" charset="0"/>
                <a:ea typeface="MS PGothic" charset="-128"/>
              </a:rPr>
              <a:t> </a:t>
            </a:r>
            <a:r>
              <a:rPr lang="en-US" altLang="en-US">
                <a:latin typeface="Courier New" charset="0"/>
                <a:ea typeface="MS PGothic" charset="-128"/>
              </a:rPr>
              <a:t>"dog" () ()</a:t>
            </a:r>
            <a:r>
              <a:rPr lang="en-US" altLang="en-US">
                <a:solidFill>
                  <a:srgbClr val="00B050"/>
                </a:solidFill>
                <a:latin typeface="Courier New" charset="0"/>
                <a:ea typeface="MS PGothic" charset="-128"/>
              </a:rPr>
              <a:t>)</a:t>
            </a:r>
            <a:r>
              <a:rPr lang="en-US" altLang="en-US">
                <a:latin typeface="Courier New" charset="0"/>
                <a:ea typeface="MS PGothic" charset="-128"/>
              </a:rPr>
              <a:t> </a:t>
            </a:r>
            <a:r>
              <a:rPr lang="en-US" altLang="en-US">
                <a:solidFill>
                  <a:srgbClr val="FF0000"/>
                </a:solidFill>
                <a:latin typeface="Courier New" charset="0"/>
                <a:ea typeface="MS PGothic" charset="-128"/>
              </a:rPr>
              <a:t>)</a:t>
            </a:r>
            <a:r>
              <a:rPr lang="en-US" altLang="en-US">
                <a:latin typeface="Courier New" charset="0"/>
                <a:ea typeface="MS PGothic" charset="-128"/>
              </a:rPr>
              <a:t> </a:t>
            </a:r>
            <a:r>
              <a:rPr lang="en-US" altLang="en-US">
                <a:solidFill>
                  <a:srgbClr val="FFC000"/>
                </a:solidFill>
                <a:latin typeface="Courier New" charset="0"/>
                <a:ea typeface="MS PGothic" charset="-128"/>
              </a:rPr>
              <a:t>(</a:t>
            </a:r>
            <a:r>
              <a:rPr lang="en-US" altLang="en-US">
                <a:latin typeface="Courier New" charset="0"/>
                <a:ea typeface="MS PGothic" charset="-128"/>
              </a:rPr>
              <a:t>list "zebra" </a:t>
            </a:r>
            <a:r>
              <a:rPr lang="en-US" altLang="en-US">
                <a:solidFill>
                  <a:srgbClr val="7030A0"/>
                </a:solidFill>
                <a:latin typeface="Courier New" charset="0"/>
                <a:ea typeface="MS PGothic" charset="-128"/>
              </a:rPr>
              <a:t>(</a:t>
            </a:r>
            <a:r>
              <a:rPr lang="en-US" altLang="en-US">
                <a:latin typeface="Courier New" charset="0"/>
                <a:ea typeface="MS PGothic" charset="-128"/>
              </a:rPr>
              <a:t>list</a:t>
            </a:r>
            <a:r>
              <a:rPr lang="en-US" altLang="en-US">
                <a:solidFill>
                  <a:srgbClr val="00B050"/>
                </a:solidFill>
                <a:latin typeface="Courier New" charset="0"/>
                <a:ea typeface="MS PGothic" charset="-128"/>
              </a:rPr>
              <a:t> </a:t>
            </a:r>
            <a:r>
              <a:rPr lang="en-US" altLang="en-US">
                <a:latin typeface="Courier New" charset="0"/>
                <a:ea typeface="MS PGothic" charset="-128"/>
              </a:rPr>
              <a:t>"yak" () ()</a:t>
            </a:r>
            <a:r>
              <a:rPr lang="en-US" altLang="en-US">
                <a:solidFill>
                  <a:srgbClr val="7030A0"/>
                </a:solidFill>
                <a:latin typeface="Courier New" charset="0"/>
                <a:ea typeface="MS PGothic" charset="-128"/>
              </a:rPr>
              <a:t>)</a:t>
            </a:r>
            <a:r>
              <a:rPr lang="en-US" altLang="en-US">
                <a:latin typeface="Courier New" charset="0"/>
                <a:ea typeface="MS PGothic" charset="-128"/>
              </a:rPr>
              <a:t> () </a:t>
            </a:r>
            <a:r>
              <a:rPr lang="en-US" altLang="en-US">
                <a:solidFill>
                  <a:srgbClr val="FFC000"/>
                </a:solidFill>
                <a:latin typeface="Courier New" charset="0"/>
                <a:ea typeface="MS PGothic" charset="-128"/>
              </a:rPr>
              <a:t>)</a:t>
            </a:r>
            <a:r>
              <a:rPr lang="en-US" altLang="en-US">
                <a:solidFill>
                  <a:srgbClr val="FF0000"/>
                </a:solidFill>
                <a:latin typeface="Courier New" charset="0"/>
                <a:ea typeface="MS PGothic" charset="-128"/>
              </a:rPr>
              <a:t> </a:t>
            </a:r>
            <a:r>
              <a:rPr lang="en-US" altLang="en-US">
                <a:solidFill>
                  <a:srgbClr val="00B0F0"/>
                </a:solidFill>
                <a:latin typeface="Courier New" charset="0"/>
                <a:ea typeface="MS PGothic" charset="-128"/>
              </a:rPr>
              <a:t>)</a:t>
            </a:r>
          </a:p>
          <a:p>
            <a:pPr>
              <a:defRPr/>
            </a:pPr>
            <a:r>
              <a:rPr lang="en-US" altLang="en-US">
                <a:ea typeface="MS PGothic" charset="-128"/>
              </a:rPr>
              <a:t>A tree node is a list of three items </a:t>
            </a:r>
          </a:p>
          <a:p>
            <a:pPr>
              <a:defRPr/>
            </a:pPr>
            <a:endParaRPr lang="en-US"/>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683" y="3695701"/>
            <a:ext cx="6668547" cy="261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5393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ltLang="en-US">
                <a:ea typeface="MS PGothic" charset="-128"/>
              </a:rPr>
              <a:t>Lists are composed of cons cells</a:t>
            </a:r>
          </a:p>
          <a:p>
            <a:pPr>
              <a:defRPr/>
            </a:pPr>
            <a:r>
              <a:rPr lang="en-US" altLang="en-US">
                <a:ea typeface="MS PGothic" charset="-128"/>
              </a:rPr>
              <a:t>A cons cell is a pair of values: the car and the </a:t>
            </a:r>
            <a:r>
              <a:rPr lang="en-US" altLang="en-US" err="1">
                <a:ea typeface="MS PGothic" charset="-128"/>
              </a:rPr>
              <a:t>cdr</a:t>
            </a:r>
            <a:endParaRPr lang="en-US" altLang="en-US">
              <a:ea typeface="MS PGothic" charset="-128"/>
            </a:endParaRPr>
          </a:p>
          <a:p>
            <a:pPr lvl="1">
              <a:defRPr/>
            </a:pPr>
            <a:r>
              <a:rPr lang="en-US" altLang="en-US" sz="2800">
                <a:ea typeface="MS PGothic" charset="-128"/>
              </a:rPr>
              <a:t>List L is a pointer to a cons cell, with the car storing the first value and the </a:t>
            </a:r>
            <a:r>
              <a:rPr lang="en-US" altLang="en-US" sz="2800" err="1">
                <a:ea typeface="MS PGothic" charset="-128"/>
              </a:rPr>
              <a:t>cdr</a:t>
            </a:r>
            <a:r>
              <a:rPr lang="en-US" altLang="en-US" sz="2800">
                <a:ea typeface="MS PGothic" charset="-128"/>
              </a:rPr>
              <a:t> storing a pointer to the next cons cell</a:t>
            </a:r>
          </a:p>
          <a:p>
            <a:pPr lvl="1">
              <a:defRPr/>
            </a:pPr>
            <a:r>
              <a:rPr lang="en-US" altLang="en-US" sz="2800">
                <a:ea typeface="MS PGothic" charset="-128"/>
              </a:rPr>
              <a:t>Shown with a </a:t>
            </a:r>
            <a:r>
              <a:rPr lang="en-US" altLang="en-US" sz="2800" b="1">
                <a:ea typeface="MS PGothic" charset="-128"/>
              </a:rPr>
              <a:t>box and pointer notation</a:t>
            </a:r>
            <a:r>
              <a:rPr lang="en-US" altLang="en-US" sz="2800">
                <a:ea typeface="MS PGothic" charset="-128"/>
              </a:rPr>
              <a:t>:</a:t>
            </a:r>
          </a:p>
          <a:p>
            <a:pPr>
              <a:defRPr/>
            </a:pPr>
            <a:endParaRPr lang="en-US"/>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1056" y="4349559"/>
            <a:ext cx="7010400"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148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ltLang="en-US">
                <a:ea typeface="MS PGothic" charset="-128"/>
              </a:rPr>
              <a:t>Box and pointer notation for a simple list (1 2 3)</a:t>
            </a:r>
          </a:p>
          <a:p>
            <a:pPr lvl="1">
              <a:defRPr/>
            </a:pPr>
            <a:r>
              <a:rPr lang="en-US" altLang="en-US" sz="2800">
                <a:ea typeface="MS PGothic" charset="-128"/>
              </a:rPr>
              <a:t>Black rectangle in the end box stands for the empty list ( )</a:t>
            </a:r>
          </a:p>
          <a:p>
            <a:pPr lvl="1">
              <a:defRPr/>
            </a:pPr>
            <a:r>
              <a:rPr lang="en-US" altLang="en-US" sz="2800">
                <a:ea typeface="MS PGothic" charset="-128"/>
              </a:rPr>
              <a:t>In lisp, the empty list represents NIL</a:t>
            </a:r>
          </a:p>
          <a:p>
            <a:pPr>
              <a:defRPr/>
            </a:pPr>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133" y="3303320"/>
            <a:ext cx="811688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8339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6111" y="1892764"/>
            <a:ext cx="831850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0767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Elements of Common Lisp - Evaluation</a:t>
            </a:r>
          </a:p>
        </p:txBody>
      </p:sp>
      <p:sp>
        <p:nvSpPr>
          <p:cNvPr id="3" name="Content Placeholder 2"/>
          <p:cNvSpPr>
            <a:spLocks noGrp="1"/>
          </p:cNvSpPr>
          <p:nvPr>
            <p:ph idx="1"/>
          </p:nvPr>
        </p:nvSpPr>
        <p:spPr/>
        <p:txBody>
          <a:bodyPr>
            <a:noAutofit/>
          </a:bodyPr>
          <a:lstStyle/>
          <a:p>
            <a:pPr marL="342900" indent="-342900" eaLnBrk="0" fontAlgn="base" hangingPunct="0">
              <a:lnSpc>
                <a:spcPct val="100000"/>
              </a:lnSpc>
              <a:spcBef>
                <a:spcPct val="20000"/>
              </a:spcBef>
              <a:spcAft>
                <a:spcPct val="0"/>
              </a:spcAft>
              <a:buFontTx/>
              <a:buChar char="•"/>
            </a:pPr>
            <a:r>
              <a:rPr lang="en-US" altLang="en-US"/>
              <a:t>All programs and data in Common Lisp are considered S-expressions</a:t>
            </a:r>
            <a:endParaRPr lang="en-US" altLang="en-US" b="1"/>
          </a:p>
          <a:p>
            <a:pPr marL="342900" indent="-342900" eaLnBrk="0" fontAlgn="base" hangingPunct="0">
              <a:lnSpc>
                <a:spcPct val="100000"/>
              </a:lnSpc>
              <a:spcBef>
                <a:spcPct val="20000"/>
              </a:spcBef>
              <a:spcAft>
                <a:spcPct val="0"/>
              </a:spcAft>
              <a:buFontTx/>
              <a:buChar char="•"/>
            </a:pPr>
            <a:r>
              <a:rPr lang="en-US" altLang="en-US" b="1"/>
              <a:t>Evaluation rule</a:t>
            </a:r>
            <a:r>
              <a:rPr lang="en-US" altLang="en-US"/>
              <a:t>: the meaning of a S-expression</a:t>
            </a:r>
          </a:p>
          <a:p>
            <a:pPr marL="342900" indent="-342900" eaLnBrk="0" fontAlgn="base" hangingPunct="0">
              <a:lnSpc>
                <a:spcPct val="100000"/>
              </a:lnSpc>
              <a:spcBef>
                <a:spcPct val="20000"/>
              </a:spcBef>
              <a:spcAft>
                <a:spcPct val="0"/>
              </a:spcAft>
              <a:buFontTx/>
              <a:buChar char="•"/>
            </a:pPr>
            <a:r>
              <a:rPr lang="en-US" altLang="en-US">
                <a:ea typeface="MS PGothic" charset="-128"/>
              </a:rPr>
              <a:t>The standard evaluation rules for atoms are:</a:t>
            </a:r>
            <a:endParaRPr lang="en-US" altLang="en-US"/>
          </a:p>
          <a:p>
            <a:pPr lvl="1"/>
            <a:r>
              <a:rPr lang="en-US" altLang="en-US">
                <a:ea typeface="MS PGothic" charset="-128"/>
              </a:rPr>
              <a:t>Atomic literals evaluate to themselves</a:t>
            </a:r>
          </a:p>
          <a:p>
            <a:pPr lvl="2"/>
            <a:r>
              <a:rPr lang="en-US" altLang="en-US">
                <a:ea typeface="MS PGothic" charset="-128"/>
              </a:rPr>
              <a:t>9 evaluates to 9</a:t>
            </a:r>
          </a:p>
          <a:p>
            <a:pPr lvl="2"/>
            <a:r>
              <a:rPr lang="mr-IN" altLang="en-US">
                <a:latin typeface="Calibri" charset="0"/>
                <a:ea typeface="Calibri" charset="0"/>
                <a:cs typeface="Calibri" charset="0"/>
              </a:rPr>
              <a:t>"</a:t>
            </a:r>
            <a:r>
              <a:rPr lang="en-US" altLang="en-US" err="1">
                <a:latin typeface="Calibri" charset="0"/>
                <a:ea typeface="Calibri" charset="0"/>
                <a:cs typeface="Calibri" charset="0"/>
              </a:rPr>
              <a:t>abc</a:t>
            </a:r>
            <a:r>
              <a:rPr lang="mr-IN" altLang="en-US">
                <a:latin typeface="Calibri" charset="0"/>
                <a:ea typeface="Calibri" charset="0"/>
                <a:cs typeface="Calibri" charset="0"/>
              </a:rPr>
              <a:t>"</a:t>
            </a:r>
            <a:r>
              <a:rPr lang="en-US" altLang="en-US">
                <a:ea typeface="MS PGothic" charset="-128"/>
              </a:rPr>
              <a:t> to </a:t>
            </a:r>
            <a:r>
              <a:rPr lang="mr-IN" altLang="en-US">
                <a:latin typeface="Calibri" charset="0"/>
                <a:ea typeface="Calibri" charset="0"/>
                <a:cs typeface="Calibri" charset="0"/>
              </a:rPr>
              <a:t>"</a:t>
            </a:r>
            <a:r>
              <a:rPr lang="en-US" altLang="en-US" err="1">
                <a:ea typeface="MS PGothic" charset="-128"/>
              </a:rPr>
              <a:t>abc</a:t>
            </a:r>
            <a:r>
              <a:rPr lang="mr-IN" altLang="en-US">
                <a:latin typeface="Calibri" charset="0"/>
                <a:ea typeface="Calibri" charset="0"/>
                <a:cs typeface="Calibri" charset="0"/>
              </a:rPr>
              <a:t>"</a:t>
            </a:r>
            <a:r>
              <a:rPr lang="en-US" altLang="en-US">
                <a:ea typeface="MS PGothic" charset="-128"/>
              </a:rPr>
              <a:t> </a:t>
            </a:r>
          </a:p>
          <a:p>
            <a:pPr lvl="2"/>
            <a:r>
              <a:rPr lang="en-US" altLang="en-US" err="1">
                <a:ea typeface="MS PGothic" charset="-128"/>
              </a:rPr>
              <a:t>etc</a:t>
            </a:r>
            <a:endParaRPr lang="en-US" altLang="en-US">
              <a:ea typeface="MS PGothic" charset="-128"/>
            </a:endParaRPr>
          </a:p>
          <a:p>
            <a:pPr lvl="1"/>
            <a:r>
              <a:rPr lang="en-US" altLang="en-US">
                <a:ea typeface="MS PGothic" charset="-128"/>
              </a:rPr>
              <a:t>Atomic variables evaluate to the value they’re bound to</a:t>
            </a:r>
          </a:p>
          <a:p>
            <a:pPr lvl="2"/>
            <a:r>
              <a:rPr lang="en-US" altLang="en-US">
                <a:ea typeface="MS PGothic" charset="-128"/>
              </a:rPr>
              <a:t>Atomic variables are looked up in the variable namespace and replaced by the values found there</a:t>
            </a:r>
          </a:p>
          <a:p>
            <a:pPr lvl="2"/>
            <a:r>
              <a:rPr lang="en-US" altLang="en-US">
                <a:ea typeface="MS PGothic" charset="-128"/>
              </a:rPr>
              <a:t>A </a:t>
            </a:r>
            <a:r>
              <a:rPr lang="en-US" altLang="en-US" b="1">
                <a:ea typeface="MS PGothic" charset="-128"/>
              </a:rPr>
              <a:t>namespace </a:t>
            </a:r>
            <a:r>
              <a:rPr lang="en-US" altLang="en-US">
                <a:ea typeface="MS PGothic" charset="-128"/>
              </a:rPr>
              <a:t>in Common Lisp is a runtime environment that associates identifiers with values</a:t>
            </a:r>
          </a:p>
        </p:txBody>
      </p:sp>
    </p:spTree>
    <p:extLst>
      <p:ext uri="{BB962C8B-B14F-4D97-AF65-F5344CB8AC3E}">
        <p14:creationId xmlns:p14="http://schemas.microsoft.com/office/powerpoint/2010/main" val="3559123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Elements of Common Lisp - Evaluation</a:t>
            </a:r>
          </a:p>
        </p:txBody>
      </p:sp>
      <p:sp>
        <p:nvSpPr>
          <p:cNvPr id="3" name="Content Placeholder 2"/>
          <p:cNvSpPr>
            <a:spLocks noGrp="1"/>
          </p:cNvSpPr>
          <p:nvPr>
            <p:ph idx="1"/>
          </p:nvPr>
        </p:nvSpPr>
        <p:spPr>
          <a:xfrm>
            <a:off x="838200" y="1825625"/>
            <a:ext cx="10515600" cy="4551424"/>
          </a:xfrm>
        </p:spPr>
        <p:txBody>
          <a:bodyPr>
            <a:noAutofit/>
          </a:bodyPr>
          <a:lstStyle/>
          <a:p>
            <a:pPr marL="342900" indent="-342900" eaLnBrk="0" fontAlgn="base" hangingPunct="0">
              <a:lnSpc>
                <a:spcPct val="100000"/>
              </a:lnSpc>
              <a:spcBef>
                <a:spcPts val="500"/>
              </a:spcBef>
              <a:spcAft>
                <a:spcPct val="0"/>
              </a:spcAft>
              <a:buFontTx/>
              <a:buChar char="•"/>
            </a:pPr>
            <a:r>
              <a:rPr lang="en-US" altLang="en-US">
                <a:ea typeface="MS PGothic" charset="-128"/>
              </a:rPr>
              <a:t>The standard evaluation rules for lists are:</a:t>
            </a:r>
            <a:endParaRPr lang="en-US" altLang="en-US"/>
          </a:p>
          <a:p>
            <a:pPr lvl="1"/>
            <a:r>
              <a:rPr lang="en-US"/>
              <a:t>To evaluate a list, the list must start with an atomic operator</a:t>
            </a:r>
          </a:p>
          <a:p>
            <a:pPr lvl="1"/>
            <a:r>
              <a:rPr lang="en-US"/>
              <a:t>An atomic operator evaluates to either a function, a macro, or a special operator</a:t>
            </a:r>
          </a:p>
          <a:p>
            <a:pPr lvl="2"/>
            <a:r>
              <a:rPr lang="en-US"/>
              <a:t>We will define discuss macros and special operators in later lectures</a:t>
            </a:r>
          </a:p>
          <a:p>
            <a:pPr lvl="1"/>
            <a:r>
              <a:rPr lang="en-US" altLang="en-US">
                <a:ea typeface="MS PGothic" charset="-128"/>
              </a:rPr>
              <a:t>If the atomic operator is a function, we </a:t>
            </a:r>
            <a:r>
              <a:rPr lang="en-US"/>
              <a:t>evaluate the remaining elements of the list as either literals or variables and pass the resulting values to the specified function</a:t>
            </a:r>
          </a:p>
          <a:p>
            <a:pPr lvl="2"/>
            <a:r>
              <a:rPr lang="en-US" altLang="en-US">
                <a:ea typeface="MS PGothic" charset="-128"/>
              </a:rPr>
              <a:t>Ex:  </a:t>
            </a:r>
            <a:r>
              <a:rPr lang="en-US" altLang="en-US">
                <a:latin typeface="Courier New" charset="0"/>
                <a:ea typeface="Courier New" charset="0"/>
                <a:cs typeface="Courier New" charset="0"/>
              </a:rPr>
              <a:t>(+ 2 3) --&gt; 5 </a:t>
            </a:r>
            <a:endParaRPr lang="en-US" altLang="en-US">
              <a:ea typeface="MS PGothic" charset="-128"/>
            </a:endParaRPr>
          </a:p>
          <a:p>
            <a:pPr lvl="1"/>
            <a:r>
              <a:rPr lang="en-US" altLang="en-US">
                <a:ea typeface="MS PGothic" charset="-128"/>
              </a:rPr>
              <a:t>Thus, all lists must be written in </a:t>
            </a:r>
            <a:r>
              <a:rPr lang="en-US" altLang="en-US" b="1">
                <a:ea typeface="MS PGothic" charset="-128"/>
              </a:rPr>
              <a:t>prefix</a:t>
            </a:r>
            <a:r>
              <a:rPr lang="en-US" altLang="en-US">
                <a:ea typeface="MS PGothic" charset="-128"/>
              </a:rPr>
              <a:t> form</a:t>
            </a:r>
          </a:p>
          <a:p>
            <a:pPr lvl="1"/>
            <a:r>
              <a:rPr lang="en-US" altLang="en-US">
                <a:ea typeface="MS PGothic" charset="-128"/>
              </a:rPr>
              <a:t>Use </a:t>
            </a:r>
            <a:r>
              <a:rPr lang="en-US" altLang="en-US" b="1">
                <a:ea typeface="MS PGothic" charset="-128"/>
              </a:rPr>
              <a:t>applicative order evaluation</a:t>
            </a:r>
            <a:r>
              <a:rPr lang="en-US" altLang="en-US">
                <a:ea typeface="MS PGothic" charset="-128"/>
              </a:rPr>
              <a:t> – </a:t>
            </a:r>
            <a:r>
              <a:rPr lang="en-US" altLang="en-US" err="1">
                <a:ea typeface="MS PGothic" charset="-128"/>
              </a:rPr>
              <a:t>sublists</a:t>
            </a:r>
            <a:r>
              <a:rPr lang="en-US" altLang="en-US">
                <a:ea typeface="MS PGothic" charset="-128"/>
              </a:rPr>
              <a:t> evaluated first </a:t>
            </a:r>
          </a:p>
          <a:p>
            <a:pPr lvl="2"/>
            <a:r>
              <a:rPr lang="en-US" altLang="en-US">
                <a:ea typeface="MS PGothic" charset="-128"/>
              </a:rPr>
              <a:t>Ex:  </a:t>
            </a:r>
            <a:r>
              <a:rPr lang="en-US" altLang="en-US">
                <a:latin typeface="Courier New" charset="0"/>
                <a:ea typeface="Courier New" charset="0"/>
                <a:cs typeface="Courier New" charset="0"/>
              </a:rPr>
              <a:t>(* 3 (+ 2 3) (- 6 4) ) --&gt; (* 3 5 2) --&gt; 30</a:t>
            </a:r>
          </a:p>
          <a:p>
            <a:pPr lvl="2"/>
            <a:endParaRPr lang="en-US" altLang="en-US">
              <a:ea typeface="MS PGothic" charset="-128"/>
            </a:endParaRPr>
          </a:p>
          <a:p>
            <a:pPr lvl="1"/>
            <a:endParaRPr lang="en-US"/>
          </a:p>
          <a:p>
            <a:pPr lvl="1"/>
            <a:endParaRPr lang="en-US" sz="2600"/>
          </a:p>
        </p:txBody>
      </p:sp>
    </p:spTree>
    <p:extLst>
      <p:ext uri="{BB962C8B-B14F-4D97-AF65-F5344CB8AC3E}">
        <p14:creationId xmlns:p14="http://schemas.microsoft.com/office/powerpoint/2010/main" val="178297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Elements of Common Lisp - Evaluation</a:t>
            </a:r>
          </a:p>
        </p:txBody>
      </p:sp>
      <p:sp>
        <p:nvSpPr>
          <p:cNvPr id="3" name="Content Placeholder 2"/>
          <p:cNvSpPr>
            <a:spLocks noGrp="1"/>
          </p:cNvSpPr>
          <p:nvPr>
            <p:ph idx="1"/>
          </p:nvPr>
        </p:nvSpPr>
        <p:spPr>
          <a:xfrm>
            <a:off x="838200" y="1825624"/>
            <a:ext cx="10515600" cy="5032375"/>
          </a:xfrm>
        </p:spPr>
        <p:txBody>
          <a:bodyPr>
            <a:normAutofit/>
          </a:bodyPr>
          <a:lstStyle/>
          <a:p>
            <a:r>
              <a:rPr lang="en-US" altLang="en-US">
                <a:ea typeface="MS PGothic" charset="-128"/>
              </a:rPr>
              <a:t>Ex: </a:t>
            </a:r>
            <a:r>
              <a:rPr lang="en-US" altLang="en-US">
                <a:latin typeface="Courier New" charset="0"/>
                <a:ea typeface="MS PGothic" charset="-128"/>
              </a:rPr>
              <a:t>(* (+ 2 3) (+ 4 5 ))</a:t>
            </a:r>
          </a:p>
          <a:p>
            <a:pPr lvl="1"/>
            <a:r>
              <a:rPr lang="en-US" altLang="en-US" sz="2800">
                <a:ea typeface="MS PGothic" charset="-128"/>
              </a:rPr>
              <a:t>Two additions are evaluated first, then the multiplication</a:t>
            </a:r>
          </a:p>
          <a:p>
            <a:pPr lvl="1"/>
            <a:endParaRPr lang="en-US" altLang="en-US" sz="2800">
              <a:ea typeface="MS PGothic" charset="-128"/>
            </a:endParaRPr>
          </a:p>
          <a:p>
            <a:pPr lvl="1"/>
            <a:endParaRPr lang="en-US" altLang="en-US" sz="2800">
              <a:ea typeface="MS PGothic" charset="-128"/>
            </a:endParaRPr>
          </a:p>
          <a:p>
            <a:pPr lvl="1"/>
            <a:endParaRPr lang="en-US" altLang="en-US" sz="2800">
              <a:ea typeface="MS PGothic" charset="-128"/>
            </a:endParaRPr>
          </a:p>
          <a:p>
            <a:pPr lvl="1"/>
            <a:endParaRPr lang="en-US" altLang="en-US" sz="2800">
              <a:ea typeface="MS PGothic" charset="-128"/>
            </a:endParaRPr>
          </a:p>
          <a:p>
            <a:pPr lvl="1"/>
            <a:endParaRPr lang="en-US" altLang="en-US" sz="2800">
              <a:ea typeface="MS PGothic" charset="-128"/>
            </a:endParaRPr>
          </a:p>
          <a:p>
            <a:pPr lvl="1"/>
            <a:endParaRPr lang="en-US" altLang="en-US" sz="2800">
              <a:ea typeface="MS PGothic" charset="-128"/>
            </a:endParaRPr>
          </a:p>
          <a:p>
            <a:pPr lvl="1"/>
            <a:r>
              <a:rPr lang="en-US" altLang="en-US" sz="2800">
                <a:ea typeface="MS PGothic" charset="-128"/>
              </a:rPr>
              <a:t>Answer: </a:t>
            </a:r>
            <a:r>
              <a:rPr lang="en-US" altLang="en-US" sz="2800">
                <a:latin typeface="Courier New" charset="0"/>
                <a:ea typeface="MS PGothic" charset="-128"/>
              </a:rPr>
              <a:t>(* 5 9) </a:t>
            </a:r>
            <a:r>
              <a:rPr lang="en-US" altLang="en-US" sz="2800">
                <a:latin typeface="Courier New" charset="0"/>
                <a:ea typeface="MS PGothic" charset="-128"/>
                <a:sym typeface="Wingdings"/>
              </a:rPr>
              <a:t> 45</a:t>
            </a:r>
            <a:endParaRPr lang="en-US" altLang="en-US" sz="2800">
              <a:ea typeface="MS PGothic" charset="-128"/>
            </a:endParaRPr>
          </a:p>
        </p:txBody>
      </p:sp>
      <p:pic>
        <p:nvPicPr>
          <p:cNvPr id="4"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r="44499" b="25971"/>
          <a:stretch/>
        </p:blipFill>
        <p:spPr bwMode="auto">
          <a:xfrm>
            <a:off x="838200" y="3164476"/>
            <a:ext cx="4054688" cy="1748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4354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Elements of Common Lisp - Evaluation</a:t>
            </a:r>
          </a:p>
        </p:txBody>
      </p:sp>
      <p:sp>
        <p:nvSpPr>
          <p:cNvPr id="3" name="Content Placeholder 2"/>
          <p:cNvSpPr>
            <a:spLocks noGrp="1"/>
          </p:cNvSpPr>
          <p:nvPr>
            <p:ph idx="1"/>
          </p:nvPr>
        </p:nvSpPr>
        <p:spPr>
          <a:xfrm>
            <a:off x="838200" y="1825625"/>
            <a:ext cx="10515600" cy="4783898"/>
          </a:xfrm>
        </p:spPr>
        <p:txBody>
          <a:bodyPr>
            <a:noAutofit/>
          </a:bodyPr>
          <a:lstStyle/>
          <a:p>
            <a:pPr>
              <a:defRPr/>
            </a:pPr>
            <a:r>
              <a:rPr lang="en-US" altLang="en-US" dirty="0"/>
              <a:t>Ex: </a:t>
            </a:r>
            <a:r>
              <a:rPr lang="en-US" altLang="en-US" dirty="0">
                <a:latin typeface="Courier New" panose="02070309020205020404" pitchFamily="49" charset="0"/>
                <a:cs typeface="Courier New" panose="02070309020205020404" pitchFamily="49" charset="0"/>
              </a:rPr>
              <a:t>(/ (+ 2 3))</a:t>
            </a:r>
            <a:r>
              <a:rPr lang="en-US" altLang="en-US" dirty="0">
                <a:latin typeface="Courier New" panose="02070309020205020404" pitchFamily="49" charset="0"/>
                <a:cs typeface="Courier New" panose="02070309020205020404" pitchFamily="49" charset="0"/>
                <a:sym typeface="Wingdings"/>
              </a:rPr>
              <a:t> --&gt;</a:t>
            </a:r>
            <a:r>
              <a:rPr lang="en-US" altLang="en-US" dirty="0">
                <a:latin typeface="Courier New" panose="02070309020205020404" pitchFamily="49" charset="0"/>
                <a:cs typeface="Courier New" panose="02070309020205020404" pitchFamily="49" charset="0"/>
              </a:rPr>
              <a:t> (/ 5) </a:t>
            </a:r>
            <a:r>
              <a:rPr lang="en-US" altLang="en-US" dirty="0">
                <a:latin typeface="Courier New" panose="02070309020205020404" pitchFamily="49" charset="0"/>
                <a:cs typeface="Courier New" panose="02070309020205020404" pitchFamily="49" charset="0"/>
                <a:sym typeface="Wingdings"/>
              </a:rPr>
              <a:t>--&gt; </a:t>
            </a:r>
            <a:r>
              <a:rPr lang="en-US" altLang="en-US" dirty="0">
                <a:latin typeface="Courier New" panose="02070309020205020404" pitchFamily="49" charset="0"/>
                <a:cs typeface="Courier New" panose="02070309020205020404" pitchFamily="49" charset="0"/>
              </a:rPr>
              <a:t>1/5</a:t>
            </a:r>
          </a:p>
          <a:p>
            <a:pPr lvl="1">
              <a:defRPr/>
            </a:pPr>
            <a:r>
              <a:rPr lang="en-US" altLang="en-US" dirty="0"/>
              <a:t>Addition is evaluated first, then the division</a:t>
            </a:r>
          </a:p>
          <a:p>
            <a:pPr lvl="1">
              <a:defRPr/>
            </a:pPr>
            <a:r>
              <a:rPr lang="en-US" altLang="en-US" dirty="0"/>
              <a:t>Common Lisp supports real numbers and fractions!</a:t>
            </a:r>
          </a:p>
          <a:p>
            <a:pPr>
              <a:defRPr/>
            </a:pPr>
            <a:r>
              <a:rPr lang="en-US" altLang="en-US" dirty="0"/>
              <a:t>Ex: </a:t>
            </a:r>
            <a:r>
              <a:rPr lang="en-US" dirty="0">
                <a:latin typeface="Courier New" panose="02070309020205020404" pitchFamily="49" charset="0"/>
                <a:cs typeface="Courier New" panose="02070309020205020404" pitchFamily="49" charset="0"/>
              </a:rPr>
              <a:t>(+ 5 6 7)      --&gt; 18</a:t>
            </a:r>
          </a:p>
          <a:p>
            <a:pPr>
              <a:defRPr/>
            </a:pPr>
            <a:r>
              <a:rPr lang="en-US" altLang="en-US" dirty="0"/>
              <a:t>Ex: </a:t>
            </a:r>
            <a:r>
              <a:rPr lang="en-US" dirty="0">
                <a:latin typeface="Courier New" panose="02070309020205020404" pitchFamily="49" charset="0"/>
                <a:cs typeface="Courier New" panose="02070309020205020404" pitchFamily="49" charset="0"/>
              </a:rPr>
              <a:t>(/ 8)          --&gt; 1/8</a:t>
            </a:r>
          </a:p>
          <a:p>
            <a:pPr>
              <a:defRPr/>
            </a:pPr>
            <a:r>
              <a:rPr lang="en-US" dirty="0"/>
              <a:t>Ex:</a:t>
            </a:r>
            <a:r>
              <a:rPr lang="en-US" dirty="0">
                <a:solidFill>
                  <a:srgbClr val="0070C0"/>
                </a:solidFill>
              </a:rPr>
              <a:t> </a:t>
            </a:r>
            <a:r>
              <a:rPr lang="en-US" dirty="0">
                <a:latin typeface="Courier New" panose="02070309020205020404" pitchFamily="49" charset="0"/>
                <a:cs typeface="Courier New" panose="02070309020205020404" pitchFamily="49" charset="0"/>
              </a:rPr>
              <a:t>(/ (+ 5 6 7) ) --&gt; (/ 18) --&gt; 1/18 </a:t>
            </a:r>
          </a:p>
          <a:p>
            <a:pPr>
              <a:defRPr/>
            </a:pPr>
            <a:r>
              <a:rPr lang="en-US" dirty="0"/>
              <a:t>Ex:</a:t>
            </a:r>
            <a:r>
              <a:rPr lang="en-US" dirty="0">
                <a:solidFill>
                  <a:srgbClr val="0070C0"/>
                </a:solidFill>
              </a:rPr>
              <a:t> </a:t>
            </a:r>
            <a:r>
              <a:rPr lang="en-US" dirty="0">
                <a:latin typeface="Courier New" panose="02070309020205020404" pitchFamily="49" charset="0"/>
                <a:cs typeface="Courier New" panose="02070309020205020404" pitchFamily="49" charset="0"/>
              </a:rPr>
              <a:t>(/ 8 2 2)      --&gt; 2</a:t>
            </a:r>
          </a:p>
          <a:p>
            <a:pPr>
              <a:defRPr/>
            </a:pPr>
            <a:r>
              <a:rPr lang="en-US" altLang="en-US" dirty="0"/>
              <a:t>Ex: </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abc</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def</a:t>
            </a:r>
            <a:r>
              <a:rPr lang="de-DE" dirty="0">
                <a:latin typeface="Courier New" panose="02070309020205020404" pitchFamily="49" charset="0"/>
                <a:cs typeface="Courier New" panose="02070309020205020404" pitchFamily="49" charset="0"/>
              </a:rPr>
              <a:t>")--&gt; </a:t>
            </a:r>
            <a:r>
              <a:rPr lang="de-DE" dirty="0" err="1">
                <a:latin typeface="Courier New" panose="02070309020205020404" pitchFamily="49" charset="0"/>
                <a:cs typeface="Courier New" panose="02070309020205020404" pitchFamily="49" charset="0"/>
              </a:rPr>
              <a:t>runtime</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error</a:t>
            </a:r>
            <a:r>
              <a:rPr lang="de-DE" dirty="0">
                <a:latin typeface="Courier New" panose="02070309020205020404" pitchFamily="49" charset="0"/>
                <a:cs typeface="Courier New" panose="02070309020205020404" pitchFamily="49" charset="0"/>
              </a:rPr>
              <a:t>!</a:t>
            </a:r>
          </a:p>
          <a:p>
            <a:pPr lvl="1">
              <a:defRPr/>
            </a:pPr>
            <a:r>
              <a:rPr lang="de-DE" dirty="0">
                <a:cs typeface="Courier New" panose="02070309020205020404" pitchFamily="49" charset="0"/>
              </a:rPr>
              <a:t>The + </a:t>
            </a:r>
            <a:r>
              <a:rPr lang="de-DE" dirty="0" err="1">
                <a:cs typeface="Courier New" panose="02070309020205020404" pitchFamily="49" charset="0"/>
              </a:rPr>
              <a:t>function</a:t>
            </a:r>
            <a:r>
              <a:rPr lang="de-DE" dirty="0">
                <a:cs typeface="Courier New" panose="02070309020205020404" pitchFamily="49" charset="0"/>
              </a:rPr>
              <a:t> </a:t>
            </a:r>
            <a:r>
              <a:rPr lang="de-DE" dirty="0" err="1">
                <a:cs typeface="Courier New" panose="02070309020205020404" pitchFamily="49" charset="0"/>
              </a:rPr>
              <a:t>doesn‘t</a:t>
            </a:r>
            <a:r>
              <a:rPr lang="de-DE" dirty="0">
                <a:cs typeface="Courier New" panose="02070309020205020404" pitchFamily="49" charset="0"/>
              </a:rPr>
              <a:t> </a:t>
            </a:r>
            <a:r>
              <a:rPr lang="de-DE" dirty="0" err="1">
                <a:cs typeface="Courier New" panose="02070309020205020404" pitchFamily="49" charset="0"/>
              </a:rPr>
              <a:t>support</a:t>
            </a:r>
            <a:r>
              <a:rPr lang="de-DE" dirty="0">
                <a:cs typeface="Courier New" panose="02070309020205020404" pitchFamily="49" charset="0"/>
              </a:rPr>
              <a:t> </a:t>
            </a:r>
            <a:r>
              <a:rPr lang="de-DE" dirty="0" err="1">
                <a:cs typeface="Courier New" panose="02070309020205020404" pitchFamily="49" charset="0"/>
              </a:rPr>
              <a:t>string</a:t>
            </a:r>
            <a:r>
              <a:rPr lang="de-DE" dirty="0">
                <a:cs typeface="Courier New" panose="02070309020205020404" pitchFamily="49" charset="0"/>
              </a:rPr>
              <a:t> </a:t>
            </a:r>
            <a:r>
              <a:rPr lang="de-DE" dirty="0" err="1">
                <a:cs typeface="Courier New" panose="02070309020205020404" pitchFamily="49" charset="0"/>
              </a:rPr>
              <a:t>concationation</a:t>
            </a:r>
            <a:endParaRPr lang="de-DE" dirty="0">
              <a:cs typeface="Courier New" panose="02070309020205020404" pitchFamily="49" charset="0"/>
            </a:endParaRPr>
          </a:p>
          <a:p>
            <a:pPr lvl="1">
              <a:defRPr/>
            </a:pPr>
            <a:r>
              <a:rPr lang="de-DE" dirty="0">
                <a:cs typeface="Courier New" panose="02070309020205020404" pitchFamily="49" charset="0"/>
              </a:rPr>
              <a:t>Common Lisp </a:t>
            </a:r>
            <a:r>
              <a:rPr lang="de-DE" dirty="0" err="1">
                <a:cs typeface="Courier New" panose="02070309020205020404" pitchFamily="49" charset="0"/>
              </a:rPr>
              <a:t>is</a:t>
            </a:r>
            <a:r>
              <a:rPr lang="de-DE" dirty="0">
                <a:cs typeface="Courier New" panose="02070309020205020404" pitchFamily="49" charset="0"/>
              </a:rPr>
              <a:t> </a:t>
            </a:r>
            <a:r>
              <a:rPr lang="de-DE" dirty="0" err="1">
                <a:cs typeface="Courier New" panose="02070309020205020404" pitchFamily="49" charset="0"/>
              </a:rPr>
              <a:t>dynamically</a:t>
            </a:r>
            <a:r>
              <a:rPr lang="de-DE" dirty="0">
                <a:cs typeface="Courier New" panose="02070309020205020404" pitchFamily="49" charset="0"/>
              </a:rPr>
              <a:t> </a:t>
            </a:r>
            <a:r>
              <a:rPr lang="de-DE" dirty="0" err="1">
                <a:cs typeface="Courier New" panose="02070309020205020404" pitchFamily="49" charset="0"/>
              </a:rPr>
              <a:t>typed</a:t>
            </a:r>
            <a:r>
              <a:rPr lang="de-DE" dirty="0">
                <a:cs typeface="Courier New" panose="02070309020205020404" pitchFamily="49" charset="0"/>
              </a:rPr>
              <a:t> </a:t>
            </a:r>
            <a:r>
              <a:rPr lang="de-DE" dirty="0" err="1">
                <a:cs typeface="Courier New" panose="02070309020205020404" pitchFamily="49" charset="0"/>
              </a:rPr>
              <a:t>and</a:t>
            </a:r>
            <a:r>
              <a:rPr lang="de-DE" dirty="0">
                <a:cs typeface="Courier New" panose="02070309020205020404" pitchFamily="49" charset="0"/>
              </a:rPr>
              <a:t> type </a:t>
            </a:r>
            <a:r>
              <a:rPr lang="de-DE" dirty="0" err="1">
                <a:cs typeface="Courier New" panose="02070309020205020404" pitchFamily="49" charset="0"/>
              </a:rPr>
              <a:t>errors</a:t>
            </a:r>
            <a:r>
              <a:rPr lang="de-DE" dirty="0">
                <a:cs typeface="Courier New" panose="02070309020205020404" pitchFamily="49" charset="0"/>
              </a:rPr>
              <a:t> </a:t>
            </a:r>
            <a:r>
              <a:rPr lang="de-DE" dirty="0" err="1">
                <a:cs typeface="Courier New" panose="02070309020205020404" pitchFamily="49" charset="0"/>
              </a:rPr>
              <a:t>won‘t</a:t>
            </a:r>
            <a:r>
              <a:rPr lang="de-DE" dirty="0">
                <a:cs typeface="Courier New" panose="02070309020205020404" pitchFamily="49" charset="0"/>
              </a:rPr>
              <a:t> </a:t>
            </a:r>
            <a:r>
              <a:rPr lang="de-DE" dirty="0" err="1">
                <a:cs typeface="Courier New" panose="02070309020205020404" pitchFamily="49" charset="0"/>
              </a:rPr>
              <a:t>be</a:t>
            </a:r>
            <a:r>
              <a:rPr lang="de-DE" dirty="0">
                <a:cs typeface="Courier New" panose="02070309020205020404" pitchFamily="49" charset="0"/>
              </a:rPr>
              <a:t> </a:t>
            </a:r>
            <a:r>
              <a:rPr lang="de-DE" dirty="0" err="1">
                <a:cs typeface="Courier New" panose="02070309020205020404" pitchFamily="49" charset="0"/>
              </a:rPr>
              <a:t>detected</a:t>
            </a:r>
            <a:r>
              <a:rPr lang="de-DE" dirty="0">
                <a:cs typeface="Courier New" panose="02070309020205020404" pitchFamily="49" charset="0"/>
              </a:rPr>
              <a:t> </a:t>
            </a:r>
            <a:r>
              <a:rPr lang="de-DE" dirty="0" err="1">
                <a:cs typeface="Courier New" panose="02070309020205020404" pitchFamily="49" charset="0"/>
              </a:rPr>
              <a:t>until</a:t>
            </a:r>
            <a:r>
              <a:rPr lang="de-DE" dirty="0">
                <a:cs typeface="Courier New" panose="02070309020205020404" pitchFamily="49" charset="0"/>
              </a:rPr>
              <a:t> </a:t>
            </a:r>
            <a:r>
              <a:rPr lang="de-DE" dirty="0" err="1">
                <a:cs typeface="Courier New" panose="02070309020205020404" pitchFamily="49" charset="0"/>
              </a:rPr>
              <a:t>runtime</a:t>
            </a:r>
            <a:endParaRPr lang="en-US" dirty="0">
              <a:cs typeface="Courier New" panose="02070309020205020404" pitchFamily="49" charset="0"/>
            </a:endParaRPr>
          </a:p>
          <a:p>
            <a:pPr marL="0" indent="0">
              <a:buNone/>
              <a:defRPr/>
            </a:pPr>
            <a:endParaRPr lang="en-US" altLang="en-US" dirty="0"/>
          </a:p>
        </p:txBody>
      </p:sp>
    </p:spTree>
    <p:extLst>
      <p:ext uri="{BB962C8B-B14F-4D97-AF65-F5344CB8AC3E}">
        <p14:creationId xmlns:p14="http://schemas.microsoft.com/office/powerpoint/2010/main" val="1005784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Elements of Common Lisp - Evaluation</a:t>
            </a:r>
          </a:p>
        </p:txBody>
      </p:sp>
      <p:sp>
        <p:nvSpPr>
          <p:cNvPr id="3" name="Content Placeholder 2"/>
          <p:cNvSpPr>
            <a:spLocks noGrp="1"/>
          </p:cNvSpPr>
          <p:nvPr>
            <p:ph idx="1"/>
          </p:nvPr>
        </p:nvSpPr>
        <p:spPr>
          <a:xfrm>
            <a:off x="838200" y="1825624"/>
            <a:ext cx="10515600" cy="5032375"/>
          </a:xfrm>
        </p:spPr>
        <p:txBody>
          <a:bodyPr>
            <a:noAutofit/>
          </a:bodyPr>
          <a:lstStyle/>
          <a:p>
            <a:pPr>
              <a:defRPr/>
            </a:pPr>
            <a:r>
              <a:rPr lang="en-US" altLang="en-US" dirty="0"/>
              <a:t>Ex: </a:t>
            </a:r>
            <a:r>
              <a:rPr lang="en-US" altLang="en-US" dirty="0">
                <a:latin typeface="Courier New" panose="02070309020205020404" pitchFamily="49" charset="0"/>
                <a:cs typeface="Courier New" panose="02070309020205020404" pitchFamily="49" charset="0"/>
              </a:rPr>
              <a:t>(quote (1 2 3))</a:t>
            </a:r>
          </a:p>
          <a:p>
            <a:pPr lvl="1">
              <a:defRPr/>
            </a:pPr>
            <a:r>
              <a:rPr lang="en-US" altLang="en-US" sz="2600" dirty="0">
                <a:latin typeface="Courier New" panose="02070309020205020404" pitchFamily="49" charset="0"/>
                <a:cs typeface="Courier New" panose="02070309020205020404" pitchFamily="49" charset="0"/>
              </a:rPr>
              <a:t>quote</a:t>
            </a:r>
            <a:r>
              <a:rPr lang="en-US" altLang="en-US" sz="2600" dirty="0"/>
              <a:t> is not a function but a </a:t>
            </a:r>
            <a:r>
              <a:rPr lang="en-US" altLang="en-US" sz="2600" b="1" dirty="0"/>
              <a:t>special operator</a:t>
            </a:r>
          </a:p>
          <a:p>
            <a:pPr lvl="2">
              <a:defRPr/>
            </a:pPr>
            <a:r>
              <a:rPr lang="en-US" altLang="en-US" sz="2200" dirty="0"/>
              <a:t>Special operators behave in ways functions can’t</a:t>
            </a:r>
          </a:p>
          <a:p>
            <a:pPr lvl="2">
              <a:defRPr/>
            </a:pPr>
            <a:r>
              <a:rPr lang="en-US" altLang="en-US" sz="2200" dirty="0">
                <a:cs typeface="Courier New" panose="02070309020205020404" pitchFamily="49" charset="0"/>
              </a:rPr>
              <a:t>The </a:t>
            </a:r>
            <a:r>
              <a:rPr lang="en-US" altLang="en-US" sz="2200" dirty="0">
                <a:latin typeface="Courier New" panose="02070309020205020404" pitchFamily="49" charset="0"/>
                <a:cs typeface="Courier New" panose="02070309020205020404" pitchFamily="49" charset="0"/>
              </a:rPr>
              <a:t>quote</a:t>
            </a:r>
            <a:r>
              <a:rPr lang="en-US" altLang="en-US" sz="2200" dirty="0">
                <a:cs typeface="Courier New" panose="02070309020205020404" pitchFamily="49" charset="0"/>
              </a:rPr>
              <a:t> special operator </a:t>
            </a:r>
            <a:r>
              <a:rPr lang="en-US" altLang="en-US" sz="2200" dirty="0"/>
              <a:t>prevents the evaluation of a list s-expression</a:t>
            </a:r>
          </a:p>
          <a:p>
            <a:pPr lvl="2">
              <a:defRPr/>
            </a:pPr>
            <a:r>
              <a:rPr lang="en-US" altLang="en-US" sz="2200" dirty="0">
                <a:latin typeface="Courier New" panose="02070309020205020404" pitchFamily="49" charset="0"/>
                <a:cs typeface="Courier New" panose="02070309020205020404" pitchFamily="49" charset="0"/>
              </a:rPr>
              <a:t>quote</a:t>
            </a:r>
            <a:r>
              <a:rPr lang="en-US" altLang="en-US" sz="2200" dirty="0"/>
              <a:t> is necessary here, because </a:t>
            </a:r>
            <a:r>
              <a:rPr lang="en-US" altLang="en-US" sz="2200" dirty="0">
                <a:latin typeface="Courier New" charset="0"/>
                <a:ea typeface="Courier New" charset="0"/>
                <a:cs typeface="Courier New" charset="0"/>
              </a:rPr>
              <a:t>(1 2 3)</a:t>
            </a:r>
            <a:r>
              <a:rPr lang="en-US" altLang="en-US" sz="2200" dirty="0"/>
              <a:t> can’t be successfully evaluated </a:t>
            </a:r>
          </a:p>
          <a:p>
            <a:pPr lvl="3">
              <a:defRPr/>
            </a:pPr>
            <a:r>
              <a:rPr lang="en-US" altLang="en-US" sz="2000" dirty="0"/>
              <a:t>If evaluated, the list’s first element is assumed to be a function</a:t>
            </a:r>
          </a:p>
          <a:p>
            <a:pPr lvl="3">
              <a:defRPr/>
            </a:pPr>
            <a:r>
              <a:rPr lang="en-US" altLang="en-US" sz="2000" dirty="0"/>
              <a:t>When no function named </a:t>
            </a:r>
            <a:r>
              <a:rPr lang="en-US" altLang="en-US" sz="2000" dirty="0">
                <a:latin typeface="Courier New" panose="02070309020205020404" pitchFamily="49" charset="0"/>
                <a:cs typeface="Courier New" panose="02070309020205020404" pitchFamily="49" charset="0"/>
              </a:rPr>
              <a:t>1</a:t>
            </a:r>
            <a:r>
              <a:rPr lang="en-US" altLang="en-US" sz="2000" dirty="0"/>
              <a:t> is found, a runtime error is thrown</a:t>
            </a:r>
          </a:p>
          <a:p>
            <a:pPr lvl="2">
              <a:defRPr/>
            </a:pPr>
            <a:r>
              <a:rPr lang="en-US" altLang="en-US" sz="2200" dirty="0"/>
              <a:t>But </a:t>
            </a:r>
            <a:r>
              <a:rPr lang="en-US" altLang="en-US" sz="2200" dirty="0">
                <a:latin typeface="Courier New" panose="02070309020205020404" pitchFamily="49" charset="0"/>
                <a:cs typeface="Courier New" panose="02070309020205020404" pitchFamily="49" charset="0"/>
              </a:rPr>
              <a:t>(quote (1 2 3))</a:t>
            </a:r>
            <a:r>
              <a:rPr lang="en-US" altLang="en-US" sz="2200" dirty="0"/>
              <a:t> evaluates to a list of three elements!</a:t>
            </a:r>
          </a:p>
          <a:p>
            <a:pPr lvl="2">
              <a:defRPr/>
            </a:pPr>
            <a:r>
              <a:rPr lang="en-US" altLang="en-US" sz="2200" dirty="0">
                <a:latin typeface="Courier New" panose="02070309020205020404" pitchFamily="49" charset="0"/>
                <a:cs typeface="Courier New" panose="02070309020205020404" pitchFamily="49" charset="0"/>
              </a:rPr>
              <a:t>(quote (1 2 3)) --&gt; (1 2 3)</a:t>
            </a:r>
          </a:p>
          <a:p>
            <a:pPr lvl="2">
              <a:defRPr/>
            </a:pPr>
            <a:r>
              <a:rPr lang="en-US" altLang="en-US" sz="2200" dirty="0">
                <a:cs typeface="Courier New" panose="02070309020205020404" pitchFamily="49" charset="0"/>
              </a:rPr>
              <a:t>Super useful, one common use is passing a list of data as an argument without the list trying to evaluate itself</a:t>
            </a:r>
            <a:endParaRPr lang="en-US" altLang="en-US" sz="2200" dirty="0"/>
          </a:p>
          <a:p>
            <a:pPr lvl="1">
              <a:defRPr/>
            </a:pPr>
            <a:r>
              <a:rPr lang="en-US" altLang="en-US" sz="2600" dirty="0">
                <a:latin typeface="Courier New" charset="0"/>
                <a:ea typeface="Courier New" charset="0"/>
                <a:cs typeface="Courier New" charset="0"/>
              </a:rPr>
              <a:t>quote</a:t>
            </a:r>
            <a:r>
              <a:rPr lang="en-US" altLang="en-US" sz="2600" dirty="0"/>
              <a:t> can also be written as </a:t>
            </a:r>
            <a:r>
              <a:rPr lang="mr-IN" altLang="en-US" sz="2600" dirty="0">
                <a:latin typeface="Courier New" charset="0"/>
                <a:ea typeface="Courier New" charset="0"/>
                <a:cs typeface="Courier New" charset="0"/>
              </a:rPr>
              <a:t>'</a:t>
            </a:r>
            <a:endParaRPr lang="en-US" altLang="en-US" sz="2600" dirty="0">
              <a:latin typeface="Courier New" charset="0"/>
              <a:ea typeface="Courier New" charset="0"/>
              <a:cs typeface="Courier New" charset="0"/>
            </a:endParaRPr>
          </a:p>
          <a:p>
            <a:pPr lvl="1">
              <a:defRPr/>
            </a:pPr>
            <a:r>
              <a:rPr lang="en-US" altLang="en-US" sz="2600" dirty="0"/>
              <a:t>Ex: </a:t>
            </a:r>
            <a:r>
              <a:rPr lang="mr-IN" altLang="en-US" sz="2600" dirty="0">
                <a:latin typeface="Courier New" charset="0"/>
                <a:ea typeface="Courier New" charset="0"/>
                <a:cs typeface="Courier New" charset="0"/>
              </a:rPr>
              <a:t>'</a:t>
            </a:r>
            <a:r>
              <a:rPr lang="en-US" altLang="en-US" sz="2600" dirty="0">
                <a:latin typeface="Courier New" charset="0"/>
                <a:ea typeface="Courier New" charset="0"/>
                <a:cs typeface="Courier New" charset="0"/>
              </a:rPr>
              <a:t>(1 2 3)</a:t>
            </a:r>
          </a:p>
        </p:txBody>
      </p:sp>
    </p:spTree>
    <p:extLst>
      <p:ext uri="{BB962C8B-B14F-4D97-AF65-F5344CB8AC3E}">
        <p14:creationId xmlns:p14="http://schemas.microsoft.com/office/powerpoint/2010/main" val="3212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Adding Identifiers</a:t>
            </a:r>
          </a:p>
        </p:txBody>
      </p:sp>
      <p:sp>
        <p:nvSpPr>
          <p:cNvPr id="3" name="Content Placeholder 2"/>
          <p:cNvSpPr>
            <a:spLocks noGrp="1"/>
          </p:cNvSpPr>
          <p:nvPr>
            <p:ph idx="1"/>
          </p:nvPr>
        </p:nvSpPr>
        <p:spPr/>
        <p:txBody>
          <a:bodyPr>
            <a:normAutofit/>
          </a:bodyPr>
          <a:lstStyle/>
          <a:p>
            <a:r>
              <a:rPr lang="en-US" altLang="en-US" dirty="0" err="1">
                <a:latin typeface="Courier New" pitchFamily="49" charset="0"/>
                <a:cs typeface="Courier New" pitchFamily="49" charset="0"/>
              </a:rPr>
              <a:t>defvar</a:t>
            </a:r>
            <a:endParaRPr lang="en-US" altLang="ja-JP" dirty="0">
              <a:ea typeface="MS PGothic" charset="-128"/>
            </a:endParaRPr>
          </a:p>
          <a:p>
            <a:pPr lvl="1"/>
            <a:r>
              <a:rPr lang="en-US" altLang="en-US" sz="2800" dirty="0">
                <a:ea typeface="MS PGothic" charset="-128"/>
              </a:rPr>
              <a:t>Provides ability to make a new global binding of a variable visible in the top-level environment of Common Lisp</a:t>
            </a:r>
          </a:p>
          <a:p>
            <a:pPr lvl="1"/>
            <a:r>
              <a:rPr lang="en-US" altLang="en-US" sz="2800" dirty="0">
                <a:latin typeface="Courier New" panose="02070309020205020404" pitchFamily="49" charset="0"/>
                <a:ea typeface="MS PGothic" charset="-128"/>
                <a:cs typeface="Courier New" panose="02070309020205020404" pitchFamily="49" charset="0"/>
              </a:rPr>
              <a:t>(</a:t>
            </a:r>
            <a:r>
              <a:rPr lang="en-US" altLang="en-US" sz="2800" dirty="0" err="1">
                <a:latin typeface="Courier New" panose="02070309020205020404" pitchFamily="49" charset="0"/>
                <a:cs typeface="Courier New" pitchFamily="49" charset="0"/>
              </a:rPr>
              <a:t>defvar</a:t>
            </a:r>
            <a:r>
              <a:rPr lang="en-US" altLang="en-US" sz="2800" dirty="0">
                <a:latin typeface="Courier New" panose="02070309020205020404" pitchFamily="49" charset="0"/>
                <a:cs typeface="Courier New" pitchFamily="49" charset="0"/>
              </a:rPr>
              <a:t> </a:t>
            </a:r>
            <a:r>
              <a:rPr lang="en-US" altLang="en-US" sz="2800" dirty="0">
                <a:latin typeface="Courier New" panose="02070309020205020404" pitchFamily="49" charset="0"/>
                <a:ea typeface="MS PGothic" charset="-128"/>
                <a:cs typeface="Courier New" panose="02070309020205020404" pitchFamily="49" charset="0"/>
              </a:rPr>
              <a:t>identifier expr)</a:t>
            </a:r>
          </a:p>
          <a:p>
            <a:pPr lvl="1"/>
            <a:r>
              <a:rPr lang="en-US" altLang="en-US" sz="2800" dirty="0">
                <a:latin typeface="Calibri" charset="0"/>
                <a:ea typeface="Calibri" charset="0"/>
                <a:cs typeface="Calibri" charset="0"/>
              </a:rPr>
              <a:t>Ex: </a:t>
            </a:r>
            <a:br>
              <a:rPr lang="en-US" altLang="en-US" sz="2800" dirty="0">
                <a:latin typeface="Calibri" charset="0"/>
                <a:ea typeface="Calibri" charset="0"/>
                <a:cs typeface="Calibri" charset="0"/>
              </a:rPr>
            </a:br>
            <a:r>
              <a:rPr lang="en-US" altLang="en-US" sz="2800" dirty="0">
                <a:latin typeface="Calibri" charset="0"/>
                <a:ea typeface="Calibri" charset="0"/>
                <a:cs typeface="Calibri" charset="0"/>
              </a:rPr>
              <a:t>     </a:t>
            </a:r>
            <a:r>
              <a:rPr lang="en-US" altLang="en-US" dirty="0">
                <a:latin typeface="Courier New" panose="02070309020205020404" pitchFamily="49" charset="0"/>
                <a:ea typeface="Calibri" charset="0"/>
                <a:cs typeface="Courier New" panose="02070309020205020404" pitchFamily="49" charset="0"/>
              </a:rPr>
              <a:t>(</a:t>
            </a:r>
            <a:r>
              <a:rPr lang="en-US" altLang="en-US" dirty="0" err="1">
                <a:latin typeface="Courier New" panose="02070309020205020404" pitchFamily="49" charset="0"/>
                <a:ea typeface="Calibri" charset="0"/>
                <a:cs typeface="Courier New" panose="02070309020205020404" pitchFamily="49" charset="0"/>
              </a:rPr>
              <a:t>defvar</a:t>
            </a:r>
            <a:r>
              <a:rPr lang="en-US" altLang="en-US" dirty="0">
                <a:latin typeface="Courier New" panose="02070309020205020404" pitchFamily="49" charset="0"/>
                <a:ea typeface="Calibri" charset="0"/>
                <a:cs typeface="Courier New" panose="02070309020205020404" pitchFamily="49" charset="0"/>
              </a:rPr>
              <a:t> *List* '(</a:t>
            </a:r>
            <a:r>
              <a:rPr 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ea typeface="Calibri" charset="0"/>
                <a:cs typeface="Courier New" panose="02070309020205020404" pitchFamily="49" charset="0"/>
              </a:rPr>
              <a:t>abc</a:t>
            </a:r>
            <a:r>
              <a:rPr lang="en-US" dirty="0">
                <a:latin typeface="Courier New" panose="02070309020205020404" pitchFamily="49" charset="0"/>
                <a:cs typeface="Courier New" panose="02070309020205020404" pitchFamily="49" charset="0"/>
              </a:rPr>
              <a:t>"</a:t>
            </a:r>
            <a:r>
              <a:rPr lang="en-US" altLang="en-US" dirty="0">
                <a:latin typeface="Courier New" panose="02070309020205020404" pitchFamily="49" charset="0"/>
                <a:ea typeface="Calibri" charset="0"/>
                <a:cs typeface="Courier New" panose="02070309020205020404" pitchFamily="49" charset="0"/>
              </a:rPr>
              <a:t> 7 (9 10)))</a:t>
            </a:r>
          </a:p>
          <a:p>
            <a:pPr>
              <a:spcBef>
                <a:spcPct val="0"/>
              </a:spcBef>
              <a:buNone/>
            </a:pPr>
            <a:r>
              <a:rPr lang="en-US" altLang="en-US" sz="2400" dirty="0">
                <a:latin typeface="Courier New" panose="02070309020205020404" pitchFamily="49" charset="0"/>
                <a:ea typeface="Calibri" charset="0"/>
                <a:cs typeface="Courier New" panose="02070309020205020404" pitchFamily="49" charset="0"/>
              </a:rPr>
              <a:t>		 *List* --&gt; (</a:t>
            </a:r>
            <a:r>
              <a:rPr 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ea typeface="Calibri" charset="0"/>
                <a:cs typeface="Courier New" panose="02070309020205020404" pitchFamily="49" charset="0"/>
              </a:rPr>
              <a:t>abc</a:t>
            </a:r>
            <a:r>
              <a:rPr lang="en-US" sz="2400" dirty="0">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ea typeface="Calibri" charset="0"/>
                <a:cs typeface="Courier New" panose="02070309020205020404" pitchFamily="49" charset="0"/>
              </a:rPr>
              <a:t> 7 (9 10)) </a:t>
            </a:r>
            <a:br>
              <a:rPr lang="en-US" altLang="en-US" sz="2400" dirty="0">
                <a:latin typeface="Courier New" panose="02070309020205020404" pitchFamily="49" charset="0"/>
                <a:ea typeface="Calibri" charset="0"/>
                <a:cs typeface="Courier New" panose="02070309020205020404" pitchFamily="49" charset="0"/>
              </a:rPr>
            </a:br>
            <a:endParaRPr lang="en-US" altLang="en-US" sz="2400" dirty="0">
              <a:latin typeface="Courier New" panose="02070309020205020404" pitchFamily="49" charset="0"/>
              <a:ea typeface="Calibri" charset="0"/>
              <a:cs typeface="Courier New" panose="02070309020205020404" pitchFamily="49" charset="0"/>
            </a:endParaRPr>
          </a:p>
          <a:p>
            <a:pPr lvl="1"/>
            <a:r>
              <a:rPr lang="en-US" altLang="en-US" sz="2800" dirty="0" err="1">
                <a:latin typeface="Courier New" pitchFamily="49" charset="0"/>
                <a:cs typeface="Courier New" pitchFamily="49" charset="0"/>
              </a:rPr>
              <a:t>defvar</a:t>
            </a:r>
            <a:r>
              <a:rPr lang="en-US" altLang="en-US" sz="2800" dirty="0">
                <a:latin typeface="Courier New" pitchFamily="49" charset="0"/>
                <a:cs typeface="Courier New" pitchFamily="49" charset="0"/>
              </a:rPr>
              <a:t> </a:t>
            </a:r>
            <a:r>
              <a:rPr lang="en-US" altLang="en-US" sz="2800" dirty="0">
                <a:ea typeface="MS PGothic" charset="-128"/>
              </a:rPr>
              <a:t>binds the identifier to the result of the </a:t>
            </a:r>
            <a:r>
              <a:rPr lang="en-US" sz="2800" dirty="0">
                <a:ea typeface="MS PGothic" charset="-128"/>
              </a:rPr>
              <a:t>expression</a:t>
            </a:r>
            <a:endParaRPr lang="en-US" altLang="en-US" sz="2800" dirty="0">
              <a:ea typeface="MS PGothic" charset="-128"/>
            </a:endParaRPr>
          </a:p>
          <a:p>
            <a:pPr lvl="1"/>
            <a:r>
              <a:rPr lang="en-US" sz="2800" dirty="0">
                <a:ea typeface="MS PGothic" charset="-128"/>
              </a:rPr>
              <a:t>*List* is the identifier for the list passed in as the expression</a:t>
            </a:r>
            <a:endParaRPr lang="en-US" sz="2800" dirty="0"/>
          </a:p>
          <a:p>
            <a:pPr>
              <a:defRPr/>
            </a:pPr>
            <a:endParaRPr lang="en-US" altLang="en-US" sz="2800" dirty="0">
              <a:solidFill>
                <a:srgbClr val="0070C0"/>
              </a:solidFill>
            </a:endParaRPr>
          </a:p>
        </p:txBody>
      </p:sp>
    </p:spTree>
    <p:extLst>
      <p:ext uri="{BB962C8B-B14F-4D97-AF65-F5344CB8AC3E}">
        <p14:creationId xmlns:p14="http://schemas.microsoft.com/office/powerpoint/2010/main" val="966971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a:xfrm>
            <a:off x="838200" y="1825624"/>
            <a:ext cx="10515600" cy="4857563"/>
          </a:xfrm>
        </p:spPr>
        <p:txBody>
          <a:bodyPr>
            <a:normAutofit lnSpcReduction="10000"/>
          </a:bodyPr>
          <a:lstStyle/>
          <a:p>
            <a:pPr>
              <a:defRPr/>
            </a:pPr>
            <a:r>
              <a:rPr lang="en-US" altLang="en-US" dirty="0">
                <a:ea typeface="MS PGothic" charset="-128"/>
              </a:rPr>
              <a:t>To use the list structure, need set of functions that operate on lists:</a:t>
            </a:r>
          </a:p>
          <a:p>
            <a:pPr lvl="1">
              <a:defRPr/>
            </a:pPr>
            <a:r>
              <a:rPr lang="en-US" altLang="en-US" sz="2800" dirty="0">
                <a:latin typeface="Courier New" panose="02070309020205020404" pitchFamily="49" charset="0"/>
                <a:cs typeface="Courier New" panose="02070309020205020404" pitchFamily="49" charset="0"/>
              </a:rPr>
              <a:t>car:</a:t>
            </a:r>
            <a:r>
              <a:rPr lang="en-US" altLang="en-US" sz="2800" dirty="0">
                <a:ea typeface="MS PGothic" charset="-128"/>
              </a:rPr>
              <a:t> returns the first element of the given cons cell, the head of our list</a:t>
            </a:r>
          </a:p>
          <a:p>
            <a:pPr lvl="1">
              <a:defRPr/>
            </a:pPr>
            <a:r>
              <a:rPr lang="en-US" altLang="en-US" sz="2800" dirty="0" err="1">
                <a:latin typeface="Courier New" panose="02070309020205020404" pitchFamily="49" charset="0"/>
                <a:cs typeface="Courier New" panose="02070309020205020404" pitchFamily="49" charset="0"/>
              </a:rPr>
              <a:t>cdr</a:t>
            </a:r>
            <a:r>
              <a:rPr lang="en-US" altLang="en-US" sz="2800" dirty="0">
                <a:latin typeface="Courier New" panose="02070309020205020404" pitchFamily="49" charset="0"/>
                <a:cs typeface="Courier New" panose="02070309020205020404" pitchFamily="49" charset="0"/>
              </a:rPr>
              <a:t>:</a:t>
            </a:r>
            <a:r>
              <a:rPr lang="en-US" altLang="en-US" sz="2800" dirty="0">
                <a:ea typeface="MS PGothic" charset="-128"/>
              </a:rPr>
              <a:t> returns the second element of the given cons cell, the rest of our list</a:t>
            </a:r>
          </a:p>
          <a:p>
            <a:pPr lvl="1">
              <a:defRPr/>
            </a:pPr>
            <a:r>
              <a:rPr lang="en-US" altLang="en-US" sz="2800" dirty="0">
                <a:latin typeface="Courier New" panose="02070309020205020404" pitchFamily="49" charset="0"/>
                <a:cs typeface="Courier New" panose="02070309020205020404" pitchFamily="49" charset="0"/>
              </a:rPr>
              <a:t>cons</a:t>
            </a:r>
            <a:r>
              <a:rPr lang="en-US" altLang="en-US" sz="2800" dirty="0"/>
              <a:t>: builds new cons cell</a:t>
            </a:r>
          </a:p>
          <a:p>
            <a:pPr lvl="1">
              <a:defRPr/>
            </a:pPr>
            <a:r>
              <a:rPr lang="en-US" altLang="en-US" sz="2800" dirty="0">
                <a:latin typeface="Courier New" panose="02070309020205020404" pitchFamily="49" charset="0"/>
                <a:cs typeface="Courier New" panose="02070309020205020404" pitchFamily="49" charset="0"/>
              </a:rPr>
              <a:t>list</a:t>
            </a:r>
            <a:r>
              <a:rPr lang="en-US" altLang="en-US" sz="2800" dirty="0"/>
              <a:t>: allows you to specify a list</a:t>
            </a:r>
            <a:endParaRPr lang="en-US" altLang="en-US" sz="2800" dirty="0">
              <a:ea typeface="MS PGothic" charset="-128"/>
            </a:endParaRPr>
          </a:p>
          <a:p>
            <a:pPr>
              <a:defRPr/>
            </a:pPr>
            <a:r>
              <a:rPr lang="en-US" altLang="en-US" dirty="0">
                <a:cs typeface="Courier New" panose="02070309020205020404" pitchFamily="49" charset="0"/>
              </a:rPr>
              <a:t>If L is list (1 2 3)</a:t>
            </a:r>
          </a:p>
          <a:p>
            <a:pPr lvl="1">
              <a:defRPr/>
            </a:pPr>
            <a:r>
              <a:rPr lang="en-US" altLang="en-US" sz="2800" dirty="0">
                <a:latin typeface="Courier New" panose="02070309020205020404" pitchFamily="49" charset="0"/>
                <a:cs typeface="Courier New" panose="02070309020205020404" pitchFamily="49" charset="0"/>
              </a:rPr>
              <a:t>(car L)      </a:t>
            </a:r>
            <a:r>
              <a:rPr lang="en-US" altLang="en-US" sz="2800" dirty="0"/>
              <a:t>gives 1</a:t>
            </a:r>
          </a:p>
          <a:p>
            <a:pPr lvl="1">
              <a:defRPr/>
            </a:pP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cdr</a:t>
            </a:r>
            <a:r>
              <a:rPr lang="en-US" altLang="en-US" sz="2800" dirty="0">
                <a:latin typeface="Courier New" panose="02070309020205020404" pitchFamily="49" charset="0"/>
                <a:cs typeface="Courier New" panose="02070309020205020404" pitchFamily="49" charset="0"/>
              </a:rPr>
              <a:t> L)      </a:t>
            </a:r>
            <a:r>
              <a:rPr lang="en-US" altLang="en-US" sz="2800" dirty="0"/>
              <a:t>gives (2 3)</a:t>
            </a:r>
          </a:p>
          <a:p>
            <a:pPr lvl="1">
              <a:defRPr/>
            </a:pPr>
            <a:r>
              <a:rPr lang="en-US" altLang="en-US" sz="2800" dirty="0">
                <a:latin typeface="Courier New" panose="02070309020205020404" pitchFamily="49" charset="0"/>
                <a:cs typeface="Courier New" panose="02070309020205020404" pitchFamily="49" charset="0"/>
              </a:rPr>
              <a:t>(cons 4 L)   </a:t>
            </a:r>
            <a:r>
              <a:rPr lang="en-US" altLang="en-US" sz="2800" dirty="0"/>
              <a:t>gives (4 1 2 3)</a:t>
            </a:r>
          </a:p>
          <a:p>
            <a:pPr lvl="1">
              <a:defRPr/>
            </a:pPr>
            <a:r>
              <a:rPr lang="en-US" altLang="en-US" sz="2800" dirty="0">
                <a:latin typeface="Courier New" panose="02070309020205020404" pitchFamily="49" charset="0"/>
                <a:cs typeface="Courier New" panose="02070309020205020404" pitchFamily="49" charset="0"/>
              </a:rPr>
              <a:t>(list 1 2 3) </a:t>
            </a:r>
            <a:r>
              <a:rPr lang="en-US" altLang="en-US" sz="2800" dirty="0"/>
              <a:t>gives ( 1 2 3)</a:t>
            </a:r>
          </a:p>
        </p:txBody>
      </p:sp>
    </p:spTree>
    <p:extLst>
      <p:ext uri="{BB962C8B-B14F-4D97-AF65-F5344CB8AC3E}">
        <p14:creationId xmlns:p14="http://schemas.microsoft.com/office/powerpoint/2010/main" val="1577308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a:xfrm>
            <a:off x="838200" y="1825624"/>
            <a:ext cx="10515600" cy="4360023"/>
          </a:xfrm>
        </p:spPr>
        <p:txBody>
          <a:bodyPr>
            <a:normAutofit/>
          </a:bodyPr>
          <a:lstStyle/>
          <a:p>
            <a:pPr>
              <a:spcBef>
                <a:spcPct val="0"/>
              </a:spcBef>
            </a:pPr>
            <a:r>
              <a:rPr lang="en-US" dirty="0"/>
              <a:t>Ex:   </a:t>
            </a:r>
            <a:r>
              <a:rPr lang="en-US" altLang="en-US" dirty="0">
                <a:latin typeface="Calibri" charset="0"/>
                <a:ea typeface="Calibri" charset="0"/>
                <a:cs typeface="Calibri" charset="0"/>
              </a:rPr>
              <a:t>(</a:t>
            </a:r>
            <a:r>
              <a:rPr lang="en-US" altLang="en-US" dirty="0" err="1">
                <a:latin typeface="Calibri" charset="0"/>
                <a:ea typeface="Calibri" charset="0"/>
                <a:cs typeface="Calibri" charset="0"/>
              </a:rPr>
              <a:t>defvar</a:t>
            </a:r>
            <a:r>
              <a:rPr lang="en-US" altLang="en-US" dirty="0">
                <a:latin typeface="Calibri" charset="0"/>
                <a:ea typeface="Calibri" charset="0"/>
                <a:cs typeface="Calibri" charset="0"/>
              </a:rPr>
              <a:t> *list* </a:t>
            </a:r>
            <a:r>
              <a:rPr lang="en-US" altLang="en-US" dirty="0">
                <a:solidFill>
                  <a:srgbClr val="0033CC"/>
                </a:solidFill>
                <a:latin typeface="Calibri" charset="0"/>
                <a:ea typeface="Calibri" charset="0"/>
                <a:cs typeface="Calibri" charset="0"/>
              </a:rPr>
              <a:t>(</a:t>
            </a:r>
            <a:r>
              <a:rPr lang="en-US" altLang="en-US" dirty="0">
                <a:latin typeface="Calibri" charset="0"/>
                <a:ea typeface="Calibri" charset="0"/>
                <a:cs typeface="Calibri" charset="0"/>
              </a:rPr>
              <a:t>list</a:t>
            </a:r>
            <a:r>
              <a:rPr lang="en-US" altLang="en-US" dirty="0">
                <a:solidFill>
                  <a:srgbClr val="0033CC"/>
                </a:solidFill>
                <a:latin typeface="Calibri" charset="0"/>
                <a:ea typeface="Calibri" charset="0"/>
                <a:cs typeface="Calibri" charset="0"/>
              </a:rPr>
              <a:t> </a:t>
            </a:r>
            <a:r>
              <a:rPr lang="mr-IN" altLang="en-US" dirty="0">
                <a:latin typeface="Calibri" charset="0"/>
                <a:ea typeface="Calibri" charset="0"/>
                <a:cs typeface="Calibri" charset="0"/>
              </a:rPr>
              <a:t>"</a:t>
            </a:r>
            <a:r>
              <a:rPr lang="en-US" altLang="en-US" dirty="0" err="1">
                <a:latin typeface="Calibri" charset="0"/>
                <a:ea typeface="Calibri" charset="0"/>
                <a:cs typeface="Calibri" charset="0"/>
              </a:rPr>
              <a:t>abc</a:t>
            </a:r>
            <a:r>
              <a:rPr lang="mr-IN" altLang="en-US" dirty="0">
                <a:latin typeface="Calibri" charset="0"/>
                <a:ea typeface="Calibri" charset="0"/>
                <a:cs typeface="Calibri" charset="0"/>
              </a:rPr>
              <a:t>"</a:t>
            </a:r>
            <a:r>
              <a:rPr lang="en-US" altLang="en-US" dirty="0">
                <a:latin typeface="Calibri" charset="0"/>
                <a:ea typeface="Calibri" charset="0"/>
                <a:cs typeface="Calibri" charset="0"/>
              </a:rPr>
              <a:t> 7 </a:t>
            </a:r>
            <a:r>
              <a:rPr lang="en-US" altLang="en-US" dirty="0">
                <a:solidFill>
                  <a:srgbClr val="00B050"/>
                </a:solidFill>
                <a:latin typeface="Calibri" charset="0"/>
                <a:ea typeface="Calibri" charset="0"/>
                <a:cs typeface="Calibri" charset="0"/>
              </a:rPr>
              <a:t>(</a:t>
            </a:r>
            <a:r>
              <a:rPr lang="en-US" altLang="en-US" dirty="0">
                <a:latin typeface="Calibri" charset="0"/>
                <a:ea typeface="Calibri" charset="0"/>
                <a:cs typeface="Calibri" charset="0"/>
              </a:rPr>
              <a:t>list</a:t>
            </a:r>
            <a:r>
              <a:rPr lang="en-US" altLang="en-US" dirty="0">
                <a:solidFill>
                  <a:srgbClr val="00B050"/>
                </a:solidFill>
                <a:latin typeface="Calibri" charset="0"/>
                <a:ea typeface="Calibri" charset="0"/>
                <a:cs typeface="Calibri" charset="0"/>
              </a:rPr>
              <a:t> </a:t>
            </a:r>
            <a:r>
              <a:rPr lang="en-US" altLang="en-US" dirty="0">
                <a:latin typeface="Calibri" charset="0"/>
                <a:ea typeface="Calibri" charset="0"/>
                <a:cs typeface="Calibri" charset="0"/>
              </a:rPr>
              <a:t>9 10</a:t>
            </a:r>
            <a:r>
              <a:rPr lang="en-US" altLang="en-US" dirty="0">
                <a:solidFill>
                  <a:srgbClr val="00B050"/>
                </a:solidFill>
                <a:latin typeface="Calibri" charset="0"/>
                <a:ea typeface="Calibri" charset="0"/>
                <a:cs typeface="Calibri" charset="0"/>
              </a:rPr>
              <a:t>)</a:t>
            </a:r>
            <a:r>
              <a:rPr lang="en-US" altLang="en-US" dirty="0">
                <a:solidFill>
                  <a:srgbClr val="0033CC"/>
                </a:solidFill>
                <a:latin typeface="Calibri" charset="0"/>
                <a:ea typeface="Calibri" charset="0"/>
                <a:cs typeface="Calibri" charset="0"/>
              </a:rPr>
              <a:t> )</a:t>
            </a:r>
            <a:r>
              <a:rPr lang="en-US" altLang="en-US" dirty="0">
                <a:latin typeface="Calibri" charset="0"/>
                <a:ea typeface="Calibri" charset="0"/>
                <a:cs typeface="Calibri" charset="0"/>
              </a:rPr>
              <a:t>)</a:t>
            </a:r>
            <a:r>
              <a:rPr lang="en-US" altLang="en-US" dirty="0"/>
              <a:t>			</a:t>
            </a:r>
          </a:p>
          <a:p>
            <a:pPr>
              <a:spcBef>
                <a:spcPct val="0"/>
              </a:spcBef>
              <a:buNone/>
            </a:pPr>
            <a:r>
              <a:rPr lang="en-US" altLang="en-US" dirty="0"/>
              <a:t>		</a:t>
            </a:r>
          </a:p>
          <a:p>
            <a:pPr>
              <a:spcBef>
                <a:spcPct val="0"/>
              </a:spcBef>
              <a:buNone/>
            </a:pPr>
            <a:r>
              <a:rPr lang="en-US" altLang="en-US" dirty="0"/>
              <a:t>		(car *list*)				</a:t>
            </a:r>
            <a:r>
              <a:rPr lang="mr-IN" altLang="en-US" dirty="0">
                <a:solidFill>
                  <a:srgbClr val="0070C0"/>
                </a:solidFill>
                <a:latin typeface="Calibri" charset="0"/>
                <a:ea typeface="Calibri" charset="0"/>
                <a:cs typeface="Calibri" charset="0"/>
              </a:rPr>
              <a:t>"</a:t>
            </a:r>
            <a:r>
              <a:rPr lang="en-US" altLang="en-US" dirty="0" err="1">
                <a:solidFill>
                  <a:srgbClr val="0070C0"/>
                </a:solidFill>
              </a:rPr>
              <a:t>abc</a:t>
            </a:r>
            <a:r>
              <a:rPr lang="mr-IN" altLang="en-US" dirty="0">
                <a:solidFill>
                  <a:srgbClr val="0070C0"/>
                </a:solidFill>
                <a:latin typeface="Calibri" charset="0"/>
                <a:ea typeface="Calibri" charset="0"/>
                <a:cs typeface="Calibri" charset="0"/>
              </a:rPr>
              <a:t>"</a:t>
            </a:r>
            <a:endParaRPr lang="en-US" altLang="en-US" dirty="0">
              <a:solidFill>
                <a:srgbClr val="0070C0"/>
              </a:solidFill>
            </a:endParaRPr>
          </a:p>
          <a:p>
            <a:pPr>
              <a:spcBef>
                <a:spcPct val="0"/>
              </a:spcBef>
              <a:buFontTx/>
              <a:buNone/>
            </a:pPr>
            <a:r>
              <a:rPr lang="en-US" altLang="en-US" dirty="0"/>
              <a:t>		(</a:t>
            </a:r>
            <a:r>
              <a:rPr lang="en-US" altLang="en-US" dirty="0" err="1"/>
              <a:t>cdr</a:t>
            </a:r>
            <a:r>
              <a:rPr lang="en-US" altLang="en-US" dirty="0"/>
              <a:t> *list*)				</a:t>
            </a:r>
            <a:r>
              <a:rPr lang="en-US" altLang="en-US" dirty="0">
                <a:solidFill>
                  <a:srgbClr val="0070C0"/>
                </a:solidFill>
              </a:rPr>
              <a:t>(7 (9 10))</a:t>
            </a:r>
            <a:endParaRPr lang="en-US" altLang="en-US" dirty="0"/>
          </a:p>
          <a:p>
            <a:pPr>
              <a:spcBef>
                <a:spcPct val="0"/>
              </a:spcBef>
              <a:buFontTx/>
              <a:buNone/>
            </a:pPr>
            <a:r>
              <a:rPr lang="en-US" altLang="en-US" dirty="0"/>
              <a:t>		(car (</a:t>
            </a:r>
            <a:r>
              <a:rPr lang="en-US" altLang="en-US" dirty="0" err="1"/>
              <a:t>cdr</a:t>
            </a:r>
            <a:r>
              <a:rPr lang="en-US" altLang="en-US" dirty="0"/>
              <a:t> *list*))			</a:t>
            </a:r>
            <a:r>
              <a:rPr lang="en-US" altLang="en-US" dirty="0">
                <a:solidFill>
                  <a:srgbClr val="0070C0"/>
                </a:solidFill>
              </a:rPr>
              <a:t>7</a:t>
            </a:r>
          </a:p>
          <a:p>
            <a:pPr>
              <a:spcBef>
                <a:spcPct val="0"/>
              </a:spcBef>
              <a:buFontTx/>
              <a:buNone/>
            </a:pPr>
            <a:r>
              <a:rPr lang="en-US" altLang="en-US" dirty="0"/>
              <a:t>		(</a:t>
            </a:r>
            <a:r>
              <a:rPr lang="en-US" altLang="en-US" dirty="0" err="1"/>
              <a:t>cdr</a:t>
            </a:r>
            <a:r>
              <a:rPr lang="en-US" altLang="en-US" dirty="0"/>
              <a:t> (</a:t>
            </a:r>
            <a:r>
              <a:rPr lang="en-US" altLang="en-US" dirty="0" err="1"/>
              <a:t>cdr</a:t>
            </a:r>
            <a:r>
              <a:rPr lang="en-US" altLang="en-US" dirty="0"/>
              <a:t> *list*))			</a:t>
            </a:r>
            <a:r>
              <a:rPr lang="en-US" altLang="en-US" dirty="0">
                <a:solidFill>
                  <a:srgbClr val="0070C0"/>
                </a:solidFill>
              </a:rPr>
              <a:t>((9 10))</a:t>
            </a:r>
          </a:p>
          <a:p>
            <a:pPr>
              <a:spcBef>
                <a:spcPct val="0"/>
              </a:spcBef>
              <a:buFontTx/>
              <a:buNone/>
            </a:pPr>
            <a:r>
              <a:rPr lang="en-US" altLang="en-US" dirty="0"/>
              <a:t>		(car (</a:t>
            </a:r>
            <a:r>
              <a:rPr lang="en-US" altLang="en-US" dirty="0" err="1"/>
              <a:t>cdr</a:t>
            </a:r>
            <a:r>
              <a:rPr lang="en-US" altLang="en-US" dirty="0"/>
              <a:t> (</a:t>
            </a:r>
            <a:r>
              <a:rPr lang="en-US" altLang="en-US" dirty="0" err="1"/>
              <a:t>cdr</a:t>
            </a:r>
            <a:r>
              <a:rPr lang="en-US" altLang="en-US" dirty="0"/>
              <a:t> *list*)))		</a:t>
            </a:r>
            <a:r>
              <a:rPr lang="en-US" altLang="en-US" dirty="0">
                <a:solidFill>
                  <a:srgbClr val="0070C0"/>
                </a:solidFill>
              </a:rPr>
              <a:t>(9 10)</a:t>
            </a:r>
          </a:p>
          <a:p>
            <a:pPr>
              <a:spcBef>
                <a:spcPct val="0"/>
              </a:spcBef>
              <a:buFontTx/>
              <a:buNone/>
            </a:pPr>
            <a:r>
              <a:rPr lang="en-US" altLang="en-US" dirty="0"/>
              <a:t>		(</a:t>
            </a:r>
            <a:r>
              <a:rPr lang="en-US" altLang="en-US" dirty="0" err="1"/>
              <a:t>cdr</a:t>
            </a:r>
            <a:r>
              <a:rPr lang="en-US" altLang="en-US" dirty="0"/>
              <a:t> (</a:t>
            </a:r>
            <a:r>
              <a:rPr lang="en-US" altLang="en-US" dirty="0" err="1"/>
              <a:t>cdr</a:t>
            </a:r>
            <a:r>
              <a:rPr lang="en-US" altLang="en-US" dirty="0"/>
              <a:t> (</a:t>
            </a:r>
            <a:r>
              <a:rPr lang="en-US" altLang="en-US" dirty="0" err="1"/>
              <a:t>cdr</a:t>
            </a:r>
            <a:r>
              <a:rPr lang="en-US" altLang="en-US" dirty="0"/>
              <a:t> *list*)))		</a:t>
            </a:r>
            <a:r>
              <a:rPr lang="en-US" altLang="en-US" dirty="0">
                <a:solidFill>
                  <a:srgbClr val="0070C0"/>
                </a:solidFill>
              </a:rPr>
              <a:t>NIL</a:t>
            </a:r>
          </a:p>
          <a:p>
            <a:pPr>
              <a:spcBef>
                <a:spcPct val="0"/>
              </a:spcBef>
              <a:buFontTx/>
              <a:buNone/>
            </a:pPr>
            <a:r>
              <a:rPr lang="en-US" altLang="en-US" dirty="0"/>
              <a:t>		(car (car (</a:t>
            </a:r>
            <a:r>
              <a:rPr lang="en-US" altLang="en-US" dirty="0" err="1"/>
              <a:t>cdr</a:t>
            </a:r>
            <a:r>
              <a:rPr lang="en-US" altLang="en-US" dirty="0"/>
              <a:t> (</a:t>
            </a:r>
            <a:r>
              <a:rPr lang="en-US" altLang="en-US" dirty="0" err="1"/>
              <a:t>cdr</a:t>
            </a:r>
            <a:r>
              <a:rPr lang="en-US" altLang="en-US" dirty="0"/>
              <a:t> *list*))))	</a:t>
            </a:r>
            <a:r>
              <a:rPr lang="en-US" altLang="en-US" dirty="0">
                <a:solidFill>
                  <a:srgbClr val="0070C0"/>
                </a:solidFill>
              </a:rPr>
              <a:t>9</a:t>
            </a:r>
          </a:p>
        </p:txBody>
      </p:sp>
    </p:spTree>
    <p:extLst>
      <p:ext uri="{BB962C8B-B14F-4D97-AF65-F5344CB8AC3E}">
        <p14:creationId xmlns:p14="http://schemas.microsoft.com/office/powerpoint/2010/main" val="138610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t>Constructing a list using </a:t>
            </a:r>
            <a:r>
              <a:rPr lang="en-US">
                <a:latin typeface="Courier New" pitchFamily="49" charset="0"/>
                <a:cs typeface="Courier New" pitchFamily="49" charset="0"/>
              </a:rPr>
              <a:t>cons</a:t>
            </a:r>
          </a:p>
          <a:p>
            <a:pPr>
              <a:spcBef>
                <a:spcPct val="0"/>
              </a:spcBef>
            </a:pPr>
            <a:endParaRPr lang="en-US"/>
          </a:p>
          <a:p>
            <a:pPr>
              <a:spcBef>
                <a:spcPct val="0"/>
              </a:spcBef>
            </a:pPr>
            <a:r>
              <a:rPr lang="en-US"/>
              <a:t>Ex</a:t>
            </a:r>
            <a:r>
              <a:rPr lang="en-US">
                <a:latin typeface="Calibri" charset="0"/>
                <a:ea typeface="Calibri" charset="0"/>
                <a:cs typeface="Calibri" charset="0"/>
              </a:rPr>
              <a:t>: </a:t>
            </a:r>
            <a:r>
              <a:rPr lang="mr-IN">
                <a:solidFill>
                  <a:srgbClr val="FF0000"/>
                </a:solidFill>
                <a:latin typeface="Calibri" charset="0"/>
                <a:ea typeface="Calibri" charset="0"/>
                <a:cs typeface="Calibri" charset="0"/>
              </a:rPr>
              <a:t>(</a:t>
            </a:r>
            <a:r>
              <a:rPr lang="mr-IN" err="1">
                <a:latin typeface="Calibri" charset="0"/>
                <a:ea typeface="Calibri" charset="0"/>
                <a:cs typeface="Calibri" charset="0"/>
              </a:rPr>
              <a:t>cons</a:t>
            </a:r>
            <a:r>
              <a:rPr lang="mr-IN">
                <a:latin typeface="Calibri" charset="0"/>
                <a:ea typeface="Calibri" charset="0"/>
                <a:cs typeface="Calibri" charset="0"/>
              </a:rPr>
              <a:t> "</a:t>
            </a:r>
            <a:r>
              <a:rPr lang="mr-IN" err="1">
                <a:latin typeface="Calibri" charset="0"/>
                <a:ea typeface="Calibri" charset="0"/>
                <a:cs typeface="Calibri" charset="0"/>
              </a:rPr>
              <a:t>abc</a:t>
            </a:r>
            <a:r>
              <a:rPr lang="mr-IN">
                <a:latin typeface="Calibri" charset="0"/>
                <a:ea typeface="Calibri" charset="0"/>
                <a:cs typeface="Calibri" charset="0"/>
              </a:rPr>
              <a:t>" </a:t>
            </a:r>
            <a:r>
              <a:rPr lang="mr-IN">
                <a:solidFill>
                  <a:srgbClr val="7030A0"/>
                </a:solidFill>
                <a:latin typeface="Calibri" charset="0"/>
                <a:ea typeface="Calibri" charset="0"/>
                <a:cs typeface="Calibri" charset="0"/>
              </a:rPr>
              <a:t>(</a:t>
            </a:r>
            <a:r>
              <a:rPr lang="mr-IN" err="1">
                <a:latin typeface="Calibri" charset="0"/>
                <a:ea typeface="Calibri" charset="0"/>
                <a:cs typeface="Calibri" charset="0"/>
              </a:rPr>
              <a:t>cons</a:t>
            </a:r>
            <a:r>
              <a:rPr lang="mr-IN">
                <a:latin typeface="Calibri" charset="0"/>
                <a:ea typeface="Calibri" charset="0"/>
                <a:cs typeface="Calibri" charset="0"/>
              </a:rPr>
              <a:t> 7 </a:t>
            </a:r>
            <a:r>
              <a:rPr lang="mr-IN">
                <a:solidFill>
                  <a:srgbClr val="92D050"/>
                </a:solidFill>
                <a:latin typeface="Calibri" charset="0"/>
                <a:ea typeface="Calibri" charset="0"/>
                <a:cs typeface="Calibri" charset="0"/>
              </a:rPr>
              <a:t>(</a:t>
            </a:r>
            <a:r>
              <a:rPr lang="mr-IN" err="1">
                <a:latin typeface="Calibri" charset="0"/>
                <a:ea typeface="Calibri" charset="0"/>
                <a:cs typeface="Calibri" charset="0"/>
              </a:rPr>
              <a:t>cons</a:t>
            </a:r>
            <a:r>
              <a:rPr lang="mr-IN">
                <a:latin typeface="Calibri" charset="0"/>
                <a:ea typeface="Calibri" charset="0"/>
                <a:cs typeface="Calibri" charset="0"/>
              </a:rPr>
              <a:t> </a:t>
            </a:r>
            <a:r>
              <a:rPr lang="mr-IN">
                <a:solidFill>
                  <a:schemeClr val="accent4">
                    <a:lumMod val="60000"/>
                    <a:lumOff val="40000"/>
                  </a:schemeClr>
                </a:solidFill>
                <a:latin typeface="Calibri" charset="0"/>
                <a:ea typeface="Calibri" charset="0"/>
                <a:cs typeface="Calibri" charset="0"/>
              </a:rPr>
              <a:t>(</a:t>
            </a:r>
            <a:r>
              <a:rPr lang="mr-IN" err="1">
                <a:latin typeface="Calibri" charset="0"/>
                <a:ea typeface="Calibri" charset="0"/>
                <a:cs typeface="Calibri" charset="0"/>
              </a:rPr>
              <a:t>cons</a:t>
            </a:r>
            <a:r>
              <a:rPr lang="mr-IN">
                <a:latin typeface="Calibri" charset="0"/>
                <a:ea typeface="Calibri" charset="0"/>
                <a:cs typeface="Calibri" charset="0"/>
              </a:rPr>
              <a:t> 9 </a:t>
            </a:r>
            <a:r>
              <a:rPr lang="mr-IN">
                <a:solidFill>
                  <a:srgbClr val="00B0F0"/>
                </a:solidFill>
                <a:latin typeface="Calibri" charset="0"/>
                <a:ea typeface="Calibri" charset="0"/>
                <a:cs typeface="Calibri" charset="0"/>
              </a:rPr>
              <a:t>(</a:t>
            </a:r>
            <a:r>
              <a:rPr lang="mr-IN" err="1">
                <a:latin typeface="Calibri" charset="0"/>
                <a:ea typeface="Calibri" charset="0"/>
                <a:cs typeface="Calibri" charset="0"/>
              </a:rPr>
              <a:t>cons</a:t>
            </a:r>
            <a:r>
              <a:rPr lang="mr-IN">
                <a:latin typeface="Calibri" charset="0"/>
                <a:ea typeface="Calibri" charset="0"/>
                <a:cs typeface="Calibri" charset="0"/>
              </a:rPr>
              <a:t> 10 () </a:t>
            </a:r>
            <a:r>
              <a:rPr lang="mr-IN">
                <a:solidFill>
                  <a:srgbClr val="00B0F0"/>
                </a:solidFill>
                <a:latin typeface="Calibri" charset="0"/>
                <a:ea typeface="Calibri" charset="0"/>
                <a:cs typeface="Calibri" charset="0"/>
              </a:rPr>
              <a:t>)</a:t>
            </a:r>
            <a:r>
              <a:rPr lang="mr-IN">
                <a:latin typeface="Calibri" charset="0"/>
                <a:ea typeface="Calibri" charset="0"/>
                <a:cs typeface="Calibri" charset="0"/>
              </a:rPr>
              <a:t> </a:t>
            </a:r>
            <a:r>
              <a:rPr lang="mr-IN">
                <a:solidFill>
                  <a:schemeClr val="accent4">
                    <a:lumMod val="60000"/>
                    <a:lumOff val="40000"/>
                  </a:schemeClr>
                </a:solidFill>
                <a:latin typeface="Calibri" charset="0"/>
                <a:ea typeface="Calibri" charset="0"/>
                <a:cs typeface="Calibri" charset="0"/>
              </a:rPr>
              <a:t>)</a:t>
            </a:r>
            <a:r>
              <a:rPr lang="mr-IN">
                <a:latin typeface="Calibri" charset="0"/>
                <a:ea typeface="Calibri" charset="0"/>
                <a:cs typeface="Calibri" charset="0"/>
              </a:rPr>
              <a:t> () </a:t>
            </a:r>
            <a:r>
              <a:rPr lang="mr-IN">
                <a:solidFill>
                  <a:srgbClr val="92D050"/>
                </a:solidFill>
                <a:latin typeface="Calibri" charset="0"/>
                <a:ea typeface="Calibri" charset="0"/>
                <a:cs typeface="Calibri" charset="0"/>
              </a:rPr>
              <a:t>)</a:t>
            </a:r>
            <a:r>
              <a:rPr lang="mr-IN">
                <a:latin typeface="Calibri" charset="0"/>
                <a:ea typeface="Calibri" charset="0"/>
                <a:cs typeface="Calibri" charset="0"/>
              </a:rPr>
              <a:t> </a:t>
            </a:r>
            <a:r>
              <a:rPr lang="mr-IN">
                <a:solidFill>
                  <a:srgbClr val="7030A0"/>
                </a:solidFill>
                <a:latin typeface="Calibri" charset="0"/>
                <a:ea typeface="Calibri" charset="0"/>
                <a:cs typeface="Calibri" charset="0"/>
              </a:rPr>
              <a:t>)</a:t>
            </a:r>
            <a:r>
              <a:rPr lang="mr-IN">
                <a:latin typeface="Calibri" charset="0"/>
                <a:ea typeface="Calibri" charset="0"/>
                <a:cs typeface="Calibri" charset="0"/>
              </a:rPr>
              <a:t> </a:t>
            </a:r>
            <a:r>
              <a:rPr lang="mr-IN">
                <a:solidFill>
                  <a:srgbClr val="FF0000"/>
                </a:solidFill>
                <a:latin typeface="Calibri" charset="0"/>
                <a:ea typeface="Calibri" charset="0"/>
                <a:cs typeface="Calibri" charset="0"/>
              </a:rPr>
              <a:t>)</a:t>
            </a:r>
            <a:r>
              <a:rPr lang="en-US" altLang="en-US">
                <a:latin typeface="Times New Roman" charset="0"/>
              </a:rPr>
              <a:t>	</a:t>
            </a:r>
          </a:p>
          <a:p>
            <a:pPr>
              <a:spcBef>
                <a:spcPct val="0"/>
              </a:spcBef>
            </a:pPr>
            <a:endParaRPr lang="en-US" altLang="en-US">
              <a:latin typeface="Calibri" charset="0"/>
              <a:ea typeface="Calibri" charset="0"/>
              <a:cs typeface="Calibri" charset="0"/>
            </a:endParaRPr>
          </a:p>
          <a:p>
            <a:pPr lvl="1">
              <a:spcBef>
                <a:spcPct val="0"/>
              </a:spcBef>
            </a:pPr>
            <a:r>
              <a:rPr lang="en-US" altLang="en-US" sz="2800">
                <a:latin typeface="Calibri" charset="0"/>
                <a:ea typeface="Calibri" charset="0"/>
                <a:cs typeface="Calibri" charset="0"/>
              </a:rPr>
              <a:t>builds (</a:t>
            </a:r>
            <a:r>
              <a:rPr lang="mr-IN" sz="2800">
                <a:latin typeface="Calibri" charset="0"/>
                <a:ea typeface="Calibri" charset="0"/>
                <a:cs typeface="Calibri" charset="0"/>
              </a:rPr>
              <a:t>"</a:t>
            </a:r>
            <a:r>
              <a:rPr lang="en-US" altLang="en-US" sz="2800" err="1">
                <a:latin typeface="Calibri" charset="0"/>
                <a:ea typeface="Calibri" charset="0"/>
                <a:cs typeface="Calibri" charset="0"/>
              </a:rPr>
              <a:t>abc</a:t>
            </a:r>
            <a:r>
              <a:rPr lang="mr-IN" sz="2800">
                <a:latin typeface="Calibri" charset="0"/>
                <a:ea typeface="Calibri" charset="0"/>
                <a:cs typeface="Calibri" charset="0"/>
              </a:rPr>
              <a:t>"</a:t>
            </a:r>
            <a:r>
              <a:rPr lang="en-US" altLang="en-US" sz="2800">
                <a:latin typeface="Calibri" charset="0"/>
                <a:ea typeface="Calibri" charset="0"/>
                <a:cs typeface="Calibri" charset="0"/>
              </a:rPr>
              <a:t> 7 (9 10))</a:t>
            </a:r>
            <a:r>
              <a:rPr lang="en-US" altLang="en-US" sz="2800"/>
              <a:t>	</a:t>
            </a:r>
          </a:p>
          <a:p>
            <a:pPr>
              <a:spcBef>
                <a:spcPct val="0"/>
              </a:spcBef>
              <a:buFontTx/>
              <a:buNone/>
            </a:pPr>
            <a:r>
              <a:rPr lang="en-US" altLang="en-US">
                <a:latin typeface="Times New Roman" charset="0"/>
              </a:rPr>
              <a:t>				</a:t>
            </a:r>
          </a:p>
          <a:p>
            <a:pPr>
              <a:spcBef>
                <a:spcPct val="0"/>
              </a:spcBef>
            </a:pPr>
            <a:r>
              <a:rPr lang="en-US" altLang="en-US"/>
              <a:t>Empty list is represented with: ()</a:t>
            </a:r>
          </a:p>
          <a:p>
            <a:pPr>
              <a:spcBef>
                <a:spcPct val="0"/>
              </a:spcBef>
            </a:pPr>
            <a:r>
              <a:rPr lang="en-US" altLang="en-US"/>
              <a:t>() is interchangeable with NIL </a:t>
            </a:r>
          </a:p>
        </p:txBody>
      </p:sp>
    </p:spTree>
    <p:extLst>
      <p:ext uri="{BB962C8B-B14F-4D97-AF65-F5344CB8AC3E}">
        <p14:creationId xmlns:p14="http://schemas.microsoft.com/office/powerpoint/2010/main" val="994146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t>Pair vs list: </a:t>
            </a:r>
            <a:r>
              <a:rPr lang="en-US">
                <a:latin typeface="Courier New" pitchFamily="49" charset="0"/>
                <a:cs typeface="Courier New" pitchFamily="49" charset="0"/>
              </a:rPr>
              <a:t>cons</a:t>
            </a:r>
          </a:p>
          <a:p>
            <a:pPr lvl="1">
              <a:defRPr/>
            </a:pPr>
            <a:r>
              <a:rPr lang="en-US" altLang="en-US" sz="2800"/>
              <a:t>(cons 1 2)				</a:t>
            </a:r>
            <a:r>
              <a:rPr lang="en-US" altLang="en-US" sz="2800">
                <a:solidFill>
                  <a:srgbClr val="0070C0"/>
                </a:solidFill>
              </a:rPr>
              <a:t>(1 . 2)</a:t>
            </a:r>
          </a:p>
          <a:p>
            <a:pPr lvl="2">
              <a:defRPr/>
            </a:pPr>
            <a:r>
              <a:rPr lang="en-US" sz="2800">
                <a:cs typeface="Courier New" pitchFamily="49" charset="0"/>
              </a:rPr>
              <a:t>2 is a value -&gt; result is a </a:t>
            </a:r>
            <a:r>
              <a:rPr lang="en-US" sz="2800" b="1">
                <a:cs typeface="Courier New" pitchFamily="49" charset="0"/>
              </a:rPr>
              <a:t>pair</a:t>
            </a:r>
          </a:p>
          <a:p>
            <a:pPr lvl="2">
              <a:defRPr/>
            </a:pPr>
            <a:endParaRPr lang="en-US" altLang="en-US" sz="2800">
              <a:solidFill>
                <a:srgbClr val="0070C0"/>
              </a:solidFill>
            </a:endParaRPr>
          </a:p>
          <a:p>
            <a:pPr lvl="1">
              <a:defRPr/>
            </a:pPr>
            <a:r>
              <a:rPr lang="en-US" altLang="en-US" sz="2800"/>
              <a:t>(cons 1 (list 2))			</a:t>
            </a:r>
            <a:r>
              <a:rPr lang="en-US" altLang="en-US" sz="2800">
                <a:solidFill>
                  <a:srgbClr val="0070C0"/>
                </a:solidFill>
              </a:rPr>
              <a:t>(1  2)</a:t>
            </a:r>
            <a:endParaRPr lang="en-US">
              <a:latin typeface="Courier New" pitchFamily="49" charset="0"/>
              <a:cs typeface="Courier New" pitchFamily="49" charset="0"/>
            </a:endParaRPr>
          </a:p>
          <a:p>
            <a:pPr lvl="2">
              <a:defRPr/>
            </a:pPr>
            <a:r>
              <a:rPr lang="en-US" sz="2800">
                <a:cs typeface="Courier New" pitchFamily="49" charset="0"/>
              </a:rPr>
              <a:t>(list 2) is a </a:t>
            </a:r>
            <a:r>
              <a:rPr lang="en-US" sz="2800" b="1">
                <a:cs typeface="Courier New" pitchFamily="49" charset="0"/>
              </a:rPr>
              <a:t>list</a:t>
            </a:r>
            <a:r>
              <a:rPr lang="en-US" sz="2800">
                <a:cs typeface="Courier New" pitchFamily="49" charset="0"/>
              </a:rPr>
              <a:t> (with one element) -&gt; result is a list with 2 elements</a:t>
            </a:r>
          </a:p>
          <a:p>
            <a:pPr lvl="2">
              <a:defRPr/>
            </a:pPr>
            <a:r>
              <a:rPr lang="en-US" sz="2800">
                <a:cs typeface="Courier New" pitchFamily="49" charset="0"/>
              </a:rPr>
              <a:t>Could have also done (cons 1 (cons 2 ()))</a:t>
            </a:r>
          </a:p>
          <a:p>
            <a:pPr>
              <a:spcBef>
                <a:spcPct val="0"/>
              </a:spcBef>
              <a:buNone/>
            </a:pPr>
            <a:endParaRPr lang="en-US" altLang="en-US">
              <a:solidFill>
                <a:srgbClr val="0070C0"/>
              </a:solidFill>
              <a:latin typeface="Times New Roman" charset="0"/>
            </a:endParaRPr>
          </a:p>
        </p:txBody>
      </p:sp>
    </p:spTree>
    <p:extLst>
      <p:ext uri="{BB962C8B-B14F-4D97-AF65-F5344CB8AC3E}">
        <p14:creationId xmlns:p14="http://schemas.microsoft.com/office/powerpoint/2010/main" val="547868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Common Lisp Data Structures</a:t>
            </a:r>
          </a:p>
        </p:txBody>
      </p:sp>
      <p:sp>
        <p:nvSpPr>
          <p:cNvPr id="3" name="Content Placeholder 2"/>
          <p:cNvSpPr>
            <a:spLocks noGrp="1"/>
          </p:cNvSpPr>
          <p:nvPr>
            <p:ph idx="1"/>
          </p:nvPr>
        </p:nvSpPr>
        <p:spPr/>
        <p:txBody>
          <a:bodyPr>
            <a:normAutofit/>
          </a:bodyPr>
          <a:lstStyle/>
          <a:p>
            <a:pPr>
              <a:defRPr/>
            </a:pPr>
            <a:r>
              <a:rPr lang="en-US">
                <a:latin typeface="Calibri" charset="0"/>
                <a:ea typeface="Calibri" charset="0"/>
                <a:cs typeface="Calibri" charset="0"/>
              </a:rPr>
              <a:t>All the basic list manipulation operations can be written as functions using the primitives </a:t>
            </a:r>
            <a:r>
              <a:rPr lang="en-US">
                <a:latin typeface="Courier New" charset="0"/>
                <a:ea typeface="Courier New" charset="0"/>
                <a:cs typeface="Courier New" charset="0"/>
              </a:rPr>
              <a:t>car</a:t>
            </a:r>
            <a:r>
              <a:rPr lang="en-US">
                <a:latin typeface="Calibri" charset="0"/>
                <a:ea typeface="Calibri" charset="0"/>
                <a:cs typeface="Calibri" charset="0"/>
              </a:rPr>
              <a:t>,</a:t>
            </a:r>
            <a:r>
              <a:rPr lang="en-US">
                <a:latin typeface="Courier New" charset="0"/>
                <a:ea typeface="Courier New" charset="0"/>
                <a:cs typeface="Courier New" charset="0"/>
              </a:rPr>
              <a:t> </a:t>
            </a:r>
            <a:r>
              <a:rPr lang="en-US" err="1">
                <a:latin typeface="Courier New" charset="0"/>
                <a:ea typeface="Courier New" charset="0"/>
                <a:cs typeface="Courier New" charset="0"/>
              </a:rPr>
              <a:t>cdr</a:t>
            </a:r>
            <a:r>
              <a:rPr lang="en-US">
                <a:latin typeface="Calibri" charset="0"/>
                <a:ea typeface="Calibri" charset="0"/>
                <a:cs typeface="Calibri" charset="0"/>
              </a:rPr>
              <a:t>,</a:t>
            </a:r>
            <a:r>
              <a:rPr lang="en-US">
                <a:latin typeface="Courier New" charset="0"/>
                <a:ea typeface="Courier New" charset="0"/>
                <a:cs typeface="Courier New" charset="0"/>
              </a:rPr>
              <a:t> cons</a:t>
            </a:r>
            <a:r>
              <a:rPr lang="en-US">
                <a:latin typeface="Calibri" charset="0"/>
                <a:ea typeface="Calibri" charset="0"/>
                <a:cs typeface="Calibri" charset="0"/>
              </a:rPr>
              <a:t>, and</a:t>
            </a:r>
            <a:r>
              <a:rPr lang="en-US">
                <a:latin typeface="Courier New" charset="0"/>
                <a:ea typeface="Courier New" charset="0"/>
                <a:cs typeface="Courier New" charset="0"/>
              </a:rPr>
              <a:t> null</a:t>
            </a:r>
          </a:p>
          <a:p>
            <a:pPr lvl="1">
              <a:defRPr/>
            </a:pPr>
            <a:r>
              <a:rPr lang="en-US" sz="2800">
                <a:latin typeface="Courier New" charset="0"/>
                <a:ea typeface="Courier New" charset="0"/>
                <a:cs typeface="Courier New" charset="0"/>
              </a:rPr>
              <a:t>null</a:t>
            </a:r>
            <a:r>
              <a:rPr lang="en-US" sz="2800">
                <a:latin typeface="Calibri" charset="0"/>
                <a:ea typeface="Calibri" charset="0"/>
                <a:cs typeface="Calibri" charset="0"/>
              </a:rPr>
              <a:t> returns true if the list is empty or false otherwise</a:t>
            </a:r>
          </a:p>
          <a:p>
            <a:pPr lvl="1">
              <a:defRPr/>
            </a:pPr>
            <a:r>
              <a:rPr lang="en-US" sz="2800">
                <a:latin typeface="Calibri" charset="0"/>
                <a:ea typeface="Calibri" charset="0"/>
                <a:cs typeface="Calibri" charset="0"/>
              </a:rPr>
              <a:t>In Common Lisp, an empty list (NIL) represents false</a:t>
            </a:r>
          </a:p>
          <a:p>
            <a:pPr>
              <a:spcBef>
                <a:spcPct val="0"/>
              </a:spcBef>
            </a:pPr>
            <a:endParaRPr lang="en-US" altLang="en-US">
              <a:latin typeface="Courier New" charset="0"/>
              <a:ea typeface="Courier New" charset="0"/>
              <a:cs typeface="Courier New" charset="0"/>
            </a:endParaRPr>
          </a:p>
          <a:p>
            <a:pPr>
              <a:spcBef>
                <a:spcPct val="0"/>
              </a:spcBef>
            </a:pPr>
            <a:r>
              <a:rPr lang="en-US" altLang="en-US">
                <a:latin typeface="Courier New" charset="0"/>
                <a:ea typeface="Courier New" charset="0"/>
                <a:cs typeface="Courier New" charset="0"/>
              </a:rPr>
              <a:t>(</a:t>
            </a:r>
            <a:r>
              <a:rPr lang="en-US" altLang="en-US" err="1">
                <a:latin typeface="Courier New" charset="0"/>
                <a:ea typeface="Courier New" charset="0"/>
                <a:cs typeface="Courier New" charset="0"/>
              </a:rPr>
              <a:t>defvar</a:t>
            </a:r>
            <a:r>
              <a:rPr lang="en-US" altLang="en-US">
                <a:latin typeface="Courier New" charset="0"/>
                <a:ea typeface="Courier New" charset="0"/>
                <a:cs typeface="Courier New" charset="0"/>
              </a:rPr>
              <a:t> *foo* (</a:t>
            </a:r>
            <a:r>
              <a:rPr lang="mr-IN" altLang="en-US">
                <a:latin typeface="Courier New" charset="0"/>
                <a:ea typeface="Courier New" charset="0"/>
                <a:cs typeface="Courier New" charset="0"/>
              </a:rPr>
              <a:t>"</a:t>
            </a:r>
            <a:r>
              <a:rPr lang="en-US" altLang="en-US" err="1">
                <a:latin typeface="Courier New" charset="0"/>
                <a:ea typeface="Courier New" charset="0"/>
                <a:cs typeface="Courier New" charset="0"/>
              </a:rPr>
              <a:t>abc</a:t>
            </a:r>
            <a:r>
              <a:rPr lang="mr-IN" altLang="en-US">
                <a:latin typeface="Courier New" charset="0"/>
                <a:ea typeface="Courier New" charset="0"/>
                <a:cs typeface="Courier New" charset="0"/>
              </a:rPr>
              <a:t>"</a:t>
            </a:r>
            <a:r>
              <a:rPr lang="en-US" altLang="en-US">
                <a:latin typeface="Courier New" charset="0"/>
                <a:ea typeface="Courier New" charset="0"/>
                <a:cs typeface="Courier New" charset="0"/>
              </a:rPr>
              <a:t> 7 (9 10)))	</a:t>
            </a:r>
          </a:p>
          <a:p>
            <a:pPr>
              <a:spcBef>
                <a:spcPct val="0"/>
              </a:spcBef>
              <a:buFontTx/>
              <a:buNone/>
            </a:pPr>
            <a:r>
              <a:rPr lang="en-US" altLang="en-US">
                <a:latin typeface="Courier New" charset="0"/>
                <a:ea typeface="Courier New" charset="0"/>
                <a:cs typeface="Courier New" charset="0"/>
              </a:rPr>
              <a:t>	(null *foo*)					</a:t>
            </a:r>
            <a:r>
              <a:rPr lang="en-US" altLang="en-US">
                <a:solidFill>
                  <a:srgbClr val="0070C0"/>
                </a:solidFill>
                <a:latin typeface="Courier New" charset="0"/>
                <a:ea typeface="Courier New" charset="0"/>
                <a:cs typeface="Courier New" charset="0"/>
              </a:rPr>
              <a:t>;NIL</a:t>
            </a:r>
          </a:p>
          <a:p>
            <a:pPr>
              <a:spcBef>
                <a:spcPct val="0"/>
              </a:spcBef>
              <a:buFontTx/>
              <a:buNone/>
            </a:pPr>
            <a:endParaRPr lang="en-US" altLang="en-US">
              <a:solidFill>
                <a:srgbClr val="0070C0"/>
              </a:solidFill>
              <a:latin typeface="Courier New" charset="0"/>
              <a:ea typeface="Courier New" charset="0"/>
              <a:cs typeface="Courier New" charset="0"/>
            </a:endParaRPr>
          </a:p>
          <a:p>
            <a:pPr>
              <a:spcBef>
                <a:spcPct val="0"/>
              </a:spcBef>
            </a:pPr>
            <a:r>
              <a:rPr lang="en-US" altLang="en-US">
                <a:latin typeface="Courier New" charset="0"/>
                <a:ea typeface="Courier New" charset="0"/>
                <a:cs typeface="Courier New" charset="0"/>
              </a:rPr>
              <a:t>(</a:t>
            </a:r>
            <a:r>
              <a:rPr lang="en-US" altLang="en-US" err="1">
                <a:latin typeface="Courier New" charset="0"/>
                <a:ea typeface="Courier New" charset="0"/>
                <a:cs typeface="Courier New" charset="0"/>
              </a:rPr>
              <a:t>defvar</a:t>
            </a:r>
            <a:r>
              <a:rPr lang="en-US" altLang="en-US">
                <a:latin typeface="Courier New" charset="0"/>
                <a:ea typeface="Courier New" charset="0"/>
                <a:cs typeface="Courier New" charset="0"/>
              </a:rPr>
              <a:t> *bar* ())	</a:t>
            </a:r>
          </a:p>
          <a:p>
            <a:pPr>
              <a:spcBef>
                <a:spcPct val="0"/>
              </a:spcBef>
              <a:buFontTx/>
              <a:buNone/>
            </a:pPr>
            <a:r>
              <a:rPr lang="en-US" altLang="en-US">
                <a:latin typeface="Courier New" charset="0"/>
                <a:ea typeface="Courier New" charset="0"/>
                <a:cs typeface="Courier New" charset="0"/>
              </a:rPr>
              <a:t>	(null *bar*)					</a:t>
            </a:r>
            <a:r>
              <a:rPr lang="en-US" altLang="en-US">
                <a:solidFill>
                  <a:srgbClr val="0070C0"/>
                </a:solidFill>
                <a:latin typeface="Courier New" charset="0"/>
                <a:ea typeface="Courier New" charset="0"/>
                <a:cs typeface="Courier New" charset="0"/>
              </a:rPr>
              <a:t>;T</a:t>
            </a:r>
          </a:p>
        </p:txBody>
      </p:sp>
    </p:spTree>
    <p:extLst>
      <p:ext uri="{BB962C8B-B14F-4D97-AF65-F5344CB8AC3E}">
        <p14:creationId xmlns:p14="http://schemas.microsoft.com/office/powerpoint/2010/main" val="1130888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Compiler</a:t>
            </a:r>
          </a:p>
        </p:txBody>
      </p:sp>
      <p:sp>
        <p:nvSpPr>
          <p:cNvPr id="3" name="Content Placeholder 2"/>
          <p:cNvSpPr>
            <a:spLocks noGrp="1"/>
          </p:cNvSpPr>
          <p:nvPr>
            <p:ph idx="1"/>
          </p:nvPr>
        </p:nvSpPr>
        <p:spPr/>
        <p:txBody>
          <a:bodyPr>
            <a:normAutofit/>
          </a:bodyPr>
          <a:lstStyle/>
          <a:p>
            <a:r>
              <a:rPr lang="en-US" altLang="en-US">
                <a:latin typeface="Calibri" charset="0"/>
                <a:ea typeface="Calibri" charset="0"/>
                <a:cs typeface="Calibri" charset="0"/>
              </a:rPr>
              <a:t>Common Lisp is a dialect of Lisp originally released in 1984</a:t>
            </a:r>
          </a:p>
          <a:p>
            <a:pPr lvl="1"/>
            <a:r>
              <a:rPr lang="en-US" altLang="en-US" sz="2800">
                <a:latin typeface="Calibri" charset="0"/>
                <a:ea typeface="Calibri" charset="0"/>
                <a:cs typeface="Calibri" charset="0"/>
              </a:rPr>
              <a:t>The final standardization was released in 1994</a:t>
            </a:r>
          </a:p>
          <a:p>
            <a:r>
              <a:rPr lang="en-US" altLang="en-US">
                <a:latin typeface="Calibri" charset="0"/>
                <a:ea typeface="Calibri" charset="0"/>
                <a:cs typeface="Calibri" charset="0"/>
              </a:rPr>
              <a:t>Common Lisp is not an implementation of a language</a:t>
            </a:r>
          </a:p>
          <a:p>
            <a:r>
              <a:rPr lang="en-US" altLang="en-US">
                <a:latin typeface="Calibri" charset="0"/>
                <a:ea typeface="Calibri" charset="0"/>
                <a:cs typeface="Calibri" charset="0"/>
              </a:rPr>
              <a:t>Rather it is a language specification </a:t>
            </a:r>
          </a:p>
          <a:p>
            <a:r>
              <a:rPr lang="en-US" altLang="en-US">
                <a:latin typeface="Calibri" charset="0"/>
                <a:ea typeface="Calibri" charset="0"/>
                <a:cs typeface="Calibri" charset="0"/>
              </a:rPr>
              <a:t>If Common Lisp is a language specification, what implementation do we use?</a:t>
            </a:r>
            <a:endParaRPr lang="en-US">
              <a:latin typeface="Calibri" charset="0"/>
              <a:ea typeface="Calibri" charset="0"/>
              <a:cs typeface="Calibri" charset="0"/>
            </a:endParaRPr>
          </a:p>
          <a:p>
            <a:pPr>
              <a:defRPr/>
            </a:pPr>
            <a:endParaRPr lang="en-US" altLang="en-US" sz="2800">
              <a:solidFill>
                <a:srgbClr val="0070C0"/>
              </a:solidFill>
            </a:endParaRPr>
          </a:p>
        </p:txBody>
      </p:sp>
    </p:spTree>
    <p:extLst>
      <p:ext uri="{BB962C8B-B14F-4D97-AF65-F5344CB8AC3E}">
        <p14:creationId xmlns:p14="http://schemas.microsoft.com/office/powerpoint/2010/main" val="3610667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Steel Bank Common Lisp</a:t>
            </a:r>
          </a:p>
        </p:txBody>
      </p:sp>
      <p:sp>
        <p:nvSpPr>
          <p:cNvPr id="3" name="Content Placeholder 2"/>
          <p:cNvSpPr>
            <a:spLocks noGrp="1"/>
          </p:cNvSpPr>
          <p:nvPr>
            <p:ph idx="1"/>
          </p:nvPr>
        </p:nvSpPr>
        <p:spPr/>
        <p:txBody>
          <a:bodyPr>
            <a:normAutofit/>
          </a:bodyPr>
          <a:lstStyle/>
          <a:p>
            <a:r>
              <a:rPr lang="en-US" altLang="en-US">
                <a:latin typeface="Calibri" charset="0"/>
                <a:ea typeface="Calibri" charset="0"/>
                <a:cs typeface="Calibri" charset="0"/>
              </a:rPr>
              <a:t>Steel Bank Common Lisp</a:t>
            </a:r>
          </a:p>
          <a:p>
            <a:r>
              <a:rPr lang="en-US" altLang="en-US">
                <a:latin typeface="Calibri" charset="0"/>
                <a:ea typeface="Calibri" charset="0"/>
                <a:cs typeface="Calibri" charset="0"/>
              </a:rPr>
              <a:t>SBCL is a free Common Lisp implementation </a:t>
            </a:r>
          </a:p>
          <a:p>
            <a:r>
              <a:rPr lang="en-US" altLang="en-US">
                <a:latin typeface="Calibri" charset="0"/>
                <a:ea typeface="Calibri" charset="0"/>
                <a:cs typeface="Calibri" charset="0"/>
              </a:rPr>
              <a:t>SBCL provides the ability to treat Common Lisp as a compiled or interpreted language </a:t>
            </a:r>
          </a:p>
          <a:p>
            <a:r>
              <a:rPr lang="en-US" altLang="en-US">
                <a:latin typeface="Calibri" charset="0"/>
                <a:ea typeface="Calibri" charset="0"/>
                <a:cs typeface="Calibri" charset="0"/>
              </a:rPr>
              <a:t>Also provides an REPL environment </a:t>
            </a:r>
            <a:endParaRPr lang="en-US" altLang="en-US" sz="2800">
              <a:solidFill>
                <a:srgbClr val="0070C0"/>
              </a:solidFill>
            </a:endParaRPr>
          </a:p>
        </p:txBody>
      </p:sp>
    </p:spTree>
    <p:extLst>
      <p:ext uri="{BB962C8B-B14F-4D97-AF65-F5344CB8AC3E}">
        <p14:creationId xmlns:p14="http://schemas.microsoft.com/office/powerpoint/2010/main" val="2475892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REPL</a:t>
            </a:r>
          </a:p>
        </p:txBody>
      </p:sp>
      <p:sp>
        <p:nvSpPr>
          <p:cNvPr id="3" name="Content Placeholder 2"/>
          <p:cNvSpPr>
            <a:spLocks noGrp="1"/>
          </p:cNvSpPr>
          <p:nvPr>
            <p:ph idx="1"/>
          </p:nvPr>
        </p:nvSpPr>
        <p:spPr/>
        <p:txBody>
          <a:bodyPr>
            <a:normAutofit/>
          </a:bodyPr>
          <a:lstStyle/>
          <a:p>
            <a:r>
              <a:rPr lang="en-US" altLang="en-US">
                <a:latin typeface="Calibri" charset="0"/>
                <a:ea typeface="Calibri" charset="0"/>
                <a:cs typeface="Calibri" charset="0"/>
              </a:rPr>
              <a:t>Read Evaluate Print Loop </a:t>
            </a:r>
          </a:p>
          <a:p>
            <a:pPr lvl="1"/>
            <a:r>
              <a:rPr lang="en-US" altLang="en-US" sz="2800">
                <a:latin typeface="Calibri" charset="0"/>
                <a:ea typeface="Calibri" charset="0"/>
                <a:cs typeface="Calibri" charset="0"/>
              </a:rPr>
              <a:t>Reads in user input</a:t>
            </a:r>
          </a:p>
          <a:p>
            <a:pPr lvl="1"/>
            <a:r>
              <a:rPr lang="en-US" altLang="en-US" sz="2800">
                <a:latin typeface="Calibri" charset="0"/>
                <a:ea typeface="Calibri" charset="0"/>
                <a:cs typeface="Calibri" charset="0"/>
              </a:rPr>
              <a:t>Evaluates input</a:t>
            </a:r>
          </a:p>
          <a:p>
            <a:pPr lvl="1"/>
            <a:r>
              <a:rPr lang="en-US" altLang="en-US" sz="2800">
                <a:latin typeface="Calibri" charset="0"/>
                <a:ea typeface="Calibri" charset="0"/>
                <a:cs typeface="Calibri" charset="0"/>
              </a:rPr>
              <a:t>Prints evaluation </a:t>
            </a:r>
          </a:p>
          <a:p>
            <a:pPr lvl="1"/>
            <a:r>
              <a:rPr lang="en-US" altLang="en-US" sz="2800">
                <a:latin typeface="Calibri" charset="0"/>
                <a:ea typeface="Calibri" charset="0"/>
                <a:cs typeface="Calibri" charset="0"/>
              </a:rPr>
              <a:t>Waits for next user input </a:t>
            </a:r>
            <a:endParaRPr lang="en-US" altLang="en-US" sz="2800">
              <a:solidFill>
                <a:srgbClr val="0070C0"/>
              </a:solidFill>
            </a:endParaRPr>
          </a:p>
          <a:p>
            <a:r>
              <a:rPr lang="en-US" altLang="en-US">
                <a:latin typeface="Calibri" charset="0"/>
                <a:ea typeface="Calibri" charset="0"/>
                <a:cs typeface="Calibri" charset="0"/>
              </a:rPr>
              <a:t>The REPL environment provided by SBCL is a powerful resource for developing and testing code </a:t>
            </a:r>
          </a:p>
          <a:p>
            <a:r>
              <a:rPr lang="en-US" altLang="en-US">
                <a:latin typeface="Calibri" charset="0"/>
                <a:ea typeface="Calibri" charset="0"/>
                <a:cs typeface="Calibri" charset="0"/>
              </a:rPr>
              <a:t>REPL environments are also found in Python and Swift </a:t>
            </a:r>
          </a:p>
        </p:txBody>
      </p:sp>
    </p:spTree>
    <p:extLst>
      <p:ext uri="{BB962C8B-B14F-4D97-AF65-F5344CB8AC3E}">
        <p14:creationId xmlns:p14="http://schemas.microsoft.com/office/powerpoint/2010/main" val="2660715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olidFill>
                  <a:srgbClr val="0070C0"/>
                </a:solidFill>
              </a:rPr>
              <a:t>SBCL</a:t>
            </a:r>
          </a:p>
        </p:txBody>
      </p:sp>
      <p:sp>
        <p:nvSpPr>
          <p:cNvPr id="3" name="Content Placeholder 2"/>
          <p:cNvSpPr>
            <a:spLocks noGrp="1"/>
          </p:cNvSpPr>
          <p:nvPr>
            <p:ph idx="1"/>
          </p:nvPr>
        </p:nvSpPr>
        <p:spPr/>
        <p:txBody>
          <a:bodyPr>
            <a:normAutofit/>
          </a:bodyPr>
          <a:lstStyle/>
          <a:p>
            <a:r>
              <a:rPr lang="en-US" altLang="en-US">
                <a:latin typeface="Calibri" charset="0"/>
                <a:ea typeface="Calibri" charset="0"/>
                <a:cs typeface="Calibri" charset="0"/>
              </a:rPr>
              <a:t>To run a lisp file, use the following instruction</a:t>
            </a:r>
          </a:p>
          <a:p>
            <a:pPr lvl="1"/>
            <a:r>
              <a:rPr lang="en-US" altLang="en-US" sz="2800">
                <a:latin typeface="Courier New" charset="0"/>
                <a:ea typeface="Courier New" charset="0"/>
                <a:cs typeface="Courier New" charset="0"/>
              </a:rPr>
              <a:t>(load </a:t>
            </a:r>
            <a:r>
              <a:rPr lang="en-US" sz="2800">
                <a:latin typeface="Courier New" charset="0"/>
                <a:ea typeface="Courier New" charset="0"/>
                <a:cs typeface="Courier New" charset="0"/>
              </a:rPr>
              <a:t>"</a:t>
            </a:r>
            <a:r>
              <a:rPr lang="en-US" altLang="en-US" sz="2800" err="1">
                <a:latin typeface="Courier New" charset="0"/>
                <a:ea typeface="Courier New" charset="0"/>
                <a:cs typeface="Courier New" charset="0"/>
              </a:rPr>
              <a:t>hello.lisp</a:t>
            </a:r>
            <a:r>
              <a:rPr lang="en-US" sz="2800">
                <a:latin typeface="Courier New" charset="0"/>
                <a:ea typeface="Courier New" charset="0"/>
                <a:cs typeface="Courier New" charset="0"/>
              </a:rPr>
              <a:t>"</a:t>
            </a:r>
            <a:r>
              <a:rPr lang="en-US" altLang="en-US" sz="2800">
                <a:latin typeface="Courier New" charset="0"/>
                <a:ea typeface="Courier New" charset="0"/>
                <a:cs typeface="Courier New" charset="0"/>
                <a:sym typeface="Wingdings"/>
              </a:rPr>
              <a:t>)</a:t>
            </a:r>
          </a:p>
          <a:p>
            <a:r>
              <a:rPr lang="en-US" altLang="en-US">
                <a:latin typeface="Calibri" panose="020F0502020204030204" pitchFamily="34" charset="0"/>
                <a:ea typeface="Courier New" charset="0"/>
                <a:cs typeface="Calibri" panose="020F0502020204030204" pitchFamily="34" charset="0"/>
                <a:sym typeface="Wingdings"/>
              </a:rPr>
              <a:t>Where the </a:t>
            </a:r>
            <a:r>
              <a:rPr lang="en-US" altLang="en-US" err="1">
                <a:latin typeface="Calibri" panose="020F0502020204030204" pitchFamily="34" charset="0"/>
                <a:ea typeface="Courier New" charset="0"/>
                <a:cs typeface="Calibri" panose="020F0502020204030204" pitchFamily="34" charset="0"/>
                <a:sym typeface="Wingdings"/>
              </a:rPr>
              <a:t>filepath</a:t>
            </a:r>
            <a:r>
              <a:rPr lang="en-US" altLang="en-US">
                <a:latin typeface="Calibri" panose="020F0502020204030204" pitchFamily="34" charset="0"/>
                <a:ea typeface="Courier New" charset="0"/>
                <a:cs typeface="Calibri" panose="020F0502020204030204" pitchFamily="34" charset="0"/>
                <a:sym typeface="Wingdings"/>
              </a:rPr>
              <a:t> of the lisp file is the String value</a:t>
            </a:r>
          </a:p>
          <a:p>
            <a:r>
              <a:rPr lang="en-US" altLang="en-US">
                <a:latin typeface="Calibri" panose="020F0502020204030204" pitchFamily="34" charset="0"/>
                <a:ea typeface="Courier New" charset="0"/>
                <a:cs typeface="Calibri" panose="020F0502020204030204" pitchFamily="34" charset="0"/>
                <a:sym typeface="Wingdings"/>
              </a:rPr>
              <a:t>The REPL environment prints the evaluated value of each expression. A run file does not share this behavior</a:t>
            </a:r>
          </a:p>
          <a:p>
            <a:r>
              <a:rPr lang="en-US" altLang="en-US">
                <a:latin typeface="Calibri" panose="020F0502020204030204" pitchFamily="34" charset="0"/>
                <a:ea typeface="Courier New" charset="0"/>
                <a:cs typeface="Calibri" panose="020F0502020204030204" pitchFamily="34" charset="0"/>
                <a:sym typeface="Wingdings"/>
              </a:rPr>
              <a:t>To print a value in a lisp file, use the following instruction:</a:t>
            </a:r>
          </a:p>
          <a:p>
            <a:pPr lvl="1"/>
            <a:r>
              <a:rPr lang="en-US" altLang="en-US" sz="2800">
                <a:latin typeface="Courier New" charset="0"/>
                <a:ea typeface="Courier New" charset="0"/>
                <a:cs typeface="Courier New" charset="0"/>
              </a:rPr>
              <a:t>(print *value*</a:t>
            </a:r>
            <a:r>
              <a:rPr lang="en-US" altLang="en-US" sz="2800">
                <a:latin typeface="Courier New" charset="0"/>
                <a:ea typeface="Courier New" charset="0"/>
                <a:cs typeface="Courier New" charset="0"/>
                <a:sym typeface="Wingdings"/>
              </a:rPr>
              <a:t>)</a:t>
            </a:r>
          </a:p>
          <a:p>
            <a:r>
              <a:rPr lang="en-US" altLang="en-US">
                <a:latin typeface="Calibri" panose="020F0502020204030204" pitchFamily="34" charset="0"/>
                <a:ea typeface="Courier New" charset="0"/>
                <a:cs typeface="Calibri" panose="020F0502020204030204" pitchFamily="34" charset="0"/>
                <a:sym typeface="Wingdings"/>
              </a:rPr>
              <a:t>To exit the REPL environment: </a:t>
            </a:r>
          </a:p>
          <a:p>
            <a:pPr lvl="1"/>
            <a:r>
              <a:rPr lang="en-US" altLang="en-US" sz="2800">
                <a:latin typeface="Courier New" panose="02070309020205020404" pitchFamily="49" charset="0"/>
                <a:ea typeface="Courier New" charset="0"/>
                <a:cs typeface="Courier New" panose="02070309020205020404" pitchFamily="49" charset="0"/>
                <a:sym typeface="Wingdings"/>
              </a:rPr>
              <a:t>(exit)</a:t>
            </a:r>
          </a:p>
        </p:txBody>
      </p:sp>
    </p:spTree>
    <p:extLst>
      <p:ext uri="{BB962C8B-B14F-4D97-AF65-F5344CB8AC3E}">
        <p14:creationId xmlns:p14="http://schemas.microsoft.com/office/powerpoint/2010/main" val="493499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39441</TotalTime>
  <Words>2227</Words>
  <Application>Microsoft Macintosh PowerPoint</Application>
  <PresentationFormat>Widescreen</PresentationFormat>
  <Paragraphs>277</Paragraphs>
  <Slides>32</Slides>
  <Notes>19</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ＭＳ Ｐゴシック</vt:lpstr>
      <vt:lpstr>ＭＳ Ｐゴシック</vt:lpstr>
      <vt:lpstr>Arial</vt:lpstr>
      <vt:lpstr>Calibri</vt:lpstr>
      <vt:lpstr>Calibri Light</vt:lpstr>
      <vt:lpstr>Cambria Math</vt:lpstr>
      <vt:lpstr>Courier New</vt:lpstr>
      <vt:lpstr>Times New Roman</vt:lpstr>
      <vt:lpstr>Wingdings</vt:lpstr>
      <vt:lpstr>Office Theme</vt:lpstr>
      <vt:lpstr>CMSC 304</vt:lpstr>
      <vt:lpstr>Programs as Functions</vt:lpstr>
      <vt:lpstr>Programs as Functions</vt:lpstr>
      <vt:lpstr>Programs as Functions</vt:lpstr>
      <vt:lpstr>Programs as Functions</vt:lpstr>
      <vt:lpstr>Programs as Functions</vt:lpstr>
      <vt:lpstr>Programs as Functions</vt:lpstr>
      <vt:lpstr>Functional Programming</vt:lpstr>
      <vt:lpstr>Functional Programming</vt:lpstr>
      <vt:lpstr>Common Lisp: A Dialect of Lisp</vt:lpstr>
      <vt:lpstr>LISP BNF</vt:lpstr>
      <vt:lpstr>Elements of Common Lisp</vt:lpstr>
      <vt:lpstr>Common Lisp Data Structures</vt:lpstr>
      <vt:lpstr>Common Lisp Data Structures</vt:lpstr>
      <vt:lpstr>Common Lisp Data Structures</vt:lpstr>
      <vt:lpstr>Common Lisp Data Structures</vt:lpstr>
      <vt:lpstr>Common Lisp Data Structures</vt:lpstr>
      <vt:lpstr>Elements of Common Lisp - Evaluation</vt:lpstr>
      <vt:lpstr>Elements of Common Lisp - Evaluation</vt:lpstr>
      <vt:lpstr>Elements of Common Lisp - Evaluation</vt:lpstr>
      <vt:lpstr>Elements of Common Lisp - Evaluation</vt:lpstr>
      <vt:lpstr>Elements of Common Lisp - Evaluation</vt:lpstr>
      <vt:lpstr>Adding Identifiers</vt:lpstr>
      <vt:lpstr>Common Lisp Data Structures</vt:lpstr>
      <vt:lpstr>Common Lisp Data Structures</vt:lpstr>
      <vt:lpstr>Common Lisp Data Structures</vt:lpstr>
      <vt:lpstr>Common Lisp Data Structures</vt:lpstr>
      <vt:lpstr>Common Lisp Data Structures</vt:lpstr>
      <vt:lpstr>Compiler</vt:lpstr>
      <vt:lpstr>Steel Bank Common Lisp</vt:lpstr>
      <vt:lpstr>REPL</vt:lpstr>
      <vt:lpstr>SBCL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403</dc:title>
  <dc:creator>Microsoft Office User</dc:creator>
  <cp:lastModifiedBy>Microsoft Office User</cp:lastModifiedBy>
  <cp:revision>221</cp:revision>
  <cp:lastPrinted>2017-09-06T16:14:57Z</cp:lastPrinted>
  <dcterms:created xsi:type="dcterms:W3CDTF">2017-05-31T17:26:26Z</dcterms:created>
  <dcterms:modified xsi:type="dcterms:W3CDTF">2025-01-06T20:59:47Z</dcterms:modified>
</cp:coreProperties>
</file>