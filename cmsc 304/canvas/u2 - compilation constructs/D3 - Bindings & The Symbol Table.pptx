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51"/>
  </p:notesMasterIdLst>
  <p:sldIdLst>
    <p:sldId id="257" r:id="rId2"/>
    <p:sldId id="344" r:id="rId3"/>
    <p:sldId id="486" r:id="rId4"/>
    <p:sldId id="489" r:id="rId5"/>
    <p:sldId id="487" r:id="rId6"/>
    <p:sldId id="490" r:id="rId7"/>
    <p:sldId id="492" r:id="rId8"/>
    <p:sldId id="496" r:id="rId9"/>
    <p:sldId id="528" r:id="rId10"/>
    <p:sldId id="615" r:id="rId11"/>
    <p:sldId id="618" r:id="rId12"/>
    <p:sldId id="501" r:id="rId13"/>
    <p:sldId id="665" r:id="rId14"/>
    <p:sldId id="505" r:id="rId15"/>
    <p:sldId id="506" r:id="rId16"/>
    <p:sldId id="503" r:id="rId17"/>
    <p:sldId id="617" r:id="rId18"/>
    <p:sldId id="493" r:id="rId19"/>
    <p:sldId id="664" r:id="rId20"/>
    <p:sldId id="674" r:id="rId21"/>
    <p:sldId id="675" r:id="rId22"/>
    <p:sldId id="259" r:id="rId23"/>
    <p:sldId id="666" r:id="rId24"/>
    <p:sldId id="260" r:id="rId25"/>
    <p:sldId id="261" r:id="rId26"/>
    <p:sldId id="262" r:id="rId27"/>
    <p:sldId id="263" r:id="rId28"/>
    <p:sldId id="264" r:id="rId29"/>
    <p:sldId id="667" r:id="rId30"/>
    <p:sldId id="668" r:id="rId31"/>
    <p:sldId id="669" r:id="rId32"/>
    <p:sldId id="670" r:id="rId33"/>
    <p:sldId id="671" r:id="rId34"/>
    <p:sldId id="672" r:id="rId35"/>
    <p:sldId id="673" r:id="rId36"/>
    <p:sldId id="273" r:id="rId37"/>
    <p:sldId id="274" r:id="rId38"/>
    <p:sldId id="279" r:id="rId39"/>
    <p:sldId id="280" r:id="rId40"/>
    <p:sldId id="281" r:id="rId41"/>
    <p:sldId id="282" r:id="rId42"/>
    <p:sldId id="283" r:id="rId43"/>
    <p:sldId id="284" r:id="rId44"/>
    <p:sldId id="285" r:id="rId45"/>
    <p:sldId id="286" r:id="rId46"/>
    <p:sldId id="287" r:id="rId47"/>
    <p:sldId id="288" r:id="rId48"/>
    <p:sldId id="659" r:id="rId49"/>
    <p:sldId id="66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80"/>
    <p:restoredTop sz="72770"/>
  </p:normalViewPr>
  <p:slideViewPr>
    <p:cSldViewPr snapToGrid="0" snapToObjects="1">
      <p:cViewPr varScale="1">
        <p:scale>
          <a:sx n="93" d="100"/>
          <a:sy n="93" d="100"/>
        </p:scale>
        <p:origin x="560" y="208"/>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C3FBE-CC6D-C84E-A32C-3E7139D0BEF1}" type="datetimeFigureOut">
              <a:rPr lang="en-US" smtClean="0"/>
              <a:t>8/15/25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C0DA4-3FAE-DF4B-9554-5D7B5414A6C1}" type="slidenum">
              <a:rPr lang="en-US" smtClean="0"/>
              <a:t>‹#›</a:t>
            </a:fld>
            <a:endParaRPr lang="en-US"/>
          </a:p>
        </p:txBody>
      </p:sp>
    </p:spTree>
    <p:extLst>
      <p:ext uri="{BB962C8B-B14F-4D97-AF65-F5344CB8AC3E}">
        <p14:creationId xmlns:p14="http://schemas.microsoft.com/office/powerpoint/2010/main" val="338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a:t>
            </a:fld>
            <a:endParaRPr lang="en-US"/>
          </a:p>
        </p:txBody>
      </p:sp>
    </p:spTree>
    <p:extLst>
      <p:ext uri="{BB962C8B-B14F-4D97-AF65-F5344CB8AC3E}">
        <p14:creationId xmlns:p14="http://schemas.microsoft.com/office/powerpoint/2010/main" val="1121593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3</a:t>
            </a:fld>
            <a:endParaRPr lang="en-US"/>
          </a:p>
        </p:txBody>
      </p:sp>
    </p:spTree>
    <p:extLst>
      <p:ext uri="{BB962C8B-B14F-4D97-AF65-F5344CB8AC3E}">
        <p14:creationId xmlns:p14="http://schemas.microsoft.com/office/powerpoint/2010/main" val="95035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a:t>
            </a:fld>
            <a:endParaRPr lang="en-US"/>
          </a:p>
        </p:txBody>
      </p:sp>
    </p:spTree>
    <p:extLst>
      <p:ext uri="{BB962C8B-B14F-4D97-AF65-F5344CB8AC3E}">
        <p14:creationId xmlns:p14="http://schemas.microsoft.com/office/powerpoint/2010/main" val="1166121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5</a:t>
            </a:fld>
            <a:endParaRPr lang="en-US"/>
          </a:p>
        </p:txBody>
      </p:sp>
    </p:spTree>
    <p:extLst>
      <p:ext uri="{BB962C8B-B14F-4D97-AF65-F5344CB8AC3E}">
        <p14:creationId xmlns:p14="http://schemas.microsoft.com/office/powerpoint/2010/main" val="1443801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static, second dynamic, third static, fourth is *both* cause it’s two statements lol </a:t>
            </a:r>
          </a:p>
          <a:p>
            <a:r>
              <a:rPr lang="en-US" baseline="0" dirty="0"/>
              <a:t>Third is static cause it’s a </a:t>
            </a:r>
            <a:r>
              <a:rPr lang="en-US" baseline="0" dirty="0" err="1"/>
              <a:t>const</a:t>
            </a:r>
            <a:r>
              <a:rPr lang="en-US" baseline="0" dirty="0"/>
              <a:t>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6</a:t>
            </a:fld>
            <a:endParaRPr lang="en-US"/>
          </a:p>
        </p:txBody>
      </p:sp>
    </p:spTree>
    <p:extLst>
      <p:ext uri="{BB962C8B-B14F-4D97-AF65-F5344CB8AC3E}">
        <p14:creationId xmlns:p14="http://schemas.microsoft.com/office/powerpoint/2010/main" val="3846435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7</a:t>
            </a:fld>
            <a:endParaRPr lang="en-US"/>
          </a:p>
        </p:txBody>
      </p:sp>
    </p:spTree>
    <p:extLst>
      <p:ext uri="{BB962C8B-B14F-4D97-AF65-F5344CB8AC3E}">
        <p14:creationId xmlns:p14="http://schemas.microsoft.com/office/powerpoint/2010/main" val="2137531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8</a:t>
            </a:fld>
            <a:endParaRPr lang="en-US"/>
          </a:p>
        </p:txBody>
      </p:sp>
    </p:spTree>
    <p:extLst>
      <p:ext uri="{BB962C8B-B14F-4D97-AF65-F5344CB8AC3E}">
        <p14:creationId xmlns:p14="http://schemas.microsoft.com/office/powerpoint/2010/main" val="3753356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 C we say a function prototype is a forward declaration, *not* a definition. Because only some of the properties of a function are defined here. </a:t>
            </a:r>
            <a:r>
              <a:rPr lang="en-US" b="1" dirty="0"/>
              <a:t>Why</a:t>
            </a:r>
            <a:r>
              <a:rPr lang="en-US" b="0" dirty="0"/>
              <a:t> you’d want to do this will come up in the C unit, too much to worry about here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9</a:t>
            </a:fld>
            <a:endParaRPr lang="en-US"/>
          </a:p>
        </p:txBody>
      </p:sp>
    </p:spTree>
    <p:extLst>
      <p:ext uri="{BB962C8B-B14F-4D97-AF65-F5344CB8AC3E}">
        <p14:creationId xmlns:p14="http://schemas.microsoft.com/office/powerpoint/2010/main" val="171592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10</a:t>
            </a:fld>
            <a:endParaRPr lang="en-US"/>
          </a:p>
        </p:txBody>
      </p:sp>
    </p:spTree>
    <p:extLst>
      <p:ext uri="{BB962C8B-B14F-4D97-AF65-F5344CB8AC3E}">
        <p14:creationId xmlns:p14="http://schemas.microsoft.com/office/powerpoint/2010/main" val="32888856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11</a:t>
            </a:fld>
            <a:endParaRPr lang="en-US"/>
          </a:p>
        </p:txBody>
      </p:sp>
    </p:spTree>
    <p:extLst>
      <p:ext uri="{BB962C8B-B14F-4D97-AF65-F5344CB8AC3E}">
        <p14:creationId xmlns:p14="http://schemas.microsoft.com/office/powerpoint/2010/main" val="2706001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12</a:t>
            </a:fld>
            <a:endParaRPr lang="en-US"/>
          </a:p>
        </p:txBody>
      </p:sp>
    </p:spTree>
    <p:extLst>
      <p:ext uri="{BB962C8B-B14F-4D97-AF65-F5344CB8AC3E}">
        <p14:creationId xmlns:p14="http://schemas.microsoft.com/office/powerpoint/2010/main" val="30128767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13</a:t>
            </a:fld>
            <a:endParaRPr lang="en-US"/>
          </a:p>
        </p:txBody>
      </p:sp>
    </p:spTree>
    <p:extLst>
      <p:ext uri="{BB962C8B-B14F-4D97-AF65-F5344CB8AC3E}">
        <p14:creationId xmlns:p14="http://schemas.microsoft.com/office/powerpoint/2010/main" val="1828618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a:t>
            </a:r>
            <a:r>
              <a:rPr lang="en-US" baseline="0" dirty="0"/>
              <a:t> on next slide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14</a:t>
            </a:fld>
            <a:endParaRPr lang="en-US"/>
          </a:p>
        </p:txBody>
      </p:sp>
    </p:spTree>
    <p:extLst>
      <p:ext uri="{BB962C8B-B14F-4D97-AF65-F5344CB8AC3E}">
        <p14:creationId xmlns:p14="http://schemas.microsoft.com/office/powerpoint/2010/main" val="16448953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Classes and Functions need to be declared somewhere the compiler can see them for this to work. i.e. the compiler does two passes, the first to identify all the classes and functions, the second to do traditional analysis </a:t>
            </a:r>
          </a:p>
          <a:p>
            <a:endParaRPr lang="en-US" dirty="0"/>
          </a:p>
          <a:p>
            <a:r>
              <a:rPr lang="en-US" dirty="0"/>
              <a:t>Permitting forward references can greatly increase the complexity and memory requirements of a compiler, and generally prevents the compiler from being implemented in one pass. </a:t>
            </a:r>
          </a:p>
        </p:txBody>
      </p:sp>
      <p:sp>
        <p:nvSpPr>
          <p:cNvPr id="4" name="Slide Number Placeholder 3"/>
          <p:cNvSpPr>
            <a:spLocks noGrp="1"/>
          </p:cNvSpPr>
          <p:nvPr>
            <p:ph type="sldNum" sz="quarter" idx="5"/>
          </p:nvPr>
        </p:nvSpPr>
        <p:spPr/>
        <p:txBody>
          <a:bodyPr/>
          <a:lstStyle/>
          <a:p>
            <a:fld id="{BCAC0DA4-3FAE-DF4B-9554-5D7B5414A6C1}" type="slidenum">
              <a:rPr lang="en-US" smtClean="0"/>
              <a:t>17</a:t>
            </a:fld>
            <a:endParaRPr lang="en-US"/>
          </a:p>
        </p:txBody>
      </p:sp>
    </p:spTree>
    <p:extLst>
      <p:ext uri="{BB962C8B-B14F-4D97-AF65-F5344CB8AC3E}">
        <p14:creationId xmlns:p14="http://schemas.microsoft.com/office/powerpoint/2010/main" val="28728765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Symbol table is commonly implemented as a hash map</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18</a:t>
            </a:fld>
            <a:endParaRPr lang="en-US"/>
          </a:p>
        </p:txBody>
      </p:sp>
    </p:spTree>
    <p:extLst>
      <p:ext uri="{BB962C8B-B14F-4D97-AF65-F5344CB8AC3E}">
        <p14:creationId xmlns:p14="http://schemas.microsoft.com/office/powerpoint/2010/main" val="32315926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rules we just laid out are implemented by the symbol table </a:t>
            </a:r>
          </a:p>
        </p:txBody>
      </p:sp>
      <p:sp>
        <p:nvSpPr>
          <p:cNvPr id="4" name="Slide Number Placeholder 3"/>
          <p:cNvSpPr>
            <a:spLocks noGrp="1"/>
          </p:cNvSpPr>
          <p:nvPr>
            <p:ph type="sldNum" sz="quarter" idx="5"/>
          </p:nvPr>
        </p:nvSpPr>
        <p:spPr/>
        <p:txBody>
          <a:bodyPr/>
          <a:lstStyle/>
          <a:p>
            <a:fld id="{BCAC0DA4-3FAE-DF4B-9554-5D7B5414A6C1}" type="slidenum">
              <a:rPr lang="en-US" smtClean="0"/>
              <a:t>19</a:t>
            </a:fld>
            <a:endParaRPr lang="en-US"/>
          </a:p>
        </p:txBody>
      </p:sp>
    </p:spTree>
    <p:extLst>
      <p:ext uri="{BB962C8B-B14F-4D97-AF65-F5344CB8AC3E}">
        <p14:creationId xmlns:p14="http://schemas.microsoft.com/office/powerpoint/2010/main" val="26416264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20</a:t>
            </a:fld>
            <a:endParaRPr lang="en-US"/>
          </a:p>
        </p:txBody>
      </p:sp>
    </p:spTree>
    <p:extLst>
      <p:ext uri="{BB962C8B-B14F-4D97-AF65-F5344CB8AC3E}">
        <p14:creationId xmlns:p14="http://schemas.microsoft.com/office/powerpoint/2010/main" val="488972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21</a:t>
            </a:fld>
            <a:endParaRPr lang="en-US"/>
          </a:p>
        </p:txBody>
      </p:sp>
    </p:spTree>
    <p:extLst>
      <p:ext uri="{BB962C8B-B14F-4D97-AF65-F5344CB8AC3E}">
        <p14:creationId xmlns:p14="http://schemas.microsoft.com/office/powerpoint/2010/main" val="3436694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36</a:t>
            </a:fld>
            <a:endParaRPr lang="en-US"/>
          </a:p>
        </p:txBody>
      </p:sp>
    </p:spTree>
    <p:extLst>
      <p:ext uri="{BB962C8B-B14F-4D97-AF65-F5344CB8AC3E}">
        <p14:creationId xmlns:p14="http://schemas.microsoft.com/office/powerpoint/2010/main" val="4090601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Most programmers don’t worry about the distinction between these two functions—both are based on the same mathematical concept, after all—but they take arguments of different types and perform very different operations on the underlying bits </a:t>
            </a:r>
            <a:endParaRPr lang="en-US" dirty="0"/>
          </a:p>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38</a:t>
            </a:fld>
            <a:endParaRPr lang="en-US"/>
          </a:p>
        </p:txBody>
      </p:sp>
    </p:spTree>
    <p:extLst>
      <p:ext uri="{BB962C8B-B14F-4D97-AF65-F5344CB8AC3E}">
        <p14:creationId xmlns:p14="http://schemas.microsoft.com/office/powerpoint/2010/main" val="845268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altLang="en-US" sz="2800" dirty="0"/>
              <a:t>“Given identifier x and two </a:t>
            </a:r>
            <a:r>
              <a:rPr lang="en-US" altLang="en-US" sz="2800" dirty="0" err="1"/>
              <a:t>args</a:t>
            </a:r>
            <a:r>
              <a:rPr lang="en-US" altLang="en-US" sz="2800" dirty="0"/>
              <a:t> of type </a:t>
            </a:r>
            <a:r>
              <a:rPr lang="en-US" altLang="en-US" sz="2800" dirty="0" err="1"/>
              <a:t>int</a:t>
            </a:r>
            <a:r>
              <a:rPr lang="en-US" altLang="en-US" sz="2800" dirty="0"/>
              <a:t>, symbol table identifies a unique and unambiguous set of attributes bound to given identifier” </a:t>
            </a:r>
          </a:p>
        </p:txBody>
      </p:sp>
      <p:sp>
        <p:nvSpPr>
          <p:cNvPr id="4" name="Slide Number Placeholder 3"/>
          <p:cNvSpPr>
            <a:spLocks noGrp="1"/>
          </p:cNvSpPr>
          <p:nvPr>
            <p:ph type="sldNum" sz="quarter" idx="10"/>
          </p:nvPr>
        </p:nvSpPr>
        <p:spPr/>
        <p:txBody>
          <a:bodyPr/>
          <a:lstStyle/>
          <a:p>
            <a:fld id="{BCAC0DA4-3FAE-DF4B-9554-5D7B5414A6C1}" type="slidenum">
              <a:rPr lang="en-US" smtClean="0"/>
              <a:t>39</a:t>
            </a:fld>
            <a:endParaRPr lang="en-US"/>
          </a:p>
        </p:txBody>
      </p:sp>
    </p:spTree>
    <p:extLst>
      <p:ext uri="{BB962C8B-B14F-4D97-AF65-F5344CB8AC3E}">
        <p14:creationId xmlns:p14="http://schemas.microsoft.com/office/powerpoint/2010/main" val="33903429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altLang="en-US" dirty="0"/>
              <a:t>Languages which don’t bind variables to data type attributes can’t support function overloading” </a:t>
            </a:r>
            <a:r>
              <a:rPr lang="en-US" altLang="en-US" dirty="0">
                <a:sym typeface="Wingdings" pitchFamily="2" charset="2"/>
              </a:rPr>
              <a:t> lol yes dynamically typed languages</a:t>
            </a:r>
            <a:endParaRPr lang="en-US" alt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40</a:t>
            </a:fld>
            <a:endParaRPr lang="en-US"/>
          </a:p>
        </p:txBody>
      </p:sp>
    </p:spTree>
    <p:extLst>
      <p:ext uri="{BB962C8B-B14F-4D97-AF65-F5344CB8AC3E}">
        <p14:creationId xmlns:p14="http://schemas.microsoft.com/office/powerpoint/2010/main" val="29222213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Written in </a:t>
            </a:r>
            <a:r>
              <a:rPr lang="en-US" dirty="0" err="1"/>
              <a:t>sudocode</a:t>
            </a:r>
            <a:r>
              <a:rPr lang="en-US" dirty="0"/>
              <a:t> </a:t>
            </a:r>
          </a:p>
          <a:p>
            <a:r>
              <a:rPr lang="en-US" dirty="0"/>
              <a:t>C++ illegal – could</a:t>
            </a:r>
            <a:r>
              <a:rPr lang="en-US" baseline="0" dirty="0"/>
              <a:t> go both ways</a:t>
            </a:r>
            <a:r>
              <a:rPr lang="en-US" dirty="0"/>
              <a:t>, Ada</a:t>
            </a:r>
            <a:r>
              <a:rPr lang="en-US" baseline="0" dirty="0"/>
              <a:t> illegal – no automatic conversion, Java </a:t>
            </a:r>
            <a:r>
              <a:rPr lang="mr-IN" baseline="0" dirty="0"/>
              <a:t>–</a:t>
            </a:r>
            <a:r>
              <a:rPr lang="en-US" baseline="0" dirty="0"/>
              <a:t> legal</a:t>
            </a:r>
          </a:p>
          <a:p>
            <a:r>
              <a:rPr lang="en-US" baseline="0" dirty="0"/>
              <a:t>We’ll explain why over the next several slides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41</a:t>
            </a:fld>
            <a:endParaRPr lang="en-US"/>
          </a:p>
        </p:txBody>
      </p:sp>
    </p:spTree>
    <p:extLst>
      <p:ext uri="{BB962C8B-B14F-4D97-AF65-F5344CB8AC3E}">
        <p14:creationId xmlns:p14="http://schemas.microsoft.com/office/powerpoint/2010/main" val="3907907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symbol table can determine the appropriate function based on the calling context </a:t>
            </a:r>
          </a:p>
          <a:p>
            <a:r>
              <a:rPr lang="en-US" dirty="0"/>
              <a:t>Compilation error in C++: Why?</a:t>
            </a:r>
            <a:r>
              <a:rPr lang="en-US" baseline="0" dirty="0"/>
              <a:t> Next slide</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42</a:t>
            </a:fld>
            <a:endParaRPr lang="en-US"/>
          </a:p>
        </p:txBody>
      </p:sp>
    </p:spTree>
    <p:extLst>
      <p:ext uri="{BB962C8B-B14F-4D97-AF65-F5344CB8AC3E}">
        <p14:creationId xmlns:p14="http://schemas.microsoft.com/office/powerpoint/2010/main" val="5478380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on next slide</a:t>
            </a:r>
          </a:p>
        </p:txBody>
      </p:sp>
      <p:sp>
        <p:nvSpPr>
          <p:cNvPr id="4" name="Slide Number Placeholder 3"/>
          <p:cNvSpPr>
            <a:spLocks noGrp="1"/>
          </p:cNvSpPr>
          <p:nvPr>
            <p:ph type="sldNum" sz="quarter" idx="10"/>
          </p:nvPr>
        </p:nvSpPr>
        <p:spPr/>
        <p:txBody>
          <a:bodyPr/>
          <a:lstStyle/>
          <a:p>
            <a:fld id="{BCAC0DA4-3FAE-DF4B-9554-5D7B5414A6C1}" type="slidenum">
              <a:rPr lang="en-US" smtClean="0"/>
              <a:t>44</a:t>
            </a:fld>
            <a:endParaRPr lang="en-US"/>
          </a:p>
        </p:txBody>
      </p:sp>
    </p:spTree>
    <p:extLst>
      <p:ext uri="{BB962C8B-B14F-4D97-AF65-F5344CB8AC3E}">
        <p14:creationId xmlns:p14="http://schemas.microsoft.com/office/powerpoint/2010/main" val="33284863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2, we have associativity. Can't change the grammar.</a:t>
            </a:r>
          </a:p>
          <a:p>
            <a:r>
              <a:rPr lang="en-US" dirty="0"/>
              <a:t>It's impossible to change the associativity because the </a:t>
            </a:r>
            <a:r>
              <a:rPr lang="en-US" dirty="0" err="1"/>
              <a:t>ebnf</a:t>
            </a:r>
            <a:r>
              <a:rPr lang="en-US" dirty="0"/>
              <a:t> is set in stone</a:t>
            </a:r>
          </a:p>
          <a:p>
            <a:endParaRPr lang="en-US" dirty="0"/>
          </a:p>
          <a:p>
            <a:r>
              <a:rPr lang="en-US" dirty="0"/>
              <a:t>prefix before, infix middle, postfix after</a:t>
            </a:r>
          </a:p>
          <a:p>
            <a:endParaRPr lang="en-US" dirty="0"/>
          </a:p>
          <a:p>
            <a:r>
              <a:rPr lang="en-US" dirty="0"/>
              <a:t>Symbol tables are a compile time only resource (compiled languages only)</a:t>
            </a:r>
          </a:p>
          <a:p>
            <a:endParaRPr lang="en-US" dirty="0"/>
          </a:p>
          <a:p>
            <a:r>
              <a:rPr lang="en-US"/>
              <a:t>Compile time differentiates which function overload you are calling</a:t>
            </a:r>
          </a:p>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46</a:t>
            </a:fld>
            <a:endParaRPr lang="en-US"/>
          </a:p>
        </p:txBody>
      </p:sp>
    </p:spTree>
    <p:extLst>
      <p:ext uri="{BB962C8B-B14F-4D97-AF65-F5344CB8AC3E}">
        <p14:creationId xmlns:p14="http://schemas.microsoft.com/office/powerpoint/2010/main" val="20732987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function symbol</a:t>
            </a:r>
            <a:r>
              <a:rPr lang="en-US" baseline="0" dirty="0"/>
              <a:t> table, variable symbol table, and class (data type) symbol table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47</a:t>
            </a:fld>
            <a:endParaRPr lang="en-US"/>
          </a:p>
        </p:txBody>
      </p:sp>
    </p:spTree>
    <p:extLst>
      <p:ext uri="{BB962C8B-B14F-4D97-AF65-F5344CB8AC3E}">
        <p14:creationId xmlns:p14="http://schemas.microsoft.com/office/powerpoint/2010/main" val="34558483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48</a:t>
            </a:fld>
            <a:endParaRPr lang="en-US"/>
          </a:p>
        </p:txBody>
      </p:sp>
    </p:spTree>
    <p:extLst>
      <p:ext uri="{BB962C8B-B14F-4D97-AF65-F5344CB8AC3E}">
        <p14:creationId xmlns:p14="http://schemas.microsoft.com/office/powerpoint/2010/main" val="3896687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49</a:t>
            </a:fld>
            <a:endParaRPr lang="en-US"/>
          </a:p>
        </p:txBody>
      </p:sp>
    </p:spTree>
    <p:extLst>
      <p:ext uri="{BB962C8B-B14F-4D97-AF65-F5344CB8AC3E}">
        <p14:creationId xmlns:p14="http://schemas.microsoft.com/office/powerpoint/2010/main" val="145611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rgbClr val="0070C0"/>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8/15/25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53193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8/15/25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49543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197D23-1D1C-734C-9188-3D38F4DBA869}" type="datetimeFigureOut">
              <a:rPr lang="en-US" smtClean="0"/>
              <a:t>8/15/25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258487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197D23-1D1C-734C-9188-3D38F4DBA869}" type="datetimeFigureOut">
              <a:rPr lang="en-US" smtClean="0"/>
              <a:t>8/15/25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344502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197D23-1D1C-734C-9188-3D38F4DBA869}" type="datetimeFigureOut">
              <a:rPr lang="en-US" smtClean="0"/>
              <a:t>8/15/25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120496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197D23-1D1C-734C-9188-3D38F4DBA869}" type="datetimeFigureOut">
              <a:rPr lang="en-US" smtClean="0"/>
              <a:t>8/15/25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79756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97D23-1D1C-734C-9188-3D38F4DBA869}" type="datetimeFigureOut">
              <a:rPr lang="en-US" smtClean="0"/>
              <a:t>8/15/25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6149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8/15/25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0479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8/15/25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229727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8/15/25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370388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8/15/25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36106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97D23-1D1C-734C-9188-3D38F4DBA869}" type="datetimeFigureOut">
              <a:rPr lang="en-US" smtClean="0"/>
              <a:t>8/15/25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6966-79DA-234F-B9D6-D01F1009FBDE}" type="slidenum">
              <a:rPr lang="en-US" smtClean="0"/>
              <a:t>‹#›</a:t>
            </a:fld>
            <a:endParaRPr lang="en-US"/>
          </a:p>
        </p:txBody>
      </p:sp>
    </p:spTree>
    <p:extLst>
      <p:ext uri="{BB962C8B-B14F-4D97-AF65-F5344CB8AC3E}">
        <p14:creationId xmlns:p14="http://schemas.microsoft.com/office/powerpoint/2010/main" val="159854974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rPr>
              <a:t>CMSC 304</a:t>
            </a:r>
          </a:p>
        </p:txBody>
      </p:sp>
      <p:sp>
        <p:nvSpPr>
          <p:cNvPr id="3" name="Subtitle 2"/>
          <p:cNvSpPr>
            <a:spLocks noGrp="1"/>
          </p:cNvSpPr>
          <p:nvPr>
            <p:ph type="subTitle" idx="1"/>
          </p:nvPr>
        </p:nvSpPr>
        <p:spPr/>
        <p:txBody>
          <a:bodyPr/>
          <a:lstStyle/>
          <a:p>
            <a:r>
              <a:rPr lang="en-US" dirty="0"/>
              <a:t>Bindings &amp; The Symbol Table</a:t>
            </a:r>
          </a:p>
          <a:p>
            <a:r>
              <a:rPr lang="en-US" dirty="0"/>
              <a:t>Claire Sparks</a:t>
            </a:r>
          </a:p>
        </p:txBody>
      </p:sp>
    </p:spTree>
    <p:extLst>
      <p:ext uri="{BB962C8B-B14F-4D97-AF65-F5344CB8AC3E}">
        <p14:creationId xmlns:p14="http://schemas.microsoft.com/office/powerpoint/2010/main" val="1464593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EFF15-BA37-FF49-99A2-0BA505830D6A}"/>
              </a:ext>
            </a:extLst>
          </p:cNvPr>
          <p:cNvSpPr>
            <a:spLocks noGrp="1"/>
          </p:cNvSpPr>
          <p:nvPr>
            <p:ph type="title"/>
          </p:nvPr>
        </p:nvSpPr>
        <p:spPr/>
        <p:txBody>
          <a:bodyPr/>
          <a:lstStyle/>
          <a:p>
            <a:r>
              <a:rPr lang="en-US" b="1" dirty="0"/>
              <a:t>Opening Terminology</a:t>
            </a:r>
          </a:p>
        </p:txBody>
      </p:sp>
      <p:sp>
        <p:nvSpPr>
          <p:cNvPr id="3" name="Content Placeholder 2">
            <a:extLst>
              <a:ext uri="{FF2B5EF4-FFF2-40B4-BE49-F238E27FC236}">
                <a16:creationId xmlns:a16="http://schemas.microsoft.com/office/drawing/2014/main" id="{BFB6F1C6-F5B5-2F47-8A51-8C947239FD4B}"/>
              </a:ext>
            </a:extLst>
          </p:cNvPr>
          <p:cNvSpPr>
            <a:spLocks noGrp="1"/>
          </p:cNvSpPr>
          <p:nvPr>
            <p:ph idx="1"/>
          </p:nvPr>
        </p:nvSpPr>
        <p:spPr/>
        <p:txBody>
          <a:bodyPr/>
          <a:lstStyle/>
          <a:p>
            <a:r>
              <a:rPr lang="en-US" b="1" dirty="0"/>
              <a:t>Structs:</a:t>
            </a:r>
            <a:r>
              <a:rPr lang="en-US" dirty="0"/>
              <a:t>  </a:t>
            </a:r>
          </a:p>
          <a:p>
            <a:pPr lvl="1"/>
            <a:r>
              <a:rPr lang="en-US" dirty="0"/>
              <a:t>Like an object with all public variables, no methods, no static variables</a:t>
            </a:r>
          </a:p>
          <a:p>
            <a:pPr lvl="1"/>
            <a:r>
              <a:rPr lang="en-US" dirty="0"/>
              <a:t>Structs have state but no behavior </a:t>
            </a:r>
          </a:p>
          <a:p>
            <a:endParaRPr lang="en-US" dirty="0"/>
          </a:p>
        </p:txBody>
      </p:sp>
    </p:spTree>
    <p:extLst>
      <p:ext uri="{BB962C8B-B14F-4D97-AF65-F5344CB8AC3E}">
        <p14:creationId xmlns:p14="http://schemas.microsoft.com/office/powerpoint/2010/main" val="435513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Attributes and Binding</a:t>
            </a:r>
          </a:p>
        </p:txBody>
      </p:sp>
      <p:sp>
        <p:nvSpPr>
          <p:cNvPr id="3" name="Content Placeholder 2"/>
          <p:cNvSpPr>
            <a:spLocks noGrp="1"/>
          </p:cNvSpPr>
          <p:nvPr>
            <p:ph idx="1"/>
          </p:nvPr>
        </p:nvSpPr>
        <p:spPr>
          <a:xfrm>
            <a:off x="838200" y="1825624"/>
            <a:ext cx="10515600" cy="4884458"/>
          </a:xfrm>
        </p:spPr>
        <p:txBody>
          <a:bodyPr>
            <a:normAutofit/>
          </a:bodyPr>
          <a:lstStyle/>
          <a:p>
            <a:pPr marL="342900" lvl="0" indent="-342900" eaLnBrk="0" fontAlgn="base" hangingPunct="0">
              <a:lnSpc>
                <a:spcPct val="100000"/>
              </a:lnSpc>
              <a:spcBef>
                <a:spcPct val="20000"/>
              </a:spcBef>
              <a:spcAft>
                <a:spcPct val="0"/>
              </a:spcAft>
              <a:buFontTx/>
              <a:buChar char="•"/>
            </a:pPr>
            <a:r>
              <a:rPr lang="en-US" altLang="en-US" b="1" kern="0" dirty="0">
                <a:solidFill>
                  <a:srgbClr val="222222"/>
                </a:solidFill>
                <a:ea typeface="MS PGothic" charset="-128"/>
              </a:rPr>
              <a:t>Identifiers</a:t>
            </a:r>
            <a:r>
              <a:rPr lang="en-US" altLang="en-US" kern="0" dirty="0">
                <a:solidFill>
                  <a:srgbClr val="222222"/>
                </a:solidFill>
                <a:ea typeface="MS PGothic" charset="-128"/>
              </a:rPr>
              <a:t> (or </a:t>
            </a:r>
            <a:r>
              <a:rPr lang="en-US" altLang="en-US" b="1" kern="0" dirty="0">
                <a:solidFill>
                  <a:srgbClr val="222222"/>
                </a:solidFill>
                <a:ea typeface="MS PGothic" charset="-128"/>
              </a:rPr>
              <a:t>names</a:t>
            </a:r>
            <a:r>
              <a:rPr lang="en-US" altLang="en-US" kern="0" dirty="0">
                <a:solidFill>
                  <a:srgbClr val="222222"/>
                </a:solidFill>
                <a:ea typeface="MS PGothic" charset="-128"/>
              </a:rPr>
              <a:t>): </a:t>
            </a:r>
          </a:p>
          <a:p>
            <a:pPr marL="800100" lvl="1" indent="-342900" eaLnBrk="0" fontAlgn="base" hangingPunct="0">
              <a:lnSpc>
                <a:spcPct val="100000"/>
              </a:lnSpc>
              <a:spcBef>
                <a:spcPct val="20000"/>
              </a:spcBef>
              <a:spcAft>
                <a:spcPct val="0"/>
              </a:spcAft>
              <a:buFontTx/>
              <a:buChar char="•"/>
            </a:pPr>
            <a:r>
              <a:rPr lang="en-US" altLang="en-US" kern="0" dirty="0">
                <a:solidFill>
                  <a:srgbClr val="222222"/>
                </a:solidFill>
                <a:ea typeface="MS PGothic" charset="-128"/>
              </a:rPr>
              <a:t>Fundamental abstraction mechanism used to represent language entities or constructs</a:t>
            </a:r>
          </a:p>
          <a:p>
            <a:pPr marL="800100" lvl="1" indent="-342900" eaLnBrk="0" fontAlgn="base" hangingPunct="0">
              <a:lnSpc>
                <a:spcPct val="100000"/>
              </a:lnSpc>
              <a:spcBef>
                <a:spcPct val="20000"/>
              </a:spcBef>
              <a:spcAft>
                <a:spcPct val="0"/>
              </a:spcAft>
              <a:buFontTx/>
              <a:buChar char="•"/>
            </a:pPr>
            <a:r>
              <a:rPr lang="en-US" altLang="en-US" kern="0" dirty="0">
                <a:solidFill>
                  <a:srgbClr val="222222"/>
                </a:solidFill>
                <a:ea typeface="MS PGothic" charset="-128"/>
              </a:rPr>
              <a:t>Identifiers allow us to refer to variables, functions, types, etc. using symbolic names rather than low-level concepts like memory addresses</a:t>
            </a:r>
          </a:p>
          <a:p>
            <a:pPr marL="342900" indent="-342900" eaLnBrk="0" fontAlgn="base" hangingPunct="0">
              <a:lnSpc>
                <a:spcPct val="100000"/>
              </a:lnSpc>
              <a:spcBef>
                <a:spcPct val="20000"/>
              </a:spcBef>
              <a:spcAft>
                <a:spcPct val="0"/>
              </a:spcAft>
              <a:buFontTx/>
              <a:buChar char="•"/>
            </a:pPr>
            <a:r>
              <a:rPr lang="en-US" altLang="en-US" b="1" dirty="0">
                <a:ea typeface="MS PGothic" charset="-128"/>
              </a:rPr>
              <a:t>Attributes</a:t>
            </a:r>
            <a:r>
              <a:rPr lang="en-US" altLang="en-US" dirty="0">
                <a:ea typeface="MS PGothic" charset="-128"/>
              </a:rPr>
              <a:t>: properties that determine the meaning of the identifier to which they are bound </a:t>
            </a:r>
          </a:p>
          <a:p>
            <a:pPr marL="342900" indent="-342900" eaLnBrk="0" fontAlgn="base" hangingPunct="0">
              <a:lnSpc>
                <a:spcPct val="100000"/>
              </a:lnSpc>
              <a:spcBef>
                <a:spcPct val="20000"/>
              </a:spcBef>
              <a:spcAft>
                <a:spcPct val="0"/>
              </a:spcAft>
              <a:buFontTx/>
              <a:buChar char="•"/>
            </a:pPr>
            <a:r>
              <a:rPr lang="en-US" altLang="en-US" b="1" dirty="0">
                <a:ea typeface="MS PGothic" charset="-128"/>
              </a:rPr>
              <a:t>Binding</a:t>
            </a:r>
            <a:r>
              <a:rPr lang="en-US" altLang="en-US" dirty="0">
                <a:ea typeface="MS PGothic" charset="-128"/>
              </a:rPr>
              <a:t>: process of associating an attribute with a name</a:t>
            </a:r>
          </a:p>
          <a:p>
            <a:pPr marL="0" indent="0" eaLnBrk="0" fontAlgn="base" hangingPunct="0">
              <a:lnSpc>
                <a:spcPct val="100000"/>
              </a:lnSpc>
              <a:spcBef>
                <a:spcPct val="20000"/>
              </a:spcBef>
              <a:spcAft>
                <a:spcPct val="0"/>
              </a:spcAft>
              <a:buNone/>
            </a:pPr>
            <a:endParaRPr lang="en-US" altLang="en-US" kern="0" dirty="0">
              <a:solidFill>
                <a:srgbClr val="222222"/>
              </a:solidFill>
              <a:ea typeface="MS PGothic" charset="-128"/>
            </a:endParaRPr>
          </a:p>
        </p:txBody>
      </p:sp>
    </p:spTree>
    <p:extLst>
      <p:ext uri="{BB962C8B-B14F-4D97-AF65-F5344CB8AC3E}">
        <p14:creationId xmlns:p14="http://schemas.microsoft.com/office/powerpoint/2010/main" val="1558252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Attributes and Binding</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ea typeface="MS PGothic" charset="-128"/>
              </a:rPr>
              <a:t>Binding time</a:t>
            </a:r>
            <a:r>
              <a:rPr lang="en-US" altLang="en-US" dirty="0">
                <a:ea typeface="MS PGothic" charset="-128"/>
              </a:rPr>
              <a:t>: </a:t>
            </a:r>
          </a:p>
          <a:p>
            <a:pPr lvl="1"/>
            <a:r>
              <a:rPr lang="en-US" altLang="en-US" sz="2800" dirty="0">
                <a:ea typeface="MS PGothic" charset="-128"/>
              </a:rPr>
              <a:t>The time when an attribute is computed and bound to a name</a:t>
            </a:r>
          </a:p>
          <a:p>
            <a:r>
              <a:rPr lang="en-US" altLang="en-US" dirty="0">
                <a:ea typeface="MS PGothic" charset="-128"/>
              </a:rPr>
              <a:t>Two categories of binding:</a:t>
            </a:r>
          </a:p>
          <a:p>
            <a:pPr lvl="1"/>
            <a:r>
              <a:rPr lang="en-US" altLang="en-US" sz="2800" b="1" dirty="0">
                <a:ea typeface="MS PGothic" charset="-128"/>
              </a:rPr>
              <a:t>Static binding</a:t>
            </a:r>
            <a:r>
              <a:rPr lang="en-US" altLang="en-US" sz="2800" dirty="0">
                <a:ea typeface="MS PGothic" charset="-128"/>
              </a:rPr>
              <a:t>: occurs prior to execution</a:t>
            </a:r>
          </a:p>
          <a:p>
            <a:pPr lvl="1"/>
            <a:r>
              <a:rPr lang="en-US" altLang="en-US" sz="2800" b="1" dirty="0">
                <a:ea typeface="MS PGothic" charset="-128"/>
              </a:rPr>
              <a:t>Dynamic binding</a:t>
            </a:r>
            <a:r>
              <a:rPr lang="en-US" altLang="en-US" sz="2800" dirty="0">
                <a:ea typeface="MS PGothic" charset="-128"/>
              </a:rPr>
              <a:t>: occurs during execution</a:t>
            </a:r>
          </a:p>
          <a:p>
            <a:r>
              <a:rPr lang="en-US" altLang="en-US" sz="2800" dirty="0">
                <a:ea typeface="MS PGothic" charset="-128"/>
              </a:rPr>
              <a:t>Vast majority of bindings are static bindings</a:t>
            </a:r>
          </a:p>
          <a:p>
            <a:r>
              <a:rPr lang="en-US" altLang="en-US" dirty="0">
                <a:ea typeface="MS PGothic" charset="-128"/>
              </a:rPr>
              <a:t>Only two attributes are dynamically bound</a:t>
            </a:r>
          </a:p>
          <a:p>
            <a:pPr lvl="1"/>
            <a:r>
              <a:rPr lang="en-US" altLang="en-US" dirty="0">
                <a:ea typeface="MS PGothic" charset="-128"/>
              </a:rPr>
              <a:t>The binding of </a:t>
            </a:r>
            <a:r>
              <a:rPr lang="en-US" dirty="0"/>
              <a:t>identifiers to storage locations </a:t>
            </a:r>
          </a:p>
          <a:p>
            <a:pPr lvl="1"/>
            <a:r>
              <a:rPr lang="en-US" altLang="en-US" dirty="0"/>
              <a:t>The binding of storage locations to values </a:t>
            </a:r>
          </a:p>
          <a:p>
            <a:r>
              <a:rPr lang="en-US" altLang="en-US" sz="2800" dirty="0">
                <a:ea typeface="MS PGothic" charset="-128"/>
              </a:rPr>
              <a:t>All other attributes are statically bound</a:t>
            </a:r>
          </a:p>
          <a:p>
            <a:pPr lvl="1"/>
            <a:r>
              <a:rPr lang="en-US" altLang="en-US" dirty="0">
                <a:ea typeface="MS PGothic" charset="-128"/>
              </a:rPr>
              <a:t>(Edge cases almost certainly exist but that’s outside the scope of the course)</a:t>
            </a:r>
          </a:p>
        </p:txBody>
      </p:sp>
    </p:spTree>
    <p:extLst>
      <p:ext uri="{BB962C8B-B14F-4D97-AF65-F5344CB8AC3E}">
        <p14:creationId xmlns:p14="http://schemas.microsoft.com/office/powerpoint/2010/main" val="4277231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Attributes and Binding</a:t>
            </a:r>
          </a:p>
        </p:txBody>
      </p:sp>
      <p:sp>
        <p:nvSpPr>
          <p:cNvPr id="3" name="Content Placeholder 2"/>
          <p:cNvSpPr>
            <a:spLocks noGrp="1"/>
          </p:cNvSpPr>
          <p:nvPr>
            <p:ph idx="1"/>
          </p:nvPr>
        </p:nvSpPr>
        <p:spPr>
          <a:xfrm>
            <a:off x="838200" y="1825624"/>
            <a:ext cx="10515600" cy="4884458"/>
          </a:xfrm>
        </p:spPr>
        <p:txBody>
          <a:bodyPr>
            <a:normAutofit/>
          </a:bodyPr>
          <a:lstStyle/>
          <a:p>
            <a:r>
              <a:rPr lang="en-US" altLang="en-US" dirty="0">
                <a:ea typeface="MS PGothic" charset="-128"/>
              </a:rPr>
              <a:t>Example in Java:</a:t>
            </a:r>
            <a:br>
              <a:rPr lang="en-US" altLang="en-US" dirty="0">
                <a:ea typeface="MS PGothic" charset="-128"/>
              </a:rPr>
            </a:br>
            <a:endParaRPr lang="en-US" altLang="en-US" dirty="0">
              <a:ea typeface="MS PGothic" charset="-128"/>
            </a:endParaRPr>
          </a:p>
          <a:p>
            <a:pPr marL="2286000" lvl="5" indent="0">
              <a:buNone/>
            </a:pPr>
            <a:r>
              <a:rPr lang="en-US" sz="2200" dirty="0">
                <a:latin typeface="Courier New" panose="02070309020205020404" pitchFamily="49" charset="0"/>
                <a:cs typeface="Courier New" panose="02070309020205020404" pitchFamily="49" charset="0"/>
              </a:rPr>
              <a:t>public static double </a:t>
            </a:r>
            <a:r>
              <a:rPr lang="en-US" sz="2200" dirty="0" err="1">
                <a:latin typeface="Courier New" panose="02070309020205020404" pitchFamily="49" charset="0"/>
                <a:cs typeface="Courier New" panose="02070309020205020404" pitchFamily="49" charset="0"/>
              </a:rPr>
              <a:t>foobar</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int</a:t>
            </a:r>
            <a:r>
              <a:rPr lang="en-US" sz="2200" dirty="0">
                <a:latin typeface="Courier New" panose="02070309020205020404" pitchFamily="49" charset="0"/>
                <a:cs typeface="Courier New" panose="02070309020205020404" pitchFamily="49" charset="0"/>
              </a:rPr>
              <a:t> n){</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 </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a:t>
            </a:r>
          </a:p>
          <a:p>
            <a:pPr marL="2286000" lvl="5" indent="0">
              <a:buNone/>
            </a:pPr>
            <a:endParaRPr lang="en-US" altLang="en-US" sz="2200" dirty="0">
              <a:ea typeface="MS PGothic" charset="-128"/>
            </a:endParaRPr>
          </a:p>
          <a:p>
            <a:r>
              <a:rPr lang="en-US" altLang="en-US" sz="3200" dirty="0">
                <a:ea typeface="MS PGothic" charset="-128"/>
              </a:rPr>
              <a:t>Attributes include: </a:t>
            </a:r>
          </a:p>
          <a:p>
            <a:pPr lvl="1"/>
            <a:r>
              <a:rPr lang="en-US" altLang="ja-JP" sz="2800" dirty="0">
                <a:ea typeface="MS PGothic" charset="-128"/>
              </a:rPr>
              <a:t>Number, names, and data types of parameters</a:t>
            </a:r>
          </a:p>
          <a:p>
            <a:pPr lvl="1"/>
            <a:r>
              <a:rPr lang="en-US" altLang="ja-JP" sz="2800" dirty="0">
                <a:ea typeface="MS PGothic" charset="-128"/>
              </a:rPr>
              <a:t>Return value data type</a:t>
            </a:r>
          </a:p>
          <a:p>
            <a:pPr lvl="1"/>
            <a:r>
              <a:rPr lang="en-US" altLang="ja-JP" sz="2800" dirty="0">
                <a:ea typeface="MS PGothic" charset="-128"/>
              </a:rPr>
              <a:t>Code body to be executed</a:t>
            </a:r>
          </a:p>
          <a:p>
            <a:r>
              <a:rPr lang="en-US" altLang="ja-JP" sz="3200" dirty="0">
                <a:ea typeface="MS PGothic" charset="-128"/>
              </a:rPr>
              <a:t>All statically bound!</a:t>
            </a:r>
          </a:p>
        </p:txBody>
      </p:sp>
    </p:spTree>
    <p:extLst>
      <p:ext uri="{BB962C8B-B14F-4D97-AF65-F5344CB8AC3E}">
        <p14:creationId xmlns:p14="http://schemas.microsoft.com/office/powerpoint/2010/main" val="2042652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Attributes and Binding</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sz="3200" b="1" dirty="0">
                <a:ea typeface="MS PGothic" charset="-128"/>
              </a:rPr>
              <a:t>Static binding</a:t>
            </a:r>
            <a:r>
              <a:rPr lang="en-US" altLang="en-US" sz="3200" dirty="0">
                <a:ea typeface="MS PGothic" charset="-128"/>
              </a:rPr>
              <a:t>: occurs prior to execution</a:t>
            </a:r>
          </a:p>
          <a:p>
            <a:r>
              <a:rPr lang="en-US" altLang="en-US" sz="3200" b="1" dirty="0">
                <a:ea typeface="MS PGothic" charset="-128"/>
              </a:rPr>
              <a:t>Dynamic binding</a:t>
            </a:r>
            <a:r>
              <a:rPr lang="en-US" altLang="en-US" sz="3200" dirty="0">
                <a:ea typeface="MS PGothic" charset="-128"/>
              </a:rPr>
              <a:t>: occurs during execution</a:t>
            </a:r>
          </a:p>
          <a:p>
            <a:r>
              <a:rPr lang="en-US" altLang="en-US" dirty="0">
                <a:ea typeface="MS PGothic" charset="-128"/>
              </a:rPr>
              <a:t>Examples– static or dynamic?</a:t>
            </a:r>
          </a:p>
          <a:p>
            <a:pPr lvl="1"/>
            <a:r>
              <a:rPr lang="en-US" altLang="en-US" sz="2800" dirty="0" err="1">
                <a:ea typeface="MS PGothic" charset="-128"/>
              </a:rPr>
              <a:t>int</a:t>
            </a:r>
            <a:r>
              <a:rPr lang="en-US" altLang="en-US" sz="2800" dirty="0">
                <a:ea typeface="MS PGothic" charset="-128"/>
              </a:rPr>
              <a:t> x;</a:t>
            </a:r>
          </a:p>
          <a:p>
            <a:pPr lvl="1"/>
            <a:r>
              <a:rPr lang="en-US" altLang="en-US" sz="2800" dirty="0">
                <a:ea typeface="MS PGothic" charset="-128"/>
              </a:rPr>
              <a:t>x = 2;</a:t>
            </a:r>
          </a:p>
          <a:p>
            <a:pPr lvl="1"/>
            <a:r>
              <a:rPr lang="en-US" altLang="en-US" sz="2800" dirty="0" err="1">
                <a:ea typeface="MS PGothic" charset="-128"/>
              </a:rPr>
              <a:t>const</a:t>
            </a:r>
            <a:r>
              <a:rPr lang="en-US" altLang="en-US" sz="2800" dirty="0">
                <a:ea typeface="MS PGothic" charset="-128"/>
              </a:rPr>
              <a:t> </a:t>
            </a:r>
            <a:r>
              <a:rPr lang="en-US" altLang="en-US" sz="2800" dirty="0" err="1">
                <a:ea typeface="MS PGothic" charset="-128"/>
              </a:rPr>
              <a:t>int</a:t>
            </a:r>
            <a:r>
              <a:rPr lang="en-US" altLang="en-US" sz="2800" dirty="0">
                <a:ea typeface="MS PGothic" charset="-128"/>
              </a:rPr>
              <a:t> n = 2;</a:t>
            </a:r>
          </a:p>
          <a:p>
            <a:pPr lvl="1"/>
            <a:r>
              <a:rPr lang="en-US" altLang="en-US" sz="2800" dirty="0" err="1">
                <a:ea typeface="MS PGothic" charset="-128"/>
              </a:rPr>
              <a:t>int</a:t>
            </a:r>
            <a:r>
              <a:rPr lang="en-US" altLang="en-US" sz="2800" dirty="0">
                <a:ea typeface="MS PGothic" charset="-128"/>
              </a:rPr>
              <a:t> y;  y = 7;</a:t>
            </a:r>
          </a:p>
        </p:txBody>
      </p:sp>
    </p:spTree>
    <p:extLst>
      <p:ext uri="{BB962C8B-B14F-4D97-AF65-F5344CB8AC3E}">
        <p14:creationId xmlns:p14="http://schemas.microsoft.com/office/powerpoint/2010/main" val="3375767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Attributes and Binding</a:t>
            </a:r>
          </a:p>
        </p:txBody>
      </p:sp>
      <p:sp>
        <p:nvSpPr>
          <p:cNvPr id="3" name="Content Placeholder 2"/>
          <p:cNvSpPr>
            <a:spLocks noGrp="1"/>
          </p:cNvSpPr>
          <p:nvPr>
            <p:ph idx="1"/>
          </p:nvPr>
        </p:nvSpPr>
        <p:spPr>
          <a:xfrm>
            <a:off x="838200" y="1825624"/>
            <a:ext cx="10633364" cy="4884458"/>
          </a:xfrm>
        </p:spPr>
        <p:txBody>
          <a:bodyPr>
            <a:noAutofit/>
          </a:bodyPr>
          <a:lstStyle/>
          <a:p>
            <a:r>
              <a:rPr lang="en-US" altLang="en-US" dirty="0">
                <a:ea typeface="MS PGothic" charset="-128"/>
              </a:rPr>
              <a:t>Some attributes are bound prior to translation time</a:t>
            </a:r>
          </a:p>
          <a:p>
            <a:pPr lvl="1"/>
            <a:r>
              <a:rPr lang="en-US" altLang="en-US" sz="2800" dirty="0">
                <a:ea typeface="MS PGothic" charset="-128"/>
              </a:rPr>
              <a:t>Predefined identifiers: specified by the language definition</a:t>
            </a:r>
          </a:p>
          <a:p>
            <a:pPr lvl="2"/>
            <a:r>
              <a:rPr lang="en-US" altLang="en-US" sz="2400" dirty="0">
                <a:latin typeface="Calibri" panose="020F0502020204030204" pitchFamily="34" charset="0"/>
                <a:ea typeface="MS PGothic" charset="-128"/>
                <a:cs typeface="Calibri" panose="020F0502020204030204" pitchFamily="34" charset="0"/>
              </a:rPr>
              <a:t>i.e. </a:t>
            </a:r>
            <a:r>
              <a:rPr lang="en-US" altLang="en-US" sz="2400" dirty="0" err="1">
                <a:latin typeface="Courier New" charset="0"/>
                <a:ea typeface="MS PGothic" charset="-128"/>
              </a:rPr>
              <a:t>maxint</a:t>
            </a:r>
            <a:r>
              <a:rPr lang="en-US" altLang="en-US" sz="2400" dirty="0">
                <a:ea typeface="MS PGothic" charset="-128"/>
              </a:rPr>
              <a:t> in java is specified by the language definition</a:t>
            </a:r>
          </a:p>
          <a:p>
            <a:r>
              <a:rPr lang="en-US" altLang="en-US" dirty="0">
                <a:ea typeface="MS PGothic" charset="-128"/>
              </a:rPr>
              <a:t>Possible binding times for attribute names:</a:t>
            </a:r>
          </a:p>
          <a:p>
            <a:pPr lvl="1"/>
            <a:r>
              <a:rPr lang="en-US" altLang="en-US" dirty="0">
                <a:ea typeface="MS PGothic" charset="-128"/>
              </a:rPr>
              <a:t>Language definition time</a:t>
            </a:r>
          </a:p>
          <a:p>
            <a:pPr lvl="1"/>
            <a:r>
              <a:rPr lang="en-US" altLang="en-US" dirty="0">
                <a:ea typeface="MS PGothic" charset="-128"/>
              </a:rPr>
              <a:t>Language implementation time</a:t>
            </a:r>
          </a:p>
          <a:p>
            <a:pPr lvl="1"/>
            <a:r>
              <a:rPr lang="en-US" altLang="en-US" dirty="0">
                <a:ea typeface="MS PGothic" charset="-128"/>
              </a:rPr>
              <a:t>Translation time</a:t>
            </a:r>
          </a:p>
          <a:p>
            <a:pPr lvl="1"/>
            <a:r>
              <a:rPr lang="en-US" altLang="en-US" dirty="0">
                <a:ea typeface="MS PGothic" charset="-128"/>
              </a:rPr>
              <a:t>Link time</a:t>
            </a:r>
          </a:p>
          <a:p>
            <a:pPr lvl="1"/>
            <a:r>
              <a:rPr lang="en-US" altLang="en-US" dirty="0">
                <a:ea typeface="MS PGothic" charset="-128"/>
              </a:rPr>
              <a:t>Load time</a:t>
            </a:r>
          </a:p>
          <a:p>
            <a:pPr lvl="1"/>
            <a:r>
              <a:rPr lang="en-US" altLang="en-US" dirty="0">
                <a:ea typeface="MS PGothic" charset="-128"/>
              </a:rPr>
              <a:t>Execution time</a:t>
            </a:r>
          </a:p>
          <a:p>
            <a:r>
              <a:rPr lang="en-US" altLang="en-US" dirty="0">
                <a:ea typeface="MS PGothic" charset="-128"/>
              </a:rPr>
              <a:t>All binding times except execution time are static binding</a:t>
            </a:r>
          </a:p>
        </p:txBody>
      </p:sp>
      <p:sp>
        <p:nvSpPr>
          <p:cNvPr id="4" name="TextBox 3">
            <a:extLst>
              <a:ext uri="{FF2B5EF4-FFF2-40B4-BE49-F238E27FC236}">
                <a16:creationId xmlns:a16="http://schemas.microsoft.com/office/drawing/2014/main" id="{7765BD77-DF4E-6244-8592-A32848104F8E}"/>
              </a:ext>
            </a:extLst>
          </p:cNvPr>
          <p:cNvSpPr txBox="1"/>
          <p:nvPr/>
        </p:nvSpPr>
        <p:spPr>
          <a:xfrm>
            <a:off x="3685309" y="4239491"/>
            <a:ext cx="546945" cy="1477328"/>
          </a:xfrm>
          <a:prstGeom prst="rect">
            <a:avLst/>
          </a:prstGeom>
          <a:noFill/>
        </p:spPr>
        <p:txBody>
          <a:bodyPr wrap="none" rtlCol="0">
            <a:spAutoFit/>
          </a:bodyPr>
          <a:lstStyle/>
          <a:p>
            <a:r>
              <a:rPr lang="en-US" sz="9000" dirty="0"/>
              <a:t>}</a:t>
            </a:r>
          </a:p>
        </p:txBody>
      </p:sp>
      <p:sp>
        <p:nvSpPr>
          <p:cNvPr id="5" name="TextBox 4">
            <a:extLst>
              <a:ext uri="{FF2B5EF4-FFF2-40B4-BE49-F238E27FC236}">
                <a16:creationId xmlns:a16="http://schemas.microsoft.com/office/drawing/2014/main" id="{04DAEA01-7AF9-6F40-B0F3-9BF611968B3A}"/>
              </a:ext>
            </a:extLst>
          </p:cNvPr>
          <p:cNvSpPr txBox="1"/>
          <p:nvPr/>
        </p:nvSpPr>
        <p:spPr>
          <a:xfrm>
            <a:off x="6705601" y="4655127"/>
            <a:ext cx="3297382" cy="923330"/>
          </a:xfrm>
          <a:prstGeom prst="rect">
            <a:avLst/>
          </a:prstGeom>
          <a:noFill/>
        </p:spPr>
        <p:txBody>
          <a:bodyPr wrap="square" rtlCol="0">
            <a:spAutoFit/>
          </a:bodyPr>
          <a:lstStyle/>
          <a:p>
            <a:pPr algn="ctr"/>
            <a:r>
              <a:rPr lang="en-US" dirty="0"/>
              <a:t>These are the individual components of compile time in the C programming language</a:t>
            </a:r>
          </a:p>
        </p:txBody>
      </p:sp>
      <p:sp>
        <p:nvSpPr>
          <p:cNvPr id="6" name="TextBox 5">
            <a:extLst>
              <a:ext uri="{FF2B5EF4-FFF2-40B4-BE49-F238E27FC236}">
                <a16:creationId xmlns:a16="http://schemas.microsoft.com/office/drawing/2014/main" id="{9D0DE90B-83BA-F94B-86F0-6C8E8DDF8FAD}"/>
              </a:ext>
            </a:extLst>
          </p:cNvPr>
          <p:cNvSpPr txBox="1"/>
          <p:nvPr/>
        </p:nvSpPr>
        <p:spPr>
          <a:xfrm>
            <a:off x="6238346" y="4752018"/>
            <a:ext cx="561372" cy="553998"/>
          </a:xfrm>
          <a:prstGeom prst="rect">
            <a:avLst/>
          </a:prstGeom>
          <a:noFill/>
        </p:spPr>
        <p:txBody>
          <a:bodyPr wrap="none" rtlCol="0">
            <a:spAutoFit/>
          </a:bodyPr>
          <a:lstStyle/>
          <a:p>
            <a:r>
              <a:rPr lang="en-US" sz="3000" dirty="0">
                <a:sym typeface="Wingdings" pitchFamily="2" charset="2"/>
              </a:rPr>
              <a:t></a:t>
            </a:r>
            <a:endParaRPr lang="en-US" sz="3000" dirty="0"/>
          </a:p>
        </p:txBody>
      </p:sp>
      <p:sp>
        <p:nvSpPr>
          <p:cNvPr id="7" name="TextBox 6">
            <a:extLst>
              <a:ext uri="{FF2B5EF4-FFF2-40B4-BE49-F238E27FC236}">
                <a16:creationId xmlns:a16="http://schemas.microsoft.com/office/drawing/2014/main" id="{2342981C-2700-BC4A-974A-1C1ABA8100DF}"/>
              </a:ext>
            </a:extLst>
          </p:cNvPr>
          <p:cNvSpPr txBox="1"/>
          <p:nvPr/>
        </p:nvSpPr>
        <p:spPr>
          <a:xfrm>
            <a:off x="4461164" y="4793672"/>
            <a:ext cx="1853392" cy="461665"/>
          </a:xfrm>
          <a:prstGeom prst="rect">
            <a:avLst/>
          </a:prstGeom>
          <a:noFill/>
        </p:spPr>
        <p:txBody>
          <a:bodyPr wrap="none" rtlCol="0">
            <a:spAutoFit/>
          </a:bodyPr>
          <a:lstStyle/>
          <a:p>
            <a:r>
              <a:rPr lang="en-US" sz="2400" dirty="0"/>
              <a:t>Compile time</a:t>
            </a:r>
          </a:p>
        </p:txBody>
      </p:sp>
      <p:sp>
        <p:nvSpPr>
          <p:cNvPr id="8" name="TextBox 7">
            <a:extLst>
              <a:ext uri="{FF2B5EF4-FFF2-40B4-BE49-F238E27FC236}">
                <a16:creationId xmlns:a16="http://schemas.microsoft.com/office/drawing/2014/main" id="{21BBD68F-14BE-404B-B0CE-BB94DC5ACD58}"/>
              </a:ext>
            </a:extLst>
          </p:cNvPr>
          <p:cNvSpPr txBox="1"/>
          <p:nvPr/>
        </p:nvSpPr>
        <p:spPr>
          <a:xfrm>
            <a:off x="3980056" y="4765871"/>
            <a:ext cx="486030" cy="553998"/>
          </a:xfrm>
          <a:prstGeom prst="rect">
            <a:avLst/>
          </a:prstGeom>
          <a:noFill/>
        </p:spPr>
        <p:txBody>
          <a:bodyPr wrap="square" rtlCol="0">
            <a:spAutoFit/>
          </a:bodyPr>
          <a:lstStyle/>
          <a:p>
            <a:r>
              <a:rPr lang="en-US" sz="3000" dirty="0">
                <a:sym typeface="Wingdings" pitchFamily="2" charset="2"/>
              </a:rPr>
              <a:t></a:t>
            </a:r>
            <a:endParaRPr lang="en-US" sz="3000" dirty="0"/>
          </a:p>
        </p:txBody>
      </p:sp>
    </p:spTree>
    <p:extLst>
      <p:ext uri="{BB962C8B-B14F-4D97-AF65-F5344CB8AC3E}">
        <p14:creationId xmlns:p14="http://schemas.microsoft.com/office/powerpoint/2010/main" val="24406456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Declarations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Declarations are a principle method for establishing bindings</a:t>
            </a:r>
          </a:p>
          <a:p>
            <a:r>
              <a:rPr lang="en-US" altLang="en-US" dirty="0"/>
              <a:t>Bindings can be </a:t>
            </a:r>
            <a:r>
              <a:rPr lang="en-US" altLang="en-US" b="1" dirty="0"/>
              <a:t>implicit</a:t>
            </a:r>
            <a:r>
              <a:rPr lang="en-US" altLang="en-US" dirty="0"/>
              <a:t> or </a:t>
            </a:r>
            <a:r>
              <a:rPr lang="en-US" altLang="en-US" b="1" dirty="0"/>
              <a:t>explicit</a:t>
            </a:r>
          </a:p>
          <a:p>
            <a:r>
              <a:rPr lang="en-US" altLang="en-US" dirty="0"/>
              <a:t>Example in C:    </a:t>
            </a: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x;</a:t>
            </a:r>
            <a:endParaRPr lang="en-US" altLang="en-US" dirty="0"/>
          </a:p>
          <a:p>
            <a:pPr lvl="1"/>
            <a:r>
              <a:rPr lang="en-US" altLang="en-US" sz="2800" dirty="0"/>
              <a:t>Data type is explicitly bound</a:t>
            </a:r>
          </a:p>
          <a:p>
            <a:pPr lvl="1"/>
            <a:r>
              <a:rPr lang="en-US" altLang="en-US" sz="2800" dirty="0"/>
              <a:t>Value of x is implicitly bound</a:t>
            </a:r>
          </a:p>
          <a:p>
            <a:pPr lvl="2"/>
            <a:r>
              <a:rPr lang="en-US" altLang="en-US" sz="2400" dirty="0"/>
              <a:t>Probably 0, but it’s implicit and can’t </a:t>
            </a:r>
            <a:r>
              <a:rPr lang="en-US" sz="2400" dirty="0"/>
              <a:t>be assumed to be anything in particular</a:t>
            </a:r>
            <a:endParaRPr lang="en-US" altLang="en-US" sz="2400" dirty="0"/>
          </a:p>
          <a:p>
            <a:r>
              <a:rPr lang="en-US" altLang="en-US" dirty="0"/>
              <a:t>Example in C:    </a:t>
            </a:r>
            <a:r>
              <a:rPr lang="en-US" altLang="en-US" dirty="0" err="1">
                <a:latin typeface="Courier New" panose="02070309020205020404" pitchFamily="49" charset="0"/>
                <a:cs typeface="Courier New" panose="02070309020205020404" pitchFamily="49" charset="0"/>
              </a:rPr>
              <a:t>int</a:t>
            </a:r>
            <a:r>
              <a:rPr lang="en-US" altLang="en-US" dirty="0">
                <a:latin typeface="Courier New" panose="02070309020205020404" pitchFamily="49" charset="0"/>
                <a:cs typeface="Courier New" panose="02070309020205020404" pitchFamily="49" charset="0"/>
              </a:rPr>
              <a:t> x = 0;</a:t>
            </a:r>
            <a:endParaRPr lang="en-US" altLang="en-US" dirty="0"/>
          </a:p>
          <a:p>
            <a:pPr lvl="1"/>
            <a:r>
              <a:rPr lang="en-US" altLang="en-US" sz="2800" dirty="0"/>
              <a:t>Explicitly binds 0 as the initial value</a:t>
            </a:r>
          </a:p>
        </p:txBody>
      </p:sp>
    </p:spTree>
    <p:extLst>
      <p:ext uri="{BB962C8B-B14F-4D97-AF65-F5344CB8AC3E}">
        <p14:creationId xmlns:p14="http://schemas.microsoft.com/office/powerpoint/2010/main" val="30357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Declarations</a:t>
            </a:r>
          </a:p>
        </p:txBody>
      </p:sp>
      <p:sp>
        <p:nvSpPr>
          <p:cNvPr id="3" name="Content Placeholder 2"/>
          <p:cNvSpPr>
            <a:spLocks noGrp="1"/>
          </p:cNvSpPr>
          <p:nvPr>
            <p:ph idx="1"/>
          </p:nvPr>
        </p:nvSpPr>
        <p:spPr>
          <a:xfrm>
            <a:off x="838200" y="1825624"/>
            <a:ext cx="10515600" cy="4884458"/>
          </a:xfrm>
        </p:spPr>
        <p:txBody>
          <a:bodyPr>
            <a:normAutofit/>
          </a:bodyPr>
          <a:lstStyle/>
          <a:p>
            <a:r>
              <a:rPr lang="en-US" altLang="en-US" dirty="0"/>
              <a:t>An entire declaration statement itself may be implicit in languages where simply using the variable name causes it to be declared</a:t>
            </a:r>
          </a:p>
          <a:p>
            <a:r>
              <a:rPr lang="en-US" dirty="0"/>
              <a:t>Sometimes a language will allow for declarations that bind certain attributes but not others</a:t>
            </a:r>
            <a:endParaRPr lang="en-US" altLang="en-US" dirty="0"/>
          </a:p>
          <a:p>
            <a:pPr lvl="1"/>
            <a:r>
              <a:rPr lang="en-US" sz="2800" b="1" dirty="0"/>
              <a:t>Function prototype</a:t>
            </a:r>
            <a:r>
              <a:rPr lang="en-US" sz="2800" dirty="0"/>
              <a:t> in C</a:t>
            </a:r>
            <a:r>
              <a:rPr lang="en-US" altLang="en-US" sz="2800" b="1" dirty="0"/>
              <a:t>:</a:t>
            </a:r>
            <a:r>
              <a:rPr lang="en-US" altLang="en-US" sz="2800" dirty="0"/>
              <a:t>  </a:t>
            </a:r>
            <a:r>
              <a:rPr lang="en-US" altLang="en-US" sz="2800" dirty="0">
                <a:latin typeface="Courier New" panose="02070309020205020404" pitchFamily="49" charset="0"/>
                <a:cs typeface="Courier New" panose="02070309020205020404" pitchFamily="49" charset="0"/>
              </a:rPr>
              <a:t>double f(</a:t>
            </a:r>
            <a:r>
              <a:rPr lang="en-US" altLang="en-US" sz="2800" dirty="0" err="1">
                <a:latin typeface="Courier New" panose="02070309020205020404" pitchFamily="49" charset="0"/>
                <a:cs typeface="Courier New" panose="02070309020205020404" pitchFamily="49" charset="0"/>
              </a:rPr>
              <a:t>int</a:t>
            </a:r>
            <a:r>
              <a:rPr lang="en-US" altLang="en-US" sz="2800" dirty="0">
                <a:latin typeface="Courier New" panose="02070309020205020404" pitchFamily="49" charset="0"/>
                <a:cs typeface="Courier New" panose="02070309020205020404" pitchFamily="49" charset="0"/>
              </a:rPr>
              <a:t> x);</a:t>
            </a:r>
          </a:p>
          <a:p>
            <a:pPr lvl="2"/>
            <a:r>
              <a:rPr lang="en-US" altLang="en-US" sz="2800" dirty="0">
                <a:cs typeface="Courier New" panose="02070309020205020404" pitchFamily="49" charset="0"/>
              </a:rPr>
              <a:t>Binds the parameters types, parameter names, and return type to identifier f</a:t>
            </a:r>
            <a:endParaRPr lang="en-US" altLang="en-US" sz="2600" dirty="0">
              <a:cs typeface="Courier New" panose="02070309020205020404" pitchFamily="49" charset="0"/>
            </a:endParaRPr>
          </a:p>
          <a:p>
            <a:pPr lvl="2"/>
            <a:r>
              <a:rPr lang="en-US" altLang="en-US" sz="2800" dirty="0">
                <a:cs typeface="Courier New" panose="02070309020205020404" pitchFamily="49" charset="0"/>
              </a:rPr>
              <a:t>Does not bind the function body to identifier f</a:t>
            </a:r>
          </a:p>
          <a:p>
            <a:pPr lvl="2"/>
            <a:endParaRPr lang="en-US" altLang="en-US" sz="2800" dirty="0"/>
          </a:p>
        </p:txBody>
      </p:sp>
    </p:spTree>
    <p:extLst>
      <p:ext uri="{BB962C8B-B14F-4D97-AF65-F5344CB8AC3E}">
        <p14:creationId xmlns:p14="http://schemas.microsoft.com/office/powerpoint/2010/main" val="2587507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Scope and Blocks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t>Scope:</a:t>
            </a:r>
            <a:r>
              <a:rPr lang="en-US" altLang="en-US" dirty="0"/>
              <a:t> textual region of the program in which a binding is active </a:t>
            </a:r>
          </a:p>
          <a:p>
            <a:r>
              <a:rPr lang="en-US" altLang="en-US" dirty="0"/>
              <a:t>In modern languages, the scope of a binding is determined statically</a:t>
            </a:r>
          </a:p>
          <a:p>
            <a:r>
              <a:rPr lang="en-US" altLang="en-US" b="1" dirty="0"/>
              <a:t>Block</a:t>
            </a:r>
            <a:r>
              <a:rPr lang="en-US" altLang="en-US" dirty="0"/>
              <a:t>: body of a module, class, subroutine, or structured control-flow statement </a:t>
            </a:r>
          </a:p>
          <a:p>
            <a:pPr lvl="1"/>
            <a:r>
              <a:rPr lang="en-US" dirty="0"/>
              <a:t>A block contains a sequence of statements surrounded by </a:t>
            </a:r>
            <a:r>
              <a:rPr lang="en-US" b="1" dirty="0"/>
              <a:t>syntactic markers</a:t>
            </a:r>
            <a:endParaRPr lang="en-US" altLang="en-US" dirty="0"/>
          </a:p>
          <a:p>
            <a:pPr lvl="1"/>
            <a:r>
              <a:rPr lang="en-US" altLang="en-US" dirty="0"/>
              <a:t>For example, C and Java use { } to indicate the start and end of blocks</a:t>
            </a:r>
          </a:p>
          <a:p>
            <a:pPr lvl="1"/>
            <a:r>
              <a:rPr lang="en-US" altLang="en-US" dirty="0"/>
              <a:t>Python uses whitespace (indentation) </a:t>
            </a:r>
          </a:p>
          <a:p>
            <a:r>
              <a:rPr lang="en-US" altLang="en-US" b="1" dirty="0"/>
              <a:t>Local declarations</a:t>
            </a:r>
            <a:r>
              <a:rPr lang="en-US" altLang="en-US" dirty="0"/>
              <a:t>: d</a:t>
            </a:r>
            <a:r>
              <a:rPr lang="en-US" dirty="0"/>
              <a:t>eclarations </a:t>
            </a:r>
            <a:r>
              <a:rPr lang="en-US" altLang="en-US" dirty="0"/>
              <a:t>associated with a block</a:t>
            </a:r>
          </a:p>
          <a:p>
            <a:r>
              <a:rPr lang="en-US" altLang="en-US" b="1" dirty="0"/>
              <a:t>Nonlocal declarations</a:t>
            </a:r>
            <a:r>
              <a:rPr lang="en-US" altLang="en-US" dirty="0"/>
              <a:t>: d</a:t>
            </a:r>
            <a:r>
              <a:rPr lang="en-US" dirty="0"/>
              <a:t>eclarations</a:t>
            </a:r>
            <a:r>
              <a:rPr lang="en-US" altLang="en-US" dirty="0"/>
              <a:t> associated with surrounding blocks or global declarations</a:t>
            </a:r>
          </a:p>
          <a:p>
            <a:pPr marL="0" indent="0">
              <a:buNone/>
            </a:pPr>
            <a:endParaRPr lang="en-US" altLang="en-US" dirty="0"/>
          </a:p>
        </p:txBody>
      </p:sp>
    </p:spTree>
    <p:extLst>
      <p:ext uri="{BB962C8B-B14F-4D97-AF65-F5344CB8AC3E}">
        <p14:creationId xmlns:p14="http://schemas.microsoft.com/office/powerpoint/2010/main" val="2529790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Scope and Blocks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Typically, the scope of a binding is the block in which the binding was established</a:t>
            </a:r>
          </a:p>
          <a:p>
            <a:r>
              <a:rPr lang="en-US" altLang="en-US" dirty="0"/>
              <a:t>A binding exists in the scope in which it's declared and in each internally nested scope</a:t>
            </a:r>
          </a:p>
          <a:p>
            <a:pPr lvl="1"/>
            <a:r>
              <a:rPr lang="en-US" altLang="en-US" dirty="0"/>
              <a:t>Unless it’s hidden by another declaration with the same name in one or more nested scopes</a:t>
            </a:r>
          </a:p>
          <a:p>
            <a:r>
              <a:rPr lang="en-US" altLang="en-US" dirty="0"/>
              <a:t>If no binding is found at any scope level an error occurs </a:t>
            </a:r>
          </a:p>
          <a:p>
            <a:r>
              <a:rPr lang="en-US" altLang="en-US" dirty="0"/>
              <a:t>Many languages provide a collection of predefined objects / functions</a:t>
            </a:r>
          </a:p>
          <a:p>
            <a:pPr lvl="1"/>
            <a:r>
              <a:rPr lang="en-US" altLang="en-US" dirty="0"/>
              <a:t>It is common to consider these to be declared in an extra, invisible, outermost scope, which surrounds the scope in which global objects are declared</a:t>
            </a:r>
          </a:p>
          <a:p>
            <a:endParaRPr lang="en-US" altLang="en-US" dirty="0"/>
          </a:p>
          <a:p>
            <a:endParaRPr lang="en-US" altLang="en-US" dirty="0"/>
          </a:p>
        </p:txBody>
      </p:sp>
    </p:spTree>
    <p:extLst>
      <p:ext uri="{BB962C8B-B14F-4D97-AF65-F5344CB8AC3E}">
        <p14:creationId xmlns:p14="http://schemas.microsoft.com/office/powerpoint/2010/main" val="2482168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97543"/>
            <a:ext cx="6986155"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033157" y="3853543"/>
            <a:ext cx="1216154" cy="2292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7775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Scope and Blocks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Besides blocks, other sources of declarations include:</a:t>
            </a:r>
          </a:p>
          <a:p>
            <a:pPr lvl="1"/>
            <a:r>
              <a:rPr lang="en-US" altLang="en-US" sz="2800" dirty="0"/>
              <a:t>A </a:t>
            </a:r>
            <a:r>
              <a:rPr lang="en-US" altLang="en-US" sz="2800" dirty="0" err="1">
                <a:latin typeface="Courier New" panose="02070309020205020404" pitchFamily="49" charset="0"/>
                <a:cs typeface="Courier New" panose="02070309020205020404" pitchFamily="49" charset="0"/>
              </a:rPr>
              <a:t>struct</a:t>
            </a:r>
            <a:r>
              <a:rPr lang="en-US" altLang="en-US" sz="2800" dirty="0"/>
              <a:t> definition composed of local (member) declarations</a:t>
            </a:r>
          </a:p>
          <a:p>
            <a:pPr lvl="1"/>
            <a:r>
              <a:rPr lang="en-US" altLang="en-US" sz="2800" dirty="0"/>
              <a:t>A class in object-oriented languages</a:t>
            </a:r>
          </a:p>
          <a:p>
            <a:r>
              <a:rPr lang="en-US" altLang="en-US" dirty="0"/>
              <a:t>Declarations can be collected into packages (Java, Ada), modules (Python), and namespaces (C++)</a:t>
            </a:r>
          </a:p>
        </p:txBody>
      </p:sp>
    </p:spTree>
    <p:extLst>
      <p:ext uri="{BB962C8B-B14F-4D97-AF65-F5344CB8AC3E}">
        <p14:creationId xmlns:p14="http://schemas.microsoft.com/office/powerpoint/2010/main" val="741501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Scope Holes and Visibility </a:t>
            </a:r>
          </a:p>
        </p:txBody>
      </p:sp>
      <p:sp>
        <p:nvSpPr>
          <p:cNvPr id="3" name="Content Placeholder 2"/>
          <p:cNvSpPr>
            <a:spLocks noGrp="1"/>
          </p:cNvSpPr>
          <p:nvPr>
            <p:ph idx="1"/>
          </p:nvPr>
        </p:nvSpPr>
        <p:spPr>
          <a:xfrm>
            <a:off x="838200" y="1825624"/>
            <a:ext cx="10346871" cy="4884458"/>
          </a:xfrm>
        </p:spPr>
        <p:txBody>
          <a:bodyPr>
            <a:noAutofit/>
          </a:bodyPr>
          <a:lstStyle/>
          <a:p>
            <a:r>
              <a:rPr lang="en-US" altLang="en-US" dirty="0"/>
              <a:t>A declaration is hidden by another declaration of the same name in one or more nested scopes</a:t>
            </a:r>
          </a:p>
          <a:p>
            <a:r>
              <a:rPr lang="en-US" altLang="en-US" dirty="0"/>
              <a:t>A global variable is said to have a </a:t>
            </a:r>
            <a:r>
              <a:rPr lang="en-US" altLang="en-US" b="1" dirty="0"/>
              <a:t>scope hole </a:t>
            </a:r>
            <a:r>
              <a:rPr lang="en-US" altLang="en-US" dirty="0"/>
              <a:t>in a block containing a local declaration with the same name</a:t>
            </a:r>
          </a:p>
          <a:p>
            <a:pPr lvl="1"/>
            <a:r>
              <a:rPr lang="en-US" altLang="en-US" sz="2800" dirty="0"/>
              <a:t>Use </a:t>
            </a:r>
            <a:r>
              <a:rPr lang="en-US" altLang="en-US" sz="2800" b="1" dirty="0"/>
              <a:t>scope resolution operator </a:t>
            </a:r>
            <a:r>
              <a:rPr lang="en-US" altLang="en-US" sz="2800" dirty="0">
                <a:latin typeface="Courier New" panose="02070309020205020404" pitchFamily="49" charset="0"/>
                <a:cs typeface="Courier New" panose="02070309020205020404" pitchFamily="49" charset="0"/>
              </a:rPr>
              <a:t>::</a:t>
            </a:r>
            <a:r>
              <a:rPr lang="en-US" altLang="en-US" sz="2800" dirty="0"/>
              <a:t> in C++ to access the global variable</a:t>
            </a:r>
          </a:p>
          <a:p>
            <a:r>
              <a:rPr lang="en-US" altLang="en-US" dirty="0"/>
              <a:t>Local declaration is said to </a:t>
            </a:r>
            <a:r>
              <a:rPr lang="en-US" altLang="en-US" b="1" dirty="0"/>
              <a:t>shadow</a:t>
            </a:r>
            <a:r>
              <a:rPr lang="en-US" altLang="en-US" dirty="0"/>
              <a:t> its global declaration</a:t>
            </a:r>
          </a:p>
          <a:p>
            <a:r>
              <a:rPr lang="en-US" altLang="en-US" b="1" dirty="0"/>
              <a:t>Visibility</a:t>
            </a:r>
            <a:r>
              <a:rPr lang="en-US" altLang="en-US" dirty="0"/>
              <a:t>: includes only regions where the bindings of a declaration apply</a:t>
            </a:r>
          </a:p>
        </p:txBody>
      </p:sp>
    </p:spTree>
    <p:extLst>
      <p:ext uri="{BB962C8B-B14F-4D97-AF65-F5344CB8AC3E}">
        <p14:creationId xmlns:p14="http://schemas.microsoft.com/office/powerpoint/2010/main" val="2002404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Scope Holes and Visibility </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799" y="1581150"/>
            <a:ext cx="6530941" cy="4950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2230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Nested Subroutines</a:t>
            </a:r>
          </a:p>
        </p:txBody>
      </p:sp>
      <p:sp>
        <p:nvSpPr>
          <p:cNvPr id="3" name="Content Placeholder 2"/>
          <p:cNvSpPr>
            <a:spLocks noGrp="1"/>
          </p:cNvSpPr>
          <p:nvPr>
            <p:ph idx="1"/>
          </p:nvPr>
        </p:nvSpPr>
        <p:spPr>
          <a:xfrm>
            <a:off x="838200" y="1825624"/>
            <a:ext cx="10346871" cy="4884458"/>
          </a:xfrm>
        </p:spPr>
        <p:txBody>
          <a:bodyPr>
            <a:noAutofit/>
          </a:bodyPr>
          <a:lstStyle/>
          <a:p>
            <a:r>
              <a:rPr lang="en-US" altLang="en-US" dirty="0"/>
              <a:t>Scope rules need to be constructed such that recursive declarations are possible when they make sense</a:t>
            </a:r>
          </a:p>
          <a:p>
            <a:pPr lvl="1"/>
            <a:r>
              <a:rPr lang="en-US" altLang="en-US" sz="2800" dirty="0"/>
              <a:t>For example, subroutines must be allowed to be recursive, so a subroutines name must have scope beginning before the block of the subroutine body</a:t>
            </a:r>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4071938"/>
            <a:ext cx="7544147" cy="214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965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solidFill>
                  <a:srgbClr val="0070C0"/>
                </a:solidFill>
              </a:rPr>
              <a:t>Declaration Order</a:t>
            </a:r>
          </a:p>
        </p:txBody>
      </p:sp>
      <p:sp>
        <p:nvSpPr>
          <p:cNvPr id="3" name="Content Placeholder 2"/>
          <p:cNvSpPr>
            <a:spLocks noGrp="1"/>
          </p:cNvSpPr>
          <p:nvPr>
            <p:ph idx="1"/>
          </p:nvPr>
        </p:nvSpPr>
        <p:spPr>
          <a:xfrm>
            <a:off x="838200" y="1825624"/>
            <a:ext cx="10346871" cy="4884458"/>
          </a:xfrm>
        </p:spPr>
        <p:txBody>
          <a:bodyPr>
            <a:noAutofit/>
          </a:bodyPr>
          <a:lstStyle/>
          <a:p>
            <a:r>
              <a:rPr lang="en-US" altLang="en-US" dirty="0"/>
              <a:t>Can an expression X reference any name declared in the current scope, or only names declared before X in the scope?</a:t>
            </a:r>
          </a:p>
          <a:p>
            <a:r>
              <a:rPr lang="en-US" altLang="en-US" dirty="0"/>
              <a:t>To resolve this question, several early languages, including Algol 60 and Lisp, required that all declarations appear at the beginning of their scope</a:t>
            </a:r>
          </a:p>
          <a:p>
            <a:r>
              <a:rPr lang="en-US" altLang="en-US" dirty="0"/>
              <a:t>Modern languages implement </a:t>
            </a:r>
            <a:r>
              <a:rPr lang="en-US" altLang="en-US" b="1" dirty="0"/>
              <a:t>declaration before use</a:t>
            </a:r>
            <a:r>
              <a:rPr lang="en-US" altLang="en-US" dirty="0"/>
              <a:t>:</a:t>
            </a:r>
            <a:r>
              <a:rPr lang="en-US" altLang="en-US" b="1" dirty="0"/>
              <a:t> </a:t>
            </a:r>
          </a:p>
          <a:p>
            <a:pPr lvl="1"/>
            <a:r>
              <a:rPr lang="en-US" altLang="en-US" dirty="0"/>
              <a:t>Explicitly specifies the scope of a binding is the portion of that block from the declaration to the end</a:t>
            </a:r>
          </a:p>
          <a:p>
            <a:r>
              <a:rPr lang="en-US" altLang="en-US" b="1" dirty="0"/>
              <a:t>Forward reference</a:t>
            </a:r>
            <a:r>
              <a:rPr lang="en-US" altLang="en-US" dirty="0"/>
              <a:t>: an attempt to use a name before its declaration</a:t>
            </a:r>
          </a:p>
          <a:p>
            <a:r>
              <a:rPr lang="en-US" altLang="en-US" dirty="0"/>
              <a:t>Java and C++ go even further, allowing constructs like classes and functions to be referenced before declaration!</a:t>
            </a:r>
          </a:p>
          <a:p>
            <a:pPr marL="457200" lvl="1" indent="0">
              <a:buNone/>
            </a:pPr>
            <a:endParaRPr lang="en-US" altLang="en-US" dirty="0"/>
          </a:p>
        </p:txBody>
      </p:sp>
    </p:spTree>
    <p:extLst>
      <p:ext uri="{BB962C8B-B14F-4D97-AF65-F5344CB8AC3E}">
        <p14:creationId xmlns:p14="http://schemas.microsoft.com/office/powerpoint/2010/main" val="3737003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The Symbol Table</a:t>
            </a:r>
            <a:endParaRPr lang="en-US" b="1" dirty="0">
              <a:solidFill>
                <a:srgbClr val="0070C0"/>
              </a:solidFill>
            </a:endParaRP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t>Symbol table</a:t>
            </a:r>
            <a:r>
              <a:rPr lang="en-US" altLang="en-US" dirty="0"/>
              <a:t>: a data structure that maintains all static bindings of attributes to identifiers</a:t>
            </a:r>
          </a:p>
          <a:p>
            <a:pPr lvl="1"/>
            <a:r>
              <a:rPr lang="en-US" altLang="en-US" dirty="0"/>
              <a:t>The most basic operations are to insert a binding, remove a binding, or to look up the attributes already bound to a given identifier</a:t>
            </a:r>
          </a:p>
          <a:p>
            <a:pPr lvl="2"/>
            <a:r>
              <a:rPr lang="en-US" altLang="en-US" dirty="0"/>
              <a:t>Can be thought of as a function that expresses the bindings of attributes to identifiers</a:t>
            </a:r>
          </a:p>
          <a:p>
            <a:pPr lvl="1"/>
            <a:r>
              <a:rPr lang="en-US" altLang="en-US" dirty="0"/>
              <a:t>How exactly the symbol table is implemented isn’t important to us as different translators can have different approaches</a:t>
            </a:r>
          </a:p>
          <a:p>
            <a:r>
              <a:rPr lang="en-US" altLang="en-US" dirty="0"/>
              <a:t>A translator creates a symbol table to maintain static bindings</a:t>
            </a:r>
          </a:p>
          <a:p>
            <a:r>
              <a:rPr lang="en-US" altLang="en-US" dirty="0"/>
              <a:t>The symbol table is retained throughout translation then is discarded</a:t>
            </a:r>
          </a:p>
          <a:p>
            <a:pPr lvl="1"/>
            <a:r>
              <a:rPr lang="en-US" altLang="en-US" dirty="0"/>
              <a:t>For complied languages, no symbol table information is needed at runtime</a:t>
            </a:r>
          </a:p>
          <a:p>
            <a:pPr lvl="1"/>
            <a:r>
              <a:rPr lang="en-US" altLang="en-US" dirty="0"/>
              <a:t>Although it’s commonly saved for use by debuggers</a:t>
            </a:r>
          </a:p>
        </p:txBody>
      </p:sp>
    </p:spTree>
    <p:extLst>
      <p:ext uri="{BB962C8B-B14F-4D97-AF65-F5344CB8AC3E}">
        <p14:creationId xmlns:p14="http://schemas.microsoft.com/office/powerpoint/2010/main" val="3544874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Static Scoping</a:t>
            </a:r>
            <a:endParaRPr lang="en-US" b="1" dirty="0">
              <a:solidFill>
                <a:srgbClr val="0070C0"/>
              </a:solidFill>
            </a:endParaRPr>
          </a:p>
        </p:txBody>
      </p:sp>
      <p:sp>
        <p:nvSpPr>
          <p:cNvPr id="3" name="Content Placeholder 2"/>
          <p:cNvSpPr>
            <a:spLocks noGrp="1"/>
          </p:cNvSpPr>
          <p:nvPr>
            <p:ph idx="1"/>
          </p:nvPr>
        </p:nvSpPr>
        <p:spPr>
          <a:xfrm>
            <a:off x="838200" y="1825624"/>
            <a:ext cx="10346871" cy="4884458"/>
          </a:xfrm>
        </p:spPr>
        <p:txBody>
          <a:bodyPr>
            <a:noAutofit/>
          </a:bodyPr>
          <a:lstStyle/>
          <a:p>
            <a:r>
              <a:rPr lang="en-US" altLang="en-US" b="1" dirty="0"/>
              <a:t>Static scoping (</a:t>
            </a:r>
            <a:r>
              <a:rPr lang="en-US" altLang="en-US" dirty="0"/>
              <a:t>or</a:t>
            </a:r>
            <a:r>
              <a:rPr lang="en-US" altLang="en-US" b="1" dirty="0"/>
              <a:t> </a:t>
            </a:r>
            <a:r>
              <a:rPr lang="en-US" altLang="en-US" dirty="0"/>
              <a:t>lexical scoping</a:t>
            </a:r>
            <a:r>
              <a:rPr lang="en-US" altLang="en-US" b="1" dirty="0"/>
              <a:t>)</a:t>
            </a:r>
          </a:p>
          <a:p>
            <a:pPr lvl="1"/>
            <a:r>
              <a:rPr lang="en-US" altLang="en-US" sz="2800" dirty="0"/>
              <a:t>The symbol table is managed by the compiler during compilation</a:t>
            </a:r>
          </a:p>
          <a:p>
            <a:pPr lvl="1"/>
            <a:r>
              <a:rPr lang="en-US" altLang="en-US" sz="2800" dirty="0"/>
              <a:t>All maintained bindings must be static bindings</a:t>
            </a:r>
          </a:p>
          <a:p>
            <a:pPr lvl="2"/>
            <a:r>
              <a:rPr lang="en-US" altLang="en-US" sz="2400" dirty="0"/>
              <a:t>Because the symbol table doesn’t exist at runtime!</a:t>
            </a:r>
            <a:endParaRPr lang="en-US" altLang="en-US" sz="2800" dirty="0"/>
          </a:p>
          <a:p>
            <a:pPr lvl="1"/>
            <a:r>
              <a:rPr lang="en-US" altLang="en-US" sz="2800" dirty="0"/>
              <a:t>Program file is analyzed from top to bottom, line by line</a:t>
            </a:r>
          </a:p>
          <a:p>
            <a:pPr lvl="2"/>
            <a:r>
              <a:rPr lang="en-US" altLang="en-US" sz="2400" dirty="0"/>
              <a:t>Runtime concepts like execution path have no effect on the symbol table</a:t>
            </a:r>
          </a:p>
          <a:p>
            <a:r>
              <a:rPr lang="en-US" altLang="en-US" dirty="0"/>
              <a:t>A statically scoped, block-structured language requires a stack-like data structure to perform </a:t>
            </a:r>
            <a:r>
              <a:rPr lang="en-US" altLang="en-US" b="1" dirty="0"/>
              <a:t>scope analysis</a:t>
            </a:r>
            <a:r>
              <a:rPr lang="en-US" altLang="en-US" dirty="0"/>
              <a:t>:</a:t>
            </a:r>
          </a:p>
          <a:p>
            <a:pPr lvl="1"/>
            <a:r>
              <a:rPr lang="en-US" altLang="en-US" dirty="0"/>
              <a:t>On block entry, all declarations of that block are processed and bindings added to symbol table</a:t>
            </a:r>
          </a:p>
          <a:p>
            <a:pPr lvl="1"/>
            <a:r>
              <a:rPr lang="en-US" altLang="en-US" dirty="0"/>
              <a:t>On block exit, bindings are removed, restoring any previous bindings that may have existed</a:t>
            </a:r>
            <a:br>
              <a:rPr lang="en-US" altLang="en-US" sz="2800" dirty="0"/>
            </a:br>
            <a:endParaRPr lang="en-US" altLang="en-US" sz="2800" dirty="0"/>
          </a:p>
          <a:p>
            <a:endParaRPr lang="en-US" altLang="en-US" sz="3200" dirty="0"/>
          </a:p>
        </p:txBody>
      </p:sp>
    </p:spTree>
    <p:extLst>
      <p:ext uri="{BB962C8B-B14F-4D97-AF65-F5344CB8AC3E}">
        <p14:creationId xmlns:p14="http://schemas.microsoft.com/office/powerpoint/2010/main" val="3774669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sp>
        <p:nvSpPr>
          <p:cNvPr id="3" name="Content Placeholder 2"/>
          <p:cNvSpPr>
            <a:spLocks noGrp="1"/>
          </p:cNvSpPr>
          <p:nvPr>
            <p:ph idx="1"/>
          </p:nvPr>
        </p:nvSpPr>
        <p:spPr>
          <a:xfrm>
            <a:off x="838200" y="1825624"/>
            <a:ext cx="10346871" cy="4884458"/>
          </a:xfrm>
        </p:spPr>
        <p:txBody>
          <a:bodyPr>
            <a:noAutofit/>
          </a:bodyPr>
          <a:lstStyle/>
          <a:p>
            <a:r>
              <a:rPr lang="en-US" altLang="en-US" dirty="0">
                <a:ea typeface="MS PGothic" charset="-128"/>
              </a:rPr>
              <a:t>Attributes are properties that determine the meaning of the identifier to which they are bound </a:t>
            </a:r>
            <a:endParaRPr lang="en-US" altLang="en-US" dirty="0"/>
          </a:p>
          <a:p>
            <a:r>
              <a:rPr lang="en-US" altLang="en-US" sz="2800" dirty="0"/>
              <a:t>What specific properties are considered attributes?</a:t>
            </a:r>
          </a:p>
          <a:p>
            <a:pPr lvl="1"/>
            <a:r>
              <a:rPr lang="en-US" altLang="en-US" dirty="0"/>
              <a:t>Is the size of an array an attribute? </a:t>
            </a:r>
          </a:p>
          <a:p>
            <a:pPr lvl="1"/>
            <a:r>
              <a:rPr lang="en-US" altLang="en-US" dirty="0"/>
              <a:t>Depends on the specific language implementation </a:t>
            </a:r>
          </a:p>
          <a:p>
            <a:r>
              <a:rPr lang="en-US" altLang="en-US" dirty="0"/>
              <a:t>For all examples and assignments in this class, only two properties will be considered attributes:</a:t>
            </a:r>
          </a:p>
          <a:p>
            <a:pPr lvl="1"/>
            <a:r>
              <a:rPr lang="en-US" altLang="en-US" dirty="0"/>
              <a:t>The data type of the identifier </a:t>
            </a:r>
          </a:p>
          <a:p>
            <a:pPr lvl="2"/>
            <a:r>
              <a:rPr lang="en-US" altLang="en-US" dirty="0"/>
              <a:t>Or the return type if the identifier is a function</a:t>
            </a:r>
          </a:p>
          <a:p>
            <a:pPr lvl="1"/>
            <a:r>
              <a:rPr lang="en-US" altLang="en-US" dirty="0"/>
              <a:t>The scope of the identifier</a:t>
            </a:r>
          </a:p>
          <a:p>
            <a:pPr lvl="2"/>
            <a:r>
              <a:rPr lang="en-US" altLang="en-US" dirty="0"/>
              <a:t>Because all functions are global, function identifiers use the keyword “function” </a:t>
            </a:r>
          </a:p>
          <a:p>
            <a:endParaRPr lang="en-US" altLang="en-US" dirty="0"/>
          </a:p>
          <a:p>
            <a:pPr marL="0" indent="0">
              <a:buNone/>
            </a:pPr>
            <a:endParaRPr lang="en-US" altLang="en-US" sz="3200" dirty="0"/>
          </a:p>
        </p:txBody>
      </p:sp>
    </p:spTree>
    <p:extLst>
      <p:ext uri="{BB962C8B-B14F-4D97-AF65-F5344CB8AC3E}">
        <p14:creationId xmlns:p14="http://schemas.microsoft.com/office/powerpoint/2010/main" val="109744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sp>
        <p:nvSpPr>
          <p:cNvPr id="3" name="Content Placeholder 2"/>
          <p:cNvSpPr>
            <a:spLocks noGrp="1"/>
          </p:cNvSpPr>
          <p:nvPr>
            <p:ph idx="1"/>
          </p:nvPr>
        </p:nvSpPr>
        <p:spPr>
          <a:xfrm>
            <a:off x="838200" y="1825624"/>
            <a:ext cx="10346871" cy="4884458"/>
          </a:xfrm>
        </p:spPr>
        <p:txBody>
          <a:bodyPr>
            <a:noAutofit/>
          </a:bodyPr>
          <a:lstStyle/>
          <a:p>
            <a:r>
              <a:rPr lang="en-US" altLang="en-US" dirty="0"/>
              <a:t>Values are </a:t>
            </a:r>
            <a:r>
              <a:rPr lang="en-US" altLang="en-US" i="1" dirty="0"/>
              <a:t>never </a:t>
            </a:r>
            <a:r>
              <a:rPr lang="en-US" altLang="en-US" dirty="0"/>
              <a:t>attributes and should </a:t>
            </a:r>
            <a:r>
              <a:rPr lang="en-US" altLang="en-US" i="1" dirty="0"/>
              <a:t>never</a:t>
            </a:r>
            <a:r>
              <a:rPr lang="en-US" altLang="en-US" dirty="0"/>
              <a:t> be included on the symbol table</a:t>
            </a:r>
          </a:p>
          <a:p>
            <a:pPr lvl="1"/>
            <a:r>
              <a:rPr lang="en-US" altLang="en-US" dirty="0"/>
              <a:t>More on values next unit</a:t>
            </a:r>
          </a:p>
          <a:p>
            <a:r>
              <a:rPr lang="en-US" altLang="en-US" dirty="0"/>
              <a:t>This is very a simplified model </a:t>
            </a:r>
          </a:p>
          <a:p>
            <a:pPr lvl="1"/>
            <a:r>
              <a:rPr lang="en-US" altLang="en-US" dirty="0"/>
              <a:t>Allows us to focus on the mechanics of symbol tables without being overwhelmed by language specific details </a:t>
            </a:r>
          </a:p>
          <a:p>
            <a:pPr lvl="1"/>
            <a:r>
              <a:rPr lang="en-US" altLang="en-US" dirty="0"/>
              <a:t>Removes ambiguity from creating and analyzing symbol tables in the class</a:t>
            </a:r>
          </a:p>
          <a:p>
            <a:r>
              <a:rPr lang="en-US" altLang="en-US" dirty="0"/>
              <a:t>All real world symbol tables are more complex but operate using the same principles we discuss in lecture </a:t>
            </a:r>
            <a:br>
              <a:rPr lang="en-US" altLang="en-US" dirty="0"/>
            </a:br>
            <a:endParaRPr lang="en-US" altLang="en-US" dirty="0"/>
          </a:p>
          <a:p>
            <a:endParaRPr lang="en-US" altLang="en-US" sz="3200" dirty="0"/>
          </a:p>
        </p:txBody>
      </p:sp>
    </p:spTree>
    <p:extLst>
      <p:ext uri="{BB962C8B-B14F-4D97-AF65-F5344CB8AC3E}">
        <p14:creationId xmlns:p14="http://schemas.microsoft.com/office/powerpoint/2010/main" val="236709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1">
            <a:extLst>
              <a:ext uri="{FF2B5EF4-FFF2-40B4-BE49-F238E27FC236}">
                <a16:creationId xmlns:a16="http://schemas.microsoft.com/office/drawing/2014/main" id="{065BB486-E8FD-EC46-BB02-CCCD64DC57DD}"/>
              </a:ext>
            </a:extLst>
          </p:cNvPr>
          <p:cNvPicPr>
            <a:picLocks noChangeAspect="1"/>
          </p:cNvPicPr>
          <p:nvPr/>
        </p:nvPicPr>
        <p:blipFill>
          <a:blip r:embed="rId2"/>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59009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4" name="Picture 2"/>
          <p:cNvPicPr>
            <a:picLocks noChangeAspect="1" noChangeArrowheads="1"/>
          </p:cNvPicPr>
          <p:nvPr/>
        </p:nvPicPr>
        <p:blipFill>
          <a:blip r:embed="rId2"/>
          <a:stretch>
            <a:fillRect/>
          </a:stretch>
        </p:blipFill>
        <p:spPr bwMode="auto">
          <a:xfrm>
            <a:off x="838200" y="1792746"/>
            <a:ext cx="7218190" cy="4812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a:extLst>
              <a:ext uri="{FF2B5EF4-FFF2-40B4-BE49-F238E27FC236}">
                <a16:creationId xmlns:a16="http://schemas.microsoft.com/office/drawing/2014/main" id="{5F50E31C-6F8D-3E4C-9C7E-3CA39DE34F32}"/>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63953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199" y="1690688"/>
            <a:ext cx="7371275"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a:extLst>
              <a:ext uri="{FF2B5EF4-FFF2-40B4-BE49-F238E27FC236}">
                <a16:creationId xmlns:a16="http://schemas.microsoft.com/office/drawing/2014/main" id="{9E4030C7-895E-7944-AADD-24A47109FE5F}"/>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05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7" name="Picture 2"/>
          <p:cNvPicPr>
            <a:picLocks noChangeAspect="1" noChangeArrowheads="1"/>
          </p:cNvPicPr>
          <p:nvPr/>
        </p:nvPicPr>
        <p:blipFill>
          <a:blip r:embed="rId2"/>
          <a:stretch>
            <a:fillRect/>
          </a:stretch>
        </p:blipFill>
        <p:spPr bwMode="auto">
          <a:xfrm>
            <a:off x="838199" y="1748839"/>
            <a:ext cx="7241269" cy="482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
            <a:extLst>
              <a:ext uri="{FF2B5EF4-FFF2-40B4-BE49-F238E27FC236}">
                <a16:creationId xmlns:a16="http://schemas.microsoft.com/office/drawing/2014/main" id="{4AB7F00E-0294-FE42-884F-56887504D1AF}"/>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14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199" y="1690688"/>
            <a:ext cx="7371277"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a:extLst>
              <a:ext uri="{FF2B5EF4-FFF2-40B4-BE49-F238E27FC236}">
                <a16:creationId xmlns:a16="http://schemas.microsoft.com/office/drawing/2014/main" id="{B9B81938-C7AD-EA40-8282-3E42F50BB05E}"/>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6566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7" name="Picture 2"/>
          <p:cNvPicPr>
            <a:picLocks noChangeAspect="1" noChangeArrowheads="1"/>
          </p:cNvPicPr>
          <p:nvPr/>
        </p:nvPicPr>
        <p:blipFill>
          <a:blip r:embed="rId2"/>
          <a:stretch>
            <a:fillRect/>
          </a:stretch>
        </p:blipFill>
        <p:spPr bwMode="auto">
          <a:xfrm>
            <a:off x="838199" y="1690688"/>
            <a:ext cx="7371277"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a:extLst>
              <a:ext uri="{FF2B5EF4-FFF2-40B4-BE49-F238E27FC236}">
                <a16:creationId xmlns:a16="http://schemas.microsoft.com/office/drawing/2014/main" id="{AF0F8A1A-41F2-524F-85BB-972BBA27303C}"/>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63248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8"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a:extLst>
              <a:ext uri="{FF2B5EF4-FFF2-40B4-BE49-F238E27FC236}">
                <a16:creationId xmlns:a16="http://schemas.microsoft.com/office/drawing/2014/main" id="{05F47A6B-FD12-9143-901A-D2E1D78F7D5B}"/>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577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6"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18354707-5AA0-724B-A8A5-374DECF2449A}"/>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7986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6"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126B15AB-53EB-FE43-99F6-157F90C078F8}"/>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6443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6"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FAD4A6D8-C5CC-B54C-9356-08B72968CAD4}"/>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7433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6"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1B74C921-42E0-EC42-85BD-6280C05CB276}"/>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7339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6"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8AF60058-9B1E-BC49-B923-C32A1AF6170F}"/>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47249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6" name="Picture 2"/>
          <p:cNvPicPr>
            <a:picLocks noChangeAspect="1" noChangeArrowheads="1"/>
          </p:cNvPicPr>
          <p:nvPr/>
        </p:nvPicPr>
        <p:blipFill>
          <a:blip r:embed="rId2"/>
          <a:stretch>
            <a:fillRect/>
          </a:stretch>
        </p:blipFill>
        <p:spPr bwMode="auto">
          <a:xfrm>
            <a:off x="838200" y="1690688"/>
            <a:ext cx="7371276" cy="491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
            <a:extLst>
              <a:ext uri="{FF2B5EF4-FFF2-40B4-BE49-F238E27FC236}">
                <a16:creationId xmlns:a16="http://schemas.microsoft.com/office/drawing/2014/main" id="{309624B1-0C5F-E447-9468-D7DFA9C1ECA8}"/>
              </a:ext>
            </a:extLst>
          </p:cNvPr>
          <p:cNvPicPr>
            <a:picLocks noChangeAspect="1"/>
          </p:cNvPicPr>
          <p:nvPr/>
        </p:nvPicPr>
        <p:blipFill>
          <a:blip r:embed="rId3"/>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4429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834688" cy="1325563"/>
          </a:xfrm>
        </p:spPr>
        <p:txBody>
          <a:bodyPr>
            <a:normAutofit/>
          </a:bodyPr>
          <a:lstStyle/>
          <a:p>
            <a:r>
              <a:rPr lang="en-US" b="1" dirty="0"/>
              <a:t>A Statically Scoped Symbol Table</a:t>
            </a:r>
            <a:endParaRPr lang="en-US" b="1" dirty="0">
              <a:solidFill>
                <a:srgbClr val="0070C0"/>
              </a:solidFill>
            </a:endParaRPr>
          </a:p>
        </p:txBody>
      </p:sp>
      <p:pic>
        <p:nvPicPr>
          <p:cNvPr id="4" name="Picture 1">
            <a:extLst>
              <a:ext uri="{FF2B5EF4-FFF2-40B4-BE49-F238E27FC236}">
                <a16:creationId xmlns:a16="http://schemas.microsoft.com/office/drawing/2014/main" id="{35E0C0E3-9AFA-9149-BFB3-613FC79FCC6F}"/>
              </a:ext>
            </a:extLst>
          </p:cNvPr>
          <p:cNvPicPr>
            <a:picLocks noChangeAspect="1"/>
          </p:cNvPicPr>
          <p:nvPr/>
        </p:nvPicPr>
        <p:blipFill>
          <a:blip r:embed="rId2"/>
          <a:stretch>
            <a:fillRect/>
          </a:stretch>
        </p:blipFill>
        <p:spPr bwMode="auto">
          <a:xfrm>
            <a:off x="8371341" y="1688420"/>
            <a:ext cx="3446585" cy="491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9943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The Symbol Table</a:t>
            </a:r>
          </a:p>
        </p:txBody>
      </p:sp>
      <p:sp>
        <p:nvSpPr>
          <p:cNvPr id="3" name="Content Placeholder 2"/>
          <p:cNvSpPr>
            <a:spLocks noGrp="1"/>
          </p:cNvSpPr>
          <p:nvPr>
            <p:ph idx="1"/>
          </p:nvPr>
        </p:nvSpPr>
        <p:spPr/>
        <p:txBody>
          <a:bodyPr>
            <a:normAutofit/>
          </a:bodyPr>
          <a:lstStyle/>
          <a:p>
            <a:pPr>
              <a:defRPr/>
            </a:pPr>
            <a:r>
              <a:rPr lang="en-US" dirty="0"/>
              <a:t>There is additional complexity for symbol tables</a:t>
            </a:r>
          </a:p>
          <a:p>
            <a:pPr>
              <a:defRPr/>
            </a:pPr>
            <a:r>
              <a:rPr lang="en-US" dirty="0">
                <a:cs typeface="Courier New" pitchFamily="49" charset="0"/>
              </a:rPr>
              <a:t>Example: </a:t>
            </a:r>
            <a:r>
              <a:rPr lang="en-US" dirty="0" err="1">
                <a:latin typeface="Courier New" pitchFamily="49" charset="0"/>
                <a:cs typeface="Courier New" pitchFamily="49" charset="0"/>
              </a:rPr>
              <a:t>struct</a:t>
            </a:r>
            <a:r>
              <a:rPr lang="en-US" dirty="0"/>
              <a:t> declaration must contain further declarations of the data fields within it</a:t>
            </a:r>
          </a:p>
          <a:p>
            <a:pPr lvl="1">
              <a:defRPr/>
            </a:pPr>
            <a:r>
              <a:rPr lang="en-US" sz="2800" dirty="0">
                <a:ea typeface="ＭＳ Ｐゴシック" charset="0"/>
              </a:rPr>
              <a:t>Those fields must be accessible using dot member notation whenever the </a:t>
            </a:r>
            <a:r>
              <a:rPr lang="en-US" sz="2800" dirty="0" err="1">
                <a:latin typeface="Courier New" pitchFamily="49" charset="0"/>
                <a:cs typeface="Courier New" pitchFamily="49" charset="0"/>
              </a:rPr>
              <a:t>struct</a:t>
            </a:r>
            <a:r>
              <a:rPr lang="en-US" sz="2800" dirty="0">
                <a:ea typeface="ＭＳ Ｐゴシック" charset="0"/>
              </a:rPr>
              <a:t> variable is in scope</a:t>
            </a:r>
          </a:p>
          <a:p>
            <a:pPr lvl="1">
              <a:defRPr/>
            </a:pPr>
            <a:r>
              <a:rPr lang="en-US" altLang="en-US" sz="2800" dirty="0"/>
              <a:t>A </a:t>
            </a:r>
            <a:r>
              <a:rPr lang="en-US" altLang="en-US" sz="2800" dirty="0" err="1">
                <a:latin typeface="Courier New" pitchFamily="49" charset="0"/>
                <a:cs typeface="Courier New" pitchFamily="49" charset="0"/>
              </a:rPr>
              <a:t>struct</a:t>
            </a:r>
            <a:r>
              <a:rPr lang="en-US" altLang="en-US" sz="2800" dirty="0"/>
              <a:t> declaration actually contains a local symbol table itself as an attribute</a:t>
            </a:r>
          </a:p>
          <a:p>
            <a:pPr lvl="1">
              <a:defRPr/>
            </a:pPr>
            <a:r>
              <a:rPr lang="en-US" altLang="en-US" sz="2800" dirty="0"/>
              <a:t>This local symbol table cannot be deleted until the </a:t>
            </a:r>
            <a:r>
              <a:rPr lang="en-US" altLang="en-US" sz="2800" dirty="0" err="1">
                <a:latin typeface="Courier New" pitchFamily="49" charset="0"/>
                <a:cs typeface="Courier New" pitchFamily="49" charset="0"/>
              </a:rPr>
              <a:t>struct</a:t>
            </a:r>
            <a:r>
              <a:rPr lang="en-US" altLang="en-US" sz="2800" dirty="0"/>
              <a:t> variable itself is deleted from the global symbol table</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7369981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514" y="0"/>
            <a:ext cx="7513521" cy="6662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5612" y="0"/>
            <a:ext cx="4021590" cy="6673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7890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An important question about declarations and the symbol table is to what extent can the same name be used to reference different things in a program</a:t>
            </a:r>
          </a:p>
          <a:p>
            <a:r>
              <a:rPr lang="en-US" altLang="en-US" dirty="0"/>
              <a:t>Example:</a:t>
            </a:r>
          </a:p>
          <a:p>
            <a:pPr lvl="1"/>
            <a:r>
              <a:rPr lang="en-US" altLang="en-US" sz="2800" dirty="0" err="1"/>
              <a:t>a+b</a:t>
            </a:r>
            <a:endParaRPr lang="en-US" altLang="en-US" sz="2800" dirty="0"/>
          </a:p>
          <a:p>
            <a:pPr lvl="1"/>
            <a:r>
              <a:rPr lang="en-US" altLang="en-US" sz="2800" dirty="0"/>
              <a:t>Is it:</a:t>
            </a:r>
          </a:p>
          <a:p>
            <a:pPr lvl="2"/>
            <a:r>
              <a:rPr lang="en-US" altLang="en-US" sz="2800" dirty="0"/>
              <a:t>operator+(float x, float y)</a:t>
            </a:r>
          </a:p>
          <a:p>
            <a:pPr lvl="2"/>
            <a:r>
              <a:rPr lang="en-US" altLang="en-US" sz="2800" dirty="0"/>
              <a:t>operator+(</a:t>
            </a:r>
            <a:r>
              <a:rPr lang="en-US" altLang="en-US" sz="2800" dirty="0" err="1"/>
              <a:t>int</a:t>
            </a:r>
            <a:r>
              <a:rPr lang="en-US" altLang="en-US" sz="2800" dirty="0"/>
              <a:t> x, </a:t>
            </a:r>
            <a:r>
              <a:rPr lang="en-US" altLang="en-US" sz="2800" dirty="0" err="1"/>
              <a:t>int</a:t>
            </a:r>
            <a:r>
              <a:rPr lang="en-US" altLang="en-US" sz="2800" dirty="0"/>
              <a:t> y)</a:t>
            </a:r>
          </a:p>
          <a:p>
            <a:r>
              <a:rPr lang="en-US" altLang="en-US" dirty="0"/>
              <a:t>Name Overloading</a:t>
            </a:r>
          </a:p>
          <a:p>
            <a:pPr lvl="1"/>
            <a:r>
              <a:rPr lang="en-US" altLang="en-US" sz="2800" dirty="0"/>
              <a:t>One identifier can mean different things</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0143292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Addition operator + actually indicates at least two different operations: integer addition and floating-point addition</a:t>
            </a:r>
          </a:p>
          <a:p>
            <a:pPr lvl="1"/>
            <a:r>
              <a:rPr lang="en-US" altLang="en-US" sz="2800" dirty="0"/>
              <a:t>+ operator is said to be </a:t>
            </a:r>
            <a:r>
              <a:rPr lang="en-US" altLang="en-US" sz="2800" b="1" dirty="0"/>
              <a:t>overloaded</a:t>
            </a:r>
          </a:p>
          <a:p>
            <a:r>
              <a:rPr lang="en-US" altLang="en-US" dirty="0"/>
              <a:t>Translator must look at the data type of each operand to determine which operation is needed</a:t>
            </a:r>
          </a:p>
          <a:p>
            <a:r>
              <a:rPr lang="en-US" altLang="en-US" b="1" dirty="0"/>
              <a:t>Overload resolution</a:t>
            </a:r>
            <a:r>
              <a:rPr lang="en-US" altLang="en-US" dirty="0"/>
              <a:t>: process of choosing a unique function among many with the same name</a:t>
            </a:r>
          </a:p>
          <a:p>
            <a:pPr lvl="1"/>
            <a:r>
              <a:rPr lang="en-US" altLang="en-US" sz="2600" dirty="0"/>
              <a:t>In order to support function overloading, lookup operation of a symbol table must use name plus number and data type of arguments</a:t>
            </a:r>
          </a:p>
          <a:p>
            <a:pPr lvl="1"/>
            <a:r>
              <a:rPr lang="en-US" altLang="en-US" sz="2600" dirty="0"/>
              <a:t>Number and data type of the arguments is used to disambiguate between overloaded identifiers </a:t>
            </a:r>
          </a:p>
          <a:p>
            <a:pPr lvl="1"/>
            <a:endParaRPr lang="en-US" altLang="en-US" sz="2800" dirty="0"/>
          </a:p>
          <a:p>
            <a:endParaRPr lang="en-US" altLang="en-US" dirty="0"/>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1688325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a:xfrm>
            <a:off x="838199" y="1825625"/>
            <a:ext cx="10661073" cy="4351338"/>
          </a:xfrm>
        </p:spPr>
        <p:txBody>
          <a:bodyPr>
            <a:noAutofit/>
          </a:bodyPr>
          <a:lstStyle/>
          <a:p>
            <a:r>
              <a:rPr lang="en-US" altLang="en-US" dirty="0"/>
              <a:t>Many languages allow for function overloading, and some allow for operator overloading</a:t>
            </a:r>
          </a:p>
          <a:p>
            <a:r>
              <a:rPr lang="en-US" altLang="en-US" dirty="0"/>
              <a:t>Languages which don’t bind variables to data type attributes can’t support function overloading</a:t>
            </a:r>
          </a:p>
          <a:p>
            <a:pPr lvl="1"/>
            <a:r>
              <a:rPr lang="en-US" altLang="en-US" sz="2000" dirty="0"/>
              <a:t>(not without lots of fancy tricks and limitations anyway)</a:t>
            </a:r>
          </a:p>
          <a:p>
            <a:r>
              <a:rPr lang="en-US" altLang="en-US" dirty="0"/>
              <a:t>Languages which support optional parameters (such as Python) can’t support function overloading</a:t>
            </a:r>
          </a:p>
          <a:p>
            <a:pPr lvl="1"/>
            <a:r>
              <a:rPr lang="en-US" altLang="en-US" dirty="0"/>
              <a:t>When parameters are optional, operands can’t be used as disambiguating information</a:t>
            </a:r>
          </a:p>
          <a:p>
            <a:r>
              <a:rPr lang="en-US" altLang="en-US" dirty="0"/>
              <a:t>C doesn’t support function overloading to reduce compiler complexity</a:t>
            </a:r>
          </a:p>
          <a:p>
            <a:pPr lvl="1"/>
            <a:r>
              <a:rPr lang="en-US" altLang="en-US" sz="2000" dirty="0"/>
              <a:t>(Ok it’s technically possible in modern standards of C but you need to use a lot of fancy tricks and it’s still really ugly </a:t>
            </a:r>
            <a:r>
              <a:rPr lang="en-US" altLang="en-US" sz="2000" dirty="0" err="1"/>
              <a:t>imo</a:t>
            </a:r>
            <a:r>
              <a:rPr lang="en-US" altLang="en-US" sz="2000" dirty="0"/>
              <a:t>)</a:t>
            </a:r>
          </a:p>
          <a:p>
            <a:pPr lvl="1"/>
            <a:endParaRPr lang="en-US" altLang="en-US" dirty="0"/>
          </a:p>
          <a:p>
            <a:endParaRPr lang="en-US" altLang="en-US" sz="3200" dirty="0"/>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9277666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9586"/>
          <a:stretch/>
        </p:blipFill>
        <p:spPr bwMode="auto">
          <a:xfrm>
            <a:off x="533400" y="1447800"/>
            <a:ext cx="8001000" cy="3612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497513"/>
            <a:ext cx="449580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6450013"/>
            <a:ext cx="3810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46594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Consider these function calls:</a:t>
            </a:r>
          </a:p>
          <a:p>
            <a:endParaRPr lang="en-US" altLang="en-US" dirty="0"/>
          </a:p>
          <a:p>
            <a:endParaRPr lang="en-US" altLang="en-US" dirty="0"/>
          </a:p>
          <a:p>
            <a:r>
              <a:rPr lang="en-US" altLang="en-US" dirty="0"/>
              <a:t>Symbol table can determine the appropriate function based on number and type of parameters – overload resolution</a:t>
            </a:r>
          </a:p>
          <a:p>
            <a:r>
              <a:rPr lang="en-US" altLang="en-US" b="1" dirty="0"/>
              <a:t>Calling context</a:t>
            </a:r>
            <a:r>
              <a:rPr lang="en-US" altLang="en-US" dirty="0"/>
              <a:t>: the information contained in each call </a:t>
            </a:r>
          </a:p>
          <a:p>
            <a:r>
              <a:rPr lang="en-US" altLang="en-US" dirty="0"/>
              <a:t>But this </a:t>
            </a:r>
            <a:r>
              <a:rPr lang="en-US" altLang="en-US" b="1" dirty="0"/>
              <a:t>ambiguous</a:t>
            </a:r>
            <a:r>
              <a:rPr lang="en-US" altLang="en-US" dirty="0"/>
              <a:t> call depends on the language rules (if any) for converting between data types: </a:t>
            </a:r>
          </a:p>
          <a:p>
            <a:endParaRPr lang="en-US" altLang="en-US" dirty="0"/>
          </a:p>
          <a:p>
            <a:pPr lvl="1"/>
            <a:r>
              <a:rPr lang="en-US" altLang="en-US" sz="2800" dirty="0"/>
              <a:t>Compilation error in C++!</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pic>
        <p:nvPicPr>
          <p:cNvPr id="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7106" y="2281517"/>
            <a:ext cx="4495800"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7106" y="5687825"/>
            <a:ext cx="3810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19106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Adding these definitions makes the function calls legal in C++ but is unnecessary in Java</a:t>
            </a:r>
          </a:p>
          <a:p>
            <a:pPr lvl="1"/>
            <a:r>
              <a:rPr lang="en-US" altLang="en-US" sz="2800" dirty="0"/>
              <a:t>In C++ : narrowing primitive conversion must be explicit</a:t>
            </a:r>
          </a:p>
          <a:p>
            <a:pPr lvl="3"/>
            <a:endParaRPr lang="en-US" altLang="en-US" sz="2800" dirty="0"/>
          </a:p>
          <a:p>
            <a:endParaRPr lang="en-US" altLang="en-US" dirty="0"/>
          </a:p>
          <a:p>
            <a:endParaRPr lang="en-US" altLang="en-US" dirty="0"/>
          </a:p>
          <a:p>
            <a:endParaRPr lang="en-US" altLang="en-US" dirty="0"/>
          </a:p>
          <a:p>
            <a:endParaRPr lang="en-US" altLang="en-US" dirty="0"/>
          </a:p>
          <a:p>
            <a:pPr marL="0" indent="0">
              <a:buNone/>
            </a:pPr>
            <a:endParaRPr lang="en-US" altLang="en-US" sz="800" dirty="0"/>
          </a:p>
          <a:p>
            <a:r>
              <a:rPr lang="en-US" altLang="en-US" dirty="0"/>
              <a:t>Automatic conversions complicate overload resolution</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pic>
        <p:nvPicPr>
          <p:cNvPr id="8"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b="14764"/>
          <a:stretch/>
        </p:blipFill>
        <p:spPr bwMode="auto">
          <a:xfrm>
            <a:off x="2465294" y="3341976"/>
            <a:ext cx="6553200" cy="2307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57800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Additional information in a calling context may be used for overload resolution:</a:t>
            </a:r>
          </a:p>
          <a:p>
            <a:pPr lvl="1"/>
            <a:r>
              <a:rPr lang="en-US" altLang="en-US" sz="2800" dirty="0"/>
              <a:t>Ada allows the return type to be used for overload resolution</a:t>
            </a:r>
          </a:p>
          <a:p>
            <a:pPr lvl="2"/>
            <a:r>
              <a:rPr lang="en-US" altLang="en-US" sz="2800" dirty="0"/>
              <a:t>a: integer;</a:t>
            </a:r>
          </a:p>
          <a:p>
            <a:pPr lvl="2"/>
            <a:r>
              <a:rPr lang="en-US" altLang="en-US" sz="2800" dirty="0"/>
              <a:t>a := max(2,3); // now legal</a:t>
            </a:r>
          </a:p>
          <a:p>
            <a:pPr lvl="1"/>
            <a:r>
              <a:rPr lang="en-US" altLang="en-US" sz="2800" dirty="0"/>
              <a:t>C++ and Java ignore the return type</a:t>
            </a:r>
            <a:endParaRPr lang="en-US" altLang="en-US" sz="2400" dirty="0"/>
          </a:p>
          <a:p>
            <a:r>
              <a:rPr lang="en-US" altLang="en-US" dirty="0"/>
              <a:t>Both Ada and C (but not Java) allow built-in operators to be overloaded</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891400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1814286"/>
            <a:ext cx="10515600" cy="4354285"/>
          </a:xfrm>
          <a:prstGeom prst="rect">
            <a:avLst/>
          </a:prstGeom>
          <a:solidFill>
            <a:schemeClr val="bg2">
              <a:lumMod val="90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p:cNvSpPr>
            <a:spLocks noGrp="1"/>
          </p:cNvSpPr>
          <p:nvPr>
            <p:ph idx="1"/>
          </p:nvPr>
        </p:nvSpPr>
        <p:spPr/>
        <p:txBody>
          <a:bodyPr>
            <a:noAutofit/>
          </a:bodyPr>
          <a:lstStyle/>
          <a:p>
            <a:pPr marL="0" indent="0">
              <a:lnSpc>
                <a:spcPct val="100000"/>
              </a:lnSpc>
              <a:spcBef>
                <a:spcPts val="0"/>
              </a:spcBef>
              <a:buNone/>
            </a:pPr>
            <a:r>
              <a:rPr lang="en-US" sz="2000" dirty="0" err="1">
                <a:solidFill>
                  <a:srgbClr val="00B0F0"/>
                </a:solidFill>
                <a:latin typeface="Menlo" charset="0"/>
                <a:ea typeface="Menlo" charset="0"/>
                <a:cs typeface="Menlo" charset="0"/>
              </a:rPr>
              <a:t>typedef</a:t>
            </a:r>
            <a:r>
              <a:rPr lang="en-US" sz="2000" dirty="0">
                <a:solidFill>
                  <a:srgbClr val="00B0F0"/>
                </a:solidFill>
                <a:latin typeface="Menlo" charset="0"/>
                <a:ea typeface="Menlo" charset="0"/>
                <a:cs typeface="Menlo" charset="0"/>
              </a:rPr>
              <a:t> </a:t>
            </a:r>
            <a:r>
              <a:rPr lang="en-US" sz="2000" dirty="0" err="1">
                <a:solidFill>
                  <a:srgbClr val="00B0F0"/>
                </a:solidFill>
                <a:latin typeface="Menlo" charset="0"/>
                <a:ea typeface="Menlo" charset="0"/>
                <a:cs typeface="Menlo" charset="0"/>
              </a:rPr>
              <a:t>struct</a:t>
            </a:r>
            <a:r>
              <a:rPr lang="en-US" sz="2000" dirty="0">
                <a:solidFill>
                  <a:srgbClr val="00B0F0"/>
                </a:solidFill>
                <a:latin typeface="Menlo" charset="0"/>
                <a:ea typeface="Menlo" charset="0"/>
                <a:cs typeface="Menlo" charset="0"/>
              </a:rPr>
              <a:t> </a:t>
            </a:r>
            <a:r>
              <a:rPr lang="en-US" sz="2000" dirty="0">
                <a:latin typeface="Menlo" charset="0"/>
                <a:ea typeface="Menlo" charset="0"/>
                <a:cs typeface="Menlo" charset="0"/>
              </a:rPr>
              <a:t>{ </a:t>
            </a:r>
          </a:p>
          <a:p>
            <a:pPr marL="0" indent="0">
              <a:lnSpc>
                <a:spcPct val="100000"/>
              </a:lnSpc>
              <a:spcBef>
                <a:spcPts val="0"/>
              </a:spcBef>
              <a:buNone/>
            </a:pPr>
            <a:r>
              <a:rPr lang="en-US" sz="2000" dirty="0">
                <a:latin typeface="Menlo" charset="0"/>
                <a:ea typeface="Menlo" charset="0"/>
                <a:cs typeface="Menlo" charset="0"/>
              </a:rPr>
              <a:t>	</a:t>
            </a:r>
            <a:r>
              <a:rPr lang="en-US" sz="2000" dirty="0" err="1">
                <a:solidFill>
                  <a:srgbClr val="00B0F0"/>
                </a:solidFill>
                <a:latin typeface="Menlo" charset="0"/>
                <a:ea typeface="Menlo" charset="0"/>
                <a:cs typeface="Menlo" charset="0"/>
              </a:rPr>
              <a:t>int</a:t>
            </a:r>
            <a:r>
              <a:rPr lang="en-US" sz="2000" dirty="0">
                <a:solidFill>
                  <a:srgbClr val="00B0F0"/>
                </a:solidFill>
                <a:latin typeface="Menlo" charset="0"/>
                <a:ea typeface="Menlo" charset="0"/>
                <a:cs typeface="Menlo" charset="0"/>
              </a:rPr>
              <a:t> </a:t>
            </a:r>
            <a:r>
              <a:rPr lang="en-US" sz="2000" dirty="0" err="1">
                <a:latin typeface="Menlo" charset="0"/>
                <a:ea typeface="Menlo" charset="0"/>
                <a:cs typeface="Menlo" charset="0"/>
              </a:rPr>
              <a:t>i</a:t>
            </a:r>
            <a:r>
              <a:rPr lang="en-US" sz="2000" dirty="0">
                <a:latin typeface="Menlo" charset="0"/>
                <a:ea typeface="Menlo" charset="0"/>
                <a:cs typeface="Menlo" charset="0"/>
              </a:rPr>
              <a:t>; </a:t>
            </a:r>
            <a:r>
              <a:rPr lang="en-US" sz="2000" dirty="0">
                <a:solidFill>
                  <a:srgbClr val="00B0F0"/>
                </a:solidFill>
                <a:latin typeface="Menlo" charset="0"/>
                <a:ea typeface="Menlo" charset="0"/>
                <a:cs typeface="Menlo" charset="0"/>
              </a:rPr>
              <a:t>double</a:t>
            </a:r>
            <a:r>
              <a:rPr lang="en-US" sz="2000" dirty="0">
                <a:latin typeface="Menlo" charset="0"/>
                <a:ea typeface="Menlo" charset="0"/>
                <a:cs typeface="Menlo" charset="0"/>
              </a:rPr>
              <a:t> d; </a:t>
            </a:r>
          </a:p>
          <a:p>
            <a:pPr marL="0" indent="0">
              <a:lnSpc>
                <a:spcPct val="100000"/>
              </a:lnSpc>
              <a:spcBef>
                <a:spcPts val="0"/>
              </a:spcBef>
              <a:buNone/>
            </a:pPr>
            <a:r>
              <a:rPr lang="en-US" sz="2000" dirty="0">
                <a:latin typeface="Menlo" charset="0"/>
                <a:ea typeface="Menlo" charset="0"/>
                <a:cs typeface="Menlo" charset="0"/>
              </a:rPr>
              <a:t>} </a:t>
            </a:r>
          </a:p>
          <a:p>
            <a:pPr marL="0" indent="0">
              <a:lnSpc>
                <a:spcPct val="100000"/>
              </a:lnSpc>
              <a:spcBef>
                <a:spcPts val="0"/>
              </a:spcBef>
              <a:buNone/>
            </a:pPr>
            <a:r>
              <a:rPr lang="en-US" sz="2000" dirty="0" err="1">
                <a:solidFill>
                  <a:srgbClr val="00B050"/>
                </a:solidFill>
                <a:latin typeface="Menlo" charset="0"/>
                <a:ea typeface="Menlo" charset="0"/>
                <a:cs typeface="Menlo" charset="0"/>
              </a:rPr>
              <a:t>IntDouble</a:t>
            </a:r>
            <a:r>
              <a:rPr lang="en-US" sz="2000" dirty="0">
                <a:latin typeface="Menlo" charset="0"/>
                <a:ea typeface="Menlo" charset="0"/>
                <a:cs typeface="Menlo" charset="0"/>
              </a:rPr>
              <a:t>;</a:t>
            </a:r>
          </a:p>
          <a:p>
            <a:pPr marL="0" indent="0">
              <a:lnSpc>
                <a:spcPct val="100000"/>
              </a:lnSpc>
              <a:spcBef>
                <a:spcPts val="0"/>
              </a:spcBef>
              <a:buNone/>
            </a:pPr>
            <a:endParaRPr lang="en-US" sz="2000" dirty="0">
              <a:latin typeface="Menlo" charset="0"/>
              <a:ea typeface="Menlo" charset="0"/>
              <a:cs typeface="Menlo" charset="0"/>
            </a:endParaRPr>
          </a:p>
          <a:p>
            <a:pPr marL="0" indent="0">
              <a:lnSpc>
                <a:spcPct val="100000"/>
              </a:lnSpc>
              <a:spcBef>
                <a:spcPts val="0"/>
              </a:spcBef>
              <a:buNone/>
            </a:pPr>
            <a:r>
              <a:rPr lang="en-US" sz="2000" dirty="0">
                <a:solidFill>
                  <a:srgbClr val="00B0F0"/>
                </a:solidFill>
                <a:latin typeface="Menlo" charset="0"/>
                <a:ea typeface="Menlo" charset="0"/>
                <a:cs typeface="Menlo" charset="0"/>
              </a:rPr>
              <a:t>bool</a:t>
            </a:r>
            <a:r>
              <a:rPr lang="en-US" sz="2000" dirty="0">
                <a:latin typeface="Menlo" charset="0"/>
                <a:ea typeface="Menlo" charset="0"/>
                <a:cs typeface="Menlo" charset="0"/>
              </a:rPr>
              <a:t> </a:t>
            </a:r>
            <a:r>
              <a:rPr lang="en-US" sz="2000" dirty="0">
                <a:solidFill>
                  <a:srgbClr val="00B050"/>
                </a:solidFill>
                <a:latin typeface="Menlo" charset="0"/>
                <a:ea typeface="Menlo" charset="0"/>
                <a:cs typeface="Menlo" charset="0"/>
              </a:rPr>
              <a:t>operator &lt;</a:t>
            </a:r>
            <a:r>
              <a:rPr lang="en-US" sz="2000" dirty="0">
                <a:latin typeface="Menlo" charset="0"/>
                <a:ea typeface="Menlo" charset="0"/>
                <a:cs typeface="Menlo" charset="0"/>
              </a:rPr>
              <a:t> (</a:t>
            </a:r>
            <a:r>
              <a:rPr lang="en-US" sz="2000" dirty="0" err="1">
                <a:latin typeface="Menlo" charset="0"/>
                <a:ea typeface="Menlo" charset="0"/>
                <a:cs typeface="Menlo" charset="0"/>
              </a:rPr>
              <a:t>IntDouble</a:t>
            </a:r>
            <a:r>
              <a:rPr lang="en-US" sz="2000" dirty="0">
                <a:latin typeface="Menlo" charset="0"/>
                <a:ea typeface="Menlo" charset="0"/>
                <a:cs typeface="Menlo" charset="0"/>
              </a:rPr>
              <a:t> x, </a:t>
            </a:r>
            <a:r>
              <a:rPr lang="en-US" sz="2000" dirty="0" err="1">
                <a:latin typeface="Menlo" charset="0"/>
                <a:ea typeface="Menlo" charset="0"/>
                <a:cs typeface="Menlo" charset="0"/>
              </a:rPr>
              <a:t>IntDouble</a:t>
            </a:r>
            <a:r>
              <a:rPr lang="en-US" sz="2000" dirty="0">
                <a:latin typeface="Menlo" charset="0"/>
                <a:ea typeface="Menlo" charset="0"/>
                <a:cs typeface="Menlo" charset="0"/>
              </a:rPr>
              <a:t> y){       	</a:t>
            </a:r>
          </a:p>
          <a:p>
            <a:pPr marL="0" indent="0">
              <a:lnSpc>
                <a:spcPct val="100000"/>
              </a:lnSpc>
              <a:spcBef>
                <a:spcPts val="0"/>
              </a:spcBef>
              <a:buNone/>
            </a:pPr>
            <a:r>
              <a:rPr lang="en-US" sz="2000" dirty="0">
                <a:latin typeface="Menlo" charset="0"/>
                <a:ea typeface="Menlo" charset="0"/>
                <a:cs typeface="Menlo" charset="0"/>
              </a:rPr>
              <a:t>	</a:t>
            </a:r>
            <a:r>
              <a:rPr lang="en-US" sz="2000" dirty="0">
                <a:solidFill>
                  <a:srgbClr val="FF0000"/>
                </a:solidFill>
                <a:latin typeface="Menlo" charset="0"/>
                <a:ea typeface="Menlo" charset="0"/>
                <a:cs typeface="Menlo" charset="0"/>
              </a:rPr>
              <a:t>return</a:t>
            </a:r>
            <a:r>
              <a:rPr lang="en-US" sz="2000" dirty="0">
                <a:latin typeface="Menlo" charset="0"/>
                <a:ea typeface="Menlo" charset="0"/>
                <a:cs typeface="Menlo" charset="0"/>
              </a:rPr>
              <a:t> </a:t>
            </a:r>
            <a:r>
              <a:rPr lang="en-US" sz="2000" dirty="0" err="1">
                <a:latin typeface="Menlo" charset="0"/>
                <a:ea typeface="Menlo" charset="0"/>
                <a:cs typeface="Menlo" charset="0"/>
              </a:rPr>
              <a:t>x.i</a:t>
            </a:r>
            <a:r>
              <a:rPr lang="en-US" sz="2000" dirty="0">
                <a:latin typeface="Menlo" charset="0"/>
                <a:ea typeface="Menlo" charset="0"/>
                <a:cs typeface="Menlo" charset="0"/>
              </a:rPr>
              <a:t> &lt; </a:t>
            </a:r>
            <a:r>
              <a:rPr lang="en-US" sz="2000" dirty="0" err="1">
                <a:latin typeface="Menlo" charset="0"/>
                <a:ea typeface="Menlo" charset="0"/>
                <a:cs typeface="Menlo" charset="0"/>
              </a:rPr>
              <a:t>y.i</a:t>
            </a:r>
            <a:r>
              <a:rPr lang="en-US" sz="2000" dirty="0">
                <a:latin typeface="Menlo" charset="0"/>
                <a:ea typeface="Menlo" charset="0"/>
                <a:cs typeface="Menlo" charset="0"/>
              </a:rPr>
              <a:t> &amp;&amp; </a:t>
            </a:r>
            <a:r>
              <a:rPr lang="en-US" sz="2000" dirty="0" err="1">
                <a:latin typeface="Menlo" charset="0"/>
                <a:ea typeface="Menlo" charset="0"/>
                <a:cs typeface="Menlo" charset="0"/>
              </a:rPr>
              <a:t>x.d</a:t>
            </a:r>
            <a:r>
              <a:rPr lang="en-US" sz="2000" dirty="0">
                <a:latin typeface="Menlo" charset="0"/>
                <a:ea typeface="Menlo" charset="0"/>
                <a:cs typeface="Menlo" charset="0"/>
              </a:rPr>
              <a:t> &lt; </a:t>
            </a:r>
            <a:r>
              <a:rPr lang="en-US" sz="2000" dirty="0" err="1">
                <a:latin typeface="Menlo" charset="0"/>
                <a:ea typeface="Menlo" charset="0"/>
                <a:cs typeface="Menlo" charset="0"/>
              </a:rPr>
              <a:t>y.d</a:t>
            </a:r>
            <a:r>
              <a:rPr lang="en-US" sz="2000" dirty="0">
                <a:latin typeface="Menlo" charset="0"/>
                <a:ea typeface="Menlo" charset="0"/>
                <a:cs typeface="Menlo" charset="0"/>
              </a:rPr>
              <a:t>;</a:t>
            </a:r>
          </a:p>
          <a:p>
            <a:pPr marL="0" indent="0">
              <a:lnSpc>
                <a:spcPct val="100000"/>
              </a:lnSpc>
              <a:spcBef>
                <a:spcPts val="0"/>
              </a:spcBef>
              <a:buNone/>
            </a:pPr>
            <a:r>
              <a:rPr lang="en-US" sz="2000" dirty="0">
                <a:latin typeface="Menlo" charset="0"/>
                <a:ea typeface="Menlo" charset="0"/>
                <a:cs typeface="Menlo" charset="0"/>
              </a:rPr>
              <a:t>}   </a:t>
            </a:r>
          </a:p>
          <a:p>
            <a:pPr marL="0" indent="0">
              <a:lnSpc>
                <a:spcPct val="100000"/>
              </a:lnSpc>
              <a:spcBef>
                <a:spcPts val="0"/>
              </a:spcBef>
              <a:buNone/>
            </a:pPr>
            <a:r>
              <a:rPr lang="en-US" sz="2000" dirty="0" err="1">
                <a:latin typeface="Menlo" charset="0"/>
                <a:ea typeface="Menlo" charset="0"/>
                <a:cs typeface="Menlo" charset="0"/>
              </a:rPr>
              <a:t>IntDouble</a:t>
            </a:r>
            <a:r>
              <a:rPr lang="en-US" sz="2000" dirty="0">
                <a:latin typeface="Menlo" charset="0"/>
                <a:ea typeface="Menlo" charset="0"/>
                <a:cs typeface="Menlo" charset="0"/>
              </a:rPr>
              <a:t> </a:t>
            </a:r>
            <a:r>
              <a:rPr lang="en-US" sz="2000" dirty="0">
                <a:solidFill>
                  <a:srgbClr val="00B050"/>
                </a:solidFill>
                <a:latin typeface="Menlo" charset="0"/>
                <a:ea typeface="Menlo" charset="0"/>
                <a:cs typeface="Menlo" charset="0"/>
              </a:rPr>
              <a:t>operator +</a:t>
            </a:r>
            <a:r>
              <a:rPr lang="en-US" sz="2000" dirty="0">
                <a:latin typeface="Menlo" charset="0"/>
                <a:ea typeface="Menlo" charset="0"/>
                <a:cs typeface="Menlo" charset="0"/>
              </a:rPr>
              <a:t> (</a:t>
            </a:r>
            <a:r>
              <a:rPr lang="en-US" sz="2000" dirty="0" err="1">
                <a:latin typeface="Menlo" charset="0"/>
                <a:ea typeface="Menlo" charset="0"/>
                <a:cs typeface="Menlo" charset="0"/>
              </a:rPr>
              <a:t>IntDouble</a:t>
            </a:r>
            <a:r>
              <a:rPr lang="en-US" sz="2000" dirty="0">
                <a:latin typeface="Menlo" charset="0"/>
                <a:ea typeface="Menlo" charset="0"/>
                <a:cs typeface="Menlo" charset="0"/>
              </a:rPr>
              <a:t> x, </a:t>
            </a:r>
            <a:r>
              <a:rPr lang="en-US" sz="2000" dirty="0" err="1">
                <a:latin typeface="Menlo" charset="0"/>
                <a:ea typeface="Menlo" charset="0"/>
                <a:cs typeface="Menlo" charset="0"/>
              </a:rPr>
              <a:t>IntDouble</a:t>
            </a:r>
            <a:r>
              <a:rPr lang="en-US" sz="2000" dirty="0">
                <a:latin typeface="Menlo" charset="0"/>
                <a:ea typeface="Menlo" charset="0"/>
                <a:cs typeface="Menlo" charset="0"/>
              </a:rPr>
              <a:t> y){       	</a:t>
            </a:r>
            <a:r>
              <a:rPr lang="en-US" sz="2000" dirty="0" err="1">
                <a:latin typeface="Menlo" charset="0"/>
                <a:ea typeface="Menlo" charset="0"/>
                <a:cs typeface="Menlo" charset="0"/>
              </a:rPr>
              <a:t>IntDouble</a:t>
            </a:r>
            <a:r>
              <a:rPr lang="en-US" sz="2000" dirty="0">
                <a:latin typeface="Menlo" charset="0"/>
                <a:ea typeface="Menlo" charset="0"/>
                <a:cs typeface="Menlo" charset="0"/>
              </a:rPr>
              <a:t> z;</a:t>
            </a:r>
          </a:p>
          <a:p>
            <a:pPr marL="0" indent="0">
              <a:lnSpc>
                <a:spcPct val="100000"/>
              </a:lnSpc>
              <a:spcBef>
                <a:spcPts val="0"/>
              </a:spcBef>
              <a:buNone/>
            </a:pPr>
            <a:r>
              <a:rPr lang="en-US" sz="2000" dirty="0">
                <a:latin typeface="Menlo" charset="0"/>
                <a:ea typeface="Menlo" charset="0"/>
                <a:cs typeface="Menlo" charset="0"/>
              </a:rPr>
              <a:t>	</a:t>
            </a:r>
            <a:r>
              <a:rPr lang="en-US" sz="2000" dirty="0" err="1">
                <a:latin typeface="Menlo" charset="0"/>
                <a:ea typeface="Menlo" charset="0"/>
                <a:cs typeface="Menlo" charset="0"/>
              </a:rPr>
              <a:t>z.i</a:t>
            </a:r>
            <a:r>
              <a:rPr lang="en-US" sz="2000" dirty="0">
                <a:latin typeface="Menlo" charset="0"/>
                <a:ea typeface="Menlo" charset="0"/>
                <a:cs typeface="Menlo" charset="0"/>
              </a:rPr>
              <a:t> = </a:t>
            </a:r>
            <a:r>
              <a:rPr lang="en-US" sz="2000" dirty="0" err="1">
                <a:latin typeface="Menlo" charset="0"/>
                <a:ea typeface="Menlo" charset="0"/>
                <a:cs typeface="Menlo" charset="0"/>
              </a:rPr>
              <a:t>x.i</a:t>
            </a:r>
            <a:r>
              <a:rPr lang="en-US" sz="2000" dirty="0">
                <a:latin typeface="Menlo" charset="0"/>
                <a:ea typeface="Menlo" charset="0"/>
                <a:cs typeface="Menlo" charset="0"/>
              </a:rPr>
              <a:t> + </a:t>
            </a:r>
            <a:r>
              <a:rPr lang="en-US" sz="2000" dirty="0" err="1">
                <a:latin typeface="Menlo" charset="0"/>
                <a:ea typeface="Menlo" charset="0"/>
                <a:cs typeface="Menlo" charset="0"/>
              </a:rPr>
              <a:t>y.i</a:t>
            </a:r>
            <a:r>
              <a:rPr lang="en-US" sz="2000" dirty="0">
                <a:latin typeface="Menlo" charset="0"/>
                <a:ea typeface="Menlo" charset="0"/>
                <a:cs typeface="Menlo" charset="0"/>
              </a:rPr>
              <a:t>;</a:t>
            </a:r>
          </a:p>
          <a:p>
            <a:pPr marL="0" indent="0">
              <a:lnSpc>
                <a:spcPct val="100000"/>
              </a:lnSpc>
              <a:spcBef>
                <a:spcPts val="0"/>
              </a:spcBef>
              <a:buNone/>
            </a:pPr>
            <a:r>
              <a:rPr lang="en-US" sz="2000" dirty="0">
                <a:latin typeface="Menlo" charset="0"/>
                <a:ea typeface="Menlo" charset="0"/>
                <a:cs typeface="Menlo" charset="0"/>
              </a:rPr>
              <a:t>	</a:t>
            </a:r>
            <a:r>
              <a:rPr lang="en-US" sz="2000" dirty="0" err="1">
                <a:latin typeface="Menlo" charset="0"/>
                <a:ea typeface="Menlo" charset="0"/>
                <a:cs typeface="Menlo" charset="0"/>
              </a:rPr>
              <a:t>z.d</a:t>
            </a:r>
            <a:r>
              <a:rPr lang="en-US" sz="2000" dirty="0">
                <a:latin typeface="Menlo" charset="0"/>
                <a:ea typeface="Menlo" charset="0"/>
                <a:cs typeface="Menlo" charset="0"/>
              </a:rPr>
              <a:t> = </a:t>
            </a:r>
            <a:r>
              <a:rPr lang="en-US" sz="2000" dirty="0" err="1">
                <a:latin typeface="Menlo" charset="0"/>
                <a:ea typeface="Menlo" charset="0"/>
                <a:cs typeface="Menlo" charset="0"/>
              </a:rPr>
              <a:t>x.d</a:t>
            </a:r>
            <a:r>
              <a:rPr lang="en-US" sz="2000" dirty="0">
                <a:latin typeface="Menlo" charset="0"/>
                <a:ea typeface="Menlo" charset="0"/>
                <a:cs typeface="Menlo" charset="0"/>
              </a:rPr>
              <a:t> + </a:t>
            </a:r>
            <a:r>
              <a:rPr lang="en-US" sz="2000" dirty="0" err="1">
                <a:latin typeface="Menlo" charset="0"/>
                <a:ea typeface="Menlo" charset="0"/>
                <a:cs typeface="Menlo" charset="0"/>
              </a:rPr>
              <a:t>y.d</a:t>
            </a:r>
            <a:r>
              <a:rPr lang="en-US" sz="2000" dirty="0">
                <a:latin typeface="Menlo" charset="0"/>
                <a:ea typeface="Menlo" charset="0"/>
                <a:cs typeface="Menlo" charset="0"/>
              </a:rPr>
              <a:t>;       </a:t>
            </a:r>
          </a:p>
          <a:p>
            <a:pPr marL="0" indent="0">
              <a:lnSpc>
                <a:spcPct val="100000"/>
              </a:lnSpc>
              <a:spcBef>
                <a:spcPts val="0"/>
              </a:spcBef>
              <a:buNone/>
            </a:pPr>
            <a:r>
              <a:rPr lang="en-US" sz="2000" dirty="0">
                <a:latin typeface="Menlo" charset="0"/>
                <a:ea typeface="Menlo" charset="0"/>
                <a:cs typeface="Menlo" charset="0"/>
              </a:rPr>
              <a:t>	</a:t>
            </a:r>
            <a:r>
              <a:rPr lang="en-US" sz="2000" dirty="0">
                <a:solidFill>
                  <a:srgbClr val="FF0000"/>
                </a:solidFill>
                <a:latin typeface="Menlo" charset="0"/>
                <a:ea typeface="Menlo" charset="0"/>
                <a:cs typeface="Menlo" charset="0"/>
              </a:rPr>
              <a:t>return</a:t>
            </a:r>
            <a:r>
              <a:rPr lang="en-US" sz="2000" dirty="0">
                <a:latin typeface="Menlo" charset="0"/>
                <a:ea typeface="Menlo" charset="0"/>
                <a:cs typeface="Menlo" charset="0"/>
              </a:rPr>
              <a:t> z;</a:t>
            </a:r>
          </a:p>
          <a:p>
            <a:pPr marL="0" indent="0">
              <a:lnSpc>
                <a:spcPct val="100000"/>
              </a:lnSpc>
              <a:spcBef>
                <a:spcPts val="0"/>
              </a:spcBef>
              <a:buNone/>
            </a:pPr>
            <a:r>
              <a:rPr lang="en-US" sz="2000" dirty="0">
                <a:latin typeface="Menlo" charset="0"/>
                <a:ea typeface="Menlo" charset="0"/>
                <a:cs typeface="Menlo" charset="0"/>
              </a:rPr>
              <a:t>}</a:t>
            </a:r>
          </a:p>
        </p:txBody>
      </p:sp>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65029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When overloading a built-in operator, we must accept its syntactic properties</a:t>
            </a:r>
          </a:p>
          <a:p>
            <a:pPr lvl="1"/>
            <a:r>
              <a:rPr lang="en-US" altLang="en-US" sz="2800" dirty="0"/>
              <a:t>Example: cannot change the associativity or precedence of the “+” operator</a:t>
            </a:r>
          </a:p>
          <a:p>
            <a:r>
              <a:rPr lang="en-US" altLang="en-US" i="1" dirty="0"/>
              <a:t>There is no semantic difference between operators and functions</a:t>
            </a:r>
            <a:r>
              <a:rPr lang="en-US" altLang="en-US" dirty="0"/>
              <a:t>, only syntactic difference</a:t>
            </a:r>
          </a:p>
          <a:p>
            <a:pPr lvl="1"/>
            <a:r>
              <a:rPr lang="en-US" altLang="en-US" sz="2800" dirty="0"/>
              <a:t>Operators are written in infix form</a:t>
            </a:r>
          </a:p>
          <a:p>
            <a:pPr lvl="2"/>
            <a:r>
              <a:rPr lang="en-US" altLang="en-US" sz="2800" dirty="0" err="1"/>
              <a:t>a+b</a:t>
            </a:r>
            <a:r>
              <a:rPr lang="en-US" altLang="en-US" sz="2800" dirty="0"/>
              <a:t> is essentially operator+(</a:t>
            </a:r>
            <a:r>
              <a:rPr lang="en-US" altLang="en-US" sz="2800" dirty="0" err="1"/>
              <a:t>a,b</a:t>
            </a:r>
            <a:r>
              <a:rPr lang="en-US" altLang="en-US" sz="2800" dirty="0"/>
              <a:t>)</a:t>
            </a:r>
          </a:p>
          <a:p>
            <a:pPr lvl="1"/>
            <a:r>
              <a:rPr lang="en-US" altLang="en-US" sz="2800" dirty="0"/>
              <a:t>Function calls are written in prefix form</a:t>
            </a:r>
          </a:p>
          <a:p>
            <a:pPr lvl="2"/>
            <a:r>
              <a:rPr lang="en-US" altLang="en-US" sz="2800" dirty="0"/>
              <a:t>GCD(a, b)</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292735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Overloading and </a:t>
            </a:r>
            <a:r>
              <a:rPr lang="en-US" altLang="en-US" b="1" dirty="0"/>
              <a:t>Overload Resolution</a:t>
            </a:r>
            <a:endParaRPr lang="en-US" b="1" dirty="0">
              <a:solidFill>
                <a:srgbClr val="0070C0"/>
              </a:solidFill>
            </a:endParaRPr>
          </a:p>
        </p:txBody>
      </p:sp>
      <p:sp>
        <p:nvSpPr>
          <p:cNvPr id="3" name="Content Placeholder 2"/>
          <p:cNvSpPr>
            <a:spLocks noGrp="1"/>
          </p:cNvSpPr>
          <p:nvPr>
            <p:ph idx="1"/>
          </p:nvPr>
        </p:nvSpPr>
        <p:spPr/>
        <p:txBody>
          <a:bodyPr>
            <a:noAutofit/>
          </a:bodyPr>
          <a:lstStyle/>
          <a:p>
            <a:r>
              <a:rPr lang="en-US" altLang="en-US" dirty="0"/>
              <a:t>Some languages use different symbol tables for each of the major kinds of definitions to allow the same name for a type, a function, and a variable</a:t>
            </a:r>
          </a:p>
          <a:p>
            <a:pPr lvl="1"/>
            <a:r>
              <a:rPr lang="en-US" altLang="en-US" sz="2800" dirty="0"/>
              <a:t>Example: Java</a:t>
            </a:r>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pic>
        <p:nvPicPr>
          <p:cNvPr id="6"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b="16793"/>
          <a:stretch/>
        </p:blipFill>
        <p:spPr bwMode="auto">
          <a:xfrm>
            <a:off x="1089212" y="3557588"/>
            <a:ext cx="8459788"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0108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Precedence and Associativity</a:t>
            </a:r>
          </a:p>
        </p:txBody>
      </p:sp>
      <p:sp>
        <p:nvSpPr>
          <p:cNvPr id="3" name="Content Placeholder 2"/>
          <p:cNvSpPr>
            <a:spLocks noGrp="1"/>
          </p:cNvSpPr>
          <p:nvPr>
            <p:ph idx="1"/>
          </p:nvPr>
        </p:nvSpPr>
        <p:spPr/>
        <p:txBody>
          <a:bodyPr>
            <a:noAutofit/>
          </a:bodyPr>
          <a:lstStyle/>
          <a:p>
            <a:r>
              <a:rPr lang="en-US" altLang="en-US" dirty="0"/>
              <a:t>In any given language, evaluation order depends on the precedence and associativity of operators (infix notation)</a:t>
            </a:r>
          </a:p>
          <a:p>
            <a:r>
              <a:rPr lang="en-US" altLang="en-US" dirty="0"/>
              <a:t>Issues of precedence and associativity do not arise in prefix or postfix notation</a:t>
            </a:r>
          </a:p>
          <a:p>
            <a:r>
              <a:rPr lang="en-US" altLang="en-US" dirty="0"/>
              <a:t>The assumed intent of the language designers was to ensure that “the right thing” will usually happen when parentheses are not used to force a particular evaluation order</a:t>
            </a:r>
          </a:p>
          <a:p>
            <a:r>
              <a:rPr lang="en-US" altLang="en-US" dirty="0"/>
              <a:t>Rules for precedence and associativity vary from one language to another</a:t>
            </a:r>
          </a:p>
          <a:p>
            <a:pPr marL="0" indent="0">
              <a:buNone/>
            </a:pPr>
            <a:endParaRPr lang="en-US" altLang="en-US" dirty="0"/>
          </a:p>
        </p:txBody>
      </p:sp>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2928965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580914" y="1104405"/>
            <a:ext cx="184731" cy="369332"/>
          </a:xfrm>
          <a:prstGeom prst="rect">
            <a:avLst/>
          </a:prstGeom>
          <a:noFill/>
        </p:spPr>
        <p:txBody>
          <a:bodyPr wrap="none" rtlCol="0">
            <a:spAutoFit/>
          </a:bodyPr>
          <a:lstStyle/>
          <a:p>
            <a:endParaRPr lang="en-US" dirty="0"/>
          </a:p>
        </p:txBody>
      </p:sp>
      <p:pic>
        <p:nvPicPr>
          <p:cNvPr id="6" name="Picture 5">
            <a:extLst>
              <a:ext uri="{FF2B5EF4-FFF2-40B4-BE49-F238E27FC236}">
                <a16:creationId xmlns:a16="http://schemas.microsoft.com/office/drawing/2014/main" id="{61F8BF02-5FEE-7142-9219-C74BED092F58}"/>
              </a:ext>
            </a:extLst>
          </p:cNvPr>
          <p:cNvPicPr>
            <a:picLocks noChangeAspect="1"/>
          </p:cNvPicPr>
          <p:nvPr/>
        </p:nvPicPr>
        <p:blipFill>
          <a:blip r:embed="rId3"/>
          <a:stretch>
            <a:fillRect/>
          </a:stretch>
        </p:blipFill>
        <p:spPr>
          <a:xfrm>
            <a:off x="2342368" y="0"/>
            <a:ext cx="7105229" cy="6859160"/>
          </a:xfrm>
          <a:prstGeom prst="rect">
            <a:avLst/>
          </a:prstGeom>
        </p:spPr>
      </p:pic>
    </p:spTree>
    <p:extLst>
      <p:ext uri="{BB962C8B-B14F-4D97-AF65-F5344CB8AC3E}">
        <p14:creationId xmlns:p14="http://schemas.microsoft.com/office/powerpoint/2010/main" val="3548353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65316EAB-7D9D-F44C-9359-5EAF5ACFF67A}" vid="{A314C093-9F88-C04E-9797-11A80E266C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946</TotalTime>
  <Words>2492</Words>
  <Application>Microsoft Macintosh PowerPoint</Application>
  <PresentationFormat>Widescreen</PresentationFormat>
  <Paragraphs>305</Paragraphs>
  <Slides>49</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49</vt:i4>
      </vt:variant>
    </vt:vector>
  </HeadingPairs>
  <TitlesOfParts>
    <vt:vector size="59" baseType="lpstr">
      <vt:lpstr>MS PGothic</vt:lpstr>
      <vt:lpstr>MS PGothic</vt:lpstr>
      <vt:lpstr>Arial</vt:lpstr>
      <vt:lpstr>Calibri</vt:lpstr>
      <vt:lpstr>Calibri Light</vt:lpstr>
      <vt:lpstr>Courier New</vt:lpstr>
      <vt:lpstr>Mangal</vt:lpstr>
      <vt:lpstr>Menlo</vt:lpstr>
      <vt:lpstr>Wingdings</vt:lpstr>
      <vt:lpstr>Office Theme</vt:lpstr>
      <vt:lpstr>CMSC 304</vt:lpstr>
      <vt:lpstr>Opening Terminology</vt:lpstr>
      <vt:lpstr>Attributes and Binding</vt:lpstr>
      <vt:lpstr>Attributes and Binding</vt:lpstr>
      <vt:lpstr>Attributes and Binding</vt:lpstr>
      <vt:lpstr>Attributes and Binding</vt:lpstr>
      <vt:lpstr>Attributes and Binding</vt:lpstr>
      <vt:lpstr>Declarations</vt:lpstr>
      <vt:lpstr>Declarations</vt:lpstr>
      <vt:lpstr>Scope and Blocks</vt:lpstr>
      <vt:lpstr>Scope and Blocks</vt:lpstr>
      <vt:lpstr>PowerPoint Presentation</vt:lpstr>
      <vt:lpstr>Scope and Blocks</vt:lpstr>
      <vt:lpstr>Scope Holes and Visibility </vt:lpstr>
      <vt:lpstr>Scope Holes and Visibility </vt:lpstr>
      <vt:lpstr>Nested Subroutines</vt:lpstr>
      <vt:lpstr>Declaration Order</vt:lpstr>
      <vt:lpstr>The Symbol Table</vt:lpstr>
      <vt:lpstr>Static Scoping</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A Statically Scoped Symbol Table</vt:lpstr>
      <vt:lpstr>The Symbol Table</vt:lpstr>
      <vt:lpstr>PowerPoint Presentation</vt:lpstr>
      <vt:lpstr>Overloading and Overload Resolution</vt:lpstr>
      <vt:lpstr>Overloading and Overload Resolution</vt:lpstr>
      <vt:lpstr>Overloading and Overload Resolution</vt:lpstr>
      <vt:lpstr>Overloading and Overload Resolution</vt:lpstr>
      <vt:lpstr>Overloading and Overload Resolution</vt:lpstr>
      <vt:lpstr>Overloading and Overload Resolution</vt:lpstr>
      <vt:lpstr>Overloading and Overload Resolution</vt:lpstr>
      <vt:lpstr>Overloading and Overload Resolution</vt:lpstr>
      <vt:lpstr>Overloading and Overload Resolution</vt:lpstr>
      <vt:lpstr>Overloading and Overload Resolution</vt:lpstr>
      <vt:lpstr>Precedence and Associativity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403</dc:title>
  <dc:creator>Microsoft Office User</dc:creator>
  <cp:lastModifiedBy>Microsoft Office User</cp:lastModifiedBy>
  <cp:revision>171</cp:revision>
  <dcterms:created xsi:type="dcterms:W3CDTF">2020-08-26T15:53:50Z</dcterms:created>
  <dcterms:modified xsi:type="dcterms:W3CDTF">2025-08-15T17:43:48Z</dcterms:modified>
</cp:coreProperties>
</file>