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621" r:id="rId3"/>
    <p:sldId id="622" r:id="rId4"/>
    <p:sldId id="623" r:id="rId5"/>
    <p:sldId id="625" r:id="rId6"/>
    <p:sldId id="626" r:id="rId7"/>
    <p:sldId id="627" r:id="rId8"/>
    <p:sldId id="628" r:id="rId9"/>
    <p:sldId id="629" r:id="rId10"/>
    <p:sldId id="574" r:id="rId11"/>
    <p:sldId id="587" r:id="rId12"/>
    <p:sldId id="589" r:id="rId13"/>
    <p:sldId id="590" r:id="rId14"/>
    <p:sldId id="591" r:id="rId15"/>
    <p:sldId id="593" r:id="rId16"/>
    <p:sldId id="594" r:id="rId17"/>
    <p:sldId id="595" r:id="rId18"/>
    <p:sldId id="657" r:id="rId19"/>
    <p:sldId id="658" r:id="rId20"/>
    <p:sldId id="65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/>
    <p:restoredTop sz="83422"/>
  </p:normalViewPr>
  <p:slideViewPr>
    <p:cSldViewPr snapToGrid="0" snapToObjects="1">
      <p:cViewPr varScale="1">
        <p:scale>
          <a:sx n="108" d="100"/>
          <a:sy n="108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unnecessary, as void * is automatically and safely promoted to any other pointer type in this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80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</a:t>
            </a:r>
            <a:r>
              <a:rPr lang="en-US" dirty="0" err="1"/>
              <a:t>lil</a:t>
            </a:r>
            <a:r>
              <a:rPr lang="en-US" dirty="0"/>
              <a:t> </a:t>
            </a:r>
            <a:r>
              <a:rPr lang="en-US" dirty="0" err="1"/>
              <a:t>outta</a:t>
            </a:r>
            <a:r>
              <a:rPr lang="en-US" dirty="0"/>
              <a:t> scope but </a:t>
            </a:r>
            <a:r>
              <a:rPr lang="en-US" dirty="0" err="1"/>
              <a:t>gotta</a:t>
            </a:r>
            <a:r>
              <a:rPr lang="en-US" dirty="0"/>
              <a:t> jam it somewhere!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52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98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Pointers are used in three ways:</a:t>
            </a:r>
          </a:p>
          <a:p>
            <a:pPr lvl="1"/>
            <a:r>
              <a:rPr lang="en-US" altLang="en-US" sz="2800" dirty="0"/>
              <a:t>To create dynamic data structures</a:t>
            </a:r>
          </a:p>
          <a:p>
            <a:pPr lvl="1"/>
            <a:r>
              <a:rPr lang="en-US" altLang="en-US" sz="2800" dirty="0"/>
              <a:t>To pass and handle variable parameters passed to functions</a:t>
            </a:r>
          </a:p>
          <a:p>
            <a:pPr lvl="1"/>
            <a:r>
              <a:rPr lang="en-US" altLang="en-US" sz="2800" dirty="0"/>
              <a:t>To access information stored in arrays</a:t>
            </a:r>
          </a:p>
          <a:p>
            <a:pPr lvl="1"/>
            <a:endParaRPr lang="en-US" altLang="en-US" sz="800" dirty="0"/>
          </a:p>
          <a:p>
            <a:r>
              <a:rPr lang="en-US" altLang="en-US" dirty="0"/>
              <a:t>Why not just use arrays?</a:t>
            </a:r>
          </a:p>
          <a:p>
            <a:pPr lvl="1"/>
            <a:r>
              <a:rPr lang="en-US" altLang="en-US" sz="2800" dirty="0"/>
              <a:t>An array’s maximum size must be declared before you use it</a:t>
            </a:r>
          </a:p>
          <a:p>
            <a:pPr lvl="1"/>
            <a:r>
              <a:rPr lang="en-US" altLang="en-US" sz="2800" dirty="0"/>
              <a:t>If you do not use all the memory allocated to it, you are wasting memory</a:t>
            </a:r>
          </a:p>
          <a:p>
            <a:pPr lvl="1"/>
            <a:r>
              <a:rPr lang="en-US" altLang="en-US" sz="2800" dirty="0"/>
              <a:t>Pointers create dynamic data structures where memory is allocated while the program is running, so you only allocate what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1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Pointer functions:</a:t>
            </a:r>
          </a:p>
          <a:p>
            <a:pPr lvl="1"/>
            <a:r>
              <a:rPr lang="en-US" altLang="en-US" sz="2800" dirty="0" err="1"/>
              <a:t>malloc</a:t>
            </a:r>
            <a:r>
              <a:rPr lang="en-US" altLang="en-US" sz="2800" dirty="0"/>
              <a:t>() - Allocates requested size of bytes and returns a pointer first byte of allocated space</a:t>
            </a:r>
          </a:p>
          <a:p>
            <a:pPr lvl="1"/>
            <a:r>
              <a:rPr lang="en-US" altLang="en-US" sz="2800" dirty="0" err="1"/>
              <a:t>calloc</a:t>
            </a:r>
            <a:r>
              <a:rPr lang="en-US" altLang="en-US" sz="2800" dirty="0"/>
              <a:t>() - Allocates space for an array elements, initializes to zero and then returns a pointer to memory</a:t>
            </a:r>
          </a:p>
          <a:p>
            <a:pPr lvl="1"/>
            <a:r>
              <a:rPr lang="en-US" altLang="en-US" sz="2800" dirty="0"/>
              <a:t>free() - Deallocate the previously allocated space</a:t>
            </a:r>
          </a:p>
          <a:p>
            <a:pPr lvl="1"/>
            <a:r>
              <a:rPr lang="en-US" altLang="en-US" sz="2800" dirty="0" err="1"/>
              <a:t>realloc</a:t>
            </a:r>
            <a:r>
              <a:rPr lang="en-US" altLang="en-US" sz="2800" dirty="0"/>
              <a:t>() - Change the size of previously allocated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03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800" dirty="0" err="1"/>
              <a:t>malloc</a:t>
            </a:r>
            <a:r>
              <a:rPr lang="en-US" altLang="en-US" sz="2800" dirty="0"/>
              <a:t>() reserves a block of memory of a specified size and returns a pointer of type void which can be casted into a pointer of any form</a:t>
            </a:r>
          </a:p>
          <a:p>
            <a:pPr lvl="1"/>
            <a:r>
              <a:rPr lang="en-US" altLang="en-US" sz="2800" dirty="0"/>
              <a:t>Syntax: </a:t>
            </a:r>
          </a:p>
          <a:p>
            <a:pPr lvl="2"/>
            <a:r>
              <a:rPr lang="en-US" alt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(cast-type*) malloc(byte-size);</a:t>
            </a:r>
          </a:p>
          <a:p>
            <a:pPr lvl="1"/>
            <a:r>
              <a:rPr lang="en-US" altLang="en-US" sz="2800" dirty="0"/>
              <a:t>Example: </a:t>
            </a:r>
          </a:p>
          <a:p>
            <a:pPr lvl="2"/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*)  malloc(100 *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 lvl="2"/>
            <a:r>
              <a:rPr lang="en-US" altLang="en-US" sz="2800" dirty="0"/>
              <a:t>Allocates either 200 or 400 according to the size of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 (2 or 4 bytes)</a:t>
            </a:r>
          </a:p>
          <a:p>
            <a:pPr lvl="2"/>
            <a:r>
              <a:rPr lang="en-US" altLang="en-US" sz="2800" dirty="0"/>
              <a:t>Pointer points to the address of the first byte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800" dirty="0"/>
              <a:t>free() </a:t>
            </a:r>
            <a:r>
              <a:rPr lang="en-US" altLang="en-US" dirty="0"/>
              <a:t>explicitly frees the dynamically allocated memory allocated by either </a:t>
            </a:r>
            <a:r>
              <a:rPr lang="en-US" altLang="en-US" dirty="0" err="1"/>
              <a:t>calloc</a:t>
            </a:r>
            <a:r>
              <a:rPr lang="en-US" altLang="en-US" dirty="0"/>
              <a:t>() or </a:t>
            </a:r>
            <a:r>
              <a:rPr lang="en-US" altLang="en-US" dirty="0" err="1"/>
              <a:t>malloc</a:t>
            </a:r>
            <a:r>
              <a:rPr lang="en-US" altLang="en-US" dirty="0"/>
              <a:t>()</a:t>
            </a:r>
            <a:endParaRPr lang="en-US" altLang="en-US" sz="2800" dirty="0"/>
          </a:p>
          <a:p>
            <a:pPr lvl="1"/>
            <a:r>
              <a:rPr lang="en-US" altLang="en-US" sz="2800" dirty="0"/>
              <a:t>Syntax: </a:t>
            </a:r>
          </a:p>
          <a:p>
            <a:pPr lvl="2"/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free(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8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473737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main(){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sum = 0;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("Enter number of elements: ");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&amp;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*) malloc(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));  //memory allocated using malloc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if(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 NULL)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("Error! memory not allocated.");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exit(0);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("Enter elements of array: ");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sum += 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("Sum = %d", sum);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free(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0;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988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473737"/>
            <a:ext cx="11353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main(){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("Enter number of elements: 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&amp;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)); //memory allocated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if(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 NULL)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("Error! memory not allocated.");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exit(0);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("Enter elements of array: 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sum += 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("Sum = %d",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free(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0;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710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 err="1"/>
              <a:t>realloc</a:t>
            </a:r>
            <a:r>
              <a:rPr lang="en-US" altLang="en-US" sz="2800" dirty="0"/>
              <a:t> () </a:t>
            </a:r>
            <a:r>
              <a:rPr lang="en-US" altLang="en-US" dirty="0"/>
              <a:t>can change the previously allocated memory size by adding more or less</a:t>
            </a:r>
            <a:endParaRPr lang="en-US" altLang="en-US" sz="2800" dirty="0"/>
          </a:p>
          <a:p>
            <a:pPr lvl="1"/>
            <a:r>
              <a:rPr lang="en-US" altLang="en-US" sz="2800" dirty="0"/>
              <a:t>Syntax:</a:t>
            </a:r>
          </a:p>
          <a:p>
            <a:pPr lvl="2"/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realloc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newsize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5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and Dynamic Memory Management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473737"/>
            <a:ext cx="11353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, n1, n2;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("Enter size of array: 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&amp;n1);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(n1 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("Address of previously allocated memory: 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 n1;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("%u\t",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("\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nEnter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new size of array: 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&amp;n2);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n2);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 n2;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("%u\t",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867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70C0"/>
                </a:solidFill>
              </a:rPr>
              <a:t>Dynamic Memory Management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Many languages require that heap deallocation be managed automatically</a:t>
            </a:r>
          </a:p>
          <a:p>
            <a:r>
              <a:rPr lang="en-US" altLang="en-US" dirty="0"/>
              <a:t>Heap allocation/deallocation and explicit pointer manipulation are inherently unsafe operations</a:t>
            </a:r>
          </a:p>
          <a:p>
            <a:pPr lvl="1"/>
            <a:r>
              <a:rPr lang="en-US" altLang="en-US" sz="2800" dirty="0"/>
              <a:t>Can introduce seriously faulty runtime behavior that may even compromise the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0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b="1" dirty="0"/>
              <a:t>Alias</a:t>
            </a:r>
            <a:r>
              <a:rPr lang="en-US" altLang="en-US" dirty="0"/>
              <a:t>: occurs when the same object is bound to two different names at the same time</a:t>
            </a:r>
          </a:p>
          <a:p>
            <a:r>
              <a:rPr lang="en-US" altLang="en-US" dirty="0"/>
              <a:t>Can occur during function call, through the use of pointer variables, or through assignment by sharing</a:t>
            </a:r>
          </a:p>
          <a:p>
            <a:r>
              <a:rPr lang="en-US" altLang="en-US" dirty="0"/>
              <a:t>Ex:</a:t>
            </a:r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880" y="3726733"/>
            <a:ext cx="6781800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50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Aliases can potentially cause harmful side effects</a:t>
            </a:r>
          </a:p>
          <a:p>
            <a:r>
              <a:rPr lang="en-US" altLang="en-US" b="1" dirty="0"/>
              <a:t>Side effect</a:t>
            </a:r>
            <a:r>
              <a:rPr lang="en-US" altLang="en-US"/>
              <a:t>: a</a:t>
            </a:r>
            <a:r>
              <a:rPr lang="en-US"/>
              <a:t> change in the value of a variable that persists beyond the local scope</a:t>
            </a:r>
            <a:endParaRPr lang="en-US" b="1"/>
          </a:p>
          <a:p>
            <a:r>
              <a:rPr lang="en-US" altLang="en-US" b="1" u="sng" dirty="0"/>
              <a:t>Not all side effects are harmful (!!!)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An assignment statement is intended to cause one</a:t>
            </a:r>
          </a:p>
          <a:p>
            <a:r>
              <a:rPr lang="en-US" altLang="en-US" dirty="0"/>
              <a:t>Side effects that change variables whose names do not directly appear in the statement are potentially harmful</a:t>
            </a:r>
          </a:p>
          <a:p>
            <a:pPr lvl="1">
              <a:buFontTx/>
              <a:buChar char="•"/>
            </a:pPr>
            <a:r>
              <a:rPr lang="en-US" altLang="en-US" sz="2800" dirty="0"/>
              <a:t>error-prone/difficult to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6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Dangling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b="1" dirty="0"/>
              <a:t>Dangling reference</a:t>
            </a:r>
            <a:r>
              <a:rPr lang="en-US" altLang="en-US" dirty="0"/>
              <a:t>: a memory location that has been deallocated from the environment but can still be accessed by a program</a:t>
            </a:r>
          </a:p>
          <a:p>
            <a:pPr lvl="1"/>
            <a:r>
              <a:rPr lang="en-US" altLang="en-US" sz="2800" dirty="0"/>
              <a:t>Occurs when a pointer points to a deallocated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259" y="3097586"/>
            <a:ext cx="6931026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140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Dangling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Can also result from automatic deallocation of local variables on exit from a block, with the C address of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17" y="2820194"/>
            <a:ext cx="7809415" cy="294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3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Dangling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661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A program with dangling references may:</a:t>
            </a:r>
          </a:p>
          <a:p>
            <a:pPr lvl="1"/>
            <a:r>
              <a:rPr lang="en-US" altLang="en-US" sz="2800" dirty="0"/>
              <a:t>Produce incorrect results</a:t>
            </a:r>
          </a:p>
          <a:p>
            <a:pPr lvl="1"/>
            <a:r>
              <a:rPr lang="en-US" altLang="en-US" sz="2800" dirty="0"/>
              <a:t>Corrupt other programs in memory</a:t>
            </a:r>
          </a:p>
          <a:p>
            <a:pPr lvl="1"/>
            <a:r>
              <a:rPr lang="en-US" altLang="en-US" sz="2800" dirty="0"/>
              <a:t>Cause runtime errors that are hard to locate</a:t>
            </a:r>
          </a:p>
          <a:p>
            <a:r>
              <a:rPr lang="en-US" altLang="en-US" dirty="0"/>
              <a:t>Java does not allow dangling references at all:</a:t>
            </a:r>
          </a:p>
          <a:p>
            <a:pPr lvl="1"/>
            <a:r>
              <a:rPr lang="en-US" altLang="en-US" sz="2800" dirty="0"/>
              <a:t>There are no explicit pointers</a:t>
            </a:r>
          </a:p>
          <a:p>
            <a:pPr lvl="1"/>
            <a:r>
              <a:rPr lang="en-US" altLang="en-US" sz="2800" dirty="0"/>
              <a:t>There is no address of operator</a:t>
            </a:r>
          </a:p>
          <a:p>
            <a:pPr lvl="1"/>
            <a:r>
              <a:rPr lang="en-US" altLang="en-US" sz="2800" dirty="0"/>
              <a:t>There are no memory deallocation operators such as </a:t>
            </a:r>
            <a:r>
              <a:rPr lang="en-US" altLang="en-US" sz="2800" dirty="0">
                <a:latin typeface="Courier New" panose="02070309020205020404" pitchFamily="49" charset="0"/>
              </a:rPr>
              <a:t>free</a:t>
            </a:r>
            <a:r>
              <a:rPr lang="en-US" altLang="en-US" sz="2800" dirty="0"/>
              <a:t> or </a:t>
            </a:r>
            <a:r>
              <a:rPr lang="en-US" altLang="en-US" sz="2800" dirty="0">
                <a:latin typeface="Courier New" panose="02070309020205020404" pitchFamily="49" charset="0"/>
              </a:rPr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15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Garbage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661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Garbage</a:t>
            </a:r>
            <a:r>
              <a:rPr lang="en-US" altLang="en-US" dirty="0"/>
              <a:t> is memory that has been allocated in the environment but that has become inaccessible to the program</a:t>
            </a:r>
          </a:p>
          <a:p>
            <a:r>
              <a:rPr lang="en-US" altLang="en-US" dirty="0"/>
              <a:t>Can occur in C by failing to call free before reassigning a pointer variable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 program that is internally correct but produces garbage may run out of memory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800" dirty="0">
              <a:latin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07" y="3581400"/>
            <a:ext cx="7077256" cy="193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917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Garbage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6613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It is useful to remove the need to deallocate memory explicitly from the programmer</a:t>
            </a:r>
          </a:p>
          <a:p>
            <a:r>
              <a:rPr lang="en-US" altLang="en-US" dirty="0"/>
              <a:t>Manual memory management is error prone </a:t>
            </a:r>
          </a:p>
          <a:p>
            <a:r>
              <a:rPr lang="en-US" altLang="en-US" b="1" dirty="0"/>
              <a:t>Garbage collection</a:t>
            </a:r>
            <a:r>
              <a:rPr lang="en-US" altLang="en-US" dirty="0"/>
              <a:t>: process of automatically reclaiming garbage</a:t>
            </a:r>
          </a:p>
          <a:p>
            <a:pPr lvl="1"/>
            <a:r>
              <a:rPr lang="en-US" altLang="en-US" dirty="0"/>
              <a:t>Java uses garbage collection as an alternative to manually managed memory</a:t>
            </a:r>
          </a:p>
          <a:p>
            <a:r>
              <a:rPr lang="en-US" altLang="en-US" dirty="0"/>
              <a:t>A garbage collector runs during program execution deallocating unused memory  </a:t>
            </a:r>
          </a:p>
          <a:p>
            <a:r>
              <a:rPr lang="en-US" altLang="en-US" dirty="0"/>
              <a:t>Various algorithms to determine if a block of memory is unused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47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Garbage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6613" cy="4351338"/>
          </a:xfrm>
        </p:spPr>
        <p:txBody>
          <a:bodyPr>
            <a:noAutofit/>
          </a:bodyPr>
          <a:lstStyle/>
          <a:p>
            <a:r>
              <a:rPr lang="en-US" dirty="0"/>
              <a:t>Garbage collection’s benefits are indisputable </a:t>
            </a:r>
          </a:p>
          <a:p>
            <a:pPr lvl="1"/>
            <a:r>
              <a:rPr lang="en-US" dirty="0"/>
              <a:t>increased reliability</a:t>
            </a:r>
          </a:p>
          <a:p>
            <a:pPr lvl="1"/>
            <a:r>
              <a:rPr lang="en-US" dirty="0"/>
              <a:t>decoupling of memory management from class interface design</a:t>
            </a:r>
          </a:p>
          <a:p>
            <a:pPr lvl="1"/>
            <a:r>
              <a:rPr lang="en-US" dirty="0"/>
              <a:t>less developer time chasing memory management errors</a:t>
            </a:r>
          </a:p>
          <a:p>
            <a:r>
              <a:rPr lang="en-US" dirty="0"/>
              <a:t>Garbage collection is not without its costs </a:t>
            </a:r>
          </a:p>
          <a:p>
            <a:pPr lvl="1"/>
            <a:r>
              <a:rPr lang="en-US" dirty="0"/>
              <a:t>Performance impact being the most significant </a:t>
            </a:r>
          </a:p>
          <a:p>
            <a:r>
              <a:rPr lang="en-US" altLang="en-US" dirty="0"/>
              <a:t>A garbage requires resources to run, which can slow or halt the program being executed </a:t>
            </a:r>
          </a:p>
          <a:p>
            <a:r>
              <a:rPr lang="en-US" altLang="en-US" dirty="0"/>
              <a:t>Although garbage collection increases security and programmer efficiency, it significantly decreases computer efficiency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696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Automatic Reference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661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Reference Counting: </a:t>
            </a:r>
            <a:r>
              <a:rPr lang="en-US" dirty="0"/>
              <a:t>counts the number of references to each object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When the reference count drops to zero the object is unreachable and can be deallocated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by Java’s garbage collector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Automatic Reference Counting</a:t>
            </a:r>
            <a:r>
              <a:rPr lang="en-US" altLang="en-US" dirty="0"/>
              <a:t>: determines object references at compile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 Injects allocation and free statements into the compiled program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Allows for the efficiency of manually managed memory with the security of garbage collection  </a:t>
            </a:r>
            <a:endParaRPr lang="en-US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710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70C0"/>
                </a:solidFill>
              </a:rPr>
              <a:t>PokeMart </a:t>
            </a:r>
            <a:r>
              <a:rPr lang="en-US" b="1" dirty="0">
                <a:solidFill>
                  <a:srgbClr val="0070C0"/>
                </a:solidFill>
              </a:rPr>
              <a:t>C Code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6C249-94A3-0D4B-A3BE-FE51CE03B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4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79987</TotalTime>
  <Words>1308</Words>
  <Application>Microsoft Macintosh PowerPoint</Application>
  <PresentationFormat>Widescreen</PresentationFormat>
  <Paragraphs>164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Office Theme</vt:lpstr>
      <vt:lpstr>CMSC 304</vt:lpstr>
      <vt:lpstr>Pointers and Dynamic Memory Management </vt:lpstr>
      <vt:lpstr>Pointers and Dynamic Memory Management </vt:lpstr>
      <vt:lpstr>Pointers and Dynamic Memory Management </vt:lpstr>
      <vt:lpstr>Pointers and Dynamic Memory Management </vt:lpstr>
      <vt:lpstr>Pointers and Dynamic Memory Management </vt:lpstr>
      <vt:lpstr>Pointers and Dynamic Memory Management </vt:lpstr>
      <vt:lpstr>Pointers and Dynamic Memory Management </vt:lpstr>
      <vt:lpstr>Pointers and Dynamic Memory Management </vt:lpstr>
      <vt:lpstr>Dynamic Memory Management</vt:lpstr>
      <vt:lpstr>Aliases</vt:lpstr>
      <vt:lpstr>Aliases</vt:lpstr>
      <vt:lpstr>Dangling References</vt:lpstr>
      <vt:lpstr>Dangling References</vt:lpstr>
      <vt:lpstr>Dangling References</vt:lpstr>
      <vt:lpstr>Garbage</vt:lpstr>
      <vt:lpstr>Garbage</vt:lpstr>
      <vt:lpstr>Garbage Collection</vt:lpstr>
      <vt:lpstr>Automatic Reference Counting</vt:lpstr>
      <vt:lpstr>PokeMart C Code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451</cp:revision>
  <cp:lastPrinted>2017-09-07T16:13:53Z</cp:lastPrinted>
  <dcterms:created xsi:type="dcterms:W3CDTF">2017-05-31T17:26:26Z</dcterms:created>
  <dcterms:modified xsi:type="dcterms:W3CDTF">2025-01-07T21:32:57Z</dcterms:modified>
</cp:coreProperties>
</file>