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6"/>
  </p:notesMasterIdLst>
  <p:sldIdLst>
    <p:sldId id="256" r:id="rId2"/>
    <p:sldId id="422" r:id="rId3"/>
    <p:sldId id="407" r:id="rId4"/>
    <p:sldId id="412" r:id="rId5"/>
    <p:sldId id="413" r:id="rId6"/>
    <p:sldId id="410" r:id="rId7"/>
    <p:sldId id="447" r:id="rId8"/>
    <p:sldId id="448" r:id="rId9"/>
    <p:sldId id="449" r:id="rId10"/>
    <p:sldId id="492" r:id="rId11"/>
    <p:sldId id="450" r:id="rId12"/>
    <p:sldId id="409" r:id="rId13"/>
    <p:sldId id="411" r:id="rId14"/>
    <p:sldId id="414" r:id="rId15"/>
    <p:sldId id="415" r:id="rId16"/>
    <p:sldId id="417" r:id="rId17"/>
    <p:sldId id="416" r:id="rId18"/>
    <p:sldId id="418" r:id="rId19"/>
    <p:sldId id="423" r:id="rId20"/>
    <p:sldId id="494" r:id="rId21"/>
    <p:sldId id="424" r:id="rId22"/>
    <p:sldId id="400" r:id="rId23"/>
    <p:sldId id="401" r:id="rId24"/>
    <p:sldId id="399" r:id="rId25"/>
    <p:sldId id="364" r:id="rId26"/>
    <p:sldId id="434" r:id="rId27"/>
    <p:sldId id="435" r:id="rId28"/>
    <p:sldId id="469" r:id="rId29"/>
    <p:sldId id="470" r:id="rId30"/>
    <p:sldId id="471" r:id="rId31"/>
    <p:sldId id="472" r:id="rId32"/>
    <p:sldId id="473" r:id="rId33"/>
    <p:sldId id="474" r:id="rId34"/>
    <p:sldId id="436" r:id="rId35"/>
    <p:sldId id="437" r:id="rId36"/>
    <p:sldId id="438" r:id="rId37"/>
    <p:sldId id="439" r:id="rId38"/>
    <p:sldId id="440" r:id="rId39"/>
    <p:sldId id="477" r:id="rId40"/>
    <p:sldId id="478" r:id="rId41"/>
    <p:sldId id="502" r:id="rId42"/>
    <p:sldId id="503" r:id="rId43"/>
    <p:sldId id="504" r:id="rId44"/>
    <p:sldId id="505" r:id="rId4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32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144"/>
    <p:restoredTop sz="88083"/>
  </p:normalViewPr>
  <p:slideViewPr>
    <p:cSldViewPr snapToGrid="0" snapToObjects="1">
      <p:cViewPr varScale="1">
        <p:scale>
          <a:sx n="115" d="100"/>
          <a:sy n="115" d="100"/>
        </p:scale>
        <p:origin x="97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9C3FBE-CC6D-C84E-A32C-3E7139D0BEF1}" type="datetimeFigureOut">
              <a:rPr lang="en-US" smtClean="0"/>
              <a:t>1/5/25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AC0DA4-3FAE-DF4B-9554-5D7B5414A6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566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ython.org/dev/peps/pep-0373/" TargetMode="External"/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Balance is never initialized because Python is an interpreted language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AC0DA4-3FAE-DF4B-9554-5D7B5414A6C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45756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** is the exponent operator </a:t>
            </a:r>
          </a:p>
          <a:p>
            <a:r>
              <a:rPr lang="en-US" dirty="0"/>
              <a:t>Supports old school print formatting. Better ways to do this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AC0DA4-3FAE-DF4B-9554-5D7B5414A6C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93958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 the semi colon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AC0DA4-3FAE-DF4B-9554-5D7B5414A6C1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47996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python, Both single and double quotes represent string values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AC0DA4-3FAE-DF4B-9554-5D7B5414A6C1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20987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AC0DA4-3FAE-DF4B-9554-5D7B5414A6C1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15777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AC0DA4-3FAE-DF4B-9554-5D7B5414A6C1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799920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AC0DA4-3FAE-DF4B-9554-5D7B5414A6C1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97809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Public can be access anywhere, </a:t>
            </a:r>
          </a:p>
          <a:p>
            <a:r>
              <a:rPr lang="en-US" dirty="0"/>
              <a:t>Protected can be accessed by the class and subclasses </a:t>
            </a:r>
          </a:p>
          <a:p>
            <a:r>
              <a:rPr lang="en-US" dirty="0"/>
              <a:t>Private can be accessed only by the class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AC0DA4-3FAE-DF4B-9554-5D7B5414A6C1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532906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AC0DA4-3FAE-DF4B-9554-5D7B5414A6C1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984504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in contrast to Java (but not C++)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AC0DA4-3FAE-DF4B-9554-5D7B5414A6C1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102103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AC0DA4-3FAE-DF4B-9554-5D7B5414A6C1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34921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AC0DA4-3FAE-DF4B-9554-5D7B5414A6C1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112733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AC0DA4-3FAE-DF4B-9554-5D7B5414A6C1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479700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AC0DA4-3FAE-DF4B-9554-5D7B5414A6C1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397917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https://</a:t>
            </a:r>
            <a:r>
              <a:rPr lang="en-US" dirty="0" err="1"/>
              <a:t>en.wikipedia.org</a:t>
            </a:r>
            <a:r>
              <a:rPr lang="en-US" dirty="0"/>
              <a:t>/wiki/C3_linearization</a:t>
            </a:r>
            <a:br>
              <a:rPr lang="en-US" dirty="0"/>
            </a:br>
            <a:br>
              <a:rPr lang="en-US" dirty="0"/>
            </a:br>
            <a:r>
              <a:rPr lang="en-US" dirty="0"/>
              <a:t>Basically, the idea behind C3 is that if you write down all of the ordering rules imposed by inheritance relationships in a complex class hierarchy, the algorithm will determine a monotonic ordering of the classes that satisfies all of them. If such an ordering can not be determined, the algorithm will fail.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AC0DA4-3FAE-DF4B-9554-5D7B5414A6C1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85417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names from different classes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AC0DA4-3FAE-DF4B-9554-5D7B5414A6C1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293858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How? Dynamic binding!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AC0DA4-3FAE-DF4B-9554-5D7B5414A6C1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339020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Poor naming convention so it will not be used here</a:t>
            </a:r>
          </a:p>
          <a:p>
            <a:r>
              <a:rPr lang="en-US" dirty="0"/>
              <a:t>”</a:t>
            </a:r>
            <a:r>
              <a:rPr lang="en-US"/>
              <a:t>How flexible” </a:t>
            </a:r>
            <a:r>
              <a:rPr lang="en-US" dirty="0"/>
              <a:t>a typing system is is a subjective concept, not an objective principle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AC0DA4-3FAE-DF4B-9554-5D7B5414A6C1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387912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arstechnica.com</a:t>
            </a:r>
            <a:r>
              <a:rPr lang="en-US" dirty="0"/>
              <a:t>/information-technology/2019/10/chemists-discover-cross-platform-python-scripts-not-so-cross-platform/</a:t>
            </a:r>
          </a:p>
          <a:p>
            <a:r>
              <a:rPr lang="en-US" dirty="0" err="1"/>
              <a:t>PyPy</a:t>
            </a:r>
            <a:r>
              <a:rPr lang="en-US" dirty="0"/>
              <a:t> and </a:t>
            </a:r>
            <a:r>
              <a:rPr lang="en-US" dirty="0" err="1"/>
              <a:t>Cython</a:t>
            </a:r>
            <a:r>
              <a:rPr lang="en-US" dirty="0"/>
              <a:t> are significantly faster than the </a:t>
            </a:r>
            <a:r>
              <a:rPr lang="en-US" dirty="0" err="1"/>
              <a:t>CPython</a:t>
            </a:r>
            <a:r>
              <a:rPr lang="en-US" dirty="0"/>
              <a:t>, the reference implementation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AC0DA4-3FAE-DF4B-9554-5D7B5414A6C1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195965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Python2 not </a:t>
            </a:r>
            <a:r>
              <a:rPr lang="en-US" dirty="0">
                <a:hlinkClick r:id="rId3"/>
              </a:rPr>
              <a:t>maintained</a:t>
            </a:r>
            <a:r>
              <a:rPr lang="en-US" dirty="0"/>
              <a:t> past 2019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AC0DA4-3FAE-DF4B-9554-5D7B5414A6C1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623929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AC0DA4-3FAE-DF4B-9554-5D7B5414A6C1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114392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AC0DA4-3FAE-DF4B-9554-5D7B5414A6C1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75896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97D23-1D1C-734C-9188-3D38F4DBA869}" type="datetimeFigureOut">
              <a:rPr lang="en-US" smtClean="0"/>
              <a:t>1/5/25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26966-79DA-234F-B9D6-D01F1009FB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5388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97D23-1D1C-734C-9188-3D38F4DBA869}" type="datetimeFigureOut">
              <a:rPr lang="en-US" smtClean="0"/>
              <a:t>1/5/25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26966-79DA-234F-B9D6-D01F1009FB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64509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97D23-1D1C-734C-9188-3D38F4DBA869}" type="datetimeFigureOut">
              <a:rPr lang="en-US" smtClean="0"/>
              <a:t>1/5/25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26966-79DA-234F-B9D6-D01F1009FB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82325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97D23-1D1C-734C-9188-3D38F4DBA869}" type="datetimeFigureOut">
              <a:rPr lang="en-US" smtClean="0"/>
              <a:t>1/5/25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26966-79DA-234F-B9D6-D01F1009FB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04079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97D23-1D1C-734C-9188-3D38F4DBA869}" type="datetimeFigureOut">
              <a:rPr lang="en-US" smtClean="0"/>
              <a:t>1/5/25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26966-79DA-234F-B9D6-D01F1009FB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9030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97D23-1D1C-734C-9188-3D38F4DBA869}" type="datetimeFigureOut">
              <a:rPr lang="en-US" smtClean="0"/>
              <a:t>1/5/25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26966-79DA-234F-B9D6-D01F1009FB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58309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97D23-1D1C-734C-9188-3D38F4DBA869}" type="datetimeFigureOut">
              <a:rPr lang="en-US" smtClean="0"/>
              <a:t>1/5/25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26966-79DA-234F-B9D6-D01F1009FB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60027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97D23-1D1C-734C-9188-3D38F4DBA869}" type="datetimeFigureOut">
              <a:rPr lang="en-US" smtClean="0"/>
              <a:t>1/5/25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26966-79DA-234F-B9D6-D01F1009FB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4110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97D23-1D1C-734C-9188-3D38F4DBA869}" type="datetimeFigureOut">
              <a:rPr lang="en-US" smtClean="0"/>
              <a:t>1/5/25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26966-79DA-234F-B9D6-D01F1009FB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31579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97D23-1D1C-734C-9188-3D38F4DBA869}" type="datetimeFigureOut">
              <a:rPr lang="en-US" smtClean="0"/>
              <a:t>1/5/25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26966-79DA-234F-B9D6-D01F1009FB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5789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97D23-1D1C-734C-9188-3D38F4DBA869}" type="datetimeFigureOut">
              <a:rPr lang="en-US" smtClean="0"/>
              <a:t>1/5/25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26966-79DA-234F-B9D6-D01F1009FB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25549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197D23-1D1C-734C-9188-3D38F4DBA869}" type="datetimeFigureOut">
              <a:rPr lang="en-US" smtClean="0"/>
              <a:t>1/5/25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726966-79DA-234F-B9D6-D01F1009FB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84479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.wmf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Benevolent_dictator_for_life" TargetMode="Externa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softwareengineering.stackexchange.com/a/228340" TargetMode="Externa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Guido_van_Rossum" TargetMode="Externa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CMSC 304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Objects in Python</a:t>
            </a:r>
          </a:p>
          <a:p>
            <a:r>
              <a:rPr lang="en-US" dirty="0"/>
              <a:t>Claire Sparks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0718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Python Objects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657114" cy="5032375"/>
          </a:xfrm>
        </p:spPr>
        <p:txBody>
          <a:bodyPr>
            <a:normAutofit/>
          </a:bodyPr>
          <a:lstStyle/>
          <a:p>
            <a:r>
              <a:rPr lang="en-US" altLang="en-US" dirty="0">
                <a:cs typeface="Times New Roman" panose="02020603050405020304" pitchFamily="18" charset="0"/>
              </a:rPr>
              <a:t>An object has both a state and behavior. The state defines the object, and the behavior defines what the object does</a:t>
            </a:r>
          </a:p>
        </p:txBody>
      </p:sp>
      <p:graphicFrame>
        <p:nvGraphicFramePr>
          <p:cNvPr id="4" name="Object 6"/>
          <p:cNvGraphicFramePr>
            <a:graphicFrameLocks noChangeAspect="1"/>
          </p:cNvGraphicFramePr>
          <p:nvPr>
            <p:extLst/>
          </p:nvPr>
        </p:nvGraphicFramePr>
        <p:xfrm>
          <a:off x="547940" y="2871785"/>
          <a:ext cx="11252657" cy="3986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2" name="Picture" r:id="rId3" imgW="4952880" imgH="1752480" progId="Word.Picture.8">
                  <p:embed/>
                </p:oleObj>
              </mc:Choice>
              <mc:Fallback>
                <p:oleObj name="Picture" r:id="rId3" imgW="4952880" imgH="1752480" progId="Word.Picture.8">
                  <p:embed/>
                  <p:pic>
                    <p:nvPicPr>
                      <p:cNvPr id="4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7940" y="2871785"/>
                        <a:ext cx="11252657" cy="3986213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9174997" y="3653899"/>
            <a:ext cx="243323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</a:rPr>
              <a:t>class </a:t>
            </a:r>
            <a:r>
              <a:rPr lang="en-US" sz="2400" dirty="0" err="1">
                <a:solidFill>
                  <a:srgbClr val="0070C0"/>
                </a:solidFill>
              </a:rPr>
              <a:t>ClassName</a:t>
            </a:r>
            <a:r>
              <a:rPr lang="en-US" sz="2400" dirty="0">
                <a:solidFill>
                  <a:srgbClr val="0070C0"/>
                </a:solidFill>
              </a:rPr>
              <a:t>:</a:t>
            </a:r>
          </a:p>
          <a:p>
            <a:r>
              <a:rPr lang="en-US" sz="2400" dirty="0">
                <a:solidFill>
                  <a:srgbClr val="0070C0"/>
                </a:solidFill>
              </a:rPr>
              <a:t>    initializer</a:t>
            </a:r>
          </a:p>
          <a:p>
            <a:r>
              <a:rPr lang="en-US" sz="2400" dirty="0">
                <a:solidFill>
                  <a:srgbClr val="0070C0"/>
                </a:solidFill>
              </a:rPr>
              <a:t>    methods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87908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Python – Creating a Class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689475"/>
          </a:xfrm>
        </p:spPr>
        <p:txBody>
          <a:bodyPr>
            <a:normAutofit/>
          </a:bodyPr>
          <a:lstStyle/>
          <a:p>
            <a:r>
              <a:rPr lang="en-US" altLang="en-US" dirty="0">
                <a:cs typeface="Times New Roman" panose="02020603050405020304" pitchFamily="18" charset="0"/>
              </a:rPr>
              <a:t>Defining a class</a:t>
            </a:r>
            <a:endParaRPr lang="en-US" altLang="en-US" dirty="0">
              <a:latin typeface="Tahoma" panose="020B0604030504040204" pitchFamily="34" charset="0"/>
              <a:cs typeface="Times New Roman" panose="02020603050405020304" pitchFamily="18" charset="0"/>
            </a:endParaRPr>
          </a:p>
          <a:p>
            <a:r>
              <a:rPr lang="en-US" altLang="en-US" dirty="0">
                <a:cs typeface="Times New Roman" panose="02020603050405020304" pitchFamily="18" charset="0"/>
              </a:rPr>
              <a:t>The constructor sets two instance variables: </a:t>
            </a:r>
            <a:r>
              <a:rPr lang="en-US" altLang="en-US" dirty="0" err="1"/>
              <a:t>x,y</a:t>
            </a:r>
            <a:endParaRPr lang="en-US" altLang="en-US" dirty="0"/>
          </a:p>
          <a:p>
            <a:r>
              <a:rPr lang="en-US" altLang="en-US" dirty="0"/>
              <a:t>self is the instance of the object</a:t>
            </a:r>
          </a:p>
          <a:p>
            <a:r>
              <a:rPr lang="en-US" altLang="en-US" dirty="0"/>
              <a:t>Make sure all instance variables are included in the constructor</a:t>
            </a:r>
          </a:p>
          <a:p>
            <a:pPr marL="0" indent="0">
              <a:buNone/>
            </a:pPr>
            <a:endParaRPr lang="en-US" alt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class Point:</a:t>
            </a:r>
          </a:p>
          <a:p>
            <a:pPr marL="0" indent="0">
              <a:buNone/>
            </a:pPr>
            <a:r>
              <a:rPr lang="en-US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  def __</a:t>
            </a:r>
            <a:r>
              <a:rPr lang="en-US" alt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init</a:t>
            </a:r>
            <a:r>
              <a:rPr lang="en-US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__(self, x, y): #constructor, 2 arguments</a:t>
            </a:r>
          </a:p>
          <a:p>
            <a:pPr marL="0" indent="0">
              <a:buNone/>
            </a:pPr>
            <a:r>
              <a:rPr lang="en-US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alt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self.x</a:t>
            </a:r>
            <a:r>
              <a:rPr lang="en-US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x   </a:t>
            </a:r>
          </a:p>
          <a:p>
            <a:pPr marL="0" indent="0">
              <a:buNone/>
            </a:pPr>
            <a:r>
              <a:rPr lang="en-US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alt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self.y</a:t>
            </a:r>
            <a:r>
              <a:rPr lang="en-US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y</a:t>
            </a:r>
          </a:p>
          <a:p>
            <a:pPr marL="0" indent="0">
              <a:buNone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4304061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Python – Creating a Class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689475"/>
          </a:xfrm>
        </p:spPr>
        <p:txBody>
          <a:bodyPr>
            <a:normAutofit/>
          </a:bodyPr>
          <a:lstStyle/>
          <a:p>
            <a:r>
              <a:rPr lang="en-US" altLang="en-US" dirty="0"/>
              <a:t>Make sure all instance variables are included in the constructor</a:t>
            </a:r>
          </a:p>
          <a:p>
            <a:r>
              <a:rPr lang="en-US" altLang="en-US" dirty="0"/>
              <a:t>If the user does not call the </a:t>
            </a:r>
            <a:r>
              <a:rPr lang="en-US" altLang="en-US" dirty="0" err="1"/>
              <a:t>set_balance</a:t>
            </a:r>
            <a:r>
              <a:rPr lang="en-US" altLang="en-US" dirty="0"/>
              <a:t> method, balance is never initialized</a:t>
            </a:r>
          </a:p>
          <a:p>
            <a:pPr marL="0" indent="0">
              <a:buNone/>
            </a:pPr>
            <a:r>
              <a:rPr lang="en-US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class Customer:</a:t>
            </a:r>
          </a:p>
          <a:p>
            <a:pPr marL="0" indent="0">
              <a:buNone/>
            </a:pPr>
            <a:r>
              <a:rPr lang="en-US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  def __</a:t>
            </a:r>
            <a:r>
              <a:rPr lang="en-US" alt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init</a:t>
            </a:r>
            <a:r>
              <a:rPr lang="en-US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__(self, name): #constructor, 1 argument</a:t>
            </a:r>
          </a:p>
          <a:p>
            <a:pPr marL="0" indent="0">
              <a:buNone/>
            </a:pPr>
            <a:r>
              <a:rPr lang="en-US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alt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self.name</a:t>
            </a:r>
            <a:r>
              <a:rPr lang="en-US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name   </a:t>
            </a:r>
          </a:p>
          <a:p>
            <a:pPr marL="0" indent="0">
              <a:buNone/>
            </a:pPr>
            <a:r>
              <a:rPr lang="en-US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  def </a:t>
            </a:r>
            <a:r>
              <a:rPr lang="en-US" alt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set_balance</a:t>
            </a:r>
            <a:r>
              <a:rPr lang="en-US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(self, balance=0.0):  #method</a:t>
            </a:r>
          </a:p>
          <a:p>
            <a:pPr marL="0" indent="0">
              <a:buNone/>
            </a:pPr>
            <a:r>
              <a:rPr lang="en-US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# set the customer’s starting balance</a:t>
            </a:r>
          </a:p>
          <a:p>
            <a:pPr marL="0" indent="0">
              <a:buNone/>
            </a:pPr>
            <a:r>
              <a:rPr lang="en-US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alt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self.balance</a:t>
            </a:r>
            <a:r>
              <a:rPr lang="en-US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balance</a:t>
            </a:r>
          </a:p>
          <a:p>
            <a:endParaRPr lang="en-US" altLang="en-US" dirty="0"/>
          </a:p>
          <a:p>
            <a:endParaRPr lang="en-US" altLang="en-US" dirty="0"/>
          </a:p>
          <a:p>
            <a:pPr marL="0" indent="0">
              <a:buNone/>
            </a:pPr>
            <a:endParaRPr lang="en-US" altLang="en-US" dirty="0">
              <a:latin typeface="Tahoma" panose="020B0604030504040204" pitchFamily="34" charset="0"/>
              <a:cs typeface="Times New Roman" panose="02020603050405020304" pitchFamily="18" charset="0"/>
            </a:endParaRPr>
          </a:p>
          <a:p>
            <a:endParaRPr lang="en-US" altLang="en-US" dirty="0">
              <a:latin typeface="Tahoma" panose="020B0604030504040204" pitchFamily="34" charset="0"/>
              <a:cs typeface="Times New Roman" panose="02020603050405020304" pitchFamily="18" charset="0"/>
            </a:endParaRPr>
          </a:p>
          <a:p>
            <a:endParaRPr lang="en-US" altLang="en-US" dirty="0">
              <a:latin typeface="Tahoma" panose="020B0604030504040204" pitchFamily="34" charset="0"/>
              <a:cs typeface="Times New Roman" panose="02020603050405020304" pitchFamily="18" charset="0"/>
            </a:endParaRPr>
          </a:p>
          <a:p>
            <a:endParaRPr lang="en-US" altLang="en-US" dirty="0">
              <a:latin typeface="Tahoma" panose="020B060403050404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en-US" dirty="0">
              <a:latin typeface="Tahoma" panose="020B0604030504040204" pitchFamily="34" charset="0"/>
              <a:cs typeface="Times New Roman" panose="02020603050405020304" pitchFamily="18" charset="0"/>
            </a:endParaRPr>
          </a:p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5336058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Python – Creating a Class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689475"/>
          </a:xfrm>
        </p:spPr>
        <p:txBody>
          <a:bodyPr>
            <a:normAutofit/>
          </a:bodyPr>
          <a:lstStyle/>
          <a:p>
            <a:r>
              <a:rPr lang="en-US" altLang="en-US" dirty="0"/>
              <a:t>Make sure all instance variables are included in the constructor</a:t>
            </a:r>
          </a:p>
          <a:p>
            <a:r>
              <a:rPr lang="en-US" altLang="en-US" dirty="0"/>
              <a:t>Now balance is initialized</a:t>
            </a:r>
          </a:p>
          <a:p>
            <a:pPr marL="0" indent="0">
              <a:buNone/>
            </a:pPr>
            <a:endParaRPr lang="en-US" altLang="en-US" dirty="0"/>
          </a:p>
          <a:p>
            <a:pPr marL="0" indent="0">
              <a:buNone/>
            </a:pPr>
            <a:r>
              <a:rPr lang="en-US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class Customer:</a:t>
            </a:r>
          </a:p>
          <a:p>
            <a:pPr marL="0" indent="0">
              <a:buNone/>
            </a:pPr>
            <a:r>
              <a:rPr lang="en-US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  def __</a:t>
            </a:r>
            <a:r>
              <a:rPr lang="en-US" alt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init</a:t>
            </a:r>
            <a:r>
              <a:rPr lang="en-US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__(self, name): #constructor, 1 argument</a:t>
            </a:r>
          </a:p>
          <a:p>
            <a:pPr marL="0" indent="0">
              <a:buNone/>
            </a:pPr>
            <a:r>
              <a:rPr lang="en-US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alt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self.name</a:t>
            </a:r>
            <a:r>
              <a:rPr lang="en-US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name </a:t>
            </a:r>
          </a:p>
          <a:p>
            <a:pPr marL="0" indent="0">
              <a:buNone/>
            </a:pPr>
            <a:r>
              <a:rPr lang="en-US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alt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self.balance</a:t>
            </a:r>
            <a:r>
              <a:rPr lang="en-US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0.0  </a:t>
            </a:r>
          </a:p>
          <a:p>
            <a:pPr marL="0" indent="0">
              <a:buNone/>
            </a:pPr>
            <a:r>
              <a:rPr lang="en-US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  def  </a:t>
            </a:r>
            <a:r>
              <a:rPr lang="en-US" alt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set_balance</a:t>
            </a:r>
            <a:r>
              <a:rPr lang="en-US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(self, balance):</a:t>
            </a:r>
          </a:p>
          <a:p>
            <a:pPr marL="0" indent="0">
              <a:buNone/>
            </a:pPr>
            <a:r>
              <a:rPr lang="en-US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alt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self.balance</a:t>
            </a:r>
            <a:r>
              <a:rPr lang="en-US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balance</a:t>
            </a:r>
          </a:p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8733581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Python Object-Oriented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26913"/>
            <a:ext cx="10657114" cy="5032375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import math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class Point: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def __</a:t>
            </a:r>
            <a:r>
              <a:rPr lang="en-US" alt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init</a:t>
            </a: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__(self, x, y): #constructor, 2 arguments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alt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self.x</a:t>
            </a: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= x  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alt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self.y</a:t>
            </a: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= y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def __</a:t>
            </a:r>
            <a:r>
              <a:rPr lang="en-US" alt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</a:t>
            </a: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__(self):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return "I'm a Point at (%d, %d)" % (</a:t>
            </a:r>
            <a:r>
              <a:rPr lang="en-US" alt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self.x</a:t>
            </a: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self.y</a:t>
            </a: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def </a:t>
            </a:r>
            <a:r>
              <a:rPr lang="en-US" alt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distance_from_origin</a:t>
            </a: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(self):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return </a:t>
            </a:r>
            <a:r>
              <a:rPr lang="en-US" alt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math.sqrt</a:t>
            </a: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self.x</a:t>
            </a: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**2 + </a:t>
            </a:r>
            <a:r>
              <a:rPr lang="en-US" alt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self.y</a:t>
            </a: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**2)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def distance(self, p2):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return </a:t>
            </a:r>
            <a:r>
              <a:rPr lang="en-US" alt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math.sqrt</a:t>
            </a: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((p2.x - </a:t>
            </a:r>
            <a:r>
              <a:rPr lang="en-US" alt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self.x</a:t>
            </a: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)**2 + (p2.y - </a:t>
            </a:r>
            <a:r>
              <a:rPr lang="en-US" alt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self.y</a:t>
            </a: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)**2)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pt</a:t>
            </a: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= Point(10,2)               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print(</a:t>
            </a:r>
            <a:r>
              <a:rPr lang="en-US" alt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pt</a:t>
            </a: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)  	#I'm a point at (10, 2)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print("Distance is: %d" % </a:t>
            </a:r>
            <a:r>
              <a:rPr lang="en-US" alt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pt.distance</a:t>
            </a: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(Point(20,2)))   #10.0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alt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42271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Assignment Statements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689475"/>
          </a:xfrm>
        </p:spPr>
        <p:txBody>
          <a:bodyPr>
            <a:normAutofit/>
          </a:bodyPr>
          <a:lstStyle/>
          <a:p>
            <a:r>
              <a:rPr lang="en-US" dirty="0"/>
              <a:t>Assignment statements are used to (re)bind names to values and to modify attributes or items of mutable objects</a:t>
            </a:r>
          </a:p>
          <a:p>
            <a:r>
              <a:rPr lang="en-US" dirty="0"/>
              <a:t>They do not copy objects.</a:t>
            </a:r>
          </a:p>
          <a:p>
            <a:r>
              <a:rPr lang="en-US" altLang="en-US" dirty="0">
                <a:cs typeface="Times New Roman" panose="02020603050405020304" pitchFamily="18" charset="0"/>
              </a:rPr>
              <a:t>For collections that are mutable or contain mutable items, a copy is sometimes needed so one can change one copy without changing the other. </a:t>
            </a:r>
          </a:p>
          <a:p>
            <a:r>
              <a:rPr lang="en-US" altLang="en-US" dirty="0">
                <a:cs typeface="Times New Roman" panose="02020603050405020304" pitchFamily="18" charset="0"/>
              </a:rPr>
              <a:t>The copy module provides generic shallow and deep copy operations </a:t>
            </a:r>
          </a:p>
          <a:p>
            <a:pPr lvl="1"/>
            <a:r>
              <a:rPr lang="en-US" sz="2800" dirty="0" err="1"/>
              <a:t>copy.copy</a:t>
            </a:r>
            <a:r>
              <a:rPr lang="en-US" sz="2800" dirty="0"/>
              <a:t>(x) returns a shallow copy of x</a:t>
            </a:r>
          </a:p>
          <a:p>
            <a:pPr lvl="1"/>
            <a:r>
              <a:rPr lang="en-US" altLang="en-US" sz="2800" dirty="0" err="1">
                <a:cs typeface="Times New Roman" panose="02020603050405020304" pitchFamily="18" charset="0"/>
              </a:rPr>
              <a:t>copy.deepcopy</a:t>
            </a:r>
            <a:r>
              <a:rPr lang="en-US" altLang="en-US" sz="2800" dirty="0">
                <a:cs typeface="Times New Roman" panose="02020603050405020304" pitchFamily="18" charset="0"/>
              </a:rPr>
              <a:t>(x) returns a deep copy of x</a:t>
            </a:r>
          </a:p>
        </p:txBody>
      </p:sp>
    </p:spTree>
    <p:extLst>
      <p:ext uri="{BB962C8B-B14F-4D97-AF65-F5344CB8AC3E}">
        <p14:creationId xmlns:p14="http://schemas.microsoft.com/office/powerpoint/2010/main" val="31503749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Deep Copy vs. Shallow Copy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689475"/>
          </a:xfrm>
        </p:spPr>
        <p:txBody>
          <a:bodyPr>
            <a:normAutofit/>
          </a:bodyPr>
          <a:lstStyle/>
          <a:p>
            <a:r>
              <a:rPr lang="en-US" dirty="0"/>
              <a:t>The difference between shallow and deep copying is only relevant for compound objects (objects that contain other objects, like lists or class instances).</a:t>
            </a:r>
            <a:r>
              <a:rPr lang="en-US" altLang="en-US" dirty="0">
                <a:cs typeface="Times New Roman" panose="02020603050405020304" pitchFamily="18" charset="0"/>
              </a:rPr>
              <a:t> </a:t>
            </a:r>
          </a:p>
          <a:p>
            <a:pPr lvl="1"/>
            <a:r>
              <a:rPr lang="en-US" sz="2800" dirty="0"/>
              <a:t>A </a:t>
            </a:r>
            <a:r>
              <a:rPr lang="en-US" sz="2800" b="1" dirty="0"/>
              <a:t>shallow copy </a:t>
            </a:r>
            <a:r>
              <a:rPr lang="en-US" sz="2800" dirty="0"/>
              <a:t>constructs a new compound object and then (to the extent possible) inserts references into it to the objects found in the original</a:t>
            </a:r>
          </a:p>
          <a:p>
            <a:pPr lvl="1"/>
            <a:r>
              <a:rPr lang="en-US" altLang="en-US" sz="2800" dirty="0">
                <a:cs typeface="Times New Roman" panose="02020603050405020304" pitchFamily="18" charset="0"/>
              </a:rPr>
              <a:t>A </a:t>
            </a:r>
            <a:r>
              <a:rPr lang="en-US" altLang="en-US" sz="2800" b="1" dirty="0">
                <a:cs typeface="Times New Roman" panose="02020603050405020304" pitchFamily="18" charset="0"/>
              </a:rPr>
              <a:t>deep copy </a:t>
            </a:r>
            <a:r>
              <a:rPr lang="en-US" altLang="en-US" sz="2800" dirty="0">
                <a:cs typeface="Times New Roman" panose="02020603050405020304" pitchFamily="18" charset="0"/>
              </a:rPr>
              <a:t>constructs a new compound object and then, recursively, inserts copies into it of the objects found in the original</a:t>
            </a:r>
          </a:p>
        </p:txBody>
      </p:sp>
    </p:spTree>
    <p:extLst>
      <p:ext uri="{BB962C8B-B14F-4D97-AF65-F5344CB8AC3E}">
        <p14:creationId xmlns:p14="http://schemas.microsoft.com/office/powerpoint/2010/main" val="5388245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Deep Copy vs. Shallow Copy, cont.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689475"/>
          </a:xfrm>
        </p:spPr>
        <p:txBody>
          <a:bodyPr>
            <a:normAutofit/>
          </a:bodyPr>
          <a:lstStyle/>
          <a:p>
            <a:r>
              <a:rPr lang="en-US" dirty="0"/>
              <a:t>Example:</a:t>
            </a: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057503" y="2283232"/>
            <a:ext cx="10982097" cy="4524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 copy</a:t>
            </a:r>
          </a:p>
          <a:p>
            <a:r>
              <a:rPr lang="en-US" altLang="en-US" sz="1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City:</a:t>
            </a:r>
          </a:p>
          <a:p>
            <a:r>
              <a:rPr lang="en-US" altLang="en-US" sz="1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18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</a:t>
            </a:r>
            <a:r>
              <a:rPr lang="en-US" altLang="en-US" sz="1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__</a:t>
            </a:r>
            <a:r>
              <a:rPr lang="en-US" altLang="en-US" sz="18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init</a:t>
            </a:r>
            <a:r>
              <a:rPr lang="en-US" altLang="en-US" sz="1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__(</a:t>
            </a:r>
            <a:r>
              <a:rPr lang="en-US" altLang="en-US" sz="18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self,name</a:t>
            </a:r>
            <a:r>
              <a:rPr lang="en-US" altLang="en-US" sz="1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): self.name=name</a:t>
            </a:r>
          </a:p>
          <a:p>
            <a:r>
              <a:rPr lang="en-US" altLang="en-US" sz="1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University:</a:t>
            </a:r>
          </a:p>
          <a:p>
            <a:r>
              <a:rPr lang="en-US" altLang="en-US" sz="1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18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</a:t>
            </a:r>
            <a:r>
              <a:rPr lang="en-US" altLang="en-US" sz="1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__</a:t>
            </a:r>
            <a:r>
              <a:rPr lang="en-US" altLang="en-US" sz="18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init</a:t>
            </a:r>
            <a:r>
              <a:rPr lang="en-US" altLang="en-US" sz="1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__(</a:t>
            </a:r>
            <a:r>
              <a:rPr lang="en-US" altLang="en-US" sz="18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self,name,city</a:t>
            </a:r>
            <a:r>
              <a:rPr lang="en-US" altLang="en-US" sz="1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):   self.name=</a:t>
            </a:r>
            <a:r>
              <a:rPr lang="en-US" altLang="en-US" sz="18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name;self.city</a:t>
            </a:r>
            <a:r>
              <a:rPr lang="en-US" altLang="en-US" sz="1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=city</a:t>
            </a:r>
          </a:p>
          <a:p>
            <a:r>
              <a:rPr lang="en-US" altLang="en-US" sz="1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</a:p>
          <a:p>
            <a:r>
              <a:rPr lang="en-US" altLang="en-US" sz="18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rva</a:t>
            </a:r>
            <a:r>
              <a:rPr lang="en-US" altLang="en-US" sz="1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=City("Richmond")      </a:t>
            </a:r>
          </a:p>
          <a:p>
            <a:r>
              <a:rPr lang="en-US" altLang="en-US" sz="18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vcu</a:t>
            </a:r>
            <a:r>
              <a:rPr lang="en-US" altLang="en-US" sz="1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=University("VCU",</a:t>
            </a:r>
            <a:r>
              <a:rPr lang="en-US" altLang="en-US" sz="18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rva</a:t>
            </a:r>
            <a:r>
              <a:rPr lang="en-US" altLang="en-US" sz="1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       </a:t>
            </a:r>
          </a:p>
          <a:p>
            <a:endParaRPr lang="en-US" altLang="en-US" sz="18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en-US" sz="1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print(id(</a:t>
            </a:r>
            <a:r>
              <a:rPr lang="en-US" altLang="en-US" sz="18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vcu</a:t>
            </a:r>
            <a:r>
              <a:rPr lang="en-US" altLang="en-US" sz="1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), id(vcu.name), id(</a:t>
            </a:r>
            <a:r>
              <a:rPr lang="en-US" altLang="en-US" sz="18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vcu.city</a:t>
            </a:r>
            <a:r>
              <a:rPr lang="en-US" altLang="en-US" sz="1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), id(vcu.city.name))</a:t>
            </a:r>
          </a:p>
          <a:p>
            <a:r>
              <a:rPr lang="en-US" altLang="en-US" sz="18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spawnU</a:t>
            </a:r>
            <a:r>
              <a:rPr lang="en-US" altLang="en-US" sz="1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altLang="en-US" sz="18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vcu</a:t>
            </a:r>
            <a:endParaRPr lang="en-US" altLang="en-US" sz="18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en-US" sz="1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print(id(</a:t>
            </a:r>
            <a:r>
              <a:rPr lang="en-US" altLang="en-US" sz="18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spawnU</a:t>
            </a:r>
            <a:r>
              <a:rPr lang="en-US" altLang="en-US" sz="1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), id(</a:t>
            </a:r>
            <a:r>
              <a:rPr lang="en-US" altLang="en-US" sz="18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spawnU.name</a:t>
            </a:r>
            <a:r>
              <a:rPr lang="en-US" altLang="en-US" sz="1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), id(</a:t>
            </a:r>
            <a:r>
              <a:rPr lang="en-US" altLang="en-US" sz="18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spawnU.city</a:t>
            </a:r>
            <a:r>
              <a:rPr lang="en-US" altLang="en-US" sz="1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), id(</a:t>
            </a:r>
            <a:r>
              <a:rPr lang="en-US" altLang="en-US" sz="18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spawnU.city.name</a:t>
            </a:r>
            <a:r>
              <a:rPr lang="en-US" altLang="en-US" sz="1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))</a:t>
            </a:r>
          </a:p>
          <a:p>
            <a:r>
              <a:rPr lang="en-US" altLang="en-US" sz="18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spawnU</a:t>
            </a:r>
            <a:r>
              <a:rPr lang="en-US" altLang="en-US" sz="1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altLang="en-US" sz="18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copy.copy</a:t>
            </a:r>
            <a:r>
              <a:rPr lang="en-US" altLang="en-US" sz="1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en-US" sz="18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vcu</a:t>
            </a:r>
            <a:r>
              <a:rPr lang="en-US" altLang="en-US" sz="1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altLang="en-US" sz="1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print(id(</a:t>
            </a:r>
            <a:r>
              <a:rPr lang="en-US" altLang="en-US" sz="18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spawnU</a:t>
            </a:r>
            <a:r>
              <a:rPr lang="en-US" altLang="en-US" sz="1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), id(</a:t>
            </a:r>
            <a:r>
              <a:rPr lang="en-US" altLang="en-US" sz="18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spawnU.name</a:t>
            </a:r>
            <a:r>
              <a:rPr lang="en-US" altLang="en-US" sz="1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), id(</a:t>
            </a:r>
            <a:r>
              <a:rPr lang="en-US" altLang="en-US" sz="18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spawnU.city</a:t>
            </a:r>
            <a:r>
              <a:rPr lang="en-US" altLang="en-US" sz="1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), id(</a:t>
            </a:r>
            <a:r>
              <a:rPr lang="en-US" altLang="en-US" sz="18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spawnU.city.name</a:t>
            </a:r>
            <a:r>
              <a:rPr lang="en-US" altLang="en-US" sz="1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))</a:t>
            </a:r>
          </a:p>
          <a:p>
            <a:r>
              <a:rPr lang="en-US" altLang="en-US" sz="18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spawnU</a:t>
            </a:r>
            <a:r>
              <a:rPr lang="en-US" altLang="en-US" sz="1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altLang="en-US" sz="18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copy.deepcopy</a:t>
            </a:r>
            <a:r>
              <a:rPr lang="en-US" altLang="en-US" sz="1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en-US" sz="18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vcu</a:t>
            </a:r>
            <a:r>
              <a:rPr lang="en-US" altLang="en-US" sz="1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altLang="en-US" sz="1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print(id(</a:t>
            </a:r>
            <a:r>
              <a:rPr lang="en-US" altLang="en-US" sz="18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spawnU</a:t>
            </a:r>
            <a:r>
              <a:rPr lang="en-US" altLang="en-US" sz="1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), id(</a:t>
            </a:r>
            <a:r>
              <a:rPr lang="en-US" altLang="en-US" sz="18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spawnU.name</a:t>
            </a:r>
            <a:r>
              <a:rPr lang="en-US" altLang="en-US" sz="1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), id(</a:t>
            </a:r>
            <a:r>
              <a:rPr lang="en-US" altLang="en-US" sz="18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spawnU.city</a:t>
            </a:r>
            <a:r>
              <a:rPr lang="en-US" altLang="en-US" sz="1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), id(</a:t>
            </a:r>
            <a:r>
              <a:rPr lang="en-US" altLang="en-US" sz="18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spawnU.city.name</a:t>
            </a:r>
            <a:r>
              <a:rPr lang="en-US" altLang="en-US" sz="1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24699" y="1690688"/>
            <a:ext cx="542290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Prints</a:t>
            </a:r>
          </a:p>
          <a:p>
            <a:r>
              <a:rPr lang="is-IS" dirty="0">
                <a:solidFill>
                  <a:schemeClr val="accent1"/>
                </a:solidFill>
              </a:rPr>
              <a:t>4385838696 </a:t>
            </a:r>
            <a:r>
              <a:rPr lang="is-IS" dirty="0">
                <a:solidFill>
                  <a:srgbClr val="4472C4"/>
                </a:solidFill>
              </a:rPr>
              <a:t>4385838392</a:t>
            </a:r>
            <a:r>
              <a:rPr lang="is-IS" dirty="0">
                <a:solidFill>
                  <a:schemeClr val="accent1"/>
                </a:solidFill>
              </a:rPr>
              <a:t> 4385548496 4385845424 4385838696 4385838392 4385548496 4385845424 </a:t>
            </a:r>
            <a:r>
              <a:rPr lang="is-IS" dirty="0">
                <a:solidFill>
                  <a:srgbClr val="FF0000"/>
                </a:solidFill>
              </a:rPr>
              <a:t>4385492888</a:t>
            </a:r>
            <a:r>
              <a:rPr lang="is-IS" dirty="0">
                <a:solidFill>
                  <a:schemeClr val="accent1"/>
                </a:solidFill>
              </a:rPr>
              <a:t> 4385838392 </a:t>
            </a:r>
            <a:r>
              <a:rPr lang="is-IS" dirty="0">
                <a:solidFill>
                  <a:srgbClr val="4472C4"/>
                </a:solidFill>
              </a:rPr>
              <a:t>4385548496</a:t>
            </a:r>
            <a:r>
              <a:rPr lang="is-IS" dirty="0">
                <a:solidFill>
                  <a:schemeClr val="accent1"/>
                </a:solidFill>
              </a:rPr>
              <a:t> 4385845424 </a:t>
            </a:r>
            <a:r>
              <a:rPr lang="is-IS" dirty="0">
                <a:solidFill>
                  <a:srgbClr val="FF0000"/>
                </a:solidFill>
              </a:rPr>
              <a:t>4385838920</a:t>
            </a:r>
            <a:r>
              <a:rPr lang="is-IS" dirty="0">
                <a:solidFill>
                  <a:schemeClr val="accent1"/>
                </a:solidFill>
              </a:rPr>
              <a:t> 4385838392 </a:t>
            </a:r>
            <a:r>
              <a:rPr lang="is-IS" dirty="0">
                <a:solidFill>
                  <a:srgbClr val="FF0000"/>
                </a:solidFill>
              </a:rPr>
              <a:t>4385840488</a:t>
            </a:r>
            <a:r>
              <a:rPr lang="is-IS" dirty="0">
                <a:solidFill>
                  <a:schemeClr val="accent1"/>
                </a:solidFill>
              </a:rPr>
              <a:t> 4385845424</a:t>
            </a:r>
            <a:endParaRPr lang="en-US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392946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Deep Copy vs. Shallow Copy, cont.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689475"/>
          </a:xfrm>
        </p:spPr>
        <p:txBody>
          <a:bodyPr>
            <a:normAutofit/>
          </a:bodyPr>
          <a:lstStyle/>
          <a:p>
            <a:r>
              <a:rPr lang="en-US" dirty="0"/>
              <a:t>Example:</a:t>
            </a: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057503" y="2283232"/>
            <a:ext cx="11007497" cy="42473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 copy</a:t>
            </a:r>
          </a:p>
          <a:p>
            <a:r>
              <a:rPr lang="en-US" altLang="en-US" sz="1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City:</a:t>
            </a:r>
          </a:p>
          <a:p>
            <a:r>
              <a:rPr lang="en-US" altLang="en-US" sz="1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18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</a:t>
            </a:r>
            <a:r>
              <a:rPr lang="en-US" altLang="en-US" sz="1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__</a:t>
            </a:r>
            <a:r>
              <a:rPr lang="en-US" altLang="en-US" sz="18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init</a:t>
            </a:r>
            <a:r>
              <a:rPr lang="en-US" altLang="en-US" sz="1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__(</a:t>
            </a:r>
            <a:r>
              <a:rPr lang="en-US" altLang="en-US" sz="18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self,name</a:t>
            </a:r>
            <a:r>
              <a:rPr lang="en-US" altLang="en-US" sz="1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): self.name=name</a:t>
            </a:r>
          </a:p>
          <a:p>
            <a:r>
              <a:rPr lang="en-US" altLang="en-US" sz="1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University:</a:t>
            </a:r>
          </a:p>
          <a:p>
            <a:r>
              <a:rPr lang="en-US" altLang="en-US" sz="1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18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</a:t>
            </a:r>
            <a:r>
              <a:rPr lang="en-US" altLang="en-US" sz="1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__</a:t>
            </a:r>
            <a:r>
              <a:rPr lang="en-US" altLang="en-US" sz="18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init</a:t>
            </a:r>
            <a:r>
              <a:rPr lang="en-US" altLang="en-US" sz="1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__(</a:t>
            </a:r>
            <a:r>
              <a:rPr lang="en-US" altLang="en-US" sz="18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self,name,city</a:t>
            </a:r>
            <a:r>
              <a:rPr lang="en-US" altLang="en-US" sz="1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):   self.name=</a:t>
            </a:r>
            <a:r>
              <a:rPr lang="en-US" altLang="en-US" sz="18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name;self.city</a:t>
            </a:r>
            <a:r>
              <a:rPr lang="en-US" altLang="en-US" sz="1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=city</a:t>
            </a:r>
          </a:p>
          <a:p>
            <a:r>
              <a:rPr lang="en-US" altLang="en-US" sz="1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</a:p>
          <a:p>
            <a:r>
              <a:rPr lang="en-US" altLang="en-US" sz="18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rva</a:t>
            </a:r>
            <a:r>
              <a:rPr lang="en-US" altLang="en-US" sz="1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=City("Richmond")      </a:t>
            </a:r>
          </a:p>
          <a:p>
            <a:r>
              <a:rPr lang="en-US" altLang="en-US" sz="18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vcu</a:t>
            </a:r>
            <a:r>
              <a:rPr lang="en-US" altLang="en-US" sz="1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=University("VCU",</a:t>
            </a:r>
            <a:r>
              <a:rPr lang="en-US" altLang="en-US" sz="18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rva</a:t>
            </a:r>
            <a:r>
              <a:rPr lang="en-US" altLang="en-US" sz="1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       </a:t>
            </a:r>
          </a:p>
          <a:p>
            <a:endParaRPr lang="en-US" altLang="en-US" sz="18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en-US" sz="1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print(id(</a:t>
            </a:r>
            <a:r>
              <a:rPr lang="en-US" altLang="en-US" sz="18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vcu</a:t>
            </a:r>
            <a:r>
              <a:rPr lang="en-US" altLang="en-US" sz="1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), id(vcu.name), id(</a:t>
            </a:r>
            <a:r>
              <a:rPr lang="en-US" altLang="en-US" sz="18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vcu.city</a:t>
            </a:r>
            <a:r>
              <a:rPr lang="en-US" altLang="en-US" sz="1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), id(vcu.city.name))</a:t>
            </a:r>
          </a:p>
          <a:p>
            <a:r>
              <a:rPr lang="en-US" altLang="en-US" sz="18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spawnU</a:t>
            </a:r>
            <a:r>
              <a:rPr lang="en-US" altLang="en-US" sz="1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altLang="en-US" sz="18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copy.deepcopy</a:t>
            </a:r>
            <a:r>
              <a:rPr lang="en-US" altLang="en-US" sz="1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en-US" sz="18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vcu</a:t>
            </a:r>
            <a:r>
              <a:rPr lang="en-US" altLang="en-US" sz="1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altLang="en-US" sz="1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print(id(</a:t>
            </a:r>
            <a:r>
              <a:rPr lang="en-US" altLang="en-US" sz="18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spawnU</a:t>
            </a:r>
            <a:r>
              <a:rPr lang="en-US" altLang="en-US" sz="1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), id(spawnU.name), id(</a:t>
            </a:r>
            <a:r>
              <a:rPr lang="en-US" altLang="en-US" sz="18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spawnU.city</a:t>
            </a:r>
            <a:r>
              <a:rPr lang="en-US" altLang="en-US" sz="1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), id(spawnU.city.name))</a:t>
            </a:r>
          </a:p>
          <a:p>
            <a:r>
              <a:rPr lang="en-US" altLang="en-US" sz="18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spawnU.city.name = "Roanoke"</a:t>
            </a:r>
          </a:p>
          <a:p>
            <a:r>
              <a:rPr lang="en-US" altLang="en-US" sz="1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print(id(</a:t>
            </a:r>
            <a:r>
              <a:rPr lang="en-US" altLang="en-US" sz="18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spawnU</a:t>
            </a:r>
            <a:r>
              <a:rPr lang="en-US" altLang="en-US" sz="1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), id(spawnU.name), id(</a:t>
            </a:r>
            <a:r>
              <a:rPr lang="en-US" altLang="en-US" sz="18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spawnU.city</a:t>
            </a:r>
            <a:r>
              <a:rPr lang="en-US" altLang="en-US" sz="1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), id(spawnU.city.name))</a:t>
            </a:r>
          </a:p>
          <a:p>
            <a:r>
              <a:rPr lang="en-US" altLang="en-US" sz="1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print(id(</a:t>
            </a:r>
            <a:r>
              <a:rPr lang="en-US" altLang="en-US" sz="18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vcu</a:t>
            </a:r>
            <a:r>
              <a:rPr lang="en-US" altLang="en-US" sz="1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), id(vcu.name), id(</a:t>
            </a:r>
            <a:r>
              <a:rPr lang="en-US" altLang="en-US" sz="18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vcu.city</a:t>
            </a:r>
            <a:r>
              <a:rPr lang="en-US" altLang="en-US" sz="1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), id(vcu.city.name))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49515" y="1690688"/>
            <a:ext cx="504248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Prints</a:t>
            </a:r>
          </a:p>
          <a:p>
            <a:r>
              <a:rPr lang="is-IS" dirty="0">
                <a:solidFill>
                  <a:schemeClr val="accent1"/>
                </a:solidFill>
              </a:rPr>
              <a:t>4385838696 4385838392 4385548496 4385845424 </a:t>
            </a:r>
            <a:r>
              <a:rPr lang="is-IS" dirty="0">
                <a:solidFill>
                  <a:srgbClr val="FF0000"/>
                </a:solidFill>
              </a:rPr>
              <a:t>4385838920</a:t>
            </a:r>
            <a:r>
              <a:rPr lang="is-IS" dirty="0">
                <a:solidFill>
                  <a:schemeClr val="accent1"/>
                </a:solidFill>
              </a:rPr>
              <a:t> 4385838392 </a:t>
            </a:r>
            <a:r>
              <a:rPr lang="is-IS" dirty="0">
                <a:solidFill>
                  <a:srgbClr val="FF0000"/>
                </a:solidFill>
              </a:rPr>
              <a:t>4385840488</a:t>
            </a:r>
            <a:r>
              <a:rPr lang="is-IS" dirty="0">
                <a:solidFill>
                  <a:schemeClr val="accent1"/>
                </a:solidFill>
              </a:rPr>
              <a:t> 4385845424</a:t>
            </a:r>
          </a:p>
          <a:p>
            <a:r>
              <a:rPr lang="is-IS" dirty="0">
                <a:solidFill>
                  <a:srgbClr val="FF0000"/>
                </a:solidFill>
              </a:rPr>
              <a:t>4385838920</a:t>
            </a:r>
            <a:r>
              <a:rPr lang="is-IS" dirty="0">
                <a:solidFill>
                  <a:schemeClr val="accent1"/>
                </a:solidFill>
              </a:rPr>
              <a:t> 4385838392 </a:t>
            </a:r>
            <a:r>
              <a:rPr lang="is-IS" dirty="0">
                <a:solidFill>
                  <a:srgbClr val="FF0000"/>
                </a:solidFill>
              </a:rPr>
              <a:t>4385840488</a:t>
            </a:r>
            <a:r>
              <a:rPr lang="is-IS" dirty="0">
                <a:solidFill>
                  <a:schemeClr val="accent1"/>
                </a:solidFill>
              </a:rPr>
              <a:t> </a:t>
            </a:r>
            <a:r>
              <a:rPr lang="is-IS" dirty="0">
                <a:solidFill>
                  <a:srgbClr val="FF0000"/>
                </a:solidFill>
              </a:rPr>
              <a:t>4385845840</a:t>
            </a:r>
            <a:r>
              <a:rPr lang="is-IS" dirty="0">
                <a:solidFill>
                  <a:schemeClr val="accent1"/>
                </a:solidFill>
              </a:rPr>
              <a:t> 4385838696 4385838392 4385548496 4385845424</a:t>
            </a:r>
            <a:endParaRPr lang="en-US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00290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Deep Copy vs. Shallow Copy, cont.</a:t>
            </a: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838200" y="1690688"/>
            <a:ext cx="8988425" cy="40318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 copy</a:t>
            </a:r>
          </a:p>
          <a:p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listA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["John", "Jane"]</a:t>
            </a:r>
          </a:p>
          <a:p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tupleB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(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listA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1, "two" )</a:t>
            </a:r>
          </a:p>
          <a:p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print(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listA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print(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tupleB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endParaRPr lang="en-US" sz="16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b=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copy.copy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tupleB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c=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copy.deepcopy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tupleB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print("tuple:", id(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tupleB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), "list:", id(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tupleB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[0]))</a:t>
            </a:r>
          </a:p>
          <a:p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print("tuple:", id(b), "list:", id(b[0]))</a:t>
            </a:r>
          </a:p>
          <a:p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print("tuple:", id(c), "list:", id(c[0]))</a:t>
            </a:r>
          </a:p>
          <a:p>
            <a:endParaRPr lang="en-US" sz="16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listA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[0]="James"</a:t>
            </a:r>
          </a:p>
          <a:p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print(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listA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print(b) #result of copy</a:t>
            </a:r>
          </a:p>
          <a:p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print(c) #result of deep copy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52373" y="3843278"/>
            <a:ext cx="559308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4472C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Prints:</a:t>
            </a:r>
          </a:p>
          <a:p>
            <a:r>
              <a:rPr lang="nl-NL" sz="2000" dirty="0">
                <a:solidFill>
                  <a:srgbClr val="4472C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['John', 'Jane']</a:t>
            </a:r>
          </a:p>
          <a:p>
            <a:r>
              <a:rPr lang="nl-NL" sz="2000" dirty="0">
                <a:solidFill>
                  <a:srgbClr val="4472C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(['John', 'Jane'], 1, '</a:t>
            </a:r>
            <a:r>
              <a:rPr lang="nl-NL" sz="2000" dirty="0" err="1">
                <a:solidFill>
                  <a:srgbClr val="4472C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two</a:t>
            </a:r>
            <a:r>
              <a:rPr lang="nl-NL" sz="2000" dirty="0">
                <a:solidFill>
                  <a:srgbClr val="4472C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')</a:t>
            </a:r>
          </a:p>
          <a:p>
            <a:r>
              <a:rPr lang="en-US" sz="2000" dirty="0">
                <a:solidFill>
                  <a:srgbClr val="4472C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tuple </a:t>
            </a:r>
            <a:r>
              <a:rPr lang="nl-NL" sz="2000" dirty="0">
                <a:solidFill>
                  <a:srgbClr val="4472C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4378320544 </a:t>
            </a:r>
            <a:r>
              <a:rPr lang="en-US" sz="2000" dirty="0">
                <a:solidFill>
                  <a:srgbClr val="4472C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list </a:t>
            </a:r>
            <a:r>
              <a:rPr lang="nl-NL" sz="2000" dirty="0">
                <a:solidFill>
                  <a:srgbClr val="4472C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4378482440</a:t>
            </a:r>
          </a:p>
          <a:p>
            <a:r>
              <a:rPr lang="en-US" sz="2000" dirty="0">
                <a:solidFill>
                  <a:srgbClr val="4472C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tuple </a:t>
            </a:r>
            <a:r>
              <a:rPr lang="nl-NL" sz="2000" dirty="0">
                <a:solidFill>
                  <a:srgbClr val="4472C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4378320544 </a:t>
            </a:r>
            <a:r>
              <a:rPr lang="en-US" sz="2000" dirty="0">
                <a:solidFill>
                  <a:srgbClr val="4472C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list </a:t>
            </a:r>
            <a:r>
              <a:rPr lang="nl-NL" sz="2000" dirty="0">
                <a:solidFill>
                  <a:srgbClr val="4472C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4378482440</a:t>
            </a:r>
          </a:p>
          <a:p>
            <a:r>
              <a:rPr lang="en-US" sz="2000" dirty="0">
                <a:solidFill>
                  <a:srgbClr val="4472C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tuple </a:t>
            </a:r>
            <a:r>
              <a:rPr lang="nl-NL" sz="2000" dirty="0">
                <a:solidFill>
                  <a:srgbClr val="4472C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4378490560 </a:t>
            </a:r>
            <a:r>
              <a:rPr lang="en-US" sz="2000" dirty="0">
                <a:solidFill>
                  <a:srgbClr val="4472C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list </a:t>
            </a:r>
            <a:r>
              <a:rPr lang="nl-NL" sz="2000" dirty="0">
                <a:solidFill>
                  <a:srgbClr val="4472C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4377877960</a:t>
            </a:r>
          </a:p>
          <a:p>
            <a:r>
              <a:rPr lang="nl-NL" sz="2000" dirty="0">
                <a:solidFill>
                  <a:srgbClr val="4472C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['James', 'Jane']</a:t>
            </a:r>
          </a:p>
          <a:p>
            <a:r>
              <a:rPr lang="nl-NL" sz="2000" dirty="0">
                <a:solidFill>
                  <a:srgbClr val="4472C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(['James', 'Jane'], 1, '</a:t>
            </a:r>
            <a:r>
              <a:rPr lang="nl-NL" sz="2000" dirty="0" err="1">
                <a:solidFill>
                  <a:srgbClr val="4472C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two</a:t>
            </a:r>
            <a:r>
              <a:rPr lang="nl-NL" sz="2000" dirty="0">
                <a:solidFill>
                  <a:srgbClr val="4472C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')</a:t>
            </a:r>
          </a:p>
          <a:p>
            <a:r>
              <a:rPr lang="nl-NL" sz="2000" dirty="0">
                <a:solidFill>
                  <a:srgbClr val="4472C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(['John', 'Jane'], 1, '</a:t>
            </a:r>
            <a:r>
              <a:rPr lang="nl-NL" sz="2000" dirty="0" err="1">
                <a:solidFill>
                  <a:srgbClr val="4472C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two</a:t>
            </a:r>
            <a:r>
              <a:rPr lang="nl-NL" sz="2000" dirty="0">
                <a:solidFill>
                  <a:srgbClr val="4472C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')</a:t>
            </a:r>
            <a:endParaRPr lang="en-US" sz="2000" dirty="0">
              <a:solidFill>
                <a:srgbClr val="4472C4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05032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Python Variables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657114" cy="5032375"/>
          </a:xfrm>
        </p:spPr>
        <p:txBody>
          <a:bodyPr>
            <a:normAutofit lnSpcReduction="10000"/>
          </a:bodyPr>
          <a:lstStyle/>
          <a:p>
            <a:r>
              <a:rPr lang="en-US" altLang="en-US" dirty="0">
                <a:cs typeface="Times New Roman" panose="02020603050405020304" pitchFamily="18" charset="0"/>
              </a:rPr>
              <a:t>Class Variables verses Instance Variables</a:t>
            </a:r>
          </a:p>
          <a:p>
            <a:pPr lvl="1"/>
            <a:r>
              <a:rPr lang="en-US" altLang="en-US" sz="2800" dirty="0">
                <a:cs typeface="Times New Roman" panose="02020603050405020304" pitchFamily="18" charset="0"/>
              </a:rPr>
              <a:t>Class variables are defined within the class construction.  They are shared by all instances of the class and will generally have the same value for every instance.</a:t>
            </a:r>
          </a:p>
          <a:p>
            <a:pPr lvl="1"/>
            <a:r>
              <a:rPr lang="en-US" altLang="en-US" sz="2800" dirty="0">
                <a:cs typeface="Times New Roman" panose="02020603050405020304" pitchFamily="18" charset="0"/>
              </a:rPr>
              <a:t>Instance variables are owned by instances of the class.  For each object or instance of a class, the instance variables are different.  Instance variables are defined within methods.</a:t>
            </a:r>
          </a:p>
          <a:p>
            <a:pPr marL="457200" lvl="1" indent="0">
              <a:buNone/>
            </a:pPr>
            <a:r>
              <a:rPr lang="en-US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class Shark:</a:t>
            </a:r>
          </a:p>
          <a:p>
            <a:pPr marL="457200" lvl="1" indent="0">
              <a:buNone/>
            </a:pPr>
            <a:r>
              <a:rPr lang="en-US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animal_type</a:t>
            </a:r>
            <a:r>
              <a:rPr lang="en-US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= "fish" #class variable</a:t>
            </a:r>
          </a:p>
          <a:p>
            <a:pPr marL="457200" lvl="1" indent="0">
              <a:buNone/>
            </a:pPr>
            <a:r>
              <a:rPr lang="en-US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	  def __</a:t>
            </a:r>
            <a:r>
              <a:rPr lang="en-US" altLang="en-US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init</a:t>
            </a:r>
            <a:r>
              <a:rPr lang="en-US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__(self, name, age):</a:t>
            </a:r>
          </a:p>
          <a:p>
            <a:pPr marL="457200" lvl="1" indent="0">
              <a:buNone/>
            </a:pPr>
            <a:r>
              <a:rPr lang="en-US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altLang="en-US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self.name</a:t>
            </a:r>
            <a:r>
              <a:rPr lang="en-US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= name #instance variables</a:t>
            </a:r>
          </a:p>
          <a:p>
            <a:pPr marL="457200" lvl="1" indent="0">
              <a:buNone/>
            </a:pPr>
            <a:r>
              <a:rPr lang="en-US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altLang="en-US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self.age</a:t>
            </a:r>
            <a:r>
              <a:rPr lang="en-US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= age</a:t>
            </a:r>
            <a:endParaRPr lang="en-US" altLang="en-US" sz="2800" dirty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87252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Python Variables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657114" cy="5032375"/>
          </a:xfrm>
        </p:spPr>
        <p:txBody>
          <a:bodyPr>
            <a:normAutofit/>
          </a:bodyPr>
          <a:lstStyle/>
          <a:p>
            <a:r>
              <a:rPr lang="en-US" altLang="en-US" dirty="0">
                <a:cs typeface="Times New Roman" panose="02020603050405020304" pitchFamily="18" charset="0"/>
              </a:rPr>
              <a:t>Example of Class Variables verses Instance Variables </a:t>
            </a:r>
          </a:p>
          <a:p>
            <a:endParaRPr lang="en-US" altLang="en-US" dirty="0">
              <a:cs typeface="Times New Roman" panose="02020603050405020304" pitchFamily="18" charset="0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1137557" y="2498271"/>
            <a:ext cx="10796138" cy="4493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2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Dog:</a:t>
            </a:r>
          </a:p>
          <a:p>
            <a:r>
              <a:rPr lang="en-US" altLang="en-US" sz="2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# class variable shared by all instances</a:t>
            </a:r>
          </a:p>
          <a:p>
            <a:r>
              <a:rPr lang="en-US" altLang="en-US" sz="2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kind = 'canine'</a:t>
            </a:r>
          </a:p>
          <a:p>
            <a:r>
              <a:rPr lang="en-US" altLang="en-US" sz="2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# constructor, with one argument: name</a:t>
            </a:r>
          </a:p>
          <a:p>
            <a:r>
              <a:rPr lang="en-US" altLang="en-US" sz="2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def __</a:t>
            </a:r>
            <a:r>
              <a:rPr lang="en-US" altLang="en-US" sz="2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init</a:t>
            </a:r>
            <a:r>
              <a:rPr lang="en-US" altLang="en-US" sz="2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__(self, name):</a:t>
            </a:r>
            <a:br>
              <a:rPr lang="en-US" altLang="en-US" sz="2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2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  # instance variable unique to each instance</a:t>
            </a:r>
          </a:p>
          <a:p>
            <a:r>
              <a:rPr lang="en-US" altLang="en-US" sz="2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altLang="en-US" sz="2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self.name</a:t>
            </a:r>
            <a:r>
              <a:rPr lang="en-US" altLang="en-US" sz="2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name</a:t>
            </a:r>
          </a:p>
          <a:p>
            <a:endParaRPr lang="en-US" altLang="en-US" sz="22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en-US" sz="2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 = Dog('Duffy')</a:t>
            </a:r>
          </a:p>
          <a:p>
            <a:r>
              <a:rPr lang="en-US" altLang="en-US" sz="2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 = Dog("Emo")</a:t>
            </a:r>
          </a:p>
          <a:p>
            <a:r>
              <a:rPr lang="en-US" altLang="en-US" sz="2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print(</a:t>
            </a:r>
            <a:r>
              <a:rPr lang="en-US" altLang="en-US" sz="2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d.name</a:t>
            </a:r>
            <a:r>
              <a:rPr lang="en-US" altLang="en-US" sz="2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"is ", </a:t>
            </a:r>
            <a:r>
              <a:rPr lang="en-US" altLang="en-US" sz="2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d.kind</a:t>
            </a:r>
            <a:r>
              <a:rPr lang="en-US" altLang="en-US" sz="2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   # Duffy is canine        </a:t>
            </a:r>
          </a:p>
          <a:p>
            <a:r>
              <a:rPr lang="en-US" altLang="en-US" sz="2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print(</a:t>
            </a:r>
            <a:r>
              <a:rPr lang="en-US" altLang="en-US" sz="2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e.name</a:t>
            </a:r>
            <a:r>
              <a:rPr lang="en-US" altLang="en-US" sz="2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"is ", </a:t>
            </a:r>
            <a:r>
              <a:rPr lang="en-US" altLang="en-US" sz="2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e.kind</a:t>
            </a:r>
            <a:r>
              <a:rPr lang="en-US" altLang="en-US" sz="2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   # Emo is canine</a:t>
            </a:r>
          </a:p>
          <a:p>
            <a:endParaRPr lang="en-US" altLang="en-US" sz="22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26836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Python Variables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657114" cy="5032375"/>
          </a:xfrm>
        </p:spPr>
        <p:txBody>
          <a:bodyPr>
            <a:normAutofit/>
          </a:bodyPr>
          <a:lstStyle/>
          <a:p>
            <a:r>
              <a:rPr lang="en-US" altLang="en-US" dirty="0">
                <a:cs typeface="Times New Roman" panose="02020603050405020304" pitchFamily="18" charset="0"/>
              </a:rPr>
              <a:t>Example of Class Variables verses Instance Variables </a:t>
            </a:r>
          </a:p>
          <a:p>
            <a:endParaRPr lang="en-US" altLang="en-US" dirty="0">
              <a:cs typeface="Times New Roman" panose="02020603050405020304" pitchFamily="18" charset="0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1137557" y="2498271"/>
            <a:ext cx="10614176" cy="37856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Dog:</a:t>
            </a:r>
          </a:p>
          <a:p>
            <a:r>
              <a:rPr lang="en-US" altLang="en-US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kind = "canine"</a:t>
            </a:r>
          </a:p>
          <a:p>
            <a:r>
              <a:rPr lang="en-US" altLang="en-US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2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</a:t>
            </a:r>
            <a:r>
              <a:rPr lang="en-US" altLang="en-US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__</a:t>
            </a:r>
            <a:r>
              <a:rPr lang="en-US" altLang="en-US" sz="2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init</a:t>
            </a:r>
            <a:r>
              <a:rPr lang="en-US" altLang="en-US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__(self, name): </a:t>
            </a:r>
          </a:p>
          <a:p>
            <a:r>
              <a:rPr lang="en-US" altLang="en-US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self.name = name    </a:t>
            </a:r>
          </a:p>
          <a:p>
            <a:endParaRPr lang="en-US" altLang="en-US" sz="24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en-US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 = Dog("Duffy")</a:t>
            </a:r>
          </a:p>
          <a:p>
            <a:r>
              <a:rPr lang="en-US" altLang="en-US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 = Dog("Emo")</a:t>
            </a:r>
          </a:p>
          <a:p>
            <a:r>
              <a:rPr lang="en-US" altLang="en-US" sz="2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e.kind</a:t>
            </a:r>
            <a:r>
              <a:rPr lang="en-US" altLang="en-US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"cat"</a:t>
            </a:r>
          </a:p>
          <a:p>
            <a:r>
              <a:rPr lang="en-US" altLang="en-US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print(d.name, "is", </a:t>
            </a:r>
            <a:r>
              <a:rPr lang="en-US" altLang="en-US" sz="2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d.kind</a:t>
            </a:r>
            <a:r>
              <a:rPr lang="en-US" altLang="en-US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# Duffy is canine        </a:t>
            </a:r>
          </a:p>
          <a:p>
            <a:r>
              <a:rPr lang="en-US" altLang="en-US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print(e.name, "is", </a:t>
            </a:r>
            <a:r>
              <a:rPr lang="en-US" altLang="en-US" sz="2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e.kind</a:t>
            </a:r>
            <a:r>
              <a:rPr lang="en-US" altLang="en-US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# Emo is cat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93201" y="2630868"/>
            <a:ext cx="465853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0070C0"/>
                </a:solidFill>
              </a:rPr>
              <a:t>Class variables are shadowed by instance variables.</a:t>
            </a:r>
          </a:p>
        </p:txBody>
      </p:sp>
      <p:cxnSp>
        <p:nvCxnSpPr>
          <p:cNvPr id="8" name="Straight Arrow Connector 7"/>
          <p:cNvCxnSpPr/>
          <p:nvPr/>
        </p:nvCxnSpPr>
        <p:spPr>
          <a:xfrm>
            <a:off x="449451" y="5346917"/>
            <a:ext cx="626114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915236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Python Variables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657114" cy="5032375"/>
          </a:xfrm>
        </p:spPr>
        <p:txBody>
          <a:bodyPr>
            <a:normAutofit/>
          </a:bodyPr>
          <a:lstStyle/>
          <a:p>
            <a:r>
              <a:rPr lang="en-US" altLang="en-US" dirty="0">
                <a:cs typeface="Times New Roman" panose="02020603050405020304" pitchFamily="18" charset="0"/>
              </a:rPr>
              <a:t>Example of Class Variables verses Instance Variables </a:t>
            </a:r>
          </a:p>
          <a:p>
            <a:endParaRPr lang="en-US" altLang="en-US" dirty="0">
              <a:cs typeface="Times New Roman" panose="02020603050405020304" pitchFamily="18" charset="0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1137557" y="2498271"/>
            <a:ext cx="10614176" cy="41549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Dog:</a:t>
            </a:r>
          </a:p>
          <a:p>
            <a:r>
              <a:rPr lang="en-US" altLang="en-US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kind = "canine"</a:t>
            </a:r>
          </a:p>
          <a:p>
            <a:r>
              <a:rPr lang="en-US" altLang="en-US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2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</a:t>
            </a:r>
            <a:r>
              <a:rPr lang="en-US" altLang="en-US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__</a:t>
            </a:r>
            <a:r>
              <a:rPr lang="en-US" altLang="en-US" sz="2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init</a:t>
            </a:r>
            <a:r>
              <a:rPr lang="en-US" altLang="en-US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__(self, name): </a:t>
            </a:r>
          </a:p>
          <a:p>
            <a:r>
              <a:rPr lang="en-US" altLang="en-US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self.name = name    </a:t>
            </a:r>
          </a:p>
          <a:p>
            <a:endParaRPr lang="en-US" altLang="en-US" sz="24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en-US" sz="2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Dog.kind</a:t>
            </a:r>
            <a:r>
              <a:rPr lang="en-US" altLang="en-US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"bear"</a:t>
            </a:r>
          </a:p>
          <a:p>
            <a:r>
              <a:rPr lang="en-US" altLang="en-US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 = Dog("Duffy")</a:t>
            </a:r>
          </a:p>
          <a:p>
            <a:r>
              <a:rPr lang="en-US" altLang="en-US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 = Dog("Emo")</a:t>
            </a:r>
          </a:p>
          <a:p>
            <a:r>
              <a:rPr lang="en-US" altLang="en-US" sz="2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e.kind</a:t>
            </a:r>
            <a:r>
              <a:rPr lang="en-US" altLang="en-US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"cat"</a:t>
            </a:r>
          </a:p>
          <a:p>
            <a:r>
              <a:rPr lang="en-US" altLang="en-US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print(d.name, "is", </a:t>
            </a:r>
            <a:r>
              <a:rPr lang="en-US" altLang="en-US" sz="2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d.kind</a:t>
            </a:r>
            <a:r>
              <a:rPr lang="en-US" altLang="en-US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  # Duffy is bear        </a:t>
            </a:r>
          </a:p>
          <a:p>
            <a:r>
              <a:rPr lang="en-US" altLang="en-US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print(e.name, "is", </a:t>
            </a:r>
            <a:r>
              <a:rPr lang="en-US" altLang="en-US" sz="2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e.kind</a:t>
            </a:r>
            <a:r>
              <a:rPr lang="en-US" altLang="en-US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  # Emo is cat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95268" y="2854737"/>
            <a:ext cx="465853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0070C0"/>
                </a:solidFill>
              </a:rPr>
              <a:t>Can change the value of a class variable </a:t>
            </a:r>
          </a:p>
          <a:p>
            <a:r>
              <a:rPr lang="en-US" sz="2800" dirty="0">
                <a:solidFill>
                  <a:srgbClr val="0070C0"/>
                </a:solidFill>
              </a:rPr>
              <a:t>This change will affect all objects</a:t>
            </a:r>
          </a:p>
        </p:txBody>
      </p:sp>
      <p:cxnSp>
        <p:nvCxnSpPr>
          <p:cNvPr id="8" name="Straight Arrow Connector 7"/>
          <p:cNvCxnSpPr/>
          <p:nvPr/>
        </p:nvCxnSpPr>
        <p:spPr>
          <a:xfrm>
            <a:off x="449451" y="4540998"/>
            <a:ext cx="626114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195871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Python Variables</a:t>
            </a: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1137556" y="1690688"/>
            <a:ext cx="10216244" cy="52014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2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Dog:</a:t>
            </a:r>
          </a:p>
          <a:p>
            <a:r>
              <a:rPr lang="en-US" altLang="en-US" sz="2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kind = "canine"</a:t>
            </a:r>
          </a:p>
          <a:p>
            <a:r>
              <a:rPr lang="en-US" altLang="en-US" sz="2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2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</a:t>
            </a:r>
            <a:r>
              <a:rPr lang="en-US" altLang="en-US" sz="2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__</a:t>
            </a:r>
            <a:r>
              <a:rPr lang="en-US" altLang="en-US" sz="2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init</a:t>
            </a:r>
            <a:r>
              <a:rPr lang="en-US" altLang="en-US" sz="2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__(self, name): </a:t>
            </a:r>
          </a:p>
          <a:p>
            <a:r>
              <a:rPr lang="en-US" altLang="en-US" sz="2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self.name = name    </a:t>
            </a:r>
          </a:p>
          <a:p>
            <a:r>
              <a:rPr lang="en-US" altLang="en-US" sz="2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Dog.kind</a:t>
            </a:r>
            <a:r>
              <a:rPr lang="en-US" altLang="en-US" sz="2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"bear"</a:t>
            </a:r>
          </a:p>
          <a:p>
            <a:r>
              <a:rPr lang="en-US" altLang="en-US" sz="2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Dog.color</a:t>
            </a:r>
            <a:r>
              <a:rPr lang="en-US" altLang="en-US" sz="2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"black"</a:t>
            </a:r>
          </a:p>
          <a:p>
            <a:r>
              <a:rPr lang="en-US" altLang="en-US" sz="2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 = Dog("Duffy")</a:t>
            </a:r>
          </a:p>
          <a:p>
            <a:r>
              <a:rPr lang="en-US" altLang="en-US" sz="2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 = Dog("Emo")</a:t>
            </a:r>
          </a:p>
          <a:p>
            <a:r>
              <a:rPr lang="en-US" altLang="en-US" sz="2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e.size</a:t>
            </a:r>
            <a:r>
              <a:rPr lang="en-US" altLang="en-US" sz="2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"small"</a:t>
            </a:r>
          </a:p>
          <a:p>
            <a:r>
              <a:rPr lang="en-US" altLang="en-US" sz="2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Duffy is bear of color black</a:t>
            </a:r>
          </a:p>
          <a:p>
            <a:r>
              <a:rPr lang="en-US" altLang="en-US" sz="2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print(d.name, "is", </a:t>
            </a:r>
            <a:r>
              <a:rPr lang="en-US" altLang="en-US" sz="2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d.kind</a:t>
            </a:r>
            <a:r>
              <a:rPr lang="en-US" altLang="en-US" sz="2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"of color", </a:t>
            </a:r>
            <a:r>
              <a:rPr lang="en-US" altLang="en-US" sz="2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d.color</a:t>
            </a:r>
            <a:r>
              <a:rPr lang="en-US" altLang="en-US" sz="2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</a:p>
          <a:p>
            <a:r>
              <a:rPr lang="en-US" altLang="en-US" sz="2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Emo is bear of size small       </a:t>
            </a:r>
          </a:p>
          <a:p>
            <a:r>
              <a:rPr lang="en-US" altLang="en-US" sz="2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print(e.name, "is", </a:t>
            </a:r>
            <a:r>
              <a:rPr lang="en-US" altLang="en-US" sz="2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e.kind</a:t>
            </a:r>
            <a:r>
              <a:rPr lang="en-US" altLang="en-US" sz="2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"of size", </a:t>
            </a:r>
            <a:r>
              <a:rPr lang="en-US" altLang="en-US" sz="2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e.size</a:t>
            </a:r>
            <a:r>
              <a:rPr lang="en-US" altLang="en-US" sz="2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altLang="en-US" sz="2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cause error since Dog or d has no attribute of size</a:t>
            </a:r>
          </a:p>
          <a:p>
            <a:r>
              <a:rPr lang="en-US" altLang="en-US" sz="2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print(</a:t>
            </a:r>
            <a:r>
              <a:rPr lang="en-US" altLang="en-US" sz="2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d.size</a:t>
            </a:r>
            <a:r>
              <a:rPr lang="en-US" altLang="en-US" sz="2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altLang="en-US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95268" y="3211197"/>
            <a:ext cx="465853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0070C0"/>
                </a:solidFill>
              </a:rPr>
              <a:t>Can add class variables and instance variables on the fly.  </a:t>
            </a:r>
          </a:p>
        </p:txBody>
      </p:sp>
      <p:cxnSp>
        <p:nvCxnSpPr>
          <p:cNvPr id="8" name="Straight Arrow Connector 7"/>
          <p:cNvCxnSpPr/>
          <p:nvPr/>
        </p:nvCxnSpPr>
        <p:spPr>
          <a:xfrm>
            <a:off x="466385" y="3558865"/>
            <a:ext cx="626114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>
            <a:off x="479303" y="4579163"/>
            <a:ext cx="626114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813047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Python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657114" cy="5032375"/>
          </a:xfrm>
        </p:spPr>
        <p:txBody>
          <a:bodyPr>
            <a:normAutofit/>
          </a:bodyPr>
          <a:lstStyle/>
          <a:p>
            <a:r>
              <a:rPr lang="en-US" altLang="en-US" dirty="0">
                <a:cs typeface="Times New Roman" panose="02020603050405020304" pitchFamily="18" charset="0"/>
              </a:rPr>
              <a:t>Example of Class Functions</a:t>
            </a:r>
          </a:p>
          <a:p>
            <a:endParaRPr lang="en-US" altLang="en-US" dirty="0">
              <a:cs typeface="Times New Roman" panose="02020603050405020304" pitchFamily="18" charset="0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1137557" y="2389785"/>
            <a:ext cx="10470674" cy="41549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Dog:</a:t>
            </a:r>
          </a:p>
          <a:p>
            <a:r>
              <a:rPr lang="en-US" altLang="en-US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kind = "canine"</a:t>
            </a:r>
          </a:p>
          <a:p>
            <a:r>
              <a:rPr lang="en-US" altLang="en-US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2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</a:t>
            </a:r>
            <a:r>
              <a:rPr lang="en-US" altLang="en-US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__</a:t>
            </a:r>
            <a:r>
              <a:rPr lang="en-US" altLang="en-US" sz="2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init</a:t>
            </a:r>
            <a:r>
              <a:rPr lang="en-US" altLang="en-US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__(self, name): </a:t>
            </a:r>
          </a:p>
          <a:p>
            <a:r>
              <a:rPr lang="en-US" altLang="en-US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self.name = name    </a:t>
            </a:r>
          </a:p>
          <a:p>
            <a:endParaRPr lang="en-US" altLang="en-US" sz="24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en-US" sz="2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</a:t>
            </a:r>
            <a:r>
              <a:rPr lang="en-US" altLang="en-US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funct</a:t>
            </a:r>
            <a:r>
              <a:rPr lang="en-US" altLang="en-US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(self, x):</a:t>
            </a:r>
          </a:p>
          <a:p>
            <a:r>
              <a:rPr lang="en-US" altLang="en-US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print(self.name, x)</a:t>
            </a:r>
          </a:p>
          <a:p>
            <a:endParaRPr lang="en-US" altLang="en-US" sz="24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en-US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 = Dog("Duffy")</a:t>
            </a:r>
          </a:p>
          <a:p>
            <a:r>
              <a:rPr lang="en-US" altLang="en-US" sz="2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Dog.funct</a:t>
            </a:r>
            <a:r>
              <a:rPr lang="en-US" altLang="en-US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altLang="en-US" sz="2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funct</a:t>
            </a:r>
            <a:endParaRPr lang="en-US" altLang="en-US" sz="24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en-US" sz="2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d.funct</a:t>
            </a:r>
            <a:r>
              <a:rPr lang="en-US" altLang="en-US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</a:t>
            </a:r>
            <a:r>
              <a:rPr lang="en-US" altLang="en-US" sz="2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abc</a:t>
            </a:r>
            <a:r>
              <a:rPr lang="en-US" altLang="en-US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95268" y="3433870"/>
            <a:ext cx="465853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0070C0"/>
                </a:solidFill>
              </a:rPr>
              <a:t>Can add functions outside of the class. </a:t>
            </a:r>
          </a:p>
          <a:p>
            <a:r>
              <a:rPr lang="en-US" sz="2800" dirty="0">
                <a:solidFill>
                  <a:srgbClr val="0070C0"/>
                </a:solidFill>
              </a:rPr>
              <a:t>Extensible classes: can add functions on the fly.  </a:t>
            </a:r>
          </a:p>
        </p:txBody>
      </p:sp>
      <p:cxnSp>
        <p:nvCxnSpPr>
          <p:cNvPr id="7" name="Straight Arrow Connector 6"/>
          <p:cNvCxnSpPr/>
          <p:nvPr/>
        </p:nvCxnSpPr>
        <p:spPr>
          <a:xfrm>
            <a:off x="462369" y="4491916"/>
            <a:ext cx="626114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866329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Python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657114" cy="5032375"/>
          </a:xfrm>
        </p:spPr>
        <p:txBody>
          <a:bodyPr>
            <a:normAutofit/>
          </a:bodyPr>
          <a:lstStyle/>
          <a:p>
            <a:r>
              <a:rPr lang="en-US" altLang="en-US" dirty="0">
                <a:cs typeface="Times New Roman" panose="02020603050405020304" pitchFamily="18" charset="0"/>
              </a:rPr>
              <a:t>Example of Instance Functions </a:t>
            </a:r>
          </a:p>
          <a:p>
            <a:endParaRPr lang="en-US" altLang="en-US" dirty="0">
              <a:cs typeface="Times New Roman" panose="02020603050405020304" pitchFamily="18" charset="0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1137557" y="2389785"/>
            <a:ext cx="10470674" cy="4493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2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Dog:					</a:t>
            </a:r>
          </a:p>
          <a:p>
            <a:r>
              <a:rPr lang="en-US" altLang="en-US" sz="2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kind = "canine"				 </a:t>
            </a:r>
          </a:p>
          <a:p>
            <a:r>
              <a:rPr lang="en-US" altLang="en-US" sz="2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def __</a:t>
            </a:r>
            <a:r>
              <a:rPr lang="en-US" altLang="en-US" sz="2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init</a:t>
            </a:r>
            <a:r>
              <a:rPr lang="en-US" altLang="en-US" sz="2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__(self, name): </a:t>
            </a:r>
          </a:p>
          <a:p>
            <a:r>
              <a:rPr lang="en-US" altLang="en-US" sz="2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self.name = name </a:t>
            </a:r>
          </a:p>
          <a:p>
            <a:r>
              <a:rPr lang="en-US" altLang="en-US" sz="2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</a:p>
          <a:p>
            <a:r>
              <a:rPr lang="en-US" altLang="en-US" sz="2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 </a:t>
            </a:r>
            <a:r>
              <a:rPr lang="en-US" altLang="en-US" sz="2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funct</a:t>
            </a:r>
            <a:r>
              <a:rPr lang="en-US" altLang="en-US" sz="2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(self, x):</a:t>
            </a:r>
          </a:p>
          <a:p>
            <a:r>
              <a:rPr lang="en-US" altLang="en-US" sz="2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print(</a:t>
            </a:r>
            <a:r>
              <a:rPr lang="en-US" altLang="en-US" sz="2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self.name</a:t>
            </a:r>
            <a:r>
              <a:rPr lang="en-US" altLang="en-US" sz="2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x)</a:t>
            </a:r>
          </a:p>
          <a:p>
            <a:endParaRPr lang="en-US" altLang="en-US" sz="22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en-US" sz="2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 = Dog("Duffy")</a:t>
            </a:r>
          </a:p>
          <a:p>
            <a:r>
              <a:rPr lang="en-US" altLang="en-US" sz="2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 = Dog("Emo")</a:t>
            </a:r>
          </a:p>
          <a:p>
            <a:r>
              <a:rPr lang="en-US" altLang="en-US" sz="2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d.f</a:t>
            </a:r>
            <a:r>
              <a:rPr lang="en-US" altLang="en-US" sz="2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altLang="en-US" sz="2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funct</a:t>
            </a:r>
            <a:r>
              <a:rPr lang="en-US" altLang="en-US" sz="2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.__get__(d, </a:t>
            </a:r>
            <a:r>
              <a:rPr lang="en-US" altLang="en-US" sz="2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d.__class</a:t>
            </a:r>
            <a:r>
              <a:rPr lang="en-US" altLang="en-US" sz="2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__)</a:t>
            </a:r>
          </a:p>
          <a:p>
            <a:r>
              <a:rPr lang="en-US" altLang="en-US" sz="2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d.f</a:t>
            </a:r>
            <a:r>
              <a:rPr lang="en-US" altLang="en-US" sz="2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</a:t>
            </a:r>
            <a:r>
              <a:rPr lang="en-US" altLang="en-US" sz="2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efg</a:t>
            </a:r>
            <a:r>
              <a:rPr lang="en-US" altLang="en-US" sz="2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")    # Duffy </a:t>
            </a:r>
            <a:r>
              <a:rPr lang="en-US" altLang="en-US" sz="2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efg</a:t>
            </a:r>
            <a:endParaRPr lang="en-US" altLang="en-US" sz="22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en-US" sz="2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e.f</a:t>
            </a:r>
            <a:r>
              <a:rPr lang="en-US" altLang="en-US" sz="2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</a:t>
            </a:r>
            <a:r>
              <a:rPr lang="en-US" altLang="en-US" sz="2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hij</a:t>
            </a:r>
            <a:r>
              <a:rPr lang="en-US" altLang="en-US" sz="2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")    # error Dog has no attribute 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36782" y="1825624"/>
            <a:ext cx="465853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0070C0"/>
                </a:solidFill>
              </a:rPr>
              <a:t>Extensible instances: can add functions for objects on the fly.  </a:t>
            </a:r>
          </a:p>
        </p:txBody>
      </p:sp>
      <p:cxnSp>
        <p:nvCxnSpPr>
          <p:cNvPr id="7" name="Straight Arrow Connector 6"/>
          <p:cNvCxnSpPr/>
          <p:nvPr/>
        </p:nvCxnSpPr>
        <p:spPr>
          <a:xfrm>
            <a:off x="511443" y="5979603"/>
            <a:ext cx="626114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25009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Python Access Modifiers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5618871" cy="5032375"/>
          </a:xfrm>
        </p:spPr>
        <p:txBody>
          <a:bodyPr>
            <a:normAutofit/>
          </a:bodyPr>
          <a:lstStyle/>
          <a:p>
            <a:r>
              <a:rPr lang="en-US" altLang="en-US" dirty="0">
                <a:cs typeface="Times New Roman" panose="02020603050405020304" pitchFamily="18" charset="0"/>
              </a:rPr>
              <a:t>Python supports public, private, and protected access </a:t>
            </a:r>
          </a:p>
          <a:p>
            <a:r>
              <a:rPr lang="en-US" altLang="en-US" dirty="0">
                <a:cs typeface="Times New Roman" panose="02020603050405020304" pitchFamily="18" charset="0"/>
              </a:rPr>
              <a:t>Level of access is determined by leading underscores </a:t>
            </a:r>
          </a:p>
          <a:p>
            <a:r>
              <a:rPr lang="en-US" altLang="en-US" dirty="0">
                <a:cs typeface="Times New Roman" panose="02020603050405020304" pitchFamily="18" charset="0"/>
              </a:rPr>
              <a:t>Public: no leading underscore </a:t>
            </a:r>
          </a:p>
          <a:p>
            <a:r>
              <a:rPr lang="en-US" altLang="en-US" dirty="0">
                <a:cs typeface="Times New Roman" panose="02020603050405020304" pitchFamily="18" charset="0"/>
              </a:rPr>
              <a:t>Protected: single leading underscore</a:t>
            </a:r>
          </a:p>
          <a:p>
            <a:r>
              <a:rPr lang="en-US" altLang="en-US" dirty="0">
                <a:cs typeface="Times New Roman" panose="02020603050405020304" pitchFamily="18" charset="0"/>
              </a:rPr>
              <a:t>Private: double leading underscore 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93EA622-E327-914B-83A1-DA426B0D4FFD}"/>
              </a:ext>
            </a:extLst>
          </p:cNvPr>
          <p:cNvSpPr txBox="1">
            <a:spLocks/>
          </p:cNvSpPr>
          <p:nvPr/>
        </p:nvSpPr>
        <p:spPr>
          <a:xfrm>
            <a:off x="6457071" y="1825625"/>
            <a:ext cx="5618871" cy="50323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class foo:</a:t>
            </a:r>
          </a:p>
          <a:p>
            <a:pPr marL="0" indent="0">
              <a:buNone/>
            </a:pP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x = "Public"</a:t>
            </a:r>
          </a:p>
          <a:p>
            <a:pPr marL="0" indent="0">
              <a:buNone/>
            </a:pP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_y = "Protected"</a:t>
            </a:r>
          </a:p>
          <a:p>
            <a:pPr marL="0" indent="0">
              <a:buNone/>
            </a:pP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__z = "Private"</a:t>
            </a:r>
          </a:p>
        </p:txBody>
      </p:sp>
    </p:spTree>
    <p:extLst>
      <p:ext uri="{BB962C8B-B14F-4D97-AF65-F5344CB8AC3E}">
        <p14:creationId xmlns:p14="http://schemas.microsoft.com/office/powerpoint/2010/main" val="54367109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Python Data Field Encapsulation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657114" cy="5032375"/>
          </a:xfrm>
        </p:spPr>
        <p:txBody>
          <a:bodyPr>
            <a:normAutofit/>
          </a:bodyPr>
          <a:lstStyle/>
          <a:p>
            <a:r>
              <a:rPr lang="en-US" altLang="en-US" dirty="0">
                <a:cs typeface="Times New Roman" panose="02020603050405020304" pitchFamily="18" charset="0"/>
              </a:rPr>
              <a:t>You can make data fields private by using two leading underscores at the beginning of the variable name</a:t>
            </a:r>
          </a:p>
          <a:p>
            <a:endParaRPr lang="en-US" altLang="en-US" dirty="0">
              <a:cs typeface="Times New Roman" panose="02020603050405020304" pitchFamily="18" charset="0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1137557" y="2637753"/>
            <a:ext cx="10470674" cy="3046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Dog:									</a:t>
            </a:r>
          </a:p>
          <a:p>
            <a:r>
              <a:rPr lang="en-US" altLang="en-US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2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</a:t>
            </a:r>
            <a:r>
              <a:rPr lang="en-US" altLang="en-US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__</a:t>
            </a:r>
            <a:r>
              <a:rPr lang="en-US" altLang="en-US" sz="2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init</a:t>
            </a:r>
            <a:r>
              <a:rPr lang="en-US" altLang="en-US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__(self, name): </a:t>
            </a:r>
          </a:p>
          <a:p>
            <a:r>
              <a:rPr lang="en-US" altLang="en-US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altLang="en-US" sz="2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self.__name</a:t>
            </a:r>
            <a:r>
              <a:rPr lang="en-US" altLang="en-US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name    </a:t>
            </a:r>
          </a:p>
          <a:p>
            <a:endParaRPr lang="en-US" altLang="en-US" sz="24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en-US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 = Dog("Duffy")</a:t>
            </a:r>
          </a:p>
          <a:p>
            <a:r>
              <a:rPr lang="en-US" altLang="en-US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 = Dog("Emo")</a:t>
            </a:r>
          </a:p>
          <a:p>
            <a:r>
              <a:rPr lang="en-US" altLang="en-US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error cannot access hidden instance variable</a:t>
            </a:r>
          </a:p>
          <a:p>
            <a:r>
              <a:rPr lang="en-US" altLang="en-US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Print(</a:t>
            </a:r>
            <a:r>
              <a:rPr lang="en-US" altLang="en-US" sz="2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d.name</a:t>
            </a:r>
            <a:r>
              <a:rPr lang="en-US" altLang="en-US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</p:txBody>
      </p:sp>
      <p:cxnSp>
        <p:nvCxnSpPr>
          <p:cNvPr id="7" name="Straight Arrow Connector 6"/>
          <p:cNvCxnSpPr/>
          <p:nvPr/>
        </p:nvCxnSpPr>
        <p:spPr>
          <a:xfrm>
            <a:off x="824500" y="3639509"/>
            <a:ext cx="626114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605290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Python Data Field Encapsulation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657114" cy="5032375"/>
          </a:xfrm>
        </p:spPr>
        <p:txBody>
          <a:bodyPr>
            <a:normAutofit/>
          </a:bodyPr>
          <a:lstStyle/>
          <a:p>
            <a:r>
              <a:rPr lang="en-US" altLang="en-US" dirty="0">
                <a:cs typeface="Times New Roman" panose="02020603050405020304" pitchFamily="18" charset="0"/>
              </a:rPr>
              <a:t>Need getter and setter functions to access and set private data fields</a:t>
            </a:r>
          </a:p>
          <a:p>
            <a:endParaRPr lang="en-US" altLang="en-US" dirty="0">
              <a:cs typeface="Times New Roman" panose="02020603050405020304" pitchFamily="18" charset="0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1137557" y="2637753"/>
            <a:ext cx="10470674" cy="37856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Dog:									</a:t>
            </a:r>
          </a:p>
          <a:p>
            <a:r>
              <a:rPr lang="en-US" altLang="en-US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2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</a:t>
            </a:r>
            <a:r>
              <a:rPr lang="en-US" altLang="en-US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__</a:t>
            </a:r>
            <a:r>
              <a:rPr lang="en-US" altLang="en-US" sz="2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init</a:t>
            </a:r>
            <a:r>
              <a:rPr lang="en-US" altLang="en-US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__(self, name): </a:t>
            </a:r>
          </a:p>
          <a:p>
            <a:r>
              <a:rPr lang="en-US" altLang="en-US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altLang="en-US" sz="2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self.__name</a:t>
            </a:r>
            <a:r>
              <a:rPr lang="en-US" altLang="en-US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name   </a:t>
            </a:r>
          </a:p>
          <a:p>
            <a:r>
              <a:rPr lang="en-US" altLang="en-US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en-US" altLang="en-US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2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</a:t>
            </a:r>
            <a:r>
              <a:rPr lang="en-US" altLang="en-US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getName</a:t>
            </a:r>
            <a:r>
              <a:rPr lang="en-US" altLang="en-US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(self):</a:t>
            </a:r>
          </a:p>
          <a:p>
            <a:r>
              <a:rPr lang="en-US" altLang="en-US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return (</a:t>
            </a:r>
            <a:r>
              <a:rPr lang="en-US" altLang="en-US" sz="2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self.__name</a:t>
            </a:r>
            <a:r>
              <a:rPr lang="en-US" altLang="en-US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endParaRPr lang="en-US" altLang="en-US" sz="24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en-US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 = Dog("Duffy")</a:t>
            </a:r>
          </a:p>
          <a:p>
            <a:r>
              <a:rPr lang="en-US" altLang="en-US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 = Dog("Emo")</a:t>
            </a:r>
          </a:p>
          <a:p>
            <a:r>
              <a:rPr lang="en-US" altLang="en-US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Print(</a:t>
            </a:r>
            <a:r>
              <a:rPr lang="en-US" altLang="en-US" sz="2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d.getName</a:t>
            </a:r>
            <a:r>
              <a:rPr lang="en-US" altLang="en-US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  # Duffy</a:t>
            </a:r>
          </a:p>
        </p:txBody>
      </p:sp>
      <p:cxnSp>
        <p:nvCxnSpPr>
          <p:cNvPr id="7" name="Straight Arrow Connector 6"/>
          <p:cNvCxnSpPr/>
          <p:nvPr/>
        </p:nvCxnSpPr>
        <p:spPr>
          <a:xfrm>
            <a:off x="747010" y="4367930"/>
            <a:ext cx="626114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1844210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Inheritance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84458"/>
          </a:xfrm>
        </p:spPr>
        <p:txBody>
          <a:bodyPr>
            <a:noAutofit/>
          </a:bodyPr>
          <a:lstStyle/>
          <a:p>
            <a:r>
              <a:rPr lang="en-US" altLang="en-US" dirty="0">
                <a:ea typeface="MS PGothic" charset="-128"/>
              </a:rPr>
              <a:t>The idea behind inheritance is that a new class can be defined to borrow behavior from another class.</a:t>
            </a:r>
          </a:p>
          <a:p>
            <a:r>
              <a:rPr lang="en-US" altLang="en-US" dirty="0">
                <a:ea typeface="MS PGothic" charset="-128"/>
              </a:rPr>
              <a:t>The new class (the one doing the borrowing) is called a subclass, and the other (the one being borrowed from) is called a superclass.</a:t>
            </a:r>
          </a:p>
        </p:txBody>
      </p:sp>
    </p:spTree>
    <p:extLst>
      <p:ext uri="{BB962C8B-B14F-4D97-AF65-F5344CB8AC3E}">
        <p14:creationId xmlns:p14="http://schemas.microsoft.com/office/powerpoint/2010/main" val="13175690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Inheritance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84458"/>
          </a:xfrm>
        </p:spPr>
        <p:txBody>
          <a:bodyPr>
            <a:noAutofit/>
          </a:bodyPr>
          <a:lstStyle/>
          <a:p>
            <a:r>
              <a:rPr lang="en-US" altLang="en-US" dirty="0">
                <a:ea typeface="MS PGothic" charset="-128"/>
              </a:rPr>
              <a:t>Example: Say we’re building an employee management system.</a:t>
            </a:r>
          </a:p>
          <a:p>
            <a:r>
              <a:rPr lang="en-US" altLang="en-US" dirty="0">
                <a:ea typeface="MS PGothic" charset="-128"/>
              </a:rPr>
              <a:t>We might have a class called Employee that contains general information common to all employees. There might be a method called </a:t>
            </a:r>
            <a:r>
              <a:rPr lang="en-US" altLang="en-US" dirty="0" err="1">
                <a:ea typeface="MS PGothic" charset="-128"/>
              </a:rPr>
              <a:t>homeAddress</a:t>
            </a:r>
            <a:r>
              <a:rPr lang="en-US" altLang="en-US" dirty="0">
                <a:ea typeface="MS PGothic" charset="-128"/>
              </a:rPr>
              <a:t> that returns an employee’s home address.</a:t>
            </a:r>
          </a:p>
          <a:p>
            <a:r>
              <a:rPr lang="en-US" altLang="en-US" dirty="0">
                <a:ea typeface="MS PGothic" charset="-128"/>
              </a:rPr>
              <a:t>Within the class of employees, we might distinguish between salaried and hourly employees with </a:t>
            </a:r>
            <a:r>
              <a:rPr lang="en-US" altLang="en-US" dirty="0" err="1">
                <a:ea typeface="MS PGothic" charset="-128"/>
              </a:rPr>
              <a:t>SalariedEmployee</a:t>
            </a:r>
            <a:r>
              <a:rPr lang="en-US" altLang="en-US" dirty="0">
                <a:ea typeface="MS PGothic" charset="-128"/>
              </a:rPr>
              <a:t> and </a:t>
            </a:r>
            <a:r>
              <a:rPr lang="en-US" altLang="en-US" dirty="0" err="1">
                <a:ea typeface="MS PGothic" charset="-128"/>
              </a:rPr>
              <a:t>HourlyEmployee</a:t>
            </a:r>
            <a:r>
              <a:rPr lang="en-US" altLang="en-US" dirty="0">
                <a:ea typeface="MS PGothic" charset="-128"/>
              </a:rPr>
              <a:t>, respectively.</a:t>
            </a:r>
          </a:p>
          <a:p>
            <a:r>
              <a:rPr lang="en-US" altLang="en-US" dirty="0">
                <a:ea typeface="MS PGothic" charset="-128"/>
              </a:rPr>
              <a:t>Each of these two classes would be a subclass of Employee, and would share the </a:t>
            </a:r>
            <a:r>
              <a:rPr lang="en-US" altLang="en-US" dirty="0" err="1">
                <a:ea typeface="MS PGothic" charset="-128"/>
              </a:rPr>
              <a:t>homeAddress</a:t>
            </a:r>
            <a:r>
              <a:rPr lang="en-US" altLang="en-US" dirty="0">
                <a:ea typeface="MS PGothic" charset="-128"/>
              </a:rPr>
              <a:t> method.</a:t>
            </a:r>
          </a:p>
          <a:p>
            <a:r>
              <a:rPr lang="en-US" altLang="en-US" dirty="0">
                <a:ea typeface="MS PGothic" charset="-128"/>
              </a:rPr>
              <a:t>Each subclass could have its own </a:t>
            </a:r>
            <a:r>
              <a:rPr lang="en-US" altLang="en-US" dirty="0" err="1">
                <a:ea typeface="MS PGothic" charset="-128"/>
              </a:rPr>
              <a:t>monthlyPay</a:t>
            </a:r>
            <a:r>
              <a:rPr lang="en-US" altLang="en-US" dirty="0">
                <a:ea typeface="MS PGothic" charset="-128"/>
              </a:rPr>
              <a:t> function, since pay is computed differently for each class of employee.</a:t>
            </a:r>
          </a:p>
        </p:txBody>
      </p:sp>
    </p:spTree>
    <p:extLst>
      <p:ext uri="{BB962C8B-B14F-4D97-AF65-F5344CB8AC3E}">
        <p14:creationId xmlns:p14="http://schemas.microsoft.com/office/powerpoint/2010/main" val="35285551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Inheritance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3875B3-70A0-2B49-ACF1-0D07F77D5F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14084" y="1690688"/>
            <a:ext cx="6360887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class Employee:</a:t>
            </a:r>
          </a:p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def __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init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__(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self,homeAddress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):</a:t>
            </a:r>
          </a:p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self.homeAddress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homeAddress</a:t>
            </a:r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def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printAddress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(self):</a:t>
            </a:r>
          </a:p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print(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self.homeAddress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class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HourlyEmployee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(Employee): </a:t>
            </a:r>
          </a:p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def __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init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__(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self,homeAddress,rate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):</a:t>
            </a:r>
          </a:p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super().__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init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__(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homeAddress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 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self.rate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=rate</a:t>
            </a:r>
          </a:p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def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printSalaryPerMonth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(self):</a:t>
            </a:r>
          </a:p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print("$",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self.rate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*20*8))</a:t>
            </a:r>
          </a:p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5A8E61-8B44-5E4D-AF07-32D8695068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37829" y="1690688"/>
            <a:ext cx="5254171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e=Employee("Henrico")</a:t>
            </a:r>
          </a:p>
          <a:p>
            <a:pPr marL="0" indent="0">
              <a:buNone/>
            </a:pP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e.printAddress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f=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HourlyEmployee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("Midlothian",10)</a:t>
            </a:r>
          </a:p>
          <a:p>
            <a:pPr marL="0" indent="0">
              <a:buNone/>
            </a:pP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f.printSalaryPerMonth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marL="0" indent="0">
              <a:buNone/>
            </a:pP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f.printAddress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# prints:</a:t>
            </a:r>
          </a:p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# Henrico</a:t>
            </a:r>
          </a:p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# $ 1600</a:t>
            </a:r>
          </a:p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# Midlothian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37829" y="5257196"/>
            <a:ext cx="345612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solidFill>
                  <a:srgbClr val="0070C0"/>
                </a:solidFill>
              </a:rPr>
              <a:t>HourlyEmployee</a:t>
            </a:r>
            <a:r>
              <a:rPr lang="en-US" sz="2400" dirty="0">
                <a:solidFill>
                  <a:srgbClr val="0070C0"/>
                </a:solidFill>
              </a:rPr>
              <a:t> is a subclass of Employee and inherits Employees data and methods</a:t>
            </a:r>
          </a:p>
        </p:txBody>
      </p:sp>
    </p:spTree>
    <p:extLst>
      <p:ext uri="{BB962C8B-B14F-4D97-AF65-F5344CB8AC3E}">
        <p14:creationId xmlns:p14="http://schemas.microsoft.com/office/powerpoint/2010/main" val="211441077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Multiple Inheritance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84458"/>
          </a:xfrm>
        </p:spPr>
        <p:txBody>
          <a:bodyPr>
            <a:noAutofit/>
          </a:bodyPr>
          <a:lstStyle/>
          <a:p>
            <a:r>
              <a:rPr lang="en-US" altLang="en-US" dirty="0">
                <a:ea typeface="MS PGothic" charset="-128"/>
              </a:rPr>
              <a:t>A class can inherit from more than one superclass</a:t>
            </a:r>
          </a:p>
          <a:p>
            <a:r>
              <a:rPr lang="en-US" altLang="en-US" dirty="0">
                <a:ea typeface="MS PGothic" charset="-128"/>
              </a:rPr>
              <a:t>Here is the syntax: </a:t>
            </a:r>
          </a:p>
          <a:p>
            <a:pPr marL="457200" lvl="1" indent="0">
              <a:buNone/>
            </a:pPr>
            <a:r>
              <a:rPr lang="en-US" altLang="en-US" sz="2800" dirty="0">
                <a:latin typeface="Courier New" panose="02070309020205020404" pitchFamily="49" charset="0"/>
                <a:ea typeface="MS PGothic" charset="-128"/>
                <a:cs typeface="Courier New" panose="02070309020205020404" pitchFamily="49" charset="0"/>
              </a:rPr>
              <a:t>class Subclass(SuperClass1, SuperClass2, …):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dirty="0">
                <a:ea typeface="MS PGothic" charset="-128"/>
              </a:rPr>
              <a:t>Make sure that each relationship is of the form: subclass is a ___ of the superclass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dirty="0">
                <a:ea typeface="MS PGothic" charset="-128"/>
              </a:rPr>
              <a:t>If the subclass is not utilizing all or most of the methods and data from the super class then it should not be in an inheritance relationship with the super class</a:t>
            </a:r>
          </a:p>
        </p:txBody>
      </p:sp>
    </p:spTree>
    <p:extLst>
      <p:ext uri="{BB962C8B-B14F-4D97-AF65-F5344CB8AC3E}">
        <p14:creationId xmlns:p14="http://schemas.microsoft.com/office/powerpoint/2010/main" val="56224321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Multiple Inheritance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class A: x = 'a'</a:t>
            </a:r>
          </a:p>
          <a:p>
            <a:pPr marL="0" indent="0">
              <a:buNone/>
            </a:pPr>
            <a:endParaRPr lang="en-US" alt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class B(A): pass</a:t>
            </a:r>
          </a:p>
          <a:p>
            <a:pPr marL="0" indent="0">
              <a:buNone/>
            </a:pPr>
            <a:endParaRPr lang="en-US" alt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class C(A): x = 'c'</a:t>
            </a:r>
          </a:p>
          <a:p>
            <a:pPr marL="0" indent="0">
              <a:buNone/>
            </a:pPr>
            <a:endParaRPr lang="en-US" alt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class D(B, C): pass</a:t>
            </a:r>
          </a:p>
          <a:p>
            <a:pPr marL="0" indent="0">
              <a:buNone/>
            </a:pPr>
            <a:endParaRPr lang="en-US" alt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print(</a:t>
            </a:r>
            <a:r>
              <a:rPr lang="en-US" alt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D.x</a:t>
            </a:r>
            <a:r>
              <a:rPr lang="en-US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   # prints c</a:t>
            </a:r>
          </a:p>
          <a:p>
            <a:pPr marL="0" indent="0">
              <a:buNone/>
            </a:pPr>
            <a:endParaRPr lang="en-US" altLang="en-US" sz="2400" dirty="0">
              <a:latin typeface="Courier New" panose="02070309020205020404" pitchFamily="49" charset="0"/>
              <a:ea typeface="MS PGothic" charset="-128"/>
              <a:cs typeface="Courier New" panose="02070309020205020404" pitchFamily="49" charset="0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B3DA5CA-CC9A-7949-9C4D-9E8E711FACD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70C0"/>
                </a:solidFill>
              </a:rPr>
              <a:t>Class B inherits from 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70C0"/>
                </a:solidFill>
              </a:rPr>
              <a:t>Class C inherits from A and overrides the value of x.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70C0"/>
                </a:solidFill>
              </a:rPr>
              <a:t>Class D inherits from B and C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70C0"/>
                </a:solidFill>
              </a:rPr>
              <a:t>pass is a null operator and does not execute anything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70C0"/>
                </a:solidFill>
              </a:rPr>
              <a:t>It is useful as a placeholder when a statement is required syntactically, but no code needs to be executed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438138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Multiple Inheritance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8445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class A:        </a:t>
            </a:r>
          </a:p>
          <a:p>
            <a:pPr marL="0" indent="0">
              <a:buNone/>
            </a:pP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x = 'a'    </a:t>
            </a:r>
          </a:p>
          <a:p>
            <a:pPr marL="0" indent="0">
              <a:buNone/>
            </a:pP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print("A", x)</a:t>
            </a:r>
          </a:p>
          <a:p>
            <a:pPr marL="0" indent="0">
              <a:buNone/>
            </a:pP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class B(A):     </a:t>
            </a:r>
          </a:p>
          <a:p>
            <a:pPr marL="0" indent="0">
              <a:buNone/>
            </a:pP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print("B")                          </a:t>
            </a:r>
          </a:p>
          <a:p>
            <a:pPr marL="0" indent="0">
              <a:buNone/>
            </a:pP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class C(A):</a:t>
            </a:r>
          </a:p>
          <a:p>
            <a:pPr marL="0" indent="0">
              <a:buNone/>
            </a:pP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x = 'c'       </a:t>
            </a:r>
          </a:p>
          <a:p>
            <a:pPr marL="0" indent="0">
              <a:buNone/>
            </a:pP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print("C", x)</a:t>
            </a:r>
          </a:p>
          <a:p>
            <a:pPr marL="0" indent="0">
              <a:buNone/>
            </a:pP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class D(B, C):</a:t>
            </a:r>
          </a:p>
          <a:p>
            <a:pPr marL="0" indent="0">
              <a:buNone/>
            </a:pP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print("D”)     </a:t>
            </a:r>
          </a:p>
          <a:p>
            <a:pPr marL="0" indent="0">
              <a:buNone/>
            </a:pP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print(</a:t>
            </a:r>
            <a:r>
              <a:rPr lang="en-US" alt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B.x</a:t>
            </a: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print(</a:t>
            </a:r>
            <a:r>
              <a:rPr lang="en-US" alt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D.x</a:t>
            </a: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endParaRPr lang="en-US" altLang="en-US" sz="2200" dirty="0">
              <a:latin typeface="Courier New" panose="02070309020205020404" pitchFamily="49" charset="0"/>
              <a:ea typeface="MS PGothic" charset="-128"/>
              <a:cs typeface="Courier New" panose="02070309020205020404" pitchFamily="49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246534" y="1717839"/>
            <a:ext cx="392236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</a:rPr>
              <a:t>Prints: 	A </a:t>
            </a:r>
            <a:r>
              <a:rPr lang="en-US" sz="2400" dirty="0" err="1">
                <a:solidFill>
                  <a:srgbClr val="0070C0"/>
                </a:solidFill>
              </a:rPr>
              <a:t>a</a:t>
            </a:r>
            <a:endParaRPr lang="en-US" sz="2400" dirty="0">
              <a:solidFill>
                <a:srgbClr val="0070C0"/>
              </a:solidFill>
            </a:endParaRPr>
          </a:p>
          <a:p>
            <a:r>
              <a:rPr lang="en-US" sz="2400" dirty="0">
                <a:solidFill>
                  <a:srgbClr val="0070C0"/>
                </a:solidFill>
              </a:rPr>
              <a:t>	B</a:t>
            </a:r>
          </a:p>
          <a:p>
            <a:r>
              <a:rPr lang="en-US" sz="2400" dirty="0">
                <a:solidFill>
                  <a:srgbClr val="0070C0"/>
                </a:solidFill>
              </a:rPr>
              <a:t>	C </a:t>
            </a:r>
            <a:r>
              <a:rPr lang="en-US" sz="2400" dirty="0" err="1">
                <a:solidFill>
                  <a:srgbClr val="0070C0"/>
                </a:solidFill>
              </a:rPr>
              <a:t>c</a:t>
            </a:r>
            <a:endParaRPr lang="en-US" sz="2400" dirty="0">
              <a:solidFill>
                <a:srgbClr val="0070C0"/>
              </a:solidFill>
            </a:endParaRPr>
          </a:p>
          <a:p>
            <a:r>
              <a:rPr lang="en-US" sz="2400" dirty="0">
                <a:solidFill>
                  <a:srgbClr val="0070C0"/>
                </a:solidFill>
              </a:rPr>
              <a:t>	D</a:t>
            </a:r>
          </a:p>
          <a:p>
            <a:r>
              <a:rPr lang="en-US" sz="2400" dirty="0">
                <a:solidFill>
                  <a:srgbClr val="0070C0"/>
                </a:solidFill>
              </a:rPr>
              <a:t>	a</a:t>
            </a:r>
          </a:p>
          <a:p>
            <a:r>
              <a:rPr lang="en-US" sz="2400" dirty="0">
                <a:solidFill>
                  <a:srgbClr val="0070C0"/>
                </a:solidFill>
              </a:rPr>
              <a:t>	c</a:t>
            </a:r>
          </a:p>
        </p:txBody>
      </p:sp>
    </p:spTree>
    <p:extLst>
      <p:ext uri="{BB962C8B-B14F-4D97-AF65-F5344CB8AC3E}">
        <p14:creationId xmlns:p14="http://schemas.microsoft.com/office/powerpoint/2010/main" val="383236110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Multiple Inheritance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8445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class A:        </a:t>
            </a:r>
          </a:p>
          <a:p>
            <a:pPr marL="0" indent="0">
              <a:buNone/>
            </a:pP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x = 'a'    </a:t>
            </a:r>
          </a:p>
          <a:p>
            <a:pPr marL="0" indent="0">
              <a:buNone/>
            </a:pP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print("A", x)</a:t>
            </a:r>
          </a:p>
          <a:p>
            <a:pPr marL="0" indent="0">
              <a:buNone/>
            </a:pP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class B(A):     </a:t>
            </a:r>
          </a:p>
          <a:p>
            <a:pPr marL="0" indent="0">
              <a:buNone/>
            </a:pP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print("</a:t>
            </a:r>
            <a:r>
              <a:rPr lang="en-US" altLang="en-US" sz="20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B",x</a:t>
            </a:r>
            <a:r>
              <a:rPr lang="en-US" alt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class C(A):</a:t>
            </a:r>
          </a:p>
          <a:p>
            <a:pPr marL="0" indent="0">
              <a:buNone/>
            </a:pP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x = 'c'       </a:t>
            </a:r>
          </a:p>
          <a:p>
            <a:pPr marL="0" indent="0">
              <a:buNone/>
            </a:pP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print("C", x)</a:t>
            </a:r>
          </a:p>
          <a:p>
            <a:pPr marL="0" indent="0">
              <a:buNone/>
            </a:pP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class D(B, C):</a:t>
            </a:r>
          </a:p>
          <a:p>
            <a:pPr marL="0" indent="0">
              <a:buNone/>
            </a:pP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print("</a:t>
            </a:r>
            <a:r>
              <a:rPr lang="en-US" altLang="en-US" sz="20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D",x</a:t>
            </a:r>
            <a:r>
              <a:rPr lang="en-US" alt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    </a:t>
            </a:r>
          </a:p>
          <a:p>
            <a:pPr marL="0" indent="0">
              <a:buNone/>
            </a:pP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print(</a:t>
            </a:r>
            <a:r>
              <a:rPr lang="en-US" alt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B.x</a:t>
            </a: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print(</a:t>
            </a:r>
            <a:r>
              <a:rPr lang="en-US" alt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D.x</a:t>
            </a: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endParaRPr lang="en-US" altLang="en-US" sz="2200" dirty="0">
              <a:latin typeface="Courier New" panose="02070309020205020404" pitchFamily="49" charset="0"/>
              <a:ea typeface="MS PGothic" charset="-128"/>
              <a:cs typeface="Courier New" panose="020703090202050204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7002636-D480-E148-85E6-538C77EA1515}"/>
              </a:ext>
            </a:extLst>
          </p:cNvPr>
          <p:cNvSpPr txBox="1"/>
          <p:nvPr/>
        </p:nvSpPr>
        <p:spPr>
          <a:xfrm>
            <a:off x="6096000" y="1690688"/>
            <a:ext cx="52578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70C0"/>
                </a:solidFill>
              </a:rPr>
              <a:t>Can you use x in a class inherited from the super class, but not defined in that class?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70C0"/>
                </a:solidFill>
              </a:rPr>
              <a:t>No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70C0"/>
                </a:solidFill>
              </a:rPr>
              <a:t>How can we use the inherited data?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70C0"/>
                </a:solidFill>
              </a:rPr>
              <a:t>Use constructors and call the super constructor from the subclass</a:t>
            </a:r>
          </a:p>
        </p:txBody>
      </p:sp>
    </p:spTree>
    <p:extLst>
      <p:ext uri="{BB962C8B-B14F-4D97-AF65-F5344CB8AC3E}">
        <p14:creationId xmlns:p14="http://schemas.microsoft.com/office/powerpoint/2010/main" val="344150989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Multiple Inheritance Example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6D164DE-4F83-2949-A841-9CC974C50F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3539918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class A:</a:t>
            </a: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def __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init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__(self):</a:t>
            </a: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self.x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 'a'</a:t>
            </a: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print("A",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self.x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class B(A):</a:t>
            </a: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def __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init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__(self):</a:t>
            </a: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super().__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init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__()</a:t>
            </a: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print("B",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self.x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class C(A):</a:t>
            </a: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def __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init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__(self):</a:t>
            </a: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super().__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init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__()</a:t>
            </a: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self.x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 'c'</a:t>
            </a: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print("C",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self.x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CE89F45-4A33-9F44-B67A-510C7164F3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78117" y="1851479"/>
            <a:ext cx="3561197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class D(B, C):</a:t>
            </a: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def __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init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__(self):</a:t>
            </a: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super().__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init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__()</a:t>
            </a: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print("D",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self.x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</a:t>
            </a:r>
          </a:p>
          <a:p>
            <a:pPr marL="0" indent="0">
              <a:buNone/>
            </a:pP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D()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71886" y="4180344"/>
            <a:ext cx="3359443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</a:rPr>
              <a:t>Prints: 	A </a:t>
            </a:r>
            <a:r>
              <a:rPr lang="en-US" sz="2400" dirty="0" err="1">
                <a:solidFill>
                  <a:srgbClr val="0070C0"/>
                </a:solidFill>
              </a:rPr>
              <a:t>a</a:t>
            </a:r>
            <a:endParaRPr lang="en-US" sz="2400" dirty="0">
              <a:solidFill>
                <a:srgbClr val="0070C0"/>
              </a:solidFill>
            </a:endParaRPr>
          </a:p>
          <a:p>
            <a:r>
              <a:rPr lang="en-US" sz="2400" dirty="0">
                <a:solidFill>
                  <a:srgbClr val="0070C0"/>
                </a:solidFill>
              </a:rPr>
              <a:t>	C </a:t>
            </a:r>
            <a:r>
              <a:rPr lang="en-US" sz="2400" dirty="0" err="1">
                <a:solidFill>
                  <a:srgbClr val="0070C0"/>
                </a:solidFill>
              </a:rPr>
              <a:t>c</a:t>
            </a:r>
            <a:endParaRPr lang="en-US" sz="2400" dirty="0">
              <a:solidFill>
                <a:srgbClr val="0070C0"/>
              </a:solidFill>
            </a:endParaRPr>
          </a:p>
          <a:p>
            <a:r>
              <a:rPr lang="en-US" sz="2400" dirty="0">
                <a:solidFill>
                  <a:srgbClr val="0070C0"/>
                </a:solidFill>
              </a:rPr>
              <a:t>	B c</a:t>
            </a:r>
          </a:p>
          <a:p>
            <a:r>
              <a:rPr lang="en-US" sz="2400" dirty="0">
                <a:solidFill>
                  <a:srgbClr val="0070C0"/>
                </a:solidFill>
              </a:rPr>
              <a:t>	D c</a:t>
            </a:r>
          </a:p>
          <a:p>
            <a:endParaRPr lang="en-US" sz="2400" dirty="0">
              <a:solidFill>
                <a:srgbClr val="0070C0"/>
              </a:solidFill>
            </a:endParaRPr>
          </a:p>
          <a:p>
            <a:r>
              <a:rPr lang="en-US" sz="2400" dirty="0">
                <a:solidFill>
                  <a:srgbClr val="0070C0"/>
                </a:solidFill>
              </a:rPr>
              <a:t>Notice that B and C are switched</a:t>
            </a:r>
          </a:p>
        </p:txBody>
      </p:sp>
    </p:spTree>
    <p:extLst>
      <p:ext uri="{BB962C8B-B14F-4D97-AF65-F5344CB8AC3E}">
        <p14:creationId xmlns:p14="http://schemas.microsoft.com/office/powerpoint/2010/main" val="206914064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Multiple Inheritance Example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51775" y="4055284"/>
            <a:ext cx="345224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</a:rPr>
              <a:t>Prints: 	A </a:t>
            </a:r>
            <a:r>
              <a:rPr lang="en-US" sz="2400" dirty="0" err="1">
                <a:solidFill>
                  <a:srgbClr val="0070C0"/>
                </a:solidFill>
              </a:rPr>
              <a:t>a</a:t>
            </a:r>
            <a:endParaRPr lang="en-US" sz="2400" dirty="0">
              <a:solidFill>
                <a:srgbClr val="0070C0"/>
              </a:solidFill>
            </a:endParaRPr>
          </a:p>
          <a:p>
            <a:r>
              <a:rPr lang="en-US" sz="2400" dirty="0">
                <a:solidFill>
                  <a:srgbClr val="0070C0"/>
                </a:solidFill>
              </a:rPr>
              <a:t>	C </a:t>
            </a:r>
            <a:r>
              <a:rPr lang="en-US" sz="2400" dirty="0" err="1">
                <a:solidFill>
                  <a:srgbClr val="0070C0"/>
                </a:solidFill>
              </a:rPr>
              <a:t>c</a:t>
            </a:r>
            <a:endParaRPr lang="en-US" sz="2400" dirty="0">
              <a:solidFill>
                <a:srgbClr val="0070C0"/>
              </a:solidFill>
            </a:endParaRPr>
          </a:p>
          <a:p>
            <a:r>
              <a:rPr lang="en-US" sz="2400" dirty="0">
                <a:solidFill>
                  <a:srgbClr val="0070C0"/>
                </a:solidFill>
              </a:rPr>
              <a:t>	B </a:t>
            </a:r>
            <a:r>
              <a:rPr lang="en-US" sz="2400" dirty="0" err="1">
                <a:solidFill>
                  <a:srgbClr val="0070C0"/>
                </a:solidFill>
              </a:rPr>
              <a:t>b</a:t>
            </a:r>
            <a:endParaRPr lang="en-US" sz="2400" dirty="0">
              <a:solidFill>
                <a:srgbClr val="0070C0"/>
              </a:solidFill>
            </a:endParaRPr>
          </a:p>
          <a:p>
            <a:r>
              <a:rPr lang="en-US" sz="2400" dirty="0">
                <a:solidFill>
                  <a:srgbClr val="0070C0"/>
                </a:solidFill>
              </a:rPr>
              <a:t>	D b</a:t>
            </a:r>
          </a:p>
          <a:p>
            <a:r>
              <a:rPr lang="en-US" sz="2400" dirty="0">
                <a:solidFill>
                  <a:srgbClr val="0070C0"/>
                </a:solidFill>
              </a:rPr>
              <a:t>	</a:t>
            </a:r>
          </a:p>
          <a:p>
            <a:r>
              <a:rPr lang="en-US" sz="2400" b="1" u="sng" dirty="0">
                <a:solidFill>
                  <a:srgbClr val="0070C0"/>
                </a:solidFill>
              </a:rPr>
              <a:t>Deadly diamond of death</a:t>
            </a:r>
          </a:p>
        </p:txBody>
      </p:sp>
      <p:sp>
        <p:nvSpPr>
          <p:cNvPr id="10" name="Content Placeholder 4">
            <a:extLst>
              <a:ext uri="{FF2B5EF4-FFF2-40B4-BE49-F238E27FC236}">
                <a16:creationId xmlns:a16="http://schemas.microsoft.com/office/drawing/2014/main" id="{61E51C93-4416-734E-B239-755E08602D41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3539918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class A:</a:t>
            </a:r>
          </a:p>
          <a:p>
            <a:pPr marL="0" indent="0">
              <a:buFont typeface="Arial"/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def __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init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__(self):</a:t>
            </a:r>
          </a:p>
          <a:p>
            <a:pPr marL="0" indent="0">
              <a:buFont typeface="Arial"/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self.x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 'a'</a:t>
            </a:r>
          </a:p>
          <a:p>
            <a:pPr marL="0" indent="0">
              <a:buFont typeface="Arial"/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print("A",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self.x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Font typeface="Arial"/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class B(A):</a:t>
            </a:r>
          </a:p>
          <a:p>
            <a:pPr marL="0" indent="0">
              <a:buFont typeface="Arial"/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def __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init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__(self):</a:t>
            </a:r>
          </a:p>
          <a:p>
            <a:pPr marL="0" indent="0">
              <a:buFont typeface="Arial"/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super().__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init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__()</a:t>
            </a: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600" dirty="0" err="1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self.x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'b'</a:t>
            </a:r>
          </a:p>
          <a:p>
            <a:pPr marL="0" indent="0">
              <a:buFont typeface="Arial"/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print("B",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self.x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Font typeface="Arial"/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class C(A):</a:t>
            </a:r>
          </a:p>
          <a:p>
            <a:pPr marL="0" indent="0">
              <a:buFont typeface="Arial"/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def __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init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__(self):</a:t>
            </a:r>
          </a:p>
          <a:p>
            <a:pPr marL="0" indent="0">
              <a:buFont typeface="Arial"/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super().__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init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__()</a:t>
            </a:r>
          </a:p>
          <a:p>
            <a:pPr marL="0" indent="0">
              <a:buFont typeface="Arial"/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self.x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 'c'</a:t>
            </a:r>
          </a:p>
          <a:p>
            <a:pPr marL="0" indent="0">
              <a:buFont typeface="Arial"/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print("C",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self.x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Font typeface="Arial"/>
              <a:buNone/>
            </a:pP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1" name="Content Placeholder 5">
            <a:extLst>
              <a:ext uri="{FF2B5EF4-FFF2-40B4-BE49-F238E27FC236}">
                <a16:creationId xmlns:a16="http://schemas.microsoft.com/office/drawing/2014/main" id="{844C2B17-4387-3E45-8713-7960ED7FC329}"/>
              </a:ext>
            </a:extLst>
          </p:cNvPr>
          <p:cNvSpPr txBox="1">
            <a:spLocks/>
          </p:cNvSpPr>
          <p:nvPr/>
        </p:nvSpPr>
        <p:spPr>
          <a:xfrm>
            <a:off x="4378117" y="1851479"/>
            <a:ext cx="3561197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class D(B, C):</a:t>
            </a:r>
          </a:p>
          <a:p>
            <a:pPr marL="0" indent="0">
              <a:buFont typeface="Arial"/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def __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init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__(self):</a:t>
            </a:r>
          </a:p>
          <a:p>
            <a:pPr marL="0" indent="0">
              <a:buFont typeface="Arial"/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super().__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init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__()</a:t>
            </a:r>
          </a:p>
          <a:p>
            <a:pPr marL="0" indent="0">
              <a:buFont typeface="Arial"/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print("D",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self.x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Font typeface="Arial"/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</a:t>
            </a:r>
          </a:p>
          <a:p>
            <a:pPr marL="0" indent="0">
              <a:buFont typeface="Arial"/>
              <a:buNone/>
            </a:pP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 typeface="Arial"/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D() </a:t>
            </a:r>
          </a:p>
        </p:txBody>
      </p:sp>
    </p:spTree>
    <p:extLst>
      <p:ext uri="{BB962C8B-B14F-4D97-AF65-F5344CB8AC3E}">
        <p14:creationId xmlns:p14="http://schemas.microsoft.com/office/powerpoint/2010/main" val="418293143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Multiple Inheritance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84458"/>
          </a:xfrm>
        </p:spPr>
        <p:txBody>
          <a:bodyPr>
            <a:noAutofit/>
          </a:bodyPr>
          <a:lstStyle/>
          <a:p>
            <a:r>
              <a:rPr lang="en-US" altLang="en-US" dirty="0">
                <a:ea typeface="MS PGothic" charset="-128"/>
              </a:rPr>
              <a:t>Deadly Diamond of Death:</a:t>
            </a:r>
          </a:p>
          <a:p>
            <a:pPr lvl="1"/>
            <a:r>
              <a:rPr lang="en-US" dirty="0"/>
              <a:t>An ambiguity arising when two classes B and C inherit from class A and class D inherits from both B and C</a:t>
            </a:r>
          </a:p>
          <a:p>
            <a:pPr lvl="1"/>
            <a:r>
              <a:rPr lang="en-US" dirty="0"/>
              <a:t>If there is a method in A which B and C override which version of the method does D inherit: that of B, or that of C? </a:t>
            </a:r>
            <a:endParaRPr lang="en-US" altLang="en-US" dirty="0">
              <a:ea typeface="MS PGothic" charset="-128"/>
            </a:endParaRPr>
          </a:p>
          <a:p>
            <a:pPr lvl="1"/>
            <a:r>
              <a:rPr lang="en-US" altLang="en-US" dirty="0">
                <a:ea typeface="MS PGothic" charset="-128"/>
              </a:rPr>
              <a:t>Make sure you know which method you are inheriting when overriding methods through an inheritance chain</a:t>
            </a:r>
          </a:p>
          <a:p>
            <a:r>
              <a:rPr lang="en-US" altLang="en-US" dirty="0">
                <a:ea typeface="MS PGothic" charset="-128"/>
              </a:rPr>
              <a:t>When would you really use multiple inheritance?</a:t>
            </a:r>
          </a:p>
          <a:p>
            <a:r>
              <a:rPr lang="en-US" altLang="en-US" dirty="0">
                <a:ea typeface="MS PGothic" charset="-128"/>
              </a:rPr>
              <a:t>Example:</a:t>
            </a:r>
          </a:p>
          <a:p>
            <a:pPr lvl="1"/>
            <a:r>
              <a:rPr lang="en-US" altLang="en-US" sz="2800" dirty="0">
                <a:ea typeface="MS PGothic" charset="-128"/>
              </a:rPr>
              <a:t>Clock class &amp; Calendar class</a:t>
            </a:r>
          </a:p>
          <a:p>
            <a:pPr lvl="1"/>
            <a:r>
              <a:rPr lang="en-US" altLang="en-US" sz="2800" dirty="0">
                <a:ea typeface="MS PGothic" charset="-128"/>
              </a:rPr>
              <a:t>Inherit both to create an object that displays both the calendar and the clock</a:t>
            </a:r>
          </a:p>
          <a:p>
            <a:endParaRPr lang="en-US" altLang="en-US" dirty="0">
              <a:ea typeface="MS PGothic" charset="-128"/>
            </a:endParaRPr>
          </a:p>
          <a:p>
            <a:endParaRPr lang="en-US" altLang="en-US" dirty="0">
              <a:ea typeface="MS PGothic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7107327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Polymorphism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84458"/>
          </a:xfrm>
        </p:spPr>
        <p:txBody>
          <a:bodyPr>
            <a:noAutofit/>
          </a:bodyPr>
          <a:lstStyle/>
          <a:p>
            <a:r>
              <a:rPr lang="en-US" altLang="en-US" dirty="0">
                <a:ea typeface="MS PGothic" charset="-128"/>
              </a:rPr>
              <a:t>Literally, polymorphism means “many forms.”</a:t>
            </a:r>
          </a:p>
          <a:p>
            <a:r>
              <a:rPr lang="en-US" altLang="en-US" dirty="0">
                <a:ea typeface="MS PGothic" charset="-128"/>
              </a:rPr>
              <a:t>Polymorphism is the characteristic of allowing an entity such as a variable, function or object to have more than one form based on the different contexts in which it is used.</a:t>
            </a:r>
          </a:p>
          <a:p>
            <a:r>
              <a:rPr lang="en-US" altLang="en-US" dirty="0">
                <a:ea typeface="MS PGothic" charset="-128"/>
              </a:rPr>
              <a:t>When used in object-oriented literature, this refers to the fact that what an object does in response to a message (a method call) depends on the type or class of the object.</a:t>
            </a:r>
          </a:p>
          <a:p>
            <a:r>
              <a:rPr lang="en-US" altLang="en-US" dirty="0">
                <a:ea typeface="MS PGothic" charset="-128"/>
              </a:rPr>
              <a:t>Polymorphism gives object-oriented systems the flexibility for each object to perform an action just the way that it should be performed for that object.</a:t>
            </a:r>
          </a:p>
          <a:p>
            <a:endParaRPr lang="en-US" altLang="en-US" dirty="0">
              <a:ea typeface="MS PGothic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49122672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Polymorphism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84458"/>
          </a:xfrm>
        </p:spPr>
        <p:txBody>
          <a:bodyPr>
            <a:noAutofit/>
          </a:bodyPr>
          <a:lstStyle/>
          <a:p>
            <a:r>
              <a:rPr lang="en-US" altLang="en-US" dirty="0">
                <a:ea typeface="MS PGothic" charset="-128"/>
              </a:rPr>
              <a:t>With polymorphism, a given line in a program may invoke a completely different method from one moment to the next.</a:t>
            </a:r>
          </a:p>
          <a:p>
            <a:endParaRPr lang="en-US" altLang="en-US" dirty="0">
              <a:ea typeface="MS PGothic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29015297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Polymorphism Example</a:t>
            </a: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838198" y="1690688"/>
            <a:ext cx="5672371" cy="44012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Employee:</a:t>
            </a:r>
          </a:p>
          <a:p>
            <a:r>
              <a:rPr lang="en-US" alt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def __</a:t>
            </a:r>
            <a:r>
              <a:rPr lang="en-US" alt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init</a:t>
            </a:r>
            <a:r>
              <a:rPr lang="en-US" alt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__(</a:t>
            </a:r>
            <a:r>
              <a:rPr lang="en-US" alt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self,rate</a:t>
            </a:r>
            <a:r>
              <a:rPr lang="en-US" alt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):</a:t>
            </a:r>
          </a:p>
          <a:p>
            <a:r>
              <a:rPr lang="en-US" alt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alt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self.rate</a:t>
            </a:r>
            <a:r>
              <a:rPr lang="en-US" alt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=rate</a:t>
            </a:r>
          </a:p>
          <a:p>
            <a:r>
              <a:rPr lang="en-US" alt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</a:p>
          <a:p>
            <a:r>
              <a:rPr lang="en-US" alt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 </a:t>
            </a:r>
            <a:r>
              <a:rPr lang="en-US" altLang="en-US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printSalaryPerMonth</a:t>
            </a:r>
            <a:r>
              <a:rPr lang="en-US" altLang="en-US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(self):</a:t>
            </a:r>
          </a:p>
          <a:p>
            <a:r>
              <a:rPr lang="en-US" altLang="en-US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print(</a:t>
            </a:r>
            <a:r>
              <a:rPr lang="en-US" altLang="en-US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</a:t>
            </a:r>
            <a:r>
              <a:rPr lang="en-US" altLang="en-US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en-US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self.rate</a:t>
            </a:r>
            <a:r>
              <a:rPr lang="en-US" altLang="en-US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))</a:t>
            </a:r>
          </a:p>
          <a:p>
            <a:endParaRPr lang="en-US" altLang="en-US" dirty="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en-US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</a:t>
            </a:r>
            <a:r>
              <a:rPr lang="en-US" altLang="en-US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HourlyEmployee</a:t>
            </a:r>
            <a:r>
              <a:rPr lang="en-US" altLang="en-US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(Employee):</a:t>
            </a:r>
          </a:p>
          <a:p>
            <a:r>
              <a:rPr lang="en-US" alt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def __</a:t>
            </a:r>
            <a:r>
              <a:rPr lang="en-US" alt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init</a:t>
            </a:r>
            <a:r>
              <a:rPr lang="en-US" alt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__(self, rate):</a:t>
            </a:r>
          </a:p>
          <a:p>
            <a:r>
              <a:rPr lang="en-US" alt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super().__</a:t>
            </a:r>
            <a:r>
              <a:rPr lang="en-US" alt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init</a:t>
            </a:r>
            <a:r>
              <a:rPr lang="en-US" alt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__(rate)</a:t>
            </a:r>
          </a:p>
          <a:p>
            <a:r>
              <a:rPr lang="en-US" alt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  </a:t>
            </a:r>
          </a:p>
          <a:p>
            <a:r>
              <a:rPr lang="en-US" altLang="en-US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 </a:t>
            </a:r>
            <a:r>
              <a:rPr lang="en-US" altLang="en-US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printSalaryPerMonth</a:t>
            </a:r>
            <a:r>
              <a:rPr lang="en-US" altLang="en-US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(self):</a:t>
            </a:r>
          </a:p>
          <a:p>
            <a:r>
              <a:rPr lang="en-US" altLang="en-US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print(</a:t>
            </a:r>
            <a:r>
              <a:rPr lang="en-US" altLang="en-US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</a:t>
            </a:r>
            <a:r>
              <a:rPr lang="en-US" altLang="en-US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en-US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self.rate</a:t>
            </a:r>
            <a:r>
              <a:rPr lang="en-US" altLang="en-US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*20*8))</a:t>
            </a:r>
          </a:p>
          <a:p>
            <a:r>
              <a:rPr lang="en-US" alt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6510569" y="500517"/>
            <a:ext cx="5500607" cy="50167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</a:t>
            </a:r>
            <a:r>
              <a:rPr lang="en-US" altLang="en-US" dirty="0" err="1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SalariedEmployee</a:t>
            </a:r>
            <a:r>
              <a:rPr lang="en-US" altLang="en-US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(Employee):</a:t>
            </a:r>
          </a:p>
          <a:p>
            <a:r>
              <a:rPr lang="en-US" alt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def __</a:t>
            </a:r>
            <a:r>
              <a:rPr lang="en-US" alt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init</a:t>
            </a:r>
            <a:r>
              <a:rPr lang="en-US" alt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__(self, rate):</a:t>
            </a:r>
          </a:p>
          <a:p>
            <a:r>
              <a:rPr lang="en-US" alt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super().__</a:t>
            </a:r>
            <a:r>
              <a:rPr lang="en-US" alt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init</a:t>
            </a:r>
            <a:r>
              <a:rPr lang="en-US" alt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__(rate)</a:t>
            </a:r>
          </a:p>
          <a:p>
            <a:r>
              <a:rPr lang="en-US" alt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</a:p>
          <a:p>
            <a:r>
              <a:rPr lang="en-US" alt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 </a:t>
            </a:r>
            <a:r>
              <a:rPr lang="en-US" altLang="en-US" dirty="0" err="1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printSalaryPerMonth</a:t>
            </a:r>
            <a:r>
              <a:rPr lang="en-US" altLang="en-US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(self):</a:t>
            </a:r>
          </a:p>
          <a:p>
            <a:r>
              <a:rPr lang="en-US" altLang="en-US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print(</a:t>
            </a:r>
            <a:r>
              <a:rPr lang="en-US" altLang="en-US" dirty="0" err="1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</a:t>
            </a:r>
            <a:r>
              <a:rPr lang="en-US" altLang="en-US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en-US" dirty="0" err="1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self.rate</a:t>
            </a:r>
            <a:r>
              <a:rPr lang="en-US" altLang="en-US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/12))</a:t>
            </a:r>
          </a:p>
          <a:p>
            <a:endParaRPr lang="en-US" altLang="en-US" dirty="0">
              <a:solidFill>
                <a:schemeClr val="accent2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en-US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 </a:t>
            </a:r>
            <a:r>
              <a:rPr lang="en-US" altLang="en-US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PrintWage</a:t>
            </a:r>
            <a:r>
              <a:rPr lang="en-US" altLang="en-US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en-US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emp</a:t>
            </a:r>
            <a:r>
              <a:rPr lang="en-US" altLang="en-US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):</a:t>
            </a:r>
          </a:p>
          <a:p>
            <a:r>
              <a:rPr lang="en-US" altLang="en-US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emp.printSalaryPerMonth</a:t>
            </a:r>
            <a:r>
              <a:rPr lang="en-US" altLang="en-US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r>
              <a:rPr lang="en-US" alt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</a:p>
          <a:p>
            <a:r>
              <a:rPr lang="en-US" alt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f=</a:t>
            </a:r>
            <a:r>
              <a:rPr lang="en-US" alt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HourlyEmployee</a:t>
            </a:r>
            <a:r>
              <a:rPr lang="en-US" alt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(10)</a:t>
            </a:r>
          </a:p>
          <a:p>
            <a:r>
              <a:rPr lang="en-US" alt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g=</a:t>
            </a:r>
            <a:r>
              <a:rPr lang="en-US" alt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SalariedEmployee</a:t>
            </a:r>
            <a:r>
              <a:rPr lang="en-US" alt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(50000)</a:t>
            </a:r>
          </a:p>
          <a:p>
            <a:endParaRPr lang="en-US" altLang="en-US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en-US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f.printSalaryPerMonth</a:t>
            </a:r>
            <a:r>
              <a:rPr lang="en-US" altLang="en-US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#1600</a:t>
            </a:r>
          </a:p>
          <a:p>
            <a:r>
              <a:rPr lang="en-US" altLang="en-US" dirty="0" err="1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g.printSalaryPerMonth</a:t>
            </a:r>
            <a:r>
              <a:rPr lang="en-US" altLang="en-US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#2000</a:t>
            </a:r>
          </a:p>
          <a:p>
            <a:r>
              <a:rPr lang="en-US" altLang="en-US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PrintWage</a:t>
            </a:r>
            <a:r>
              <a:rPr lang="en-US" altLang="en-US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(f)            #1600</a:t>
            </a:r>
          </a:p>
        </p:txBody>
      </p:sp>
    </p:spTree>
    <p:extLst>
      <p:ext uri="{BB962C8B-B14F-4D97-AF65-F5344CB8AC3E}">
        <p14:creationId xmlns:p14="http://schemas.microsoft.com/office/powerpoint/2010/main" val="196246943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Polymorphism Example – Dynamic Binding</a:t>
            </a: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838199" y="1690688"/>
            <a:ext cx="5535477" cy="40934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</a:t>
            </a:r>
            <a:r>
              <a:rPr lang="en-US" altLang="en-US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HourlyEmployee</a:t>
            </a:r>
            <a:r>
              <a:rPr lang="en-US" altLang="en-US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():</a:t>
            </a:r>
          </a:p>
          <a:p>
            <a:r>
              <a:rPr lang="en-US" alt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</a:t>
            </a:r>
            <a:r>
              <a:rPr lang="en-US" alt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__</a:t>
            </a:r>
            <a:r>
              <a:rPr lang="en-US" alt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init</a:t>
            </a:r>
            <a:r>
              <a:rPr lang="en-US" alt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__(self, rate):</a:t>
            </a:r>
          </a:p>
          <a:p>
            <a:r>
              <a:rPr lang="en-US" alt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alt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self.rate</a:t>
            </a:r>
            <a:r>
              <a:rPr lang="en-US" alt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=rate</a:t>
            </a:r>
          </a:p>
          <a:p>
            <a:r>
              <a:rPr lang="en-US" alt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</a:p>
          <a:p>
            <a:r>
              <a:rPr lang="en-US" altLang="en-US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</a:t>
            </a:r>
            <a:r>
              <a:rPr lang="en-US" altLang="en-US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printSalaryPerMonth</a:t>
            </a:r>
            <a:r>
              <a:rPr lang="en-US" altLang="en-US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(self):</a:t>
            </a:r>
          </a:p>
          <a:p>
            <a:r>
              <a:rPr lang="en-US" altLang="en-US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print(</a:t>
            </a:r>
            <a:r>
              <a:rPr lang="en-US" altLang="en-US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</a:t>
            </a:r>
            <a:r>
              <a:rPr lang="en-US" altLang="en-US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en-US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self.rate</a:t>
            </a:r>
            <a:r>
              <a:rPr lang="en-US" altLang="en-US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*20*8))</a:t>
            </a:r>
          </a:p>
          <a:p>
            <a:endParaRPr lang="en-US" altLang="en-US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en-US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</a:t>
            </a:r>
            <a:r>
              <a:rPr lang="en-US" altLang="en-US" dirty="0" err="1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SalariedEmployee</a:t>
            </a:r>
            <a:r>
              <a:rPr lang="en-US" altLang="en-US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():</a:t>
            </a:r>
          </a:p>
          <a:p>
            <a:r>
              <a:rPr lang="en-US" alt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</a:t>
            </a:r>
            <a:r>
              <a:rPr lang="en-US" alt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__</a:t>
            </a:r>
            <a:r>
              <a:rPr lang="en-US" alt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init</a:t>
            </a:r>
            <a:r>
              <a:rPr lang="en-US" alt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__(self, rate):</a:t>
            </a:r>
          </a:p>
          <a:p>
            <a:r>
              <a:rPr lang="en-US" alt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alt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self.rate</a:t>
            </a:r>
            <a:r>
              <a:rPr lang="en-US" alt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=rate</a:t>
            </a:r>
          </a:p>
          <a:p>
            <a:r>
              <a:rPr lang="en-US" alt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</a:p>
          <a:p>
            <a:r>
              <a:rPr lang="en-US" alt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dirty="0" err="1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</a:t>
            </a:r>
            <a:r>
              <a:rPr lang="en-US" altLang="en-US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dirty="0" err="1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printSalaryPerMonth</a:t>
            </a:r>
            <a:r>
              <a:rPr lang="en-US" altLang="en-US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(self):</a:t>
            </a:r>
          </a:p>
          <a:p>
            <a:r>
              <a:rPr lang="en-US" altLang="en-US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print(</a:t>
            </a:r>
            <a:r>
              <a:rPr lang="en-US" altLang="en-US" dirty="0" err="1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</a:t>
            </a:r>
            <a:r>
              <a:rPr lang="en-US" altLang="en-US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en-US" dirty="0" err="1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self.rate</a:t>
            </a:r>
            <a:r>
              <a:rPr lang="en-US" altLang="en-US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/12))</a:t>
            </a: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6510570" y="1479652"/>
            <a:ext cx="5500607" cy="31700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</a:t>
            </a:r>
            <a:r>
              <a:rPr lang="en-US" alt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PrintWage</a:t>
            </a:r>
            <a:r>
              <a:rPr lang="en-US" alt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emp</a:t>
            </a:r>
            <a:r>
              <a:rPr lang="en-US" alt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):</a:t>
            </a:r>
          </a:p>
          <a:p>
            <a:r>
              <a:rPr lang="en-US" alt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en-US" alt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emp.printSalaryPerMonth</a:t>
            </a:r>
            <a:r>
              <a:rPr lang="en-US" alt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endParaRPr lang="en-US" altLang="en-US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f=</a:t>
            </a:r>
            <a:r>
              <a:rPr lang="en-US" alt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HourlyEmployee</a:t>
            </a:r>
            <a:r>
              <a:rPr lang="en-US" alt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(10)</a:t>
            </a:r>
          </a:p>
          <a:p>
            <a:r>
              <a:rPr lang="en-US" alt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g=</a:t>
            </a:r>
            <a:r>
              <a:rPr lang="en-US" alt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SalariedEmployee</a:t>
            </a:r>
            <a:r>
              <a:rPr lang="en-US" alt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(60000)</a:t>
            </a:r>
          </a:p>
          <a:p>
            <a:endParaRPr lang="en-US" altLang="en-US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en-US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f.printSalaryPerMonth</a:t>
            </a:r>
            <a:r>
              <a:rPr lang="en-US" altLang="en-US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#1600</a:t>
            </a:r>
          </a:p>
          <a:p>
            <a:r>
              <a:rPr lang="en-US" altLang="en-US" dirty="0" err="1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g.printSalaryPerMonth</a:t>
            </a:r>
            <a:r>
              <a:rPr lang="en-US" altLang="en-US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#5000</a:t>
            </a:r>
          </a:p>
          <a:p>
            <a:endParaRPr lang="en-US" altLang="en-US" dirty="0">
              <a:solidFill>
                <a:schemeClr val="accent2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PrintWage</a:t>
            </a:r>
            <a:r>
              <a:rPr lang="en-US" alt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(f)		#1600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73676" y="5260140"/>
            <a:ext cx="49801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</a:rPr>
              <a:t>No Employee Class</a:t>
            </a:r>
          </a:p>
        </p:txBody>
      </p:sp>
    </p:spTree>
    <p:extLst>
      <p:ext uri="{BB962C8B-B14F-4D97-AF65-F5344CB8AC3E}">
        <p14:creationId xmlns:p14="http://schemas.microsoft.com/office/powerpoint/2010/main" val="148518671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Polymorphism – Dynamic Binding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84458"/>
          </a:xfrm>
        </p:spPr>
        <p:txBody>
          <a:bodyPr>
            <a:noAutofit/>
          </a:bodyPr>
          <a:lstStyle/>
          <a:p>
            <a:r>
              <a:rPr lang="en-US" altLang="en-US" dirty="0">
                <a:ea typeface="MS PGothic" charset="-128"/>
              </a:rPr>
              <a:t>Dynamic binding goes along with dynamic typing, which we will get to next</a:t>
            </a:r>
          </a:p>
          <a:p>
            <a:r>
              <a:rPr lang="en-US" dirty="0"/>
              <a:t>Dynamic binding is when the method implementation is looked up at runtime </a:t>
            </a:r>
            <a:endParaRPr lang="en-US" altLang="en-US" dirty="0">
              <a:ea typeface="MS PGothic" charset="-128"/>
            </a:endParaRPr>
          </a:p>
          <a:p>
            <a:r>
              <a:rPr lang="en-US" altLang="en-US" dirty="0">
                <a:ea typeface="MS PGothic" charset="-128"/>
              </a:rPr>
              <a:t>The </a:t>
            </a:r>
            <a:r>
              <a:rPr lang="en-US" altLang="en-US" dirty="0" err="1">
                <a:ea typeface="MS PGothic" charset="-128"/>
              </a:rPr>
              <a:t>printSalaryPerMonth</a:t>
            </a:r>
            <a:r>
              <a:rPr lang="en-US" altLang="en-US" dirty="0">
                <a:ea typeface="MS PGothic" charset="-128"/>
              </a:rPr>
              <a:t>() function can be applied to both objects, so it works</a:t>
            </a:r>
          </a:p>
          <a:p>
            <a:r>
              <a:rPr lang="en-US" altLang="en-US" dirty="0">
                <a:ea typeface="MS PGothic" charset="-128"/>
              </a:rPr>
              <a:t>Python does not worry that the objects are completely separate and do not have the same inheritance chain</a:t>
            </a:r>
          </a:p>
          <a:p>
            <a:r>
              <a:rPr lang="en-US" altLang="en-US" dirty="0">
                <a:ea typeface="MS PGothic" charset="-128"/>
              </a:rPr>
              <a:t>If </a:t>
            </a:r>
            <a:r>
              <a:rPr lang="en-US" altLang="en-US" dirty="0" err="1">
                <a:ea typeface="MS PGothic" charset="-128"/>
              </a:rPr>
              <a:t>printSalaryPerMonth</a:t>
            </a:r>
            <a:r>
              <a:rPr lang="en-US" altLang="en-US" dirty="0">
                <a:ea typeface="MS PGothic" charset="-128"/>
              </a:rPr>
              <a:t> was not defined in </a:t>
            </a:r>
            <a:r>
              <a:rPr lang="en-US" altLang="en-US" dirty="0" err="1">
                <a:ea typeface="MS PGothic" charset="-128"/>
              </a:rPr>
              <a:t>HourlyEmployee</a:t>
            </a:r>
            <a:r>
              <a:rPr lang="en-US" altLang="en-US" dirty="0">
                <a:ea typeface="MS PGothic" charset="-128"/>
              </a:rPr>
              <a:t>, a runtime error would occur </a:t>
            </a:r>
          </a:p>
          <a:p>
            <a:endParaRPr lang="en-US" altLang="en-US" dirty="0">
              <a:ea typeface="MS PGothic" charset="-128"/>
            </a:endParaRPr>
          </a:p>
          <a:p>
            <a:endParaRPr lang="en-US" altLang="en-US" dirty="0">
              <a:ea typeface="MS PGothic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22403570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Polymorphism – Dynamic Binding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84458"/>
          </a:xfrm>
        </p:spPr>
        <p:txBody>
          <a:bodyPr>
            <a:noAutofit/>
          </a:bodyPr>
          <a:lstStyle/>
          <a:p>
            <a:r>
              <a:rPr lang="en-US" altLang="en-US" dirty="0">
                <a:ea typeface="MS PGothic" charset="-128"/>
              </a:rPr>
              <a:t>3 + 3 is syntactic sugar in Python for 3.__add__(3)</a:t>
            </a:r>
          </a:p>
          <a:p>
            <a:r>
              <a:rPr lang="en-US" altLang="en-US" dirty="0">
                <a:ea typeface="MS PGothic" charset="-128"/>
              </a:rPr>
              <a:t>With dynamic binding, you could construct a version of __add__ that would allow you to add any two objects you choose</a:t>
            </a:r>
            <a:endParaRPr lang="en-US" altLang="en-US" sz="2800" dirty="0">
              <a:ea typeface="MS PGothic" charset="-128"/>
            </a:endParaRPr>
          </a:p>
          <a:p>
            <a:endParaRPr lang="en-US" altLang="en-US" dirty="0">
              <a:ea typeface="MS PGothic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06941667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Polymorphism – Dynamic Binding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F1A82909-3148-5946-A20F-BA55842575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class Day(object):</a:t>
            </a: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def __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init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__(self, visits, contacts):</a:t>
            </a: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self.visits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 visits</a:t>
            </a: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self.contacts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 contacts</a:t>
            </a: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def __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__(self):</a:t>
            </a: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return "Visits: %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Contacts: %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" % (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self.visits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self.contacts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def __add__(self, other):</a:t>
            </a: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total_visits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self.visits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+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other.visits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total_contacts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self.contacts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+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other.contacts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return Day(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total_visits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total_contacts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day1 = Day(10,1)</a:t>
            </a: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day2 = Day(20, 2)</a:t>
            </a: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day3 = day1 + day2</a:t>
            </a: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print(day3)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88715" y="6176963"/>
            <a:ext cx="40032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</a:rPr>
              <a:t>Prints: Visits: 30, Contacts: 3</a:t>
            </a:r>
          </a:p>
        </p:txBody>
      </p:sp>
    </p:spTree>
    <p:extLst>
      <p:ext uri="{BB962C8B-B14F-4D97-AF65-F5344CB8AC3E}">
        <p14:creationId xmlns:p14="http://schemas.microsoft.com/office/powerpoint/2010/main" val="392158595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Polymorphism – Dynamic Binding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84458"/>
          </a:xfrm>
        </p:spPr>
        <p:txBody>
          <a:bodyPr>
            <a:noAutofit/>
          </a:bodyPr>
          <a:lstStyle/>
          <a:p>
            <a:r>
              <a:rPr lang="en-US" altLang="en-US" dirty="0">
                <a:ea typeface="MS PGothic" charset="-128"/>
              </a:rPr>
              <a:t>Dynamic binding goes along with dynamic typing, which we will get to next</a:t>
            </a:r>
          </a:p>
          <a:p>
            <a:r>
              <a:rPr lang="en-US" dirty="0"/>
              <a:t>Dynamic binding is when the method implementation is looked up at runtime </a:t>
            </a:r>
            <a:endParaRPr lang="en-US" altLang="en-US" dirty="0">
              <a:ea typeface="MS PGothic" charset="-128"/>
            </a:endParaRPr>
          </a:p>
          <a:p>
            <a:r>
              <a:rPr lang="en-US" altLang="en-US" dirty="0">
                <a:ea typeface="MS PGothic" charset="-128"/>
              </a:rPr>
              <a:t>The </a:t>
            </a:r>
            <a:r>
              <a:rPr lang="en-US" altLang="en-US" dirty="0" err="1">
                <a:ea typeface="MS PGothic" charset="-128"/>
              </a:rPr>
              <a:t>printSalaryPerMonth</a:t>
            </a:r>
            <a:r>
              <a:rPr lang="en-US" altLang="en-US" dirty="0">
                <a:ea typeface="MS PGothic" charset="-128"/>
              </a:rPr>
              <a:t>() function can be applied to both objects, so it works</a:t>
            </a:r>
          </a:p>
          <a:p>
            <a:r>
              <a:rPr lang="en-US" altLang="en-US" dirty="0">
                <a:ea typeface="MS PGothic" charset="-128"/>
              </a:rPr>
              <a:t>Python does not worry that the objects are completely separate and do not have the same inheritance chain</a:t>
            </a:r>
          </a:p>
          <a:p>
            <a:r>
              <a:rPr lang="en-US" altLang="en-US" dirty="0">
                <a:ea typeface="MS PGothic" charset="-128"/>
              </a:rPr>
              <a:t>If </a:t>
            </a:r>
            <a:r>
              <a:rPr lang="en-US" altLang="en-US" dirty="0" err="1">
                <a:ea typeface="MS PGothic" charset="-128"/>
              </a:rPr>
              <a:t>printSalaryPerMonth</a:t>
            </a:r>
            <a:r>
              <a:rPr lang="en-US" altLang="en-US" dirty="0">
                <a:ea typeface="MS PGothic" charset="-128"/>
              </a:rPr>
              <a:t> was not defined in </a:t>
            </a:r>
            <a:r>
              <a:rPr lang="en-US" altLang="en-US" dirty="0" err="1">
                <a:ea typeface="MS PGothic" charset="-128"/>
              </a:rPr>
              <a:t>HourlyEmployee</a:t>
            </a:r>
            <a:r>
              <a:rPr lang="en-US" altLang="en-US" dirty="0">
                <a:ea typeface="MS PGothic" charset="-128"/>
              </a:rPr>
              <a:t>, a runtime error would occur </a:t>
            </a:r>
          </a:p>
          <a:p>
            <a:endParaRPr lang="en-US" altLang="en-US" dirty="0">
              <a:ea typeface="MS PGothic" charset="-128"/>
            </a:endParaRPr>
          </a:p>
          <a:p>
            <a:endParaRPr lang="en-US" altLang="en-US" dirty="0">
              <a:ea typeface="MS PGothic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08992503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Polymorphism – Dynamic Binding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84458"/>
          </a:xfrm>
        </p:spPr>
        <p:txBody>
          <a:bodyPr>
            <a:noAutofit/>
          </a:bodyPr>
          <a:lstStyle/>
          <a:p>
            <a:r>
              <a:rPr lang="en-US" altLang="en-US" dirty="0">
                <a:ea typeface="MS PGothic" charset="-128"/>
              </a:rPr>
              <a:t>Dynamic binding goes along with dynamic typing, which we will get to next</a:t>
            </a:r>
          </a:p>
          <a:p>
            <a:r>
              <a:rPr lang="en-US" dirty="0"/>
              <a:t>Dynamic binding is when the method implementation is looked up at runtime </a:t>
            </a:r>
            <a:endParaRPr lang="en-US" altLang="en-US" dirty="0">
              <a:ea typeface="MS PGothic" charset="-128"/>
            </a:endParaRPr>
          </a:p>
          <a:p>
            <a:r>
              <a:rPr lang="en-US" altLang="en-US" dirty="0">
                <a:ea typeface="MS PGothic" charset="-128"/>
              </a:rPr>
              <a:t>Dynamic typing is when the data type of an object is determined at runtime </a:t>
            </a:r>
          </a:p>
          <a:p>
            <a:r>
              <a:rPr lang="en-US" altLang="en-US" dirty="0">
                <a:ea typeface="MS PGothic" charset="-128"/>
              </a:rPr>
              <a:t>A language can be statically typed and dynamically bound </a:t>
            </a:r>
          </a:p>
          <a:p>
            <a:r>
              <a:rPr lang="en-US" altLang="en-US" dirty="0">
                <a:ea typeface="MS PGothic" charset="-128"/>
              </a:rPr>
              <a:t>But for a language to be statically bound, it must be statically typed</a:t>
            </a:r>
          </a:p>
          <a:p>
            <a:r>
              <a:rPr lang="en-US" altLang="en-US" dirty="0">
                <a:ea typeface="MS PGothic" charset="-128"/>
              </a:rPr>
              <a:t>Strong and weak typing refer to how flexible the typing system is</a:t>
            </a:r>
          </a:p>
          <a:p>
            <a:endParaRPr lang="en-US" altLang="en-US" dirty="0">
              <a:ea typeface="MS PGothic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49789528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The Good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689475"/>
          </a:xfrm>
        </p:spPr>
        <p:txBody>
          <a:bodyPr>
            <a:normAutofit/>
          </a:bodyPr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Incredibly flexible language </a:t>
            </a:r>
          </a:p>
          <a:p>
            <a:pPr lvl="1"/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High programmer efficiency </a:t>
            </a:r>
          </a:p>
          <a:p>
            <a:pPr lvl="1"/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Makes python very easy to learn, especially for beginners </a:t>
            </a: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Powerful standard library </a:t>
            </a: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Massive 3</a:t>
            </a:r>
            <a:r>
              <a:rPr lang="en-US" baseline="30000" dirty="0">
                <a:latin typeface="Calibri" panose="020F0502020204030204" pitchFamily="34" charset="0"/>
                <a:cs typeface="Calibri" panose="020F0502020204030204" pitchFamily="34" charset="0"/>
              </a:rPr>
              <a:t>rd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party library support + simple package manager </a:t>
            </a:r>
          </a:p>
          <a:p>
            <a:pPr lvl="1"/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Widespread use has brought a rich and diverse world of 3</a:t>
            </a:r>
            <a:r>
              <a:rPr lang="en-US" baseline="30000" dirty="0">
                <a:latin typeface="Calibri" panose="020F0502020204030204" pitchFamily="34" charset="0"/>
                <a:cs typeface="Calibri" panose="020F0502020204030204" pitchFamily="34" charset="0"/>
              </a:rPr>
              <a:t>rd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party libraries </a:t>
            </a: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  <a:r>
              <a:rPr lang="en-US" baseline="30000" dirty="0">
                <a:latin typeface="Calibri" panose="020F0502020204030204" pitchFamily="34" charset="0"/>
                <a:cs typeface="Calibri" panose="020F0502020204030204" pitchFamily="34" charset="0"/>
              </a:rPr>
              <a:t>rd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party interpreters and compilers with increased performance </a:t>
            </a:r>
          </a:p>
          <a:p>
            <a:pPr lvl="1"/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PyPy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– JIT Python Compiler </a:t>
            </a:r>
          </a:p>
          <a:p>
            <a:pPr lvl="1"/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Cython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– Cross compiles Python into C and C++</a:t>
            </a:r>
          </a:p>
          <a:p>
            <a:pPr marL="457200" lvl="1" indent="0">
              <a:buNone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lvl="1"/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30829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The Bad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689475"/>
          </a:xfrm>
        </p:spPr>
        <p:txBody>
          <a:bodyPr>
            <a:normAutofit/>
          </a:bodyPr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Python’s dynamically typed nature seriously impacts security </a:t>
            </a: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Python 2 and 3 incompatibility </a:t>
            </a:r>
          </a:p>
          <a:p>
            <a:pPr lvl="1"/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Becomes an issue when the widespread use of Python 2 is acknowledged </a:t>
            </a:r>
          </a:p>
          <a:p>
            <a:pPr lvl="1"/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Many libraries and online resources are written for Python 2 and will not work / are not correct for Python 3</a:t>
            </a:r>
          </a:p>
          <a:p>
            <a:pPr lvl="1"/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With Python 2 officially deprecated, this issue is on the decline </a:t>
            </a: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The capricious choices of the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  <a:hlinkClick r:id="rId3"/>
              </a:rPr>
              <a:t>BDFL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lvl="1"/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  <a:hlinkClick r:id="rId4"/>
              </a:rPr>
              <a:t>“</a:t>
            </a:r>
            <a:r>
              <a:rPr lang="en-US" dirty="0"/>
              <a:t>Like many of the early PEPs, it represents Guido van Rossum's preferences, and as Python's acknowledged Benevolent Dictator for Life, his preferences are generally followed by the Python community.</a:t>
            </a:r>
            <a:r>
              <a:rPr lang="en-US" dirty="0">
                <a:hlinkClick r:id="rId4"/>
              </a:rPr>
              <a:t>“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105395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The Neutral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6107625" cy="4689475"/>
          </a:xfrm>
        </p:spPr>
        <p:txBody>
          <a:bodyPr>
            <a:normAutofit/>
          </a:bodyPr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Environment management </a:t>
            </a: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Feature creep </a:t>
            </a:r>
          </a:p>
          <a:p>
            <a:pPr lvl="1"/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Negative indices </a:t>
            </a:r>
          </a:p>
          <a:p>
            <a:pPr lvl="1"/>
            <a:r>
              <a:rPr lang="en-US" dirty="0"/>
              <a:t>"Python acquired lambda, reduce(), filter() and map(), courtesy of a Lisp hacker who missed them and submitted working patches” -- </a:t>
            </a:r>
            <a:r>
              <a:rPr lang="en-US" dirty="0">
                <a:hlinkClick r:id="rId3"/>
              </a:rPr>
              <a:t>Guido van Rossum</a:t>
            </a:r>
            <a:endParaRPr lang="en-US" dirty="0"/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Python as a teaching language, fantastic or awful?</a:t>
            </a:r>
          </a:p>
        </p:txBody>
      </p:sp>
      <p:pic>
        <p:nvPicPr>
          <p:cNvPr id="2050" name="Picture 2" descr="https://imgs.xkcd.com/comics/python_environment_2x.png">
            <a:extLst>
              <a:ext uri="{FF2B5EF4-FFF2-40B4-BE49-F238E27FC236}">
                <a16:creationId xmlns:a16="http://schemas.microsoft.com/office/drawing/2014/main" id="{271D824E-143A-9844-B56D-D453ED5BD7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45825" y="1690688"/>
            <a:ext cx="4407975" cy="43675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6653404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The Ugly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689475"/>
          </a:xfrm>
        </p:spPr>
        <p:txBody>
          <a:bodyPr>
            <a:normAutofit/>
          </a:bodyPr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Documentation is </a:t>
            </a: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B A D</a:t>
            </a:r>
          </a:p>
          <a:p>
            <a:endParaRPr lang="en-US" sz="3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074" name="Picture 2" descr="https://i.kym-cdn.com/entries/icons/facebook/000/010/566/060.jpg">
            <a:extLst>
              <a:ext uri="{FF2B5EF4-FFF2-40B4-BE49-F238E27FC236}">
                <a16:creationId xmlns:a16="http://schemas.microsoft.com/office/drawing/2014/main" id="{B46A6729-61AF-2E4E-BBA2-EA852DF11E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687531">
            <a:off x="5616116" y="673685"/>
            <a:ext cx="4952907" cy="47056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443371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4" fill="hold" nodeType="click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07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7" dur="500" fill="hold"/>
                                            <p:tgtEl>
                                              <p:spTgt spid="307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8" dur="500" fill="hold"/>
                                            <p:tgtEl>
                                              <p:spTgt spid="307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4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07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307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307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</p:timing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49932</TotalTime>
  <Words>3992</Words>
  <Application>Microsoft Macintosh PowerPoint</Application>
  <PresentationFormat>Widescreen</PresentationFormat>
  <Paragraphs>585</Paragraphs>
  <Slides>44</Slides>
  <Notes>22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53" baseType="lpstr">
      <vt:lpstr>MS PGothic</vt:lpstr>
      <vt:lpstr>Arial</vt:lpstr>
      <vt:lpstr>Calibri</vt:lpstr>
      <vt:lpstr>Calibri Light</vt:lpstr>
      <vt:lpstr>Courier New</vt:lpstr>
      <vt:lpstr>Tahoma</vt:lpstr>
      <vt:lpstr>Times New Roman</vt:lpstr>
      <vt:lpstr>Office Theme</vt:lpstr>
      <vt:lpstr>Picture</vt:lpstr>
      <vt:lpstr>CMSC 304</vt:lpstr>
      <vt:lpstr>Python Objects</vt:lpstr>
      <vt:lpstr>Python – Creating a Class</vt:lpstr>
      <vt:lpstr>Python – Creating a Class</vt:lpstr>
      <vt:lpstr>Python – Creating a Class</vt:lpstr>
      <vt:lpstr>Python Object-Oriented Example</vt:lpstr>
      <vt:lpstr>Assignment Statements</vt:lpstr>
      <vt:lpstr>Deep Copy vs. Shallow Copy</vt:lpstr>
      <vt:lpstr>Deep Copy vs. Shallow Copy, cont.</vt:lpstr>
      <vt:lpstr>Deep Copy vs. Shallow Copy, cont.</vt:lpstr>
      <vt:lpstr>Deep Copy vs. Shallow Copy, cont.</vt:lpstr>
      <vt:lpstr>Python Variables</vt:lpstr>
      <vt:lpstr>Python Variables</vt:lpstr>
      <vt:lpstr>Python Variables</vt:lpstr>
      <vt:lpstr>Python Variables</vt:lpstr>
      <vt:lpstr>Python Variables</vt:lpstr>
      <vt:lpstr>Python Functions</vt:lpstr>
      <vt:lpstr>Python Functions</vt:lpstr>
      <vt:lpstr>Python Access Modifiers</vt:lpstr>
      <vt:lpstr>Python Data Field Encapsulation</vt:lpstr>
      <vt:lpstr>Python Data Field Encapsulation</vt:lpstr>
      <vt:lpstr>Inheritance</vt:lpstr>
      <vt:lpstr>Inheritance</vt:lpstr>
      <vt:lpstr>Inheritance Example</vt:lpstr>
      <vt:lpstr>Multiple Inheritance</vt:lpstr>
      <vt:lpstr>Multiple Inheritance Example</vt:lpstr>
      <vt:lpstr>Multiple Inheritance Example</vt:lpstr>
      <vt:lpstr>Multiple Inheritance Example</vt:lpstr>
      <vt:lpstr>Multiple Inheritance Example</vt:lpstr>
      <vt:lpstr>Multiple Inheritance Example</vt:lpstr>
      <vt:lpstr>Multiple Inheritance</vt:lpstr>
      <vt:lpstr>Polymorphism</vt:lpstr>
      <vt:lpstr>Polymorphism</vt:lpstr>
      <vt:lpstr>Polymorphism Example</vt:lpstr>
      <vt:lpstr>Polymorphism Example – Dynamic Binding</vt:lpstr>
      <vt:lpstr>Polymorphism – Dynamic Binding</vt:lpstr>
      <vt:lpstr>Polymorphism – Dynamic Binding</vt:lpstr>
      <vt:lpstr>Polymorphism – Dynamic Binding</vt:lpstr>
      <vt:lpstr>Polymorphism – Dynamic Binding</vt:lpstr>
      <vt:lpstr>Polymorphism – Dynamic Binding</vt:lpstr>
      <vt:lpstr>The Good</vt:lpstr>
      <vt:lpstr>The Bad</vt:lpstr>
      <vt:lpstr>The Neutral </vt:lpstr>
      <vt:lpstr>The Ugly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CMSC 403</dc:title>
  <dc:creator>Microsoft Office User</dc:creator>
  <cp:lastModifiedBy>Microsoft Office User</cp:lastModifiedBy>
  <cp:revision>284</cp:revision>
  <cp:lastPrinted>2017-09-07T16:13:53Z</cp:lastPrinted>
  <dcterms:created xsi:type="dcterms:W3CDTF">2017-05-31T17:26:26Z</dcterms:created>
  <dcterms:modified xsi:type="dcterms:W3CDTF">2025-01-05T23:42:56Z</dcterms:modified>
</cp:coreProperties>
</file>