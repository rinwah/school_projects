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notesMasterIdLst>
    <p:notesMasterId r:id="rId33"/>
  </p:notesMasterIdLst>
  <p:sldIdLst>
    <p:sldId id="256" r:id="rId2"/>
    <p:sldId id="559" r:id="rId3"/>
    <p:sldId id="560" r:id="rId4"/>
    <p:sldId id="401" r:id="rId5"/>
    <p:sldId id="468" r:id="rId6"/>
    <p:sldId id="470" r:id="rId7"/>
    <p:sldId id="483" r:id="rId8"/>
    <p:sldId id="480" r:id="rId9"/>
    <p:sldId id="583" r:id="rId10"/>
    <p:sldId id="484" r:id="rId11"/>
    <p:sldId id="485" r:id="rId12"/>
    <p:sldId id="486" r:id="rId13"/>
    <p:sldId id="584" r:id="rId14"/>
    <p:sldId id="487" r:id="rId15"/>
    <p:sldId id="259" r:id="rId16"/>
    <p:sldId id="260" r:id="rId17"/>
    <p:sldId id="261" r:id="rId18"/>
    <p:sldId id="262" r:id="rId19"/>
    <p:sldId id="263" r:id="rId20"/>
    <p:sldId id="264" r:id="rId21"/>
    <p:sldId id="475" r:id="rId22"/>
    <p:sldId id="477" r:id="rId23"/>
    <p:sldId id="476" r:id="rId24"/>
    <p:sldId id="481" r:id="rId25"/>
    <p:sldId id="482" r:id="rId26"/>
    <p:sldId id="501" r:id="rId27"/>
    <p:sldId id="502" r:id="rId28"/>
    <p:sldId id="578" r:id="rId29"/>
    <p:sldId id="580" r:id="rId30"/>
    <p:sldId id="581" r:id="rId31"/>
    <p:sldId id="58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87"/>
    <p:restoredTop sz="73395"/>
  </p:normalViewPr>
  <p:slideViewPr>
    <p:cSldViewPr snapToGrid="0" snapToObjects="1">
      <p:cViewPr varScale="1">
        <p:scale>
          <a:sx n="117" d="100"/>
          <a:sy n="11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24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759CD2A6-9149-D74F-B2A3-8AB9A21192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8CF31314-630F-AC4A-AD96-1C776A029E4B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1F4B10D0-03D2-5047-865B-848E257199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B2CEEAB-C537-EA45-89BB-9C44028BA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MX" altLang="en-US" dirty="0">
                <a:latin typeface="Times" pitchFamily="2" charset="0"/>
              </a:rPr>
              <a:t>Syntax for compile time</a:t>
            </a:r>
          </a:p>
          <a:p>
            <a:pPr eaLnBrk="1" hangingPunct="1"/>
            <a:r>
              <a:rPr lang="es-MX" altLang="en-US" dirty="0">
                <a:latin typeface="Times" pitchFamily="2" charset="0"/>
              </a:rPr>
              <a:t>Semantics for runtime</a:t>
            </a:r>
          </a:p>
        </p:txBody>
      </p:sp>
    </p:spTree>
    <p:extLst>
      <p:ext uri="{BB962C8B-B14F-4D97-AF65-F5344CB8AC3E}">
        <p14:creationId xmlns:p14="http://schemas.microsoft.com/office/powerpoint/2010/main" val="384464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759CD2A6-9149-D74F-B2A3-8AB9A21192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cs typeface="Lucida Sans Unicode" panose="020B0602030504020204" pitchFamily="34" charset="0"/>
              </a:defRPr>
            </a:lvl9pPr>
          </a:lstStyle>
          <a:p>
            <a:fld id="{8CF31314-630F-AC4A-AD96-1C776A029E4B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1F4B10D0-03D2-5047-865B-848E257199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B2CEEAB-C537-EA45-89BB-9C44028BA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MX" altLang="en-US" dirty="0">
                <a:latin typeface="Times" pitchFamily="2" charset="0"/>
              </a:rPr>
              <a:t>Syntax for compile time</a:t>
            </a:r>
          </a:p>
          <a:p>
            <a:pPr eaLnBrk="1" hangingPunct="1"/>
            <a:r>
              <a:rPr lang="es-MX" altLang="en-US" dirty="0">
                <a:latin typeface="Times" pitchFamily="2" charset="0"/>
              </a:rPr>
              <a:t>Semantics for runtime</a:t>
            </a:r>
          </a:p>
        </p:txBody>
      </p:sp>
    </p:spTree>
    <p:extLst>
      <p:ext uri="{BB962C8B-B14F-4D97-AF65-F5344CB8AC3E}">
        <p14:creationId xmlns:p14="http://schemas.microsoft.com/office/powerpoint/2010/main" val="1074032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Issues with</a:t>
            </a:r>
            <a:r>
              <a:rPr lang="en-US" baseline="0" dirty="0"/>
              <a:t> this?</a:t>
            </a:r>
            <a:br>
              <a:rPr lang="en-US" baseline="0" dirty="0"/>
            </a:br>
            <a:r>
              <a:rPr lang="en-US" baseline="0" dirty="0"/>
              <a:t>Open to interpretation </a:t>
            </a:r>
          </a:p>
          <a:p>
            <a:r>
              <a:rPr lang="en-US" dirty="0"/>
              <a:t>Wordy</a:t>
            </a:r>
          </a:p>
          <a:p>
            <a:r>
              <a:rPr lang="en-US" dirty="0"/>
              <a:t>Not everyone speaks English, translation isn’t perfect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1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45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59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example on board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55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language is infinite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16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 derivations we just did on the board can be done by a computer with ease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55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800" dirty="0">
                <a:ea typeface="MS PGothic" charset="-128"/>
              </a:rPr>
              <a:t>Concatenation: () can be included to allow for grouping of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Repetition: * or + after the item to be repeated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Choice or selection: | between items to be selected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94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800" dirty="0">
                <a:ea typeface="MS PGothic" charset="-128"/>
              </a:rPr>
              <a:t>Concatenation: () can be included to allow for grouping of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Repetition: * or + after the item to be repeated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Choice or selection: | between items to be selected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45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800" dirty="0">
                <a:ea typeface="MS PGothic" charset="-128"/>
              </a:rPr>
              <a:t>Concatenation: () can be included to allow for grouping of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Repetition: * or + after the item to be repeated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Choice or selection: | between items to be selected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Square brackets with a hyphen ([-]) indicate a range of characters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Question mark (?) indicates an optional item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Period (.) indicates any character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Escaping a character (\) (if you need to use a symbol that has special meaning such as ?)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65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800" dirty="0">
                <a:ea typeface="MS PGothic" charset="-128"/>
              </a:rPr>
              <a:t>Concatenation: () can be included to allow for grouping of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Repetition: * or + after the item to be repeated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Choice or selection: | between items to be selected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Square brackets with a hyphen ([-]) indicate a range of characters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Question mark (?) indicates an optional item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Period (.) indicates any character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Escaping a character (\) (if you need to use a symbol that has special meaning such as 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65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800" dirty="0">
                <a:ea typeface="MS PGothic" charset="-128"/>
              </a:rPr>
              <a:t>Concatenation: () can be included to allow for grouping of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Repetition: * or + after the item to be repeated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Choice or selection: | between items to be selected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Square brackets with a hyphen ([-]) indicate a range of characters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Question mark (?) indicates an optional item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Period (.) indicates any character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Escaping a character (\) (if you need to use a symbol that has special meaning such as ?)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8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800" dirty="0">
                <a:ea typeface="MS PGothic" charset="-128"/>
              </a:rPr>
              <a:t>Concatenation: () can be included to allow for grouping of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Repetition: * or + after the item to be repeated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Choice or selection: | between items to be selected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Square brackets with a hyphen ([-]) indicate a range of characters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Question mark (?) indicates an optional item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Period (.) indicates any character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Escaping a character (\) (if you need to use a symbol that has special meaning such as ?)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4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800" dirty="0">
                <a:ea typeface="MS PGothic" charset="-128"/>
              </a:rPr>
              <a:t>Concatenation: () can be included to allow for grouping of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Repetition: * or + after the item to be repeated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Choice or selection: | between items to be selected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Square brackets with a hyphen ([-]) indicate a range of characters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Question mark (?) indicates an optional item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Period (.) indicates any character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Escaping a character (\) (if you need to use a symbol that has special meaning such as ?)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14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the principle of longest substring implicitly here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39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the principle of longest substring implicitly here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34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\W (Not word) does us in because it makes the grammar ambiguous, which we will talk about more in a later lecture </a:t>
            </a:r>
          </a:p>
          <a:p>
            <a:r>
              <a:rPr lang="en-US" dirty="0"/>
              <a:t>The grammar is ambiguous because </a:t>
            </a:r>
            <a:r>
              <a:rPr lang="en-US" dirty="0" err="1"/>
              <a:t>var’s</a:t>
            </a:r>
            <a:r>
              <a:rPr lang="en-US" dirty="0"/>
              <a:t> can have spaces and symbols, so we can’t disambiguate (or tell apart) a </a:t>
            </a:r>
            <a:r>
              <a:rPr lang="en-US" dirty="0" err="1"/>
              <a:t>var</a:t>
            </a:r>
            <a:r>
              <a:rPr lang="en-US" dirty="0"/>
              <a:t> from an expression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78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Or \w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33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3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3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8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2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9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5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9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8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0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Context Free Grammars &amp; </a:t>
            </a:r>
            <a:r>
              <a:rPr lang="en-US" altLang="en-US" dirty="0"/>
              <a:t>Lexical Structure</a:t>
            </a:r>
            <a:endParaRPr lang="en-US" dirty="0"/>
          </a:p>
          <a:p>
            <a:r>
              <a:rPr lang="en-US" dirty="0"/>
              <a:t>Claire Sparks</a:t>
            </a:r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082CCDF6-7E5E-FF42-9359-1557D30F2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5B156095-E31D-2A4E-84CA-2A842E99B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Syntax:</a:t>
            </a:r>
            <a:r>
              <a:rPr lang="en-US" altLang="en-US" dirty="0"/>
              <a:t> the form or structure of the expressions, statements, and program units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Semantics:</a:t>
            </a:r>
            <a:r>
              <a:rPr lang="en-US" altLang="en-US" dirty="0"/>
              <a:t> the meaning of the expressions, statements, and program units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Syntax and semantics provide a language’s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 Users of a language definition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Language designers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b="1" i="1" dirty="0"/>
              <a:t>Compiler designers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Programmers (the users of the language)</a:t>
            </a:r>
          </a:p>
        </p:txBody>
      </p:sp>
    </p:spTree>
    <p:extLst>
      <p:ext uri="{BB962C8B-B14F-4D97-AF65-F5344CB8AC3E}">
        <p14:creationId xmlns:p14="http://schemas.microsoft.com/office/powerpoint/2010/main" val="799176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082CCDF6-7E5E-FF42-9359-1557D30F2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Language Syntax</a:t>
            </a:r>
            <a:endParaRPr lang="en-US" altLang="en-US" dirty="0"/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5B156095-E31D-2A4E-84CA-2A842E99B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ea typeface="MS PGothic" charset="-128"/>
              </a:rPr>
              <a:t>What is it?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Syntax = structure of the language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The allowed order of words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The allowed types of words</a:t>
            </a:r>
          </a:p>
          <a:p>
            <a:r>
              <a:rPr lang="en-US" altLang="en-US" dirty="0">
                <a:ea typeface="MS PGothic" charset="-128"/>
              </a:rPr>
              <a:t>How do I specify the syntax?</a:t>
            </a:r>
          </a:p>
        </p:txBody>
      </p:sp>
    </p:spTree>
    <p:extLst>
      <p:ext uri="{BB962C8B-B14F-4D97-AF65-F5344CB8AC3E}">
        <p14:creationId xmlns:p14="http://schemas.microsoft.com/office/powerpoint/2010/main" val="4413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Language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Written explanations:</a:t>
            </a:r>
          </a:p>
          <a:p>
            <a:r>
              <a:rPr lang="en-US" altLang="en-US" dirty="0">
                <a:ea typeface="MS PGothic" charset="-128"/>
              </a:rPr>
              <a:t>Example: </a:t>
            </a:r>
            <a:r>
              <a:rPr lang="en-US" altLang="en-US" dirty="0">
                <a:latin typeface="Courier New" charset="0"/>
                <a:ea typeface="MS PGothic" charset="-128"/>
              </a:rPr>
              <a:t>if</a:t>
            </a:r>
            <a:r>
              <a:rPr lang="en-US" altLang="en-US" dirty="0">
                <a:ea typeface="MS PGothic" charset="-128"/>
              </a:rPr>
              <a:t> statement in C</a:t>
            </a:r>
          </a:p>
          <a:p>
            <a:endParaRPr lang="en-US" altLang="en-US" dirty="0">
              <a:ea typeface="MS PGothic" charset="-128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005" y="2941320"/>
            <a:ext cx="852487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44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Language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Other forms of Describing: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1950: Noam Chomsky developed the idea of context-free grammars</a:t>
            </a:r>
          </a:p>
          <a:p>
            <a:pPr lvl="2"/>
            <a:r>
              <a:rPr lang="en-US" altLang="en-US" sz="2400" b="1" dirty="0"/>
              <a:t>Context-free grammar</a:t>
            </a:r>
            <a:r>
              <a:rPr lang="en-US" altLang="en-US" sz="2400" dirty="0"/>
              <a:t>: 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f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ormal specification of syntax which c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onsists of a series of grammar rules</a:t>
            </a:r>
            <a:endParaRPr lang="en-US" altLang="en-US" sz="2400" dirty="0">
              <a:latin typeface="Calibri" panose="020F0502020204030204" pitchFamily="34" charset="0"/>
              <a:ea typeface="MS PGothic" charset="-128"/>
              <a:cs typeface="Calibri" panose="020F0502020204030204" pitchFamily="34" charset="0"/>
            </a:endParaRPr>
          </a:p>
          <a:p>
            <a:pPr lvl="1"/>
            <a:r>
              <a:rPr lang="en-US" altLang="en-US" sz="2800" dirty="0">
                <a:latin typeface="Calibri" panose="020F0502020204030204" pitchFamily="34" charset="0"/>
                <a:ea typeface="MS PGothic" charset="-128"/>
                <a:cs typeface="Calibri" panose="020F0502020204030204" pitchFamily="34" charset="0"/>
              </a:rPr>
              <a:t>John Backus and Peter </a:t>
            </a:r>
            <a:r>
              <a:rPr lang="en-US" altLang="en-US" sz="2800" dirty="0" err="1">
                <a:latin typeface="Calibri" panose="020F0502020204030204" pitchFamily="34" charset="0"/>
                <a:ea typeface="MS PGothic" charset="-128"/>
                <a:cs typeface="Calibri" panose="020F0502020204030204" pitchFamily="34" charset="0"/>
              </a:rPr>
              <a:t>Naur</a:t>
            </a:r>
            <a:r>
              <a:rPr lang="en-US" altLang="en-US" sz="2800" dirty="0">
                <a:latin typeface="Calibri" panose="020F0502020204030204" pitchFamily="34" charset="0"/>
                <a:ea typeface="MS PGothic" charset="-128"/>
                <a:cs typeface="Calibri" panose="020F0502020204030204" pitchFamily="34" charset="0"/>
              </a:rPr>
              <a:t> developed </a:t>
            </a:r>
            <a:r>
              <a:rPr lang="en-US" altLang="en-US" sz="2800" dirty="0">
                <a:ea typeface="MS PGothic" charset="-128"/>
              </a:rPr>
              <a:t>a notational system for describing these grammars, now called </a:t>
            </a:r>
            <a:r>
              <a:rPr lang="en-US" altLang="en-US" sz="2800" b="1" dirty="0">
                <a:ea typeface="MS PGothic" charset="-128"/>
              </a:rPr>
              <a:t>Backus-Naur forms</a:t>
            </a:r>
            <a:r>
              <a:rPr lang="en-US" altLang="en-US" sz="2800" dirty="0">
                <a:ea typeface="MS PGothic" charset="-128"/>
              </a:rPr>
              <a:t>, or </a:t>
            </a:r>
            <a:r>
              <a:rPr lang="en-US" altLang="en-US" sz="2800" b="1" dirty="0">
                <a:ea typeface="MS PGothic" charset="-128"/>
              </a:rPr>
              <a:t>BNFs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First used to describe the syntax of Algol60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1474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Language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Three variations of BNF:	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Original BNF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Extended BNF (EBNF)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Syntax diagrams</a:t>
            </a:r>
          </a:p>
        </p:txBody>
      </p:sp>
    </p:spTree>
    <p:extLst>
      <p:ext uri="{BB962C8B-B14F-4D97-AF65-F5344CB8AC3E}">
        <p14:creationId xmlns:p14="http://schemas.microsoft.com/office/powerpoint/2010/main" val="154553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b="1" dirty="0"/>
              <a:t>Context-free grammar</a:t>
            </a:r>
            <a:r>
              <a:rPr lang="en-US" altLang="en-US" dirty="0"/>
              <a:t>: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 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ormal specification of syntax which c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onsists of a series of grammar rules</a:t>
            </a:r>
            <a:endParaRPr lang="en-US" altLang="en-US" dirty="0">
              <a:latin typeface="Calibri" panose="020F0502020204030204" pitchFamily="34" charset="0"/>
              <a:ea typeface="MS PGothic" charset="-128"/>
              <a:cs typeface="Calibri" panose="020F0502020204030204" pitchFamily="34" charset="0"/>
            </a:endParaRPr>
          </a:p>
          <a:p>
            <a:r>
              <a:rPr lang="en-US" altLang="en-US" b="1" dirty="0" err="1"/>
              <a:t>Metasymbols</a:t>
            </a:r>
            <a:r>
              <a:rPr lang="en-US" altLang="en-US" dirty="0"/>
              <a:t> are symbols used to describe the grammar rules</a:t>
            </a:r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 is a </a:t>
            </a:r>
            <a:r>
              <a:rPr lang="en-US" altLang="en-US" dirty="0" err="1">
                <a:sym typeface="Wingdings" panose="05000000000000000000" pitchFamily="2" charset="2"/>
              </a:rPr>
              <a:t>metasymbol</a:t>
            </a:r>
            <a:r>
              <a:rPr lang="en-US" altLang="en-US" dirty="0">
                <a:sym typeface="Wingdings" panose="05000000000000000000" pitchFamily="2" charset="2"/>
              </a:rPr>
              <a:t> that represents, “</a:t>
            </a:r>
            <a:r>
              <a:rPr lang="en-US" dirty="0"/>
              <a:t>can have the form</a:t>
            </a:r>
            <a:r>
              <a:rPr lang="en-US" altLang="en-US" dirty="0">
                <a:sym typeface="Wingdings" panose="05000000000000000000" pitchFamily="2" charset="2"/>
              </a:rPr>
              <a:t>” or “</a:t>
            </a:r>
            <a:r>
              <a:rPr lang="en-US" dirty="0"/>
              <a:t>goes to</a:t>
            </a:r>
            <a:r>
              <a:rPr lang="en-US" altLang="en-US" dirty="0">
                <a:sym typeface="Wingdings" panose="05000000000000000000" pitchFamily="2" charset="2"/>
              </a:rPr>
              <a:t>”</a:t>
            </a:r>
          </a:p>
          <a:p>
            <a:pPr lvl="1"/>
            <a:r>
              <a:rPr lang="en-US" altLang="en-US" dirty="0"/>
              <a:t>| is a </a:t>
            </a:r>
            <a:r>
              <a:rPr lang="en-US" altLang="en-US" dirty="0" err="1"/>
              <a:t>metasymbol</a:t>
            </a:r>
            <a:r>
              <a:rPr lang="en-US" altLang="en-US" dirty="0"/>
              <a:t> to indicate choice</a:t>
            </a:r>
          </a:p>
          <a:p>
            <a:r>
              <a:rPr lang="en-US" altLang="en-US" dirty="0"/>
              <a:t>Each rule has a single nonterminal on the left, then an 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ym typeface="Wingdings" panose="05000000000000000000" pitchFamily="2" charset="2"/>
              </a:rPr>
              <a:t>metasymbol</a:t>
            </a:r>
            <a:r>
              <a:rPr lang="en-US" altLang="en-US" dirty="0">
                <a:sym typeface="Wingdings" panose="05000000000000000000" pitchFamily="2" charset="2"/>
              </a:rPr>
              <a:t>, followed by a sequence of terminals and </a:t>
            </a:r>
            <a:r>
              <a:rPr lang="en-US" altLang="en-US" dirty="0" err="1">
                <a:sym typeface="Wingdings" panose="05000000000000000000" pitchFamily="2" charset="2"/>
              </a:rPr>
              <a:t>nonterminals</a:t>
            </a:r>
            <a:r>
              <a:rPr lang="en-US" altLang="en-US" dirty="0">
                <a:sym typeface="Wingdings" panose="05000000000000000000" pitchFamily="2" charset="2"/>
              </a:rPr>
              <a:t> on the right</a:t>
            </a:r>
          </a:p>
          <a:p>
            <a:r>
              <a:rPr lang="en-US" altLang="en-US" b="1" dirty="0" err="1"/>
              <a:t>Nonterminals</a:t>
            </a:r>
            <a:r>
              <a:rPr lang="en-US" altLang="en-US" b="1" dirty="0"/>
              <a:t>: </a:t>
            </a:r>
            <a:r>
              <a:rPr lang="en-US" altLang="en-US" dirty="0"/>
              <a:t>The symbol on the left-hand side defined by the sequence of items on the right hand side</a:t>
            </a:r>
          </a:p>
          <a:p>
            <a:r>
              <a:rPr lang="en-US" altLang="en-US" b="1" dirty="0">
                <a:sym typeface="Wingdings" panose="05000000000000000000" pitchFamily="2" charset="2"/>
              </a:rPr>
              <a:t>Terminals</a:t>
            </a:r>
            <a:r>
              <a:rPr lang="en-US" altLang="en-US" dirty="0">
                <a:sym typeface="Wingdings" panose="05000000000000000000" pitchFamily="2" charset="2"/>
              </a:rPr>
              <a:t>: words or token symbols that cannot be broken down further</a:t>
            </a:r>
          </a:p>
          <a:p>
            <a:endParaRPr lang="en-US" altLang="en-US" dirty="0"/>
          </a:p>
          <a:p>
            <a:pPr lvl="1"/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7155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Example: Simple grammar</a:t>
            </a: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52"/>
          <a:stretch/>
        </p:blipFill>
        <p:spPr bwMode="auto">
          <a:xfrm>
            <a:off x="1188719" y="2286000"/>
            <a:ext cx="6166401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467600" y="2374264"/>
            <a:ext cx="3962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</a:rPr>
              <a:t>Metasymbols</a:t>
            </a:r>
            <a:r>
              <a:rPr lang="en-US" sz="2800" dirty="0">
                <a:solidFill>
                  <a:schemeClr val="accent1"/>
                </a:solidFill>
              </a:rPr>
              <a:t>: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>
                <a:solidFill>
                  <a:schemeClr val="accent1"/>
                </a:solidFill>
                <a:sym typeface="Wingdings"/>
              </a:rPr>
              <a:t></a:t>
            </a:r>
            <a:r>
              <a:rPr lang="en-US" sz="2800" dirty="0">
                <a:solidFill>
                  <a:schemeClr val="accent1"/>
                </a:solidFill>
              </a:rPr>
              <a:t> separates left and right sides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>
                <a:solidFill>
                  <a:schemeClr val="accent1"/>
                </a:solidFill>
              </a:rPr>
              <a:t>| indicates a choice</a:t>
            </a:r>
          </a:p>
        </p:txBody>
      </p:sp>
    </p:spTree>
    <p:extLst>
      <p:ext uri="{BB962C8B-B14F-4D97-AF65-F5344CB8AC3E}">
        <p14:creationId xmlns:p14="http://schemas.microsoft.com/office/powerpoint/2010/main" val="581471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In our simple grammar, sentences consist of a noun phrase and a verb phrase followed by a period</a:t>
            </a:r>
          </a:p>
          <a:p>
            <a:r>
              <a:rPr lang="en-US" altLang="en-US" dirty="0"/>
              <a:t>This is expressed by the first grammar rule </a:t>
            </a:r>
          </a:p>
          <a:p>
            <a:r>
              <a:rPr lang="en-US" altLang="en-US" dirty="0"/>
              <a:t>Rules 2 – 6 describe the structure of noun phrases, verb phrases, and other </a:t>
            </a:r>
            <a:r>
              <a:rPr lang="en-US" altLang="en-US" dirty="0" err="1"/>
              <a:t>nonterminals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The </a:t>
            </a:r>
            <a:r>
              <a:rPr lang="en-US" altLang="en-US" dirty="0" err="1"/>
              <a:t>nonterminals</a:t>
            </a:r>
            <a:r>
              <a:rPr lang="en-US" altLang="en-US" dirty="0"/>
              <a:t> on the left-hand side are being described by the sequence of items on the right hand side</a:t>
            </a: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5984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sz="3200" b="1" dirty="0"/>
              <a:t>Productions</a:t>
            </a:r>
            <a:r>
              <a:rPr lang="en-US" altLang="en-US" sz="3200" dirty="0"/>
              <a:t>: another name for grammar rules</a:t>
            </a:r>
          </a:p>
          <a:p>
            <a:r>
              <a:rPr lang="en-US" altLang="en-US" dirty="0"/>
              <a:t>Special symbols in a language can be indicated by “”</a:t>
            </a:r>
          </a:p>
          <a:p>
            <a:pPr lvl="1"/>
            <a:r>
              <a:rPr lang="en-US" altLang="en-US" sz="2800" dirty="0"/>
              <a:t>It would be better to have the period in the first rule within quotes as “.”</a:t>
            </a:r>
          </a:p>
          <a:p>
            <a:pPr lvl="1"/>
            <a:r>
              <a:rPr lang="en-US" altLang="en-US" sz="2800" dirty="0"/>
              <a:t>This also allows the . to become a </a:t>
            </a:r>
            <a:r>
              <a:rPr lang="en-US" altLang="en-US" sz="2800" dirty="0" err="1"/>
              <a:t>metasymbol</a:t>
            </a:r>
            <a:r>
              <a:rPr lang="en-US" altLang="en-US" sz="2800" dirty="0"/>
              <a:t> when not enclosed by quotes.</a:t>
            </a:r>
          </a:p>
          <a:p>
            <a:r>
              <a:rPr lang="en-US" altLang="en-US" dirty="0"/>
              <a:t>Some notations use angle brackets as </a:t>
            </a:r>
            <a:r>
              <a:rPr lang="en-US" altLang="en-US" dirty="0" err="1"/>
              <a:t>metasymbols</a:t>
            </a:r>
            <a:endParaRPr lang="en-US" altLang="en-US" dirty="0"/>
          </a:p>
          <a:p>
            <a:pPr lvl="1"/>
            <a:r>
              <a:rPr lang="en-US" altLang="en-US" sz="2800" dirty="0"/>
              <a:t>Example:</a:t>
            </a:r>
            <a:endParaRPr lang="en-US" altLang="en-US" sz="2800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520" y="6275879"/>
            <a:ext cx="5093122" cy="332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06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A context-free grammar shows us how to generate a syntactically valid string of terminals</a:t>
            </a:r>
          </a:p>
          <a:p>
            <a:r>
              <a:rPr lang="en-US" altLang="en-US" b="1" dirty="0"/>
              <a:t>Derivation:</a:t>
            </a:r>
            <a:r>
              <a:rPr lang="en-US" altLang="en-US" dirty="0"/>
              <a:t> the process of generating a syntactically valid string of terminals by beginning with the </a:t>
            </a:r>
            <a:r>
              <a:rPr lang="en-US" altLang="en-US" b="1" dirty="0"/>
              <a:t>start symbol </a:t>
            </a:r>
            <a:r>
              <a:rPr lang="en-US" altLang="en-US" dirty="0"/>
              <a:t>and replacing left-hand sides by choices of right-hand sides in the rules</a:t>
            </a:r>
            <a:endParaRPr lang="en-US" altLang="en-US" sz="2800" dirty="0">
              <a:ea typeface="MS PGothic" charset="-128"/>
            </a:endParaRPr>
          </a:p>
          <a:p>
            <a:r>
              <a:rPr lang="en-US" altLang="en-US" b="1" dirty="0"/>
              <a:t>Start symbol</a:t>
            </a:r>
            <a:r>
              <a:rPr lang="en-US" altLang="en-US" dirty="0"/>
              <a:t>: a nonterminal representing the entire top-level phrase being defined such as a sentence or program</a:t>
            </a:r>
          </a:p>
          <a:p>
            <a:r>
              <a:rPr lang="en-US" altLang="en-US" b="1" dirty="0"/>
              <a:t>Language of the grammar</a:t>
            </a:r>
            <a:r>
              <a:rPr lang="en-US" altLang="en-US" dirty="0"/>
              <a:t>: </a:t>
            </a:r>
            <a:r>
              <a:rPr lang="en-US" altLang="en-US" dirty="0">
                <a:ea typeface="MS PGothic" charset="-128"/>
              </a:rPr>
              <a:t>s</a:t>
            </a:r>
            <a:r>
              <a:rPr lang="en-US" altLang="en-US" sz="2800" dirty="0">
                <a:ea typeface="MS PGothic" charset="-128"/>
              </a:rPr>
              <a:t>et of all strings of terminals for which there exists a derivation beginning with the start symbol and ending with the string of terminals</a:t>
            </a:r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85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CB5215-0988-1F41-9D66-AF0DB7249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36429" cy="2328364"/>
          </a:xfrm>
          <a:solidFill>
            <a:srgbClr val="D3D3D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 Grammar for a Small Language 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→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";"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"=" expression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"+"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"–"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A | B | C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3BC74-2814-044E-82BD-64E256078C4B}"/>
              </a:ext>
            </a:extLst>
          </p:cNvPr>
          <p:cNvSpPr txBox="1"/>
          <p:nvPr/>
        </p:nvSpPr>
        <p:spPr>
          <a:xfrm>
            <a:off x="838200" y="4602075"/>
            <a:ext cx="3959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Leftmost derivation for: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B + C ; B = C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7376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7269985-7261-AB4E-A1FA-532E6D26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532462"/>
            <a:ext cx="4684542" cy="1325538"/>
          </a:xfrm>
          <a:solidFill>
            <a:srgbClr val="D3D3D3"/>
          </a:solidFill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";"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"=" expression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→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"+"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"–"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→ A | B | C </a:t>
            </a:r>
          </a:p>
          <a:p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F4639-7AEF-E441-8AA1-CFBB61353FDE}"/>
              </a:ext>
            </a:extLst>
          </p:cNvPr>
          <p:cNvSpPr txBox="1"/>
          <p:nvPr/>
        </p:nvSpPr>
        <p:spPr>
          <a:xfrm>
            <a:off x="0" y="4886131"/>
            <a:ext cx="3959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Leftmost derivation for: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B + C ; B = C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2085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693065-DE05-BB49-A10A-087D6E938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8889" y="1734184"/>
            <a:ext cx="6837318" cy="4313919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b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expression 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expression 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b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B +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B + C 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B + 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B + C 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expression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B + C ; B = expression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B + C ; B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B + C ; B = C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57A8E8D-09AD-DF46-9ED3-1AF394E8160C}"/>
              </a:ext>
            </a:extLst>
          </p:cNvPr>
          <p:cNvSpPr txBox="1">
            <a:spLocks/>
          </p:cNvSpPr>
          <p:nvPr/>
        </p:nvSpPr>
        <p:spPr>
          <a:xfrm>
            <a:off x="481149" y="3523796"/>
            <a:ext cx="4574178" cy="23283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b="1" dirty="0"/>
              <a:t>A Grammar for a Small Language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→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";"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"=" expression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→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"+"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"–"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→ A | B | C </a:t>
            </a:r>
          </a:p>
          <a:p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0376F2-B66A-4740-AB3F-BE318DAB35C3}"/>
              </a:ext>
            </a:extLst>
          </p:cNvPr>
          <p:cNvSpPr txBox="1"/>
          <p:nvPr/>
        </p:nvSpPr>
        <p:spPr>
          <a:xfrm>
            <a:off x="481149" y="1734184"/>
            <a:ext cx="3959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Leftmost derivation for: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B + C ; B = C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00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This grammar has: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Nine terminals 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(“begin”, “end”, ”;” , ”=” , ”+”,</a:t>
            </a:r>
          </a:p>
          <a:p>
            <a:pPr marL="1371600" lvl="3" indent="0">
              <a:buNone/>
            </a:pPr>
            <a:r>
              <a:rPr lang="en-US" altLang="en-US" sz="2600" dirty="0">
                <a:ea typeface="MS PGothic" charset="-128"/>
              </a:rPr>
              <a:t>”-”, “A”, “B”, “C”)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Five </a:t>
            </a:r>
            <a:r>
              <a:rPr lang="en-US" altLang="en-US" sz="2800" dirty="0" err="1">
                <a:ea typeface="MS PGothic" charset="-128"/>
              </a:rPr>
              <a:t>nonterminals</a:t>
            </a:r>
            <a:endParaRPr lang="en-US" altLang="en-US" sz="2800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Five grammar rules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Language is infinite 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In general languages defined by grammars are infinite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Rule 2 provides the infinite nature of this grammar 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3E80B22-1DC5-0F43-BD47-0E9C037C0C74}"/>
              </a:ext>
            </a:extLst>
          </p:cNvPr>
          <p:cNvSpPr txBox="1">
            <a:spLocks/>
          </p:cNvSpPr>
          <p:nvPr/>
        </p:nvSpPr>
        <p:spPr>
          <a:xfrm>
            <a:off x="6484818" y="1825624"/>
            <a:ext cx="5043152" cy="23283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b="1" dirty="0"/>
              <a:t>A Grammar for a Small Language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→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";"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"=" expression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→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"+"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"–"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→ A | B | C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38980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This grammar is: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Context-free</a:t>
            </a:r>
            <a:r>
              <a:rPr lang="en-US" altLang="en-US" sz="2800" dirty="0">
                <a:ea typeface="MS PGothic" charset="-128"/>
              </a:rPr>
              <a:t>, meaning that </a:t>
            </a:r>
            <a:r>
              <a:rPr lang="en-US" altLang="en-US" sz="2800" dirty="0" err="1">
                <a:ea typeface="MS PGothic" charset="-128"/>
              </a:rPr>
              <a:t>nonterminals</a:t>
            </a:r>
            <a:r>
              <a:rPr lang="en-US" altLang="en-US" sz="2800" dirty="0">
                <a:ea typeface="MS PGothic" charset="-128"/>
              </a:rPr>
              <a:t> appear singly on the left-hand sides of grammar rules, which means that each nonterminal can be replaced by any right-hand side choice, no matter where the nonterminal might appear in the language.  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There is no </a:t>
            </a:r>
            <a:r>
              <a:rPr lang="en-US" altLang="en-US" sz="2800" b="1" dirty="0">
                <a:ea typeface="MS PGothic" charset="-128"/>
              </a:rPr>
              <a:t>context</a:t>
            </a:r>
            <a:r>
              <a:rPr lang="en-US" altLang="en-US" sz="2800" dirty="0">
                <a:ea typeface="MS PGothic" charset="-128"/>
              </a:rPr>
              <a:t> under which only certain replacements can occur.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Context-sensitive grammars allow context strings to appear on the left-hand side of the grammar rules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Context sensitivity can be dealt with semantically</a:t>
            </a:r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7584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A grammar is </a:t>
            </a:r>
            <a:r>
              <a:rPr lang="en-US" altLang="en-US" b="1" dirty="0"/>
              <a:t>context-free</a:t>
            </a:r>
            <a:r>
              <a:rPr lang="en-US" altLang="en-US" dirty="0"/>
              <a:t> when </a:t>
            </a:r>
            <a:r>
              <a:rPr lang="en-US" altLang="en-US" dirty="0" err="1"/>
              <a:t>nonterminals</a:t>
            </a:r>
            <a:r>
              <a:rPr lang="en-US" altLang="en-US" dirty="0"/>
              <a:t> appear singly on the left sides of productions</a:t>
            </a:r>
          </a:p>
          <a:p>
            <a:pPr lvl="1"/>
            <a:r>
              <a:rPr lang="en-US" altLang="en-US" sz="2800" dirty="0"/>
              <a:t>Grammar for: </a:t>
            </a:r>
            <a:r>
              <a:rPr lang="en-US" altLang="en-US" sz="2800" dirty="0" err="1"/>
              <a:t>a</a:t>
            </a:r>
            <a:r>
              <a:rPr lang="en-US" altLang="en-US" sz="2800" baseline="30000" dirty="0" err="1"/>
              <a:t>n</a:t>
            </a:r>
            <a:r>
              <a:rPr lang="en-US" altLang="en-US" sz="2800" dirty="0" err="1"/>
              <a:t>b</a:t>
            </a:r>
            <a:r>
              <a:rPr lang="en-US" altLang="en-US" sz="2800" baseline="30000" dirty="0" err="1"/>
              <a:t>n</a:t>
            </a:r>
            <a:endParaRPr lang="en-US" altLang="en-US" sz="2800" baseline="30000" dirty="0"/>
          </a:p>
          <a:p>
            <a:pPr lvl="2"/>
            <a:r>
              <a:rPr lang="en-US" altLang="en-US" sz="2800" dirty="0"/>
              <a:t>S -&gt; ???</a:t>
            </a:r>
          </a:p>
          <a:p>
            <a:pPr lvl="2"/>
            <a:endParaRPr lang="en-US" altLang="en-US" sz="2800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4607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A grammar is </a:t>
            </a:r>
            <a:r>
              <a:rPr lang="en-US" altLang="en-US" b="1" dirty="0"/>
              <a:t>context-free</a:t>
            </a:r>
            <a:r>
              <a:rPr lang="en-US" altLang="en-US" dirty="0"/>
              <a:t> when </a:t>
            </a:r>
            <a:r>
              <a:rPr lang="en-US" altLang="en-US" dirty="0" err="1"/>
              <a:t>nonterminals</a:t>
            </a:r>
            <a:r>
              <a:rPr lang="en-US" altLang="en-US" dirty="0"/>
              <a:t> appear singly on the left sides of productions</a:t>
            </a:r>
          </a:p>
          <a:p>
            <a:pPr lvl="1"/>
            <a:r>
              <a:rPr lang="en-US" altLang="en-US" sz="2800" dirty="0"/>
              <a:t>Grammar for: </a:t>
            </a:r>
            <a:r>
              <a:rPr lang="en-US" altLang="en-US" sz="2800" dirty="0" err="1"/>
              <a:t>a</a:t>
            </a:r>
            <a:r>
              <a:rPr lang="en-US" altLang="en-US" sz="2800" baseline="30000" dirty="0" err="1"/>
              <a:t>n</a:t>
            </a:r>
            <a:r>
              <a:rPr lang="en-US" altLang="en-US" sz="2800" dirty="0" err="1"/>
              <a:t>b</a:t>
            </a:r>
            <a:r>
              <a:rPr lang="en-US" altLang="en-US" sz="2800" baseline="30000" dirty="0" err="1"/>
              <a:t>n</a:t>
            </a:r>
            <a:endParaRPr lang="en-US" altLang="en-US" sz="2800" baseline="30000" dirty="0"/>
          </a:p>
          <a:p>
            <a:pPr lvl="2"/>
            <a:r>
              <a:rPr lang="en-US" altLang="en-US" sz="2800" dirty="0"/>
              <a:t>S -&gt; ab | </a:t>
            </a:r>
            <a:r>
              <a:rPr lang="en-US" altLang="en-US" sz="2800" dirty="0" err="1"/>
              <a:t>aSb</a:t>
            </a:r>
            <a:endParaRPr lang="en-US" altLang="en-US" sz="2800" dirty="0"/>
          </a:p>
          <a:p>
            <a:pPr lvl="2"/>
            <a:endParaRPr lang="en-US" altLang="en-US" sz="2800" dirty="0"/>
          </a:p>
          <a:p>
            <a:pPr lvl="2"/>
            <a:r>
              <a:rPr lang="en-US" altLang="en-US" sz="2800" dirty="0"/>
              <a:t>Is </a:t>
            </a:r>
            <a:r>
              <a:rPr lang="en-US" altLang="en-US" sz="2800" dirty="0" err="1"/>
              <a:t>aaabbb</a:t>
            </a:r>
            <a:r>
              <a:rPr lang="en-US" altLang="en-US" sz="2800" dirty="0"/>
              <a:t> described by this grammar?</a:t>
            </a:r>
          </a:p>
          <a:p>
            <a:pPr lvl="2"/>
            <a:r>
              <a:rPr lang="en-US" altLang="en-US" sz="2800" dirty="0" err="1"/>
              <a:t>a</a:t>
            </a:r>
            <a:r>
              <a:rPr lang="en-US" altLang="en-US" sz="2800" dirty="0" err="1">
                <a:solidFill>
                  <a:schemeClr val="accent1"/>
                </a:solidFill>
              </a:rPr>
              <a:t>a</a:t>
            </a:r>
            <a:r>
              <a:rPr lang="en-US" altLang="en-US" sz="2800" dirty="0" err="1">
                <a:solidFill>
                  <a:srgbClr val="00B050"/>
                </a:solidFill>
              </a:rPr>
              <a:t>ab</a:t>
            </a:r>
            <a:r>
              <a:rPr lang="en-US" altLang="en-US" sz="2800" dirty="0" err="1">
                <a:solidFill>
                  <a:schemeClr val="accent1"/>
                </a:solidFill>
              </a:rPr>
              <a:t>b</a:t>
            </a:r>
            <a:r>
              <a:rPr lang="en-US" altLang="en-US" sz="2800" dirty="0" err="1"/>
              <a:t>b</a:t>
            </a:r>
            <a:r>
              <a:rPr lang="en-US" altLang="en-US" sz="2800" dirty="0"/>
              <a:t> = </a:t>
            </a:r>
            <a:r>
              <a:rPr lang="en-US" altLang="en-US" sz="2800" dirty="0" err="1"/>
              <a:t>a</a:t>
            </a:r>
            <a:r>
              <a:rPr lang="en-US" altLang="en-US" sz="2800" dirty="0" err="1">
                <a:solidFill>
                  <a:schemeClr val="accent1"/>
                </a:solidFill>
              </a:rPr>
              <a:t>a</a:t>
            </a:r>
            <a:r>
              <a:rPr lang="en-US" altLang="en-US" sz="2800" dirty="0" err="1">
                <a:solidFill>
                  <a:srgbClr val="00B050"/>
                </a:solidFill>
              </a:rPr>
              <a:t>S</a:t>
            </a:r>
            <a:r>
              <a:rPr lang="en-US" altLang="en-US" sz="2800" dirty="0" err="1">
                <a:solidFill>
                  <a:schemeClr val="accent1"/>
                </a:solidFill>
              </a:rPr>
              <a:t>b</a:t>
            </a:r>
            <a:r>
              <a:rPr lang="en-US" altLang="en-US" sz="2800" dirty="0" err="1"/>
              <a:t>b</a:t>
            </a:r>
            <a:r>
              <a:rPr lang="en-US" altLang="en-US" sz="2800" dirty="0"/>
              <a:t> = </a:t>
            </a:r>
            <a:r>
              <a:rPr lang="en-US" altLang="en-US" sz="2800" dirty="0" err="1"/>
              <a:t>a</a:t>
            </a:r>
            <a:r>
              <a:rPr lang="en-US" altLang="en-US" sz="2800" dirty="0" err="1">
                <a:solidFill>
                  <a:schemeClr val="accent1"/>
                </a:solidFill>
              </a:rPr>
              <a:t>S</a:t>
            </a:r>
            <a:r>
              <a:rPr lang="en-US" altLang="en-US" sz="2800" dirty="0" err="1"/>
              <a:t>b</a:t>
            </a:r>
            <a:r>
              <a:rPr lang="en-US" altLang="en-US" sz="2800" dirty="0"/>
              <a:t> = S – so yes!</a:t>
            </a:r>
          </a:p>
          <a:p>
            <a:pPr lvl="2"/>
            <a:endParaRPr lang="en-US" altLang="en-US" sz="2800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4376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Context-free grammars </a:t>
            </a:r>
            <a:r>
              <a:rPr lang="en-US" altLang="en-US" dirty="0">
                <a:ea typeface="MS PGothic" charset="-128"/>
              </a:rPr>
              <a:t>are the norm for expressing languages and make it easier to write translators</a:t>
            </a:r>
          </a:p>
          <a:p>
            <a:r>
              <a:rPr lang="en-US" altLang="en-US" dirty="0">
                <a:ea typeface="MS PGothic" charset="-128"/>
              </a:rPr>
              <a:t>Allow the parsing stage to be automated</a:t>
            </a:r>
          </a:p>
          <a:p>
            <a:r>
              <a:rPr lang="en-US" altLang="en-US" dirty="0">
                <a:ea typeface="MS PGothic" charset="-128"/>
              </a:rPr>
              <a:t>Context sensitivity can be dealt with semantically</a:t>
            </a:r>
            <a:endParaRPr lang="en-US" altLang="en-US" sz="2800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Example: </a:t>
            </a: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585" y="4316186"/>
            <a:ext cx="6700157" cy="1678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071756" y="4193072"/>
            <a:ext cx="3456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Note the recursive nature of the rules</a:t>
            </a:r>
            <a:endParaRPr lang="en-US" sz="2800" dirty="0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87504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Context-Free Grammars and BNFs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89771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Example: </a:t>
            </a: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770" y="1997528"/>
            <a:ext cx="6823767" cy="1709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98" y="4074432"/>
            <a:ext cx="7085179" cy="263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5925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Lexical Structure of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95756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Terminals can be formally described by </a:t>
            </a:r>
            <a:r>
              <a:rPr lang="en-US" altLang="en-US" b="1" dirty="0">
                <a:ea typeface="MS PGothic" charset="-128"/>
              </a:rPr>
              <a:t>regular expressions</a:t>
            </a:r>
          </a:p>
          <a:p>
            <a:r>
              <a:rPr lang="en-US" altLang="en-US" dirty="0">
                <a:ea typeface="MS PGothic" charset="-128"/>
              </a:rPr>
              <a:t>Regular expressions are descriptions of patterns of characters</a:t>
            </a:r>
          </a:p>
          <a:p>
            <a:r>
              <a:rPr lang="en-US" altLang="en-US" dirty="0">
                <a:ea typeface="MS PGothic" charset="-128"/>
              </a:rPr>
              <a:t>Regular expressions have three basic operations: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Concatenation: done by sequencing the items without an explicit operation, parentheses can be included to allow for grouping of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Repetition: indicated by an asterisk/plus after the item to be repeated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Choice or selection: indicated by a vertical bar between items to be selected</a:t>
            </a:r>
          </a:p>
          <a:p>
            <a:r>
              <a:rPr lang="en-US" altLang="en-US" dirty="0">
                <a:ea typeface="MS PGothic" charset="-128"/>
              </a:rPr>
              <a:t>Ex: (a | b)* c </a:t>
            </a:r>
            <a:r>
              <a:rPr lang="en-US" altLang="en-US" dirty="0">
                <a:ea typeface="MS PGothic" charset="-128"/>
                <a:sym typeface="Wingdings"/>
              </a:rPr>
              <a:t> 0 or more repetitions of choice a or b followed by c (concatenation)</a:t>
            </a:r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5775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Lexical Structure of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95756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Ex: (a | b)* c </a:t>
            </a:r>
            <a:r>
              <a:rPr lang="en-US" altLang="en-US" dirty="0">
                <a:ea typeface="MS PGothic" charset="-128"/>
                <a:sym typeface="Wingdings"/>
              </a:rPr>
              <a:t> 0 or more repetitions of choice a or b followed by c (concatenation)</a:t>
            </a:r>
          </a:p>
          <a:p>
            <a:pPr lvl="1"/>
            <a:r>
              <a:rPr lang="en-US" altLang="en-US" sz="2800" dirty="0">
                <a:ea typeface="MS PGothic" charset="-128"/>
                <a:sym typeface="Wingdings"/>
              </a:rPr>
              <a:t>String that match this regular expression could include:</a:t>
            </a:r>
          </a:p>
          <a:p>
            <a:pPr lvl="2"/>
            <a:r>
              <a:rPr lang="en-US" altLang="en-US" sz="2800" dirty="0" err="1">
                <a:ea typeface="MS PGothic" charset="-128"/>
                <a:sym typeface="Wingdings"/>
              </a:rPr>
              <a:t>ababaac</a:t>
            </a:r>
            <a:r>
              <a:rPr lang="en-US" altLang="en-US" sz="2800" dirty="0">
                <a:ea typeface="MS PGothic" charset="-128"/>
                <a:sym typeface="Wingdings"/>
              </a:rPr>
              <a:t>, </a:t>
            </a:r>
            <a:r>
              <a:rPr lang="en-US" altLang="en-US" sz="2800" dirty="0" err="1">
                <a:ea typeface="MS PGothic" charset="-128"/>
                <a:sym typeface="Wingdings"/>
              </a:rPr>
              <a:t>aac</a:t>
            </a:r>
            <a:r>
              <a:rPr lang="en-US" altLang="en-US" sz="2800" dirty="0">
                <a:ea typeface="MS PGothic" charset="-128"/>
                <a:sym typeface="Wingdings"/>
              </a:rPr>
              <a:t>, </a:t>
            </a:r>
            <a:r>
              <a:rPr lang="en-US" altLang="en-US" sz="2800" dirty="0" err="1">
                <a:ea typeface="MS PGothic" charset="-128"/>
                <a:sym typeface="Wingdings"/>
              </a:rPr>
              <a:t>babbc</a:t>
            </a:r>
            <a:r>
              <a:rPr lang="en-US" altLang="en-US" sz="2800" dirty="0">
                <a:ea typeface="MS PGothic" charset="-128"/>
                <a:sym typeface="Wingdings"/>
              </a:rPr>
              <a:t>, c</a:t>
            </a:r>
          </a:p>
          <a:p>
            <a:pPr lvl="1"/>
            <a:r>
              <a:rPr lang="en-US" altLang="en-US" sz="2800" dirty="0">
                <a:ea typeface="MS PGothic" charset="-128"/>
                <a:sym typeface="Wingdings"/>
              </a:rPr>
              <a:t>String that </a:t>
            </a:r>
            <a:r>
              <a:rPr lang="en-US" altLang="en-US" sz="2800" b="1" dirty="0">
                <a:ea typeface="MS PGothic" charset="-128"/>
                <a:sym typeface="Wingdings"/>
              </a:rPr>
              <a:t>do not </a:t>
            </a:r>
            <a:r>
              <a:rPr lang="en-US" altLang="en-US" sz="2800" dirty="0">
                <a:ea typeface="MS PGothic" charset="-128"/>
                <a:sym typeface="Wingdings"/>
              </a:rPr>
              <a:t>match this regular expression could include:</a:t>
            </a:r>
          </a:p>
          <a:p>
            <a:pPr lvl="2"/>
            <a:r>
              <a:rPr lang="en-US" altLang="en-US" sz="2800" dirty="0" err="1">
                <a:ea typeface="MS PGothic" charset="-128"/>
                <a:sym typeface="Wingdings"/>
              </a:rPr>
              <a:t>aaabaa</a:t>
            </a:r>
            <a:r>
              <a:rPr lang="en-US" altLang="en-US" sz="2800" dirty="0">
                <a:ea typeface="MS PGothic" charset="-128"/>
                <a:sym typeface="Wingdings"/>
              </a:rPr>
              <a:t>, </a:t>
            </a:r>
            <a:r>
              <a:rPr lang="en-US" altLang="en-US" sz="2800" dirty="0" err="1">
                <a:ea typeface="MS PGothic" charset="-128"/>
                <a:sym typeface="Wingdings"/>
              </a:rPr>
              <a:t>bca</a:t>
            </a:r>
            <a:endParaRPr lang="en-US" altLang="en-US" sz="2800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9690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Lexical Structure of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Regular expressions notation can be extended by additional operations and special characters to make them easier to write: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Square brackets with a hyphen ([-]) indicate a range of characters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Question mark (?) indicates an optional item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Period (.) </a:t>
            </a:r>
            <a:r>
              <a:rPr lang="en-US" altLang="en-US" sz="2800">
                <a:ea typeface="MS PGothic" charset="-128"/>
              </a:rPr>
              <a:t>Wildcard: indicates </a:t>
            </a:r>
            <a:r>
              <a:rPr lang="en-US" altLang="en-US" sz="2800" dirty="0">
                <a:ea typeface="MS PGothic" charset="-128"/>
              </a:rPr>
              <a:t>any character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Escaping a character (\) (if you need to use a symbol that has special meaning such as ?)</a:t>
            </a:r>
          </a:p>
          <a:p>
            <a:pPr lvl="1"/>
            <a:endParaRPr lang="en-US" altLang="en-US" sz="800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Ex: [0 – 9]+ indicates simple integer constants consisting of one or more digits between 0 and 9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Ex: [0 – 9]+(\.[0 – 9]+)? describes simple (unsigned) floating-point literals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367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Regular Expressions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What are some strings from this regular expression:</a:t>
            </a:r>
            <a:endParaRPr lang="en-US" altLang="en-US" sz="2800" dirty="0">
              <a:ea typeface="MS PGothic" charset="-128"/>
            </a:endParaRPr>
          </a:p>
          <a:p>
            <a:pPr lvl="1"/>
            <a:endParaRPr lang="en-US" altLang="en-US" sz="800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[0 – 9]+((</a:t>
            </a:r>
            <a:r>
              <a:rPr lang="en-US" altLang="en-US" sz="2800" dirty="0" err="1">
                <a:ea typeface="MS PGothic" charset="-128"/>
              </a:rPr>
              <a:t>E|e</a:t>
            </a:r>
            <a:r>
              <a:rPr lang="en-US" altLang="en-US" sz="2800" dirty="0">
                <a:ea typeface="MS PGothic" charset="-128"/>
              </a:rPr>
              <a:t>)(\+|\-)?[0 – 9]+)?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0324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Regular Expressions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What are some strings from this regular expression:</a:t>
            </a:r>
            <a:endParaRPr lang="en-US" altLang="en-US" sz="2800" dirty="0">
              <a:ea typeface="MS PGothic" charset="-128"/>
            </a:endParaRPr>
          </a:p>
          <a:p>
            <a:pPr lvl="1"/>
            <a:endParaRPr lang="en-US" altLang="en-US" sz="800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[0 – 9]+((</a:t>
            </a:r>
            <a:r>
              <a:rPr lang="en-US" altLang="en-US" sz="2800" dirty="0" err="1">
                <a:ea typeface="MS PGothic" charset="-128"/>
              </a:rPr>
              <a:t>E|e</a:t>
            </a:r>
            <a:r>
              <a:rPr lang="en-US" altLang="en-US" sz="2800" dirty="0">
                <a:ea typeface="MS PGothic" charset="-128"/>
              </a:rPr>
              <a:t>)(\+|\-)?[0 – 9]+)?</a:t>
            </a:r>
          </a:p>
          <a:p>
            <a:pPr lvl="2"/>
            <a:r>
              <a:rPr lang="it-IT" altLang="en-US" sz="2800" dirty="0">
                <a:ea typeface="MS PGothic" charset="-128"/>
              </a:rPr>
              <a:t>42</a:t>
            </a:r>
          </a:p>
          <a:p>
            <a:pPr lvl="2"/>
            <a:r>
              <a:rPr lang="it-IT" altLang="en-US" sz="2800" dirty="0">
                <a:ea typeface="MS PGothic" charset="-128"/>
              </a:rPr>
              <a:t>42e2</a:t>
            </a:r>
          </a:p>
          <a:p>
            <a:pPr lvl="2"/>
            <a:r>
              <a:rPr lang="it-IT" altLang="en-US" sz="2800" dirty="0">
                <a:ea typeface="MS PGothic" charset="-128"/>
              </a:rPr>
              <a:t>42E-02</a:t>
            </a:r>
          </a:p>
          <a:p>
            <a:pPr lvl="2"/>
            <a:r>
              <a:rPr lang="it-IT" altLang="en-US" sz="2800" dirty="0">
                <a:ea typeface="MS PGothic" charset="-128"/>
              </a:rPr>
              <a:t>0e+111</a:t>
            </a:r>
            <a:endParaRPr lang="en-US" altLang="en-US" sz="2800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0361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Regular Expressions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Write a regular expression for C identifiers consisting of letters, digits, and the underscore character ‘_’, and starting with a letter or underscore</a:t>
            </a:r>
            <a:endParaRPr lang="en-US" altLang="en-US" sz="2800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9694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Regular Expressions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Write a regular expression for C identifiers consisting of letters, digits, and the underscore character ‘_’, and starting with a letter or underscore</a:t>
            </a:r>
            <a:endParaRPr lang="en-US" altLang="en-US" sz="2800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[a-</a:t>
            </a:r>
            <a:r>
              <a:rPr lang="en-US" altLang="en-US" sz="2800" dirty="0" err="1">
                <a:ea typeface="MS PGothic" charset="-128"/>
              </a:rPr>
              <a:t>zA</a:t>
            </a:r>
            <a:r>
              <a:rPr lang="en-US" altLang="en-US" sz="2800" dirty="0">
                <a:ea typeface="MS PGothic" charset="-128"/>
              </a:rPr>
              <a:t>-Z_][a-zA-Z0-9_]*</a:t>
            </a:r>
          </a:p>
        </p:txBody>
      </p:sp>
    </p:spTree>
    <p:extLst>
      <p:ext uri="{BB962C8B-B14F-4D97-AF65-F5344CB8AC3E}">
        <p14:creationId xmlns:p14="http://schemas.microsoft.com/office/powerpoint/2010/main" val="2793148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D4B9-5225-564E-ADC1-777735D9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Regular Expressions &amp; BNF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AD63-0815-B141-9430-2E6118DD8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81945" cy="4351338"/>
          </a:xfrm>
        </p:spPr>
        <p:txBody>
          <a:bodyPr/>
          <a:lstStyle/>
          <a:p>
            <a:r>
              <a:rPr lang="en-US" dirty="0"/>
              <a:t>Valid sentences:</a:t>
            </a:r>
          </a:p>
          <a:p>
            <a:pPr lvl="1"/>
            <a:r>
              <a:rPr lang="en-US" dirty="0"/>
              <a:t>A person runs a marathon</a:t>
            </a:r>
          </a:p>
          <a:p>
            <a:pPr lvl="1"/>
            <a:r>
              <a:rPr lang="en-US" dirty="0"/>
              <a:t>A bank looses the money</a:t>
            </a:r>
          </a:p>
          <a:p>
            <a:pPr lvl="1"/>
            <a:r>
              <a:rPr lang="en-US" dirty="0"/>
              <a:t>And key writes and </a:t>
            </a:r>
            <a:r>
              <a:rPr lang="en-US" dirty="0" err="1"/>
              <a:t>xyz</a:t>
            </a:r>
            <a:endParaRPr lang="en-US" dirty="0"/>
          </a:p>
          <a:p>
            <a:r>
              <a:rPr lang="en-US" dirty="0"/>
              <a:t>Invalid sentences</a:t>
            </a:r>
          </a:p>
          <a:p>
            <a:pPr lvl="1"/>
            <a:r>
              <a:rPr lang="en-US" dirty="0"/>
              <a:t>My bank loses the money</a:t>
            </a:r>
          </a:p>
          <a:p>
            <a:pPr lvl="1"/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7CB5215-0988-1F41-9D66-AF0DB724944C}"/>
              </a:ext>
            </a:extLst>
          </p:cNvPr>
          <p:cNvSpPr>
            <a:spLocks noGrp="1"/>
          </p:cNvSpPr>
          <p:nvPr/>
        </p:nvSpPr>
        <p:spPr>
          <a:xfrm>
            <a:off x="5320145" y="1825624"/>
            <a:ext cx="6033655" cy="17349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sentence 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noun-phrase verb-phrase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noun-phrase 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article noun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article 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 a | and | the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noun 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 [A-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Za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-z]+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verb-phrase 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verb noun-phrase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tabLst>
                <a:tab pos="457200" algn="l"/>
              </a:tabLst>
            </a:pP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verb 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 [A-</a:t>
            </a:r>
            <a:r>
              <a:rPr lang="en-US" sz="2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Za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-z]+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495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D4B9-5225-564E-ADC1-777735D9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Regular Expressions &amp; BNF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AD63-0815-B141-9430-2E6118DD8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737" y="3425681"/>
            <a:ext cx="8960427" cy="3155228"/>
          </a:xfrm>
        </p:spPr>
        <p:txBody>
          <a:bodyPr/>
          <a:lstStyle/>
          <a:p>
            <a:r>
              <a:rPr lang="en-US" dirty="0"/>
              <a:t>Valid sentences:</a:t>
            </a:r>
          </a:p>
          <a:p>
            <a:pPr lvl="1"/>
            <a:r>
              <a:rPr lang="en-US" b="1" dirty="0"/>
              <a:t>begin </a:t>
            </a:r>
            <a:r>
              <a:rPr lang="en-US" dirty="0"/>
              <a:t>A = B == C </a:t>
            </a:r>
            <a:r>
              <a:rPr lang="en-US" b="1" dirty="0"/>
              <a:t>end </a:t>
            </a:r>
          </a:p>
          <a:p>
            <a:pPr lvl="1"/>
            <a:r>
              <a:rPr lang="en-US" b="1" dirty="0"/>
              <a:t>begin </a:t>
            </a:r>
            <a:r>
              <a:rPr lang="en-US" dirty="0"/>
              <a:t>C = A % B + B </a:t>
            </a:r>
            <a:r>
              <a:rPr lang="en-US" b="1" dirty="0"/>
              <a:t>end</a:t>
            </a:r>
          </a:p>
          <a:p>
            <a:pPr lvl="1"/>
            <a:r>
              <a:rPr lang="en-US" b="1" dirty="0"/>
              <a:t>begin </a:t>
            </a:r>
            <a:r>
              <a:rPr lang="en-US" dirty="0"/>
              <a:t>B = B &amp;&amp; C || B &amp;&amp; A; A = A </a:t>
            </a:r>
            <a:r>
              <a:rPr lang="en-US" b="1" dirty="0"/>
              <a:t>end </a:t>
            </a:r>
          </a:p>
          <a:p>
            <a:pPr lvl="1"/>
            <a:r>
              <a:rPr lang="en-US" b="1" dirty="0"/>
              <a:t>begin </a:t>
            </a:r>
            <a:r>
              <a:rPr lang="en-US" dirty="0"/>
              <a:t>C = A % B == C </a:t>
            </a:r>
            <a:r>
              <a:rPr lang="en-US" b="1" dirty="0"/>
              <a:t>end</a:t>
            </a:r>
          </a:p>
          <a:p>
            <a:pPr lvl="1"/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7CB5215-0988-1F41-9D66-AF0DB724944C}"/>
              </a:ext>
            </a:extLst>
          </p:cNvPr>
          <p:cNvSpPr>
            <a:spLocks noGrp="1"/>
          </p:cNvSpPr>
          <p:nvPr/>
        </p:nvSpPr>
        <p:spPr>
          <a:xfrm>
            <a:off x="838200" y="1690688"/>
            <a:ext cx="8956964" cy="17349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marL="971550" lvl="1" indent="-514350">
              <a:buFont typeface="+mj-lt"/>
              <a:buAutoNum type="arabicParenR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→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";"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"=" expression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[^\w\s]+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A | B | C </a:t>
            </a:r>
          </a:p>
        </p:txBody>
      </p:sp>
    </p:spTree>
    <p:extLst>
      <p:ext uri="{BB962C8B-B14F-4D97-AF65-F5344CB8AC3E}">
        <p14:creationId xmlns:p14="http://schemas.microsoft.com/office/powerpoint/2010/main" val="5025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D4B9-5225-564E-ADC1-777735D9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Regular Expressions &amp; BNF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AD63-0815-B141-9430-2E6118DD8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737" y="3425681"/>
            <a:ext cx="8960427" cy="3155228"/>
          </a:xfrm>
        </p:spPr>
        <p:txBody>
          <a:bodyPr/>
          <a:lstStyle/>
          <a:p>
            <a:r>
              <a:rPr lang="en-US" dirty="0"/>
              <a:t>Valid sentences:</a:t>
            </a:r>
          </a:p>
          <a:p>
            <a:pPr lvl="1"/>
            <a:r>
              <a:rPr lang="en-US" dirty="0"/>
              <a:t>N/A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7CB5215-0988-1F41-9D66-AF0DB724944C}"/>
              </a:ext>
            </a:extLst>
          </p:cNvPr>
          <p:cNvSpPr>
            <a:spLocks noGrp="1"/>
          </p:cNvSpPr>
          <p:nvPr/>
        </p:nvSpPr>
        <p:spPr>
          <a:xfrm>
            <a:off x="838200" y="1690688"/>
            <a:ext cx="8956964" cy="17349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marL="971550" lvl="1" indent="-514350">
              <a:buFont typeface="+mj-lt"/>
              <a:buAutoNum type="arabicParenR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→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";"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"=" expression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[^\w\s]+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[\w\W]+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arenR"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52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D4B9-5225-564E-ADC1-777735D9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Regular Expressions &amp; BNF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AD63-0815-B141-9430-2E6118DD8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737" y="3425681"/>
            <a:ext cx="8960427" cy="3155228"/>
          </a:xfrm>
        </p:spPr>
        <p:txBody>
          <a:bodyPr/>
          <a:lstStyle/>
          <a:p>
            <a:r>
              <a:rPr lang="en-US" dirty="0"/>
              <a:t>Valid sentences: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7CB5215-0988-1F41-9D66-AF0DB724944C}"/>
              </a:ext>
            </a:extLst>
          </p:cNvPr>
          <p:cNvSpPr>
            <a:spLocks noGrp="1"/>
          </p:cNvSpPr>
          <p:nvPr/>
        </p:nvSpPr>
        <p:spPr>
          <a:xfrm>
            <a:off x="838200" y="1690688"/>
            <a:ext cx="8956964" cy="17349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marL="971550" lvl="1" indent="-514350">
              <a:buFont typeface="+mj-lt"/>
              <a:buAutoNum type="arabicParenR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→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";"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stmt_list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"=" expression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 →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[^\w\s]+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Wingdings" pitchFamily="2" charset="2"/>
              </a:rPr>
              <a:t>[A-Za-z0-9]+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arenR"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462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65316EAB-7D9D-F44C-9359-5EAF5ACFF67A}" vid="{A314C093-9F88-C04E-9797-11A80E266C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3500</TotalTime>
  <Words>2229</Words>
  <Application>Microsoft Macintosh PowerPoint</Application>
  <PresentationFormat>Widescreen</PresentationFormat>
  <Paragraphs>310</Paragraphs>
  <Slides>31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MS PGothic</vt:lpstr>
      <vt:lpstr>Arial</vt:lpstr>
      <vt:lpstr>Calibri</vt:lpstr>
      <vt:lpstr>Calibri Light</vt:lpstr>
      <vt:lpstr>Courier New</vt:lpstr>
      <vt:lpstr>Lucida Sans Unicode</vt:lpstr>
      <vt:lpstr>Times</vt:lpstr>
      <vt:lpstr>Times New Roman</vt:lpstr>
      <vt:lpstr>Wingdings</vt:lpstr>
      <vt:lpstr>Office Theme</vt:lpstr>
      <vt:lpstr>CMSC 304</vt:lpstr>
      <vt:lpstr>Introduction</vt:lpstr>
      <vt:lpstr>Language Syntax</vt:lpstr>
      <vt:lpstr>Language Syntax</vt:lpstr>
      <vt:lpstr>Language Syntax</vt:lpstr>
      <vt:lpstr>Language Syntax</vt:lpstr>
      <vt:lpstr>Context-Free Grammars and BNFs</vt:lpstr>
      <vt:lpstr>Context-Free Grammars and BNFs</vt:lpstr>
      <vt:lpstr>Context-Free Grammars and BNFs</vt:lpstr>
      <vt:lpstr>Context-Free Grammars and BNFs</vt:lpstr>
      <vt:lpstr>Context-Free Grammars and BNFs</vt:lpstr>
      <vt:lpstr>Context-Free Grammars and BNFs</vt:lpstr>
      <vt:lpstr>PowerPoint Presentation</vt:lpstr>
      <vt:lpstr>Context-Free Grammars and BNFs</vt:lpstr>
      <vt:lpstr>Context-Free Grammars and BNFs</vt:lpstr>
      <vt:lpstr>Context-Free Grammars and BNFs</vt:lpstr>
      <vt:lpstr>Context-Free Grammars and BNFs</vt:lpstr>
      <vt:lpstr>Context-Free Grammars and BNFs</vt:lpstr>
      <vt:lpstr>Context-Free Grammars and BNFs</vt:lpstr>
      <vt:lpstr>Context-Free Grammars and BNFs</vt:lpstr>
      <vt:lpstr>Lexical Structure of Programming Languages</vt:lpstr>
      <vt:lpstr>Lexical Structure of Programming Languages</vt:lpstr>
      <vt:lpstr>Lexical Structure of Programming Languages</vt:lpstr>
      <vt:lpstr>Regular Expressions</vt:lpstr>
      <vt:lpstr>Regular Expressions</vt:lpstr>
      <vt:lpstr>Regular Expressions</vt:lpstr>
      <vt:lpstr>Regular Expressions</vt:lpstr>
      <vt:lpstr>Regular Expressions &amp; BNF</vt:lpstr>
      <vt:lpstr>Regular Expressions &amp; BNF</vt:lpstr>
      <vt:lpstr>Regular Expressions &amp; BNF</vt:lpstr>
      <vt:lpstr>Regular Expressions &amp; BNF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56</cp:revision>
  <dcterms:created xsi:type="dcterms:W3CDTF">2019-07-09T19:20:22Z</dcterms:created>
  <dcterms:modified xsi:type="dcterms:W3CDTF">2025-01-06T21:23:22Z</dcterms:modified>
</cp:coreProperties>
</file>